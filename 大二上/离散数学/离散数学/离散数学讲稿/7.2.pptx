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sldIdLst>
    <p:sldId id="361" r:id="rId2"/>
    <p:sldId id="393" r:id="rId3"/>
    <p:sldId id="395" r:id="rId4"/>
    <p:sldId id="394" r:id="rId5"/>
    <p:sldId id="399" r:id="rId6"/>
    <p:sldId id="397" r:id="rId7"/>
    <p:sldId id="398" r:id="rId8"/>
    <p:sldId id="402" r:id="rId9"/>
    <p:sldId id="403" r:id="rId10"/>
    <p:sldId id="404" r:id="rId11"/>
    <p:sldId id="405" r:id="rId12"/>
    <p:sldId id="409" r:id="rId13"/>
    <p:sldId id="406" r:id="rId14"/>
    <p:sldId id="411" r:id="rId15"/>
    <p:sldId id="413" r:id="rId16"/>
    <p:sldId id="414" r:id="rId17"/>
    <p:sldId id="415" r:id="rId18"/>
    <p:sldId id="416" r:id="rId19"/>
    <p:sldId id="417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00FF"/>
    <a:srgbClr val="0066FF"/>
    <a:srgbClr val="339933"/>
    <a:srgbClr val="CC0066"/>
    <a:srgbClr val="008080"/>
    <a:srgbClr val="0000FF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0FC60F0-CAE5-18F5-7D40-C000D8DD0A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75DD66-4609-561B-2F34-28A3ED957A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15758E-4BF3-490F-AE14-2818ACEB5BBC}" type="datetimeFigureOut">
              <a:rPr lang="zh-CN" altLang="en-US"/>
              <a:pPr>
                <a:defRPr/>
              </a:pPr>
              <a:t>2023/11/16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4FACB8E-FC30-BB1E-A6FB-025CF3D81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DC2D58D-5335-2249-B7F5-EED996725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D144F2-9C19-F6FD-4424-E356763DB8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16F59D-DE94-9B75-3BFE-EB774B74E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075617E-DEE2-4D9D-B229-A5FD127F818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6EA0A983-B444-3B63-3D98-43926A9DE7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75CA063E-5555-C251-CEF4-848BFC3DC0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2936BA1F-B751-630D-0DA3-B96F69C92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F8EC08-65B5-45CE-8949-4AE867D9217F}" type="slidenum">
              <a:rPr lang="zh-CN" altLang="en-US"/>
              <a:pPr eaLnBrk="1" hangingPunct="1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EDCAA3-FB33-8092-3A84-DC1213BEF7C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BC28C29-5FBA-2356-3213-46B7280ABA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C13BAA86-80B2-6410-41AB-F557E1AB0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4912E236-DCA1-8E97-C392-E4862D254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B3F18B6-891D-65C0-71A5-4CAF44BC5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84FB72-6B81-42E3-860F-6DBD64845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653F6A-E3A2-E02C-64CD-B153E6111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93B0C58-092D-0A64-F6BB-E62C49581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5DC1719A-8F32-F32E-7E3F-7EB74790F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98298AD0-8D41-290E-5A9A-2D09634E21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8171F37-9F0E-70E4-3CB3-CA388AA6CD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913E509-7249-DE05-17D9-8B68ED0E0E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096F2EF-9D1D-3593-7051-4B51BDA1DF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92B99E9-3769-4F56-8B69-4B3F64571E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7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CD3CE3D-35E0-4383-7EA1-6522110B4B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D00744A-E1C0-EFBC-B6D1-6CE228A5A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AAB996C-1906-0413-DBD2-70D4DC8E88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CA0369-346A-411F-8129-E0BD26DC0C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33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D8E8F9D-C809-F7A7-1D17-7C3ADF7091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BE1A31A-E754-3B66-C351-EE36AC7D8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E8DC966-1FF1-42A1-AE5F-5D5554CF07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C310A0-1019-4E48-A442-23E5631D4A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46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67E71D8-537D-D096-888E-CB7F9D5832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BACCD00-7CA7-5497-9F9A-8B670FAC6A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3DDF546-125A-B523-6058-C0237E4D09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BF83E7-7627-4511-8C26-9DF52D73F3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5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570217A-BBD8-5ACB-EBFA-720ECBF992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E623D607-7CFF-A639-B9FC-C58E863FA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D30D13B-4F76-87DB-E362-D057D6FC1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83F25-FD32-497C-B10C-C6226ADD6F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65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1DA20EF-28B9-0FF5-4211-2793F54ED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5D146AF-2A15-46E4-8FE2-74444A3AF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EADD818-F872-6DB1-7840-F0963623CC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4E74D6-EDF0-4BF3-A3A4-0298F0CF9C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16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AAD0872-FF83-CDD3-EF9E-E28C196E81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1ED5E45-6D49-7EE0-A993-7F982A8F0B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A58C4F9-B647-0ACD-C2E6-FF3599E37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D49D3B-C25C-49D8-80A8-97EE34FEBF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46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B3051F0-29DB-4873-0582-F156AA532B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73C0736-ED10-278C-C2FD-E1D5A348F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92EF2E2-DE87-4062-A07E-0DBD194280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4E909-3AA3-4E1F-9A0A-C7C6F82DCF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87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4CAC928-B080-9254-8624-FD977CEDEF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26464B8-325A-38EA-6B6A-F29CEBC0B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DA34CA5-CCF0-0736-93E0-60D9335B90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E91FC3-37F2-46C3-8493-9961347AF0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748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8885032-8A62-0645-1326-31563A5F02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D469035-2C4D-231A-E5CC-49264C1ED7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4D8FC34-EECE-720A-B136-40144B7362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B26C9B-E696-4014-B284-F350095CB7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0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CCDE17D-AB7E-61A9-FE82-C9A67D399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0306FEB-DB25-E546-1377-E3EA94521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7B3AA43-E2E6-F5D6-225F-2A15B9D1A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33B69F-7274-49B4-B87A-8C02438963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104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729D40B-89CF-189D-6796-82EC3C94F0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39FCB9A-1DF0-49D0-AB04-FB4030F869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EDE3A90-C2E5-6E85-5C0F-2E954D04F6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7538A2-8720-46F7-83CA-0F9A062081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75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F6EA0E8-24A0-7635-20DA-3E45461CAE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B5B1C0-5BB7-4D45-E2F7-46BC30E34D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9F2F17-475D-7E2B-2CDD-4CD93479F3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2BE747-29AA-A948-E6E8-982BFE39FB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F61BC8-6724-E62C-8575-C78EFD65CA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985325F-B38B-1BDB-E0A7-CB4ED9547C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0CE88E8-FF77-6AC8-F931-D6B2740EAD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2959312-C32A-7F74-BB1E-F1091E383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E694706-8531-54F0-F59A-D50E9CE34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41144E80-A8D1-273E-0619-598D243C15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8DBD165E-B8B7-6387-5CC4-20021014E5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F87FD674-C9F6-DFDB-4FEB-42F1E010CA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D23FAE-5962-4959-8A1C-24E656E69A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26394FA-4A28-C389-5BB2-CB6830EFD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7.2 </a:t>
            </a:r>
            <a:r>
              <a:rPr lang="zh-CN" altLang="en-US" sz="5400"/>
              <a:t>路与连通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40B5D9D-9205-5F77-E1D5-75D4E28D0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7974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7.2.1 </a:t>
            </a:r>
            <a:r>
              <a:rPr lang="zh-CN" altLang="en-US" sz="3600" b="1"/>
              <a:t>路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7.2.2 </a:t>
            </a:r>
            <a:r>
              <a:rPr lang="zh-CN" altLang="en-US" sz="3600" b="1"/>
              <a:t>连通图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7.1.3 </a:t>
            </a:r>
            <a:r>
              <a:rPr lang="zh-CN" altLang="en-US" sz="3600" b="1"/>
              <a:t>连通度</a:t>
            </a:r>
            <a:endParaRPr lang="zh-CN" altLang="en-US" sz="360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7.4.4 </a:t>
            </a:r>
            <a:r>
              <a:rPr lang="zh-CN" altLang="en-US" sz="3600" b="1"/>
              <a:t>二分图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B2EA4D98-DB63-56B2-971E-CEC3A34A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7.2.1 </a:t>
            </a:r>
            <a:r>
              <a:rPr lang="zh-CN" altLang="en-US" sz="5400" b="1"/>
              <a:t>路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0F89E-3CA4-E936-A786-2752BFA7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zh-CN" altLang="zh-CN" dirty="0"/>
              <a:t>设</a:t>
            </a:r>
            <a:r>
              <a:rPr lang="en-US" altLang="zh-CN" dirty="0"/>
              <a:t>u</a:t>
            </a:r>
            <a:r>
              <a:rPr lang="zh-CN" altLang="zh-CN" dirty="0"/>
              <a:t>和</a:t>
            </a:r>
            <a:r>
              <a:rPr lang="en-US" altLang="zh-CN" dirty="0"/>
              <a:t>v</a:t>
            </a:r>
            <a:r>
              <a:rPr lang="zh-CN" altLang="zh-CN" dirty="0"/>
              <a:t>是任意图</a:t>
            </a:r>
            <a:r>
              <a:rPr lang="en-US" altLang="zh-CN" dirty="0"/>
              <a:t>G</a:t>
            </a:r>
            <a:r>
              <a:rPr lang="zh-CN" altLang="zh-CN" dirty="0"/>
              <a:t>的结点</a:t>
            </a:r>
            <a:endParaRPr lang="en-US" altLang="zh-CN" dirty="0"/>
          </a:p>
          <a:p>
            <a:pPr>
              <a:defRPr/>
            </a:pPr>
            <a:r>
              <a:rPr lang="zh-CN" altLang="zh-CN" dirty="0"/>
              <a:t>图</a:t>
            </a:r>
            <a:r>
              <a:rPr lang="en-US" altLang="zh-CN" dirty="0"/>
              <a:t>G</a:t>
            </a:r>
            <a:r>
              <a:rPr lang="zh-CN" altLang="zh-CN" dirty="0"/>
              <a:t>的</a:t>
            </a:r>
            <a:r>
              <a:rPr lang="en-US" altLang="zh-CN" dirty="0">
                <a:solidFill>
                  <a:srgbClr val="0000FF"/>
                </a:solidFill>
              </a:rPr>
              <a:t>u –</a:t>
            </a:r>
            <a:r>
              <a:rPr lang="en-US" altLang="zh-CN" i="1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v</a:t>
            </a:r>
            <a:r>
              <a:rPr lang="zh-CN" altLang="zh-CN" b="1" dirty="0">
                <a:solidFill>
                  <a:srgbClr val="0000FF"/>
                </a:solidFill>
              </a:rPr>
              <a:t>链</a:t>
            </a:r>
            <a:r>
              <a:rPr lang="en-US" altLang="zh-CN" dirty="0"/>
              <a:t>(chain </a:t>
            </a:r>
            <a:r>
              <a:rPr lang="zh-CN" altLang="zh-CN" dirty="0"/>
              <a:t>或</a:t>
            </a:r>
            <a:r>
              <a:rPr lang="en-US" altLang="zh-CN" dirty="0"/>
              <a:t>walk)</a:t>
            </a:r>
            <a:r>
              <a:rPr lang="zh-CN" altLang="en-US" dirty="0"/>
              <a:t>：</a:t>
            </a:r>
            <a:r>
              <a:rPr lang="zh-CN" altLang="zh-CN" dirty="0"/>
              <a:t>有限结点和边交替序列</a:t>
            </a:r>
            <a:r>
              <a:rPr lang="en-US" altLang="zh-CN" dirty="0"/>
              <a:t>u</a:t>
            </a:r>
            <a:r>
              <a:rPr lang="en-US" altLang="zh-CN" baseline="-25000" dirty="0"/>
              <a:t>0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u</a:t>
            </a:r>
            <a:r>
              <a:rPr lang="en-US" altLang="zh-CN" baseline="-25000" dirty="0"/>
              <a:t>1</a:t>
            </a:r>
            <a:r>
              <a:rPr lang="en-US" altLang="zh-CN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…u</a:t>
            </a:r>
            <a:r>
              <a:rPr lang="en-US" altLang="zh-CN" baseline="-25000" dirty="0"/>
              <a:t>n-1</a:t>
            </a:r>
            <a:r>
              <a:rPr lang="en-US" altLang="zh-CN" dirty="0"/>
              <a:t>e</a:t>
            </a:r>
            <a:r>
              <a:rPr lang="en-US" altLang="zh-CN" baseline="-25000" dirty="0"/>
              <a:t>n</a:t>
            </a:r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en-US" altLang="zh-CN" dirty="0"/>
              <a:t> (u</a:t>
            </a:r>
            <a:r>
              <a:rPr lang="zh-CN" altLang="zh-CN" dirty="0"/>
              <a:t>＝</a:t>
            </a:r>
            <a:r>
              <a:rPr lang="en-US" altLang="zh-CN" dirty="0"/>
              <a:t>u</a:t>
            </a:r>
            <a:r>
              <a:rPr lang="en-US" altLang="zh-CN" baseline="-25000" dirty="0"/>
              <a:t>0</a:t>
            </a:r>
            <a:r>
              <a:rPr lang="en-US" altLang="zh-CN" dirty="0"/>
              <a:t>,v</a:t>
            </a:r>
            <a:r>
              <a:rPr lang="zh-CN" altLang="zh-CN" dirty="0"/>
              <a:t>＝</a:t>
            </a:r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  <a:r>
              <a:rPr lang="zh-CN" altLang="zh-CN" dirty="0"/>
              <a:t>，其中结点</a:t>
            </a:r>
            <a:r>
              <a:rPr lang="en-US" altLang="zh-CN" dirty="0"/>
              <a:t>u</a:t>
            </a:r>
            <a:r>
              <a:rPr lang="en-US" altLang="zh-CN" baseline="-25000" dirty="0"/>
              <a:t>i-1</a:t>
            </a:r>
            <a:r>
              <a:rPr lang="zh-CN" altLang="zh-CN" dirty="0"/>
              <a:t>和</a:t>
            </a:r>
            <a:r>
              <a:rPr lang="en-US" altLang="zh-CN" dirty="0" err="1"/>
              <a:t>u</a:t>
            </a:r>
            <a:r>
              <a:rPr lang="en-US" altLang="zh-CN" baseline="-25000" dirty="0" err="1"/>
              <a:t>i</a:t>
            </a:r>
            <a:r>
              <a:rPr lang="zh-CN" altLang="zh-CN" dirty="0"/>
              <a:t>正好是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i</a:t>
            </a:r>
            <a:r>
              <a:rPr lang="zh-CN" altLang="zh-CN" dirty="0"/>
              <a:t>的两个端点。</a:t>
            </a:r>
            <a:endParaRPr lang="en-US" altLang="zh-CN" dirty="0"/>
          </a:p>
          <a:p>
            <a:pPr>
              <a:defRPr/>
            </a:pPr>
            <a:r>
              <a:rPr lang="zh-CN" altLang="zh-CN" dirty="0"/>
              <a:t>链的</a:t>
            </a:r>
            <a:r>
              <a:rPr lang="zh-CN" altLang="zh-CN" b="1" dirty="0">
                <a:solidFill>
                  <a:srgbClr val="FF0000"/>
                </a:solidFill>
              </a:rPr>
              <a:t>长度</a:t>
            </a:r>
            <a:r>
              <a:rPr lang="zh-CN" altLang="en-US" dirty="0"/>
              <a:t>：</a:t>
            </a:r>
            <a:r>
              <a:rPr lang="zh-CN" altLang="zh-CN" dirty="0"/>
              <a:t>链中出现的边数</a:t>
            </a:r>
            <a:endParaRPr lang="en-US" altLang="zh-CN" dirty="0"/>
          </a:p>
          <a:p>
            <a:pPr>
              <a:defRPr/>
            </a:pPr>
            <a:r>
              <a:rPr lang="zh-CN" altLang="zh-CN" dirty="0"/>
              <a:t>链的</a:t>
            </a:r>
            <a:r>
              <a:rPr lang="zh-CN" altLang="zh-CN" b="1" dirty="0">
                <a:solidFill>
                  <a:srgbClr val="FF0000"/>
                </a:solidFill>
              </a:rPr>
              <a:t>端点</a:t>
            </a:r>
            <a:r>
              <a:rPr lang="zh-CN" altLang="en-US" b="1" dirty="0"/>
              <a:t>；</a:t>
            </a:r>
            <a:r>
              <a:rPr lang="zh-CN" altLang="zh-CN" dirty="0"/>
              <a:t>链的</a:t>
            </a:r>
            <a:r>
              <a:rPr lang="zh-CN" altLang="zh-CN" b="1" dirty="0">
                <a:solidFill>
                  <a:srgbClr val="FF0000"/>
                </a:solidFill>
              </a:rPr>
              <a:t>内部点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开的</a:t>
            </a:r>
            <a:r>
              <a:rPr lang="zh-CN" altLang="en-US" dirty="0"/>
              <a:t>链：两端点不同；</a:t>
            </a:r>
            <a:r>
              <a:rPr lang="zh-CN" altLang="zh-CN" b="1" dirty="0">
                <a:solidFill>
                  <a:srgbClr val="FF0000"/>
                </a:solidFill>
              </a:rPr>
              <a:t>闭的</a:t>
            </a:r>
            <a:r>
              <a:rPr lang="zh-CN" altLang="en-US" dirty="0"/>
              <a:t>链</a:t>
            </a:r>
            <a:endParaRPr lang="en-US" altLang="zh-CN" dirty="0"/>
          </a:p>
          <a:p>
            <a:pPr>
              <a:defRPr/>
            </a:pPr>
            <a:r>
              <a:rPr lang="zh-CN" altLang="zh-CN" b="1" dirty="0">
                <a:solidFill>
                  <a:srgbClr val="00CC99"/>
                </a:solidFill>
              </a:rPr>
              <a:t>迹</a:t>
            </a:r>
            <a:r>
              <a:rPr lang="en-US" altLang="zh-CN" dirty="0"/>
              <a:t>(trail)</a:t>
            </a:r>
            <a:r>
              <a:rPr lang="zh-CN" altLang="en-US" dirty="0"/>
              <a:t>：</a:t>
            </a:r>
            <a:r>
              <a:rPr lang="zh-CN" altLang="zh-CN" dirty="0"/>
              <a:t>边互不同的链</a:t>
            </a:r>
            <a:endParaRPr lang="en-US" altLang="zh-CN" dirty="0"/>
          </a:p>
          <a:p>
            <a:pPr>
              <a:defRPr/>
            </a:pPr>
            <a:r>
              <a:rPr lang="zh-CN" altLang="zh-CN" b="1" dirty="0">
                <a:solidFill>
                  <a:srgbClr val="FF00FF"/>
                </a:solidFill>
              </a:rPr>
              <a:t>路</a:t>
            </a:r>
            <a:r>
              <a:rPr lang="en-US" altLang="zh-CN" dirty="0"/>
              <a:t>(path)</a:t>
            </a:r>
            <a:r>
              <a:rPr lang="zh-CN" altLang="en-US" dirty="0"/>
              <a:t>：</a:t>
            </a:r>
            <a:r>
              <a:rPr lang="zh-CN" altLang="zh-CN" dirty="0"/>
              <a:t>内部点互不同的链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ABFEB9FA-45FB-7999-D368-10565497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7.2.1 </a:t>
            </a:r>
            <a:r>
              <a:rPr lang="zh-CN" altLang="en-US" sz="5400" b="1">
                <a:solidFill>
                  <a:srgbClr val="333399"/>
                </a:solidFill>
              </a:rPr>
              <a:t>路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15A52-AB70-BB60-C268-0DCFCCC6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zh-CN" b="1" dirty="0">
                <a:solidFill>
                  <a:srgbClr val="FF00FF"/>
                </a:solidFill>
              </a:rPr>
              <a:t>注释</a:t>
            </a:r>
            <a:r>
              <a:rPr lang="en-US" altLang="zh-CN" dirty="0"/>
              <a:t> 1</a:t>
            </a:r>
            <a:r>
              <a:rPr lang="zh-CN" altLang="zh-CN" dirty="0"/>
              <a:t>）链</a:t>
            </a:r>
            <a:r>
              <a:rPr lang="zh-CN" altLang="en-US" dirty="0"/>
              <a:t>中</a:t>
            </a:r>
            <a:r>
              <a:rPr lang="zh-CN" altLang="zh-CN" dirty="0"/>
              <a:t>，结点和边可以重复。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2</a:t>
            </a:r>
            <a:r>
              <a:rPr lang="zh-CN" altLang="zh-CN" dirty="0"/>
              <a:t>）简单图</a:t>
            </a:r>
            <a:r>
              <a:rPr lang="en-US" altLang="zh-CN" dirty="0"/>
              <a:t>G</a:t>
            </a:r>
            <a:r>
              <a:rPr lang="zh-CN" altLang="zh-CN" dirty="0"/>
              <a:t>的链可用结点序列表示。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3</a:t>
            </a:r>
            <a:r>
              <a:rPr lang="zh-CN" altLang="zh-CN" dirty="0"/>
              <a:t>）</a:t>
            </a:r>
            <a:r>
              <a:rPr lang="zh-CN" altLang="zh-CN" b="1" dirty="0">
                <a:solidFill>
                  <a:schemeClr val="accent1"/>
                </a:solidFill>
              </a:rPr>
              <a:t>平凡链</a:t>
            </a:r>
            <a:r>
              <a:rPr lang="zh-CN" altLang="en-US" dirty="0"/>
              <a:t>：</a:t>
            </a:r>
            <a:r>
              <a:rPr lang="zh-CN" altLang="zh-CN" dirty="0"/>
              <a:t>不含边（即长度为</a:t>
            </a:r>
            <a:r>
              <a:rPr lang="en-US" altLang="zh-CN" dirty="0"/>
              <a:t>0</a:t>
            </a:r>
            <a:r>
              <a:rPr lang="zh-CN" altLang="zh-CN" dirty="0"/>
              <a:t>）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4</a:t>
            </a:r>
            <a:r>
              <a:rPr lang="zh-CN" altLang="zh-CN" dirty="0"/>
              <a:t>）</a:t>
            </a:r>
            <a:r>
              <a:rPr lang="zh-CN" altLang="en-US" dirty="0"/>
              <a:t>有向图</a:t>
            </a:r>
            <a:r>
              <a:rPr lang="en-US" altLang="zh-CN" dirty="0"/>
              <a:t>D</a:t>
            </a:r>
            <a:r>
              <a:rPr lang="zh-CN" altLang="en-US" dirty="0"/>
              <a:t>的</a:t>
            </a:r>
            <a:r>
              <a:rPr lang="en-US" altLang="zh-CN" dirty="0"/>
              <a:t>u –</a:t>
            </a:r>
            <a:r>
              <a:rPr lang="en-US" altLang="zh-CN" i="1" dirty="0"/>
              <a:t> </a:t>
            </a:r>
            <a:r>
              <a:rPr lang="en-US" altLang="zh-CN" dirty="0"/>
              <a:t>v</a:t>
            </a:r>
            <a:r>
              <a:rPr lang="zh-CN" altLang="en-US" b="1" dirty="0">
                <a:solidFill>
                  <a:srgbClr val="FF0000"/>
                </a:solidFill>
              </a:rPr>
              <a:t>有向</a:t>
            </a:r>
            <a:r>
              <a:rPr lang="zh-CN" altLang="zh-CN" b="1" dirty="0">
                <a:solidFill>
                  <a:srgbClr val="FF0000"/>
                </a:solidFill>
              </a:rPr>
              <a:t>链</a:t>
            </a:r>
            <a:r>
              <a:rPr lang="zh-CN" altLang="en-US" dirty="0"/>
              <a:t>：链中各</a:t>
            </a:r>
            <a:r>
              <a:rPr lang="zh-CN" altLang="zh-CN" dirty="0"/>
              <a:t>边的方向</a:t>
            </a:r>
            <a:endParaRPr lang="en-US" altLang="zh-CN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都从</a:t>
            </a:r>
            <a:r>
              <a:rPr lang="en-US" altLang="zh-CN" dirty="0"/>
              <a:t>u</a:t>
            </a:r>
            <a:r>
              <a:rPr lang="zh-CN" altLang="zh-CN" dirty="0"/>
              <a:t>到</a:t>
            </a:r>
            <a:r>
              <a:rPr lang="en-US" altLang="zh-CN" dirty="0"/>
              <a:t>v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5</a:t>
            </a:r>
            <a:r>
              <a:rPr lang="zh-CN" altLang="zh-CN" dirty="0"/>
              <a:t>）</a:t>
            </a:r>
            <a:r>
              <a:rPr lang="zh-CN" altLang="en-US" dirty="0"/>
              <a:t>有向图</a:t>
            </a:r>
            <a:r>
              <a:rPr lang="en-US" altLang="zh-CN" dirty="0"/>
              <a:t>D</a:t>
            </a:r>
            <a:r>
              <a:rPr lang="zh-CN" altLang="en-US" dirty="0"/>
              <a:t>的</a:t>
            </a:r>
            <a:r>
              <a:rPr lang="en-US" altLang="zh-CN" dirty="0"/>
              <a:t>u –</a:t>
            </a:r>
            <a:r>
              <a:rPr lang="en-US" altLang="zh-CN" i="1" dirty="0"/>
              <a:t> </a:t>
            </a:r>
            <a:r>
              <a:rPr lang="en-US" altLang="zh-CN" dirty="0"/>
              <a:t>v</a:t>
            </a:r>
            <a:r>
              <a:rPr lang="zh-CN" altLang="en-US" b="1" dirty="0">
                <a:solidFill>
                  <a:srgbClr val="0066FF"/>
                </a:solidFill>
              </a:rPr>
              <a:t>有向迹</a:t>
            </a:r>
            <a:endParaRPr lang="en-US" altLang="zh-CN" b="1" dirty="0">
              <a:solidFill>
                <a:srgbClr val="0066FF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6</a:t>
            </a:r>
            <a:r>
              <a:rPr lang="zh-CN" altLang="zh-CN" dirty="0"/>
              <a:t>）</a:t>
            </a:r>
            <a:r>
              <a:rPr lang="zh-CN" altLang="en-US" dirty="0"/>
              <a:t>有向图</a:t>
            </a:r>
            <a:r>
              <a:rPr lang="en-US" altLang="zh-CN" dirty="0"/>
              <a:t>D</a:t>
            </a:r>
            <a:r>
              <a:rPr lang="zh-CN" altLang="en-US" dirty="0"/>
              <a:t>的</a:t>
            </a:r>
            <a:r>
              <a:rPr lang="en-US" altLang="zh-CN" dirty="0"/>
              <a:t>u –</a:t>
            </a:r>
            <a:r>
              <a:rPr lang="en-US" altLang="zh-CN" i="1" dirty="0"/>
              <a:t> </a:t>
            </a:r>
            <a:r>
              <a:rPr lang="en-US" altLang="zh-CN" dirty="0"/>
              <a:t>v</a:t>
            </a:r>
            <a:r>
              <a:rPr lang="zh-CN" altLang="en-US" b="1" dirty="0">
                <a:solidFill>
                  <a:srgbClr val="FF0000"/>
                </a:solidFill>
              </a:rPr>
              <a:t>有向路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3">
            <a:extLst>
              <a:ext uri="{FF2B5EF4-FFF2-40B4-BE49-F238E27FC236}">
                <a16:creationId xmlns:a16="http://schemas.microsoft.com/office/drawing/2014/main" id="{9DB7EE03-C9CD-5C83-7AA4-87875572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7.2.1 </a:t>
            </a:r>
            <a:r>
              <a:rPr lang="zh-CN" altLang="en-US" sz="5400" b="1">
                <a:solidFill>
                  <a:srgbClr val="333399"/>
                </a:solidFill>
              </a:rPr>
              <a:t>路</a:t>
            </a:r>
            <a:endParaRPr lang="zh-CN" altLang="en-US"/>
          </a:p>
        </p:txBody>
      </p:sp>
      <p:sp>
        <p:nvSpPr>
          <p:cNvPr id="6147" name="内容占位符 4">
            <a:extLst>
              <a:ext uri="{FF2B5EF4-FFF2-40B4-BE49-F238E27FC236}">
                <a16:creationId xmlns:a16="http://schemas.microsoft.com/office/drawing/2014/main" id="{EBA79C2D-2028-E683-85C9-F073DE64F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44675"/>
            <a:ext cx="4248150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6148" name="内容占位符 5">
            <a:extLst>
              <a:ext uri="{FF2B5EF4-FFF2-40B4-BE49-F238E27FC236}">
                <a16:creationId xmlns:a16="http://schemas.microsoft.com/office/drawing/2014/main" id="{7D0699C8-E7AB-0CD6-2640-476174CC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7900" y="1844675"/>
            <a:ext cx="4356100" cy="5013325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altLang="zh-CN">
                <a:solidFill>
                  <a:srgbClr val="FF0000"/>
                </a:solidFill>
              </a:rPr>
              <a:t>x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zh-CN" altLang="zh-CN" baseline="-25000">
                <a:solidFill>
                  <a:srgbClr val="FF0000"/>
                </a:solidFill>
              </a:rPr>
              <a:t>－</a:t>
            </a:r>
            <a:r>
              <a:rPr lang="en-US" altLang="zh-CN">
                <a:solidFill>
                  <a:srgbClr val="FF0000"/>
                </a:solidFill>
              </a:rPr>
              <a:t>x</a:t>
            </a:r>
            <a:r>
              <a:rPr lang="en-US" altLang="zh-CN" baseline="-25000">
                <a:solidFill>
                  <a:srgbClr val="FF0000"/>
                </a:solidFill>
              </a:rPr>
              <a:t>3</a:t>
            </a:r>
            <a:r>
              <a:rPr lang="zh-CN" altLang="zh-CN">
                <a:solidFill>
                  <a:srgbClr val="FF0000"/>
                </a:solidFill>
              </a:rPr>
              <a:t>链</a:t>
            </a:r>
            <a:r>
              <a:rPr lang="zh-CN" altLang="zh-CN"/>
              <a:t>：</a:t>
            </a:r>
            <a:r>
              <a:rPr lang="en-US" altLang="zh-CN"/>
              <a:t>x</a:t>
            </a:r>
            <a:r>
              <a:rPr lang="en-US" altLang="zh-CN" baseline="-25000"/>
              <a:t>1 </a:t>
            </a:r>
            <a:r>
              <a:rPr lang="en-US" altLang="zh-CN"/>
              <a:t>e</a:t>
            </a:r>
            <a:r>
              <a:rPr lang="en-US" altLang="zh-CN" baseline="-25000"/>
              <a:t>9</a:t>
            </a:r>
            <a:r>
              <a:rPr lang="en-US" altLang="zh-CN"/>
              <a:t> x</a:t>
            </a:r>
            <a:r>
              <a:rPr lang="en-US" altLang="zh-CN" baseline="-25000"/>
              <a:t>2 </a:t>
            </a:r>
            <a:r>
              <a:rPr lang="en-US" altLang="zh-CN"/>
              <a:t>e</a:t>
            </a:r>
            <a:r>
              <a:rPr lang="en-US" altLang="zh-CN" baseline="-25000"/>
              <a:t>8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3 </a:t>
            </a:r>
            <a:r>
              <a:rPr lang="en-US" altLang="zh-CN"/>
              <a:t>x</a:t>
            </a:r>
            <a:r>
              <a:rPr lang="en-US" altLang="zh-CN" baseline="-25000"/>
              <a:t>4 </a:t>
            </a:r>
            <a:r>
              <a:rPr lang="en-US" altLang="zh-CN"/>
              <a:t>e</a:t>
            </a:r>
            <a:r>
              <a:rPr lang="en-US" altLang="zh-CN" baseline="-25000"/>
              <a:t>3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6 </a:t>
            </a:r>
            <a:r>
              <a:rPr lang="en-US" altLang="zh-CN"/>
              <a:t>x</a:t>
            </a:r>
            <a:r>
              <a:rPr lang="en-US" altLang="zh-CN" baseline="-25000"/>
              <a:t>3</a:t>
            </a:r>
            <a:endParaRPr lang="zh-CN" altLang="zh-CN"/>
          </a:p>
          <a:p>
            <a:pPr>
              <a:lnSpc>
                <a:spcPct val="135000"/>
              </a:lnSpc>
            </a:pPr>
            <a:r>
              <a:rPr lang="en-US" altLang="zh-CN">
                <a:solidFill>
                  <a:srgbClr val="00CC99"/>
                </a:solidFill>
              </a:rPr>
              <a:t>x</a:t>
            </a:r>
            <a:r>
              <a:rPr lang="en-US" altLang="zh-CN" baseline="-25000">
                <a:solidFill>
                  <a:srgbClr val="00CC99"/>
                </a:solidFill>
              </a:rPr>
              <a:t>1</a:t>
            </a:r>
            <a:r>
              <a:rPr lang="zh-CN" altLang="zh-CN" baseline="-25000">
                <a:solidFill>
                  <a:srgbClr val="00CC99"/>
                </a:solidFill>
              </a:rPr>
              <a:t>－</a:t>
            </a:r>
            <a:r>
              <a:rPr lang="en-US" altLang="zh-CN">
                <a:solidFill>
                  <a:srgbClr val="00CC99"/>
                </a:solidFill>
              </a:rPr>
              <a:t>x</a:t>
            </a:r>
            <a:r>
              <a:rPr lang="en-US" altLang="zh-CN" baseline="-25000">
                <a:solidFill>
                  <a:srgbClr val="00CC99"/>
                </a:solidFill>
              </a:rPr>
              <a:t>3</a:t>
            </a:r>
            <a:r>
              <a:rPr lang="zh-CN" altLang="zh-CN">
                <a:solidFill>
                  <a:srgbClr val="00CC99"/>
                </a:solidFill>
              </a:rPr>
              <a:t>迹</a:t>
            </a:r>
            <a:r>
              <a:rPr lang="zh-CN" altLang="zh-CN"/>
              <a:t>：</a:t>
            </a:r>
            <a:r>
              <a:rPr lang="en-US" altLang="zh-CN"/>
              <a:t>x</a:t>
            </a:r>
            <a:r>
              <a:rPr lang="en-US" altLang="zh-CN" baseline="-25000"/>
              <a:t>1 </a:t>
            </a:r>
            <a:r>
              <a:rPr lang="en-US" altLang="zh-CN"/>
              <a:t>e</a:t>
            </a:r>
            <a:r>
              <a:rPr lang="en-US" altLang="zh-CN" baseline="-25000"/>
              <a:t>9</a:t>
            </a:r>
            <a:r>
              <a:rPr lang="en-US" altLang="zh-CN"/>
              <a:t> x</a:t>
            </a:r>
            <a:r>
              <a:rPr lang="en-US" altLang="zh-CN" baseline="-25000"/>
              <a:t>2 </a:t>
            </a:r>
            <a:r>
              <a:rPr lang="en-US" altLang="zh-CN"/>
              <a:t>e</a:t>
            </a:r>
            <a:r>
              <a:rPr lang="en-US" altLang="zh-CN" baseline="-25000"/>
              <a:t>8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3 </a:t>
            </a:r>
            <a:r>
              <a:rPr lang="en-US" altLang="zh-CN"/>
              <a:t>x</a:t>
            </a:r>
            <a:r>
              <a:rPr lang="en-US" altLang="zh-CN" baseline="-25000"/>
              <a:t>4 </a:t>
            </a:r>
            <a:r>
              <a:rPr lang="en-US" altLang="zh-CN"/>
              <a:t>e</a:t>
            </a:r>
            <a:r>
              <a:rPr lang="en-US" altLang="zh-CN" baseline="-25000"/>
              <a:t>4 </a:t>
            </a:r>
            <a:r>
              <a:rPr lang="en-US" altLang="zh-CN"/>
              <a:t>x</a:t>
            </a:r>
            <a:r>
              <a:rPr lang="en-US" altLang="zh-CN" baseline="-25000"/>
              <a:t>3</a:t>
            </a:r>
            <a:endParaRPr lang="zh-CN" altLang="zh-CN"/>
          </a:p>
          <a:p>
            <a:pPr>
              <a:lnSpc>
                <a:spcPct val="135000"/>
              </a:lnSpc>
            </a:pPr>
            <a:r>
              <a:rPr lang="en-US" altLang="zh-CN">
                <a:solidFill>
                  <a:srgbClr val="FF00FF"/>
                </a:solidFill>
              </a:rPr>
              <a:t>x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zh-CN" altLang="zh-CN" baseline="-25000">
                <a:solidFill>
                  <a:srgbClr val="FF00FF"/>
                </a:solidFill>
              </a:rPr>
              <a:t>－</a:t>
            </a:r>
            <a:r>
              <a:rPr lang="en-US" altLang="zh-CN">
                <a:solidFill>
                  <a:srgbClr val="FF00FF"/>
                </a:solidFill>
              </a:rPr>
              <a:t>x</a:t>
            </a:r>
            <a:r>
              <a:rPr lang="en-US" altLang="zh-CN" baseline="-25000">
                <a:solidFill>
                  <a:srgbClr val="FF00FF"/>
                </a:solidFill>
              </a:rPr>
              <a:t>3</a:t>
            </a:r>
            <a:r>
              <a:rPr lang="zh-CN" altLang="zh-CN">
                <a:solidFill>
                  <a:srgbClr val="FF00FF"/>
                </a:solidFill>
              </a:rPr>
              <a:t>路</a:t>
            </a:r>
            <a:r>
              <a:rPr lang="zh-CN" altLang="zh-CN"/>
              <a:t>：</a:t>
            </a:r>
            <a:r>
              <a:rPr lang="en-US" altLang="zh-CN"/>
              <a:t>x</a:t>
            </a:r>
            <a:r>
              <a:rPr lang="en-US" altLang="zh-CN" baseline="-25000"/>
              <a:t>1 </a:t>
            </a:r>
            <a:r>
              <a:rPr lang="en-US" altLang="zh-CN"/>
              <a:t>e</a:t>
            </a:r>
            <a:r>
              <a:rPr lang="en-US" altLang="zh-CN" baseline="-25000"/>
              <a:t>9</a:t>
            </a:r>
            <a:r>
              <a:rPr lang="en-US" altLang="zh-CN"/>
              <a:t> x</a:t>
            </a:r>
            <a:r>
              <a:rPr lang="en-US" altLang="zh-CN" baseline="-25000"/>
              <a:t>2 </a:t>
            </a:r>
            <a:r>
              <a:rPr lang="en-US" altLang="zh-CN"/>
              <a:t>e</a:t>
            </a:r>
            <a:r>
              <a:rPr lang="en-US" altLang="zh-CN" baseline="-25000"/>
              <a:t>8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3 </a:t>
            </a:r>
            <a:r>
              <a:rPr lang="en-US" altLang="zh-CN"/>
              <a:t>x</a:t>
            </a:r>
            <a:r>
              <a:rPr lang="en-US" altLang="zh-CN" baseline="-25000"/>
              <a:t>4 </a:t>
            </a:r>
            <a:r>
              <a:rPr lang="en-US" altLang="zh-CN"/>
              <a:t>e</a:t>
            </a:r>
            <a:r>
              <a:rPr lang="en-US" altLang="zh-CN" baseline="-25000"/>
              <a:t>4 </a:t>
            </a:r>
            <a:r>
              <a:rPr lang="en-US" altLang="zh-CN"/>
              <a:t>x</a:t>
            </a:r>
            <a:r>
              <a:rPr lang="en-US" altLang="zh-CN" baseline="-25000"/>
              <a:t>3</a:t>
            </a:r>
            <a:endParaRPr lang="zh-CN" altLang="zh-CN"/>
          </a:p>
          <a:p>
            <a:pPr>
              <a:lnSpc>
                <a:spcPct val="135000"/>
              </a:lnSpc>
            </a:pPr>
            <a:r>
              <a:rPr lang="zh-CN" altLang="zh-CN">
                <a:solidFill>
                  <a:srgbClr val="00B050"/>
                </a:solidFill>
              </a:rPr>
              <a:t>有向</a:t>
            </a:r>
            <a:r>
              <a:rPr lang="en-US" altLang="zh-CN">
                <a:solidFill>
                  <a:srgbClr val="00B050"/>
                </a:solidFill>
              </a:rPr>
              <a:t>x</a:t>
            </a:r>
            <a:r>
              <a:rPr lang="en-US" altLang="zh-CN" baseline="-25000">
                <a:solidFill>
                  <a:srgbClr val="00B050"/>
                </a:solidFill>
              </a:rPr>
              <a:t>1</a:t>
            </a:r>
            <a:r>
              <a:rPr lang="zh-CN" altLang="zh-CN" baseline="-25000">
                <a:solidFill>
                  <a:srgbClr val="00B050"/>
                </a:solidFill>
              </a:rPr>
              <a:t>－</a:t>
            </a:r>
            <a:r>
              <a:rPr lang="en-US" altLang="zh-CN">
                <a:solidFill>
                  <a:srgbClr val="00B050"/>
                </a:solidFill>
              </a:rPr>
              <a:t>x</a:t>
            </a:r>
            <a:r>
              <a:rPr lang="en-US" altLang="zh-CN" baseline="-25000">
                <a:solidFill>
                  <a:srgbClr val="00B050"/>
                </a:solidFill>
              </a:rPr>
              <a:t>3</a:t>
            </a:r>
            <a:r>
              <a:rPr lang="zh-CN" altLang="zh-CN">
                <a:solidFill>
                  <a:srgbClr val="00B050"/>
                </a:solidFill>
              </a:rPr>
              <a:t>链</a:t>
            </a:r>
            <a:r>
              <a:rPr lang="zh-CN" altLang="zh-CN"/>
              <a:t>：</a:t>
            </a:r>
            <a:r>
              <a:rPr lang="en-US" altLang="zh-CN"/>
              <a:t>x</a:t>
            </a:r>
            <a:r>
              <a:rPr lang="en-US" altLang="zh-CN" baseline="-25000"/>
              <a:t>1 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/>
              <a:t> x</a:t>
            </a:r>
            <a:r>
              <a:rPr lang="en-US" altLang="zh-CN" baseline="-25000"/>
              <a:t>5 </a:t>
            </a:r>
            <a:r>
              <a:rPr lang="en-US" altLang="zh-CN"/>
              <a:t>e</a:t>
            </a:r>
            <a:r>
              <a:rPr lang="en-US" altLang="zh-CN" baseline="-25000"/>
              <a:t>6 </a:t>
            </a:r>
            <a:r>
              <a:rPr lang="en-US" altLang="zh-CN"/>
              <a:t>x</a:t>
            </a:r>
            <a:r>
              <a:rPr lang="en-US" altLang="zh-CN" baseline="-25000"/>
              <a:t>3 </a:t>
            </a:r>
            <a:r>
              <a:rPr lang="en-US" altLang="zh-CN"/>
              <a:t>e</a:t>
            </a:r>
            <a:r>
              <a:rPr lang="en-US" altLang="zh-CN" baseline="-25000"/>
              <a:t>4 </a:t>
            </a:r>
            <a:r>
              <a:rPr lang="en-US" altLang="zh-CN"/>
              <a:t>x</a:t>
            </a:r>
            <a:r>
              <a:rPr lang="en-US" altLang="zh-CN" baseline="-25000"/>
              <a:t>4 </a:t>
            </a:r>
            <a:r>
              <a:rPr lang="en-US" altLang="zh-CN"/>
              <a:t>e</a:t>
            </a:r>
            <a:r>
              <a:rPr lang="en-US" altLang="zh-CN" baseline="-25000"/>
              <a:t>5 </a:t>
            </a:r>
            <a:r>
              <a:rPr lang="en-US" altLang="zh-CN"/>
              <a:t>x</a:t>
            </a:r>
            <a:r>
              <a:rPr lang="en-US" altLang="zh-CN" baseline="-25000"/>
              <a:t>3</a:t>
            </a:r>
            <a:endParaRPr lang="zh-CN" altLang="zh-CN"/>
          </a:p>
        </p:txBody>
      </p:sp>
      <p:sp>
        <p:nvSpPr>
          <p:cNvPr id="6149" name="Rectangle 44">
            <a:extLst>
              <a:ext uri="{FF2B5EF4-FFF2-40B4-BE49-F238E27FC236}">
                <a16:creationId xmlns:a16="http://schemas.microsoft.com/office/drawing/2014/main" id="{26C71A9D-0440-8A6A-4323-FA50BBB5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150" name="Group 5">
            <a:extLst>
              <a:ext uri="{FF2B5EF4-FFF2-40B4-BE49-F238E27FC236}">
                <a16:creationId xmlns:a16="http://schemas.microsoft.com/office/drawing/2014/main" id="{261FCD01-7903-F71E-ACC4-757ECFF941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9750" y="2997200"/>
            <a:ext cx="4471988" cy="3222625"/>
            <a:chOff x="4403" y="6981"/>
            <a:chExt cx="4603" cy="3318"/>
          </a:xfrm>
        </p:grpSpPr>
        <p:sp>
          <p:nvSpPr>
            <p:cNvPr id="6151" name="AutoShape 43">
              <a:extLst>
                <a:ext uri="{FF2B5EF4-FFF2-40B4-BE49-F238E27FC236}">
                  <a16:creationId xmlns:a16="http://schemas.microsoft.com/office/drawing/2014/main" id="{6E56307C-410E-9E8B-C38A-FDAFEBEB950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403" y="7257"/>
              <a:ext cx="4602" cy="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" name="Text Box 42">
              <a:extLst>
                <a:ext uri="{FF2B5EF4-FFF2-40B4-BE49-F238E27FC236}">
                  <a16:creationId xmlns:a16="http://schemas.microsoft.com/office/drawing/2014/main" id="{30100DCD-185F-38E7-8C59-B3C7E5F9A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7" y="861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6153" name="Text Box 41">
              <a:extLst>
                <a:ext uri="{FF2B5EF4-FFF2-40B4-BE49-F238E27FC236}">
                  <a16:creationId xmlns:a16="http://schemas.microsoft.com/office/drawing/2014/main" id="{22A2F6A2-F3FE-68FE-6E38-091CCB7AE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1" y="876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6154" name="Text Box 40">
              <a:extLst>
                <a:ext uri="{FF2B5EF4-FFF2-40B4-BE49-F238E27FC236}">
                  <a16:creationId xmlns:a16="http://schemas.microsoft.com/office/drawing/2014/main" id="{6AFFC10C-4A91-D183-2B88-D776FBAB6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5" y="951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6155" name="Text Box 39">
              <a:extLst>
                <a:ext uri="{FF2B5EF4-FFF2-40B4-BE49-F238E27FC236}">
                  <a16:creationId xmlns:a16="http://schemas.microsoft.com/office/drawing/2014/main" id="{E1F6257D-188E-B01F-B692-2964F49B4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" y="802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6156" name="Text Box 38">
              <a:extLst>
                <a:ext uri="{FF2B5EF4-FFF2-40B4-BE49-F238E27FC236}">
                  <a16:creationId xmlns:a16="http://schemas.microsoft.com/office/drawing/2014/main" id="{42077853-6D01-4283-96A8-301A28A55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0" y="69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6157" name="Text Box 37">
              <a:extLst>
                <a:ext uri="{FF2B5EF4-FFF2-40B4-BE49-F238E27FC236}">
                  <a16:creationId xmlns:a16="http://schemas.microsoft.com/office/drawing/2014/main" id="{5957A991-FA1F-299A-8822-208E3A30C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" y="848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6158" name="Text Box 36">
              <a:extLst>
                <a:ext uri="{FF2B5EF4-FFF2-40B4-BE49-F238E27FC236}">
                  <a16:creationId xmlns:a16="http://schemas.microsoft.com/office/drawing/2014/main" id="{C5832DF1-D548-529F-A4D6-DDCF19F83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" y="775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6159" name="Text Box 35">
              <a:extLst>
                <a:ext uri="{FF2B5EF4-FFF2-40B4-BE49-F238E27FC236}">
                  <a16:creationId xmlns:a16="http://schemas.microsoft.com/office/drawing/2014/main" id="{BA2A0983-9EE0-BDF8-017F-43369F0DE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9" y="868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6160" name="Text Box 34">
              <a:extLst>
                <a:ext uri="{FF2B5EF4-FFF2-40B4-BE49-F238E27FC236}">
                  <a16:creationId xmlns:a16="http://schemas.microsoft.com/office/drawing/2014/main" id="{84E82523-415B-3C9E-4F11-8C994CA9A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3" y="89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6161" name="Text Box 33">
              <a:extLst>
                <a:ext uri="{FF2B5EF4-FFF2-40B4-BE49-F238E27FC236}">
                  <a16:creationId xmlns:a16="http://schemas.microsoft.com/office/drawing/2014/main" id="{87ABEE7C-46F6-3F6C-CC60-C8240EEB3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7" y="736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6162" name="Text Box 32">
              <a:extLst>
                <a:ext uri="{FF2B5EF4-FFF2-40B4-BE49-F238E27FC236}">
                  <a16:creationId xmlns:a16="http://schemas.microsoft.com/office/drawing/2014/main" id="{302EA454-2F27-09BA-89CD-42BC514DD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0" y="730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6163" name="Text Box 31">
              <a:extLst>
                <a:ext uri="{FF2B5EF4-FFF2-40B4-BE49-F238E27FC236}">
                  <a16:creationId xmlns:a16="http://schemas.microsoft.com/office/drawing/2014/main" id="{5572F363-58B4-1262-A41E-AA62390EC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960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6164" name="Text Box 30">
              <a:extLst>
                <a:ext uri="{FF2B5EF4-FFF2-40B4-BE49-F238E27FC236}">
                  <a16:creationId xmlns:a16="http://schemas.microsoft.com/office/drawing/2014/main" id="{7C45B50A-DCFB-1BF7-998D-2DBBD294F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1" y="964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6165" name="Text Box 29">
              <a:extLst>
                <a:ext uri="{FF2B5EF4-FFF2-40B4-BE49-F238E27FC236}">
                  <a16:creationId xmlns:a16="http://schemas.microsoft.com/office/drawing/2014/main" id="{B3B0B85C-9F0B-2377-AEEB-FA251615D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" y="794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6166" name="Oval 28">
              <a:extLst>
                <a:ext uri="{FF2B5EF4-FFF2-40B4-BE49-F238E27FC236}">
                  <a16:creationId xmlns:a16="http://schemas.microsoft.com/office/drawing/2014/main" id="{6FF0F5EF-4E5F-AD9E-B24A-C65B0EDE8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5" y="785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7" name="Oval 27">
              <a:extLst>
                <a:ext uri="{FF2B5EF4-FFF2-40B4-BE49-F238E27FC236}">
                  <a16:creationId xmlns:a16="http://schemas.microsoft.com/office/drawing/2014/main" id="{AD51D1EE-5C67-DF61-FA53-6BC0DCB39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7" y="78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8" name="Oval 26">
              <a:extLst>
                <a:ext uri="{FF2B5EF4-FFF2-40B4-BE49-F238E27FC236}">
                  <a16:creationId xmlns:a16="http://schemas.microsoft.com/office/drawing/2014/main" id="{DEFC5878-F643-15F7-BFDB-0EF952BB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" y="959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9" name="Oval 25">
              <a:extLst>
                <a:ext uri="{FF2B5EF4-FFF2-40B4-BE49-F238E27FC236}">
                  <a16:creationId xmlns:a16="http://schemas.microsoft.com/office/drawing/2014/main" id="{C343826E-3278-E807-EADD-C75B5D989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7" y="95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0" name="Oval 24">
              <a:extLst>
                <a:ext uri="{FF2B5EF4-FFF2-40B4-BE49-F238E27FC236}">
                  <a16:creationId xmlns:a16="http://schemas.microsoft.com/office/drawing/2014/main" id="{B3CC26BE-CEBF-5886-40EE-4512FA3A1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9" y="860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6171" name="AutoShape 23">
              <a:extLst>
                <a:ext uri="{FF2B5EF4-FFF2-40B4-BE49-F238E27FC236}">
                  <a16:creationId xmlns:a16="http://schemas.microsoft.com/office/drawing/2014/main" id="{C6116246-F4B6-5469-A3B1-EE8779F3BF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18" y="9663"/>
              <a:ext cx="1609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2" name="AutoShape 22">
              <a:extLst>
                <a:ext uri="{FF2B5EF4-FFF2-40B4-BE49-F238E27FC236}">
                  <a16:creationId xmlns:a16="http://schemas.microsoft.com/office/drawing/2014/main" id="{171FD92B-2C70-A943-5DFC-56733F027B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486" y="8796"/>
              <a:ext cx="865" cy="7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3" name="AutoShape 21">
              <a:extLst>
                <a:ext uri="{FF2B5EF4-FFF2-40B4-BE49-F238E27FC236}">
                  <a16:creationId xmlns:a16="http://schemas.microsoft.com/office/drawing/2014/main" id="{35D1D940-D802-27BC-B47E-4A28A3A8AE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08" y="8796"/>
              <a:ext cx="651" cy="8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4" name="AutoShape 20">
              <a:extLst>
                <a:ext uri="{FF2B5EF4-FFF2-40B4-BE49-F238E27FC236}">
                  <a16:creationId xmlns:a16="http://schemas.microsoft.com/office/drawing/2014/main" id="{BBDF0DCA-BFE4-6DB2-105E-C110303CAA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38" y="8104"/>
              <a:ext cx="990" cy="14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5" name="AutoShape 19">
              <a:extLst>
                <a:ext uri="{FF2B5EF4-FFF2-40B4-BE49-F238E27FC236}">
                  <a16:creationId xmlns:a16="http://schemas.microsoft.com/office/drawing/2014/main" id="{1DFC4063-E33D-CFF1-A292-785DD323D3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08" y="7993"/>
              <a:ext cx="1609" cy="6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6" name="AutoShape 18">
              <a:extLst>
                <a:ext uri="{FF2B5EF4-FFF2-40B4-BE49-F238E27FC236}">
                  <a16:creationId xmlns:a16="http://schemas.microsoft.com/office/drawing/2014/main" id="{105B17A3-6223-EFA2-BA12-CE585DC16B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66" y="8077"/>
              <a:ext cx="542" cy="14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7" name="AutoShape 17">
              <a:extLst>
                <a:ext uri="{FF2B5EF4-FFF2-40B4-BE49-F238E27FC236}">
                  <a16:creationId xmlns:a16="http://schemas.microsoft.com/office/drawing/2014/main" id="{353CC3E6-3186-3BC8-1C06-450049B252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4" y="8044"/>
              <a:ext cx="1407" cy="5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78" name="Freeform 16">
              <a:extLst>
                <a:ext uri="{FF2B5EF4-FFF2-40B4-BE49-F238E27FC236}">
                  <a16:creationId xmlns:a16="http://schemas.microsoft.com/office/drawing/2014/main" id="{FC1E3B56-36F6-541A-AA2B-2F205124E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5" y="8085"/>
              <a:ext cx="1050" cy="1562"/>
            </a:xfrm>
            <a:custGeom>
              <a:avLst/>
              <a:gdLst>
                <a:gd name="T0" fmla="*/ 930 w 1050"/>
                <a:gd name="T1" fmla="*/ 0 h 1562"/>
                <a:gd name="T2" fmla="*/ 1035 w 1050"/>
                <a:gd name="T3" fmla="*/ 270 h 1562"/>
                <a:gd name="T4" fmla="*/ 1050 w 1050"/>
                <a:gd name="T5" fmla="*/ 525 h 1562"/>
                <a:gd name="T6" fmla="*/ 975 w 1050"/>
                <a:gd name="T7" fmla="*/ 780 h 1562"/>
                <a:gd name="T8" fmla="*/ 915 w 1050"/>
                <a:gd name="T9" fmla="*/ 870 h 1562"/>
                <a:gd name="T10" fmla="*/ 840 w 1050"/>
                <a:gd name="T11" fmla="*/ 1005 h 1562"/>
                <a:gd name="T12" fmla="*/ 645 w 1050"/>
                <a:gd name="T13" fmla="*/ 1185 h 1562"/>
                <a:gd name="T14" fmla="*/ 465 w 1050"/>
                <a:gd name="T15" fmla="*/ 1290 h 1562"/>
                <a:gd name="T16" fmla="*/ 420 w 1050"/>
                <a:gd name="T17" fmla="*/ 1335 h 1562"/>
                <a:gd name="T18" fmla="*/ 240 w 1050"/>
                <a:gd name="T19" fmla="*/ 1410 h 1562"/>
                <a:gd name="T20" fmla="*/ 120 w 1050"/>
                <a:gd name="T21" fmla="*/ 1500 h 1562"/>
                <a:gd name="T22" fmla="*/ 0 w 1050"/>
                <a:gd name="T23" fmla="*/ 1560 h 156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50" h="1562">
                  <a:moveTo>
                    <a:pt x="930" y="0"/>
                  </a:moveTo>
                  <a:cubicBezTo>
                    <a:pt x="1006" y="76"/>
                    <a:pt x="1018" y="168"/>
                    <a:pt x="1035" y="270"/>
                  </a:cubicBezTo>
                  <a:cubicBezTo>
                    <a:pt x="1040" y="355"/>
                    <a:pt x="1050" y="440"/>
                    <a:pt x="1050" y="525"/>
                  </a:cubicBezTo>
                  <a:cubicBezTo>
                    <a:pt x="1050" y="610"/>
                    <a:pt x="1002" y="700"/>
                    <a:pt x="975" y="780"/>
                  </a:cubicBezTo>
                  <a:cubicBezTo>
                    <a:pt x="964" y="814"/>
                    <a:pt x="926" y="836"/>
                    <a:pt x="915" y="870"/>
                  </a:cubicBezTo>
                  <a:cubicBezTo>
                    <a:pt x="889" y="949"/>
                    <a:pt x="909" y="902"/>
                    <a:pt x="840" y="1005"/>
                  </a:cubicBezTo>
                  <a:cubicBezTo>
                    <a:pt x="770" y="1111"/>
                    <a:pt x="760" y="1109"/>
                    <a:pt x="645" y="1185"/>
                  </a:cubicBezTo>
                  <a:cubicBezTo>
                    <a:pt x="586" y="1225"/>
                    <a:pt x="533" y="1267"/>
                    <a:pt x="465" y="1290"/>
                  </a:cubicBezTo>
                  <a:cubicBezTo>
                    <a:pt x="450" y="1305"/>
                    <a:pt x="439" y="1325"/>
                    <a:pt x="420" y="1335"/>
                  </a:cubicBezTo>
                  <a:cubicBezTo>
                    <a:pt x="357" y="1370"/>
                    <a:pt x="299" y="1371"/>
                    <a:pt x="240" y="1410"/>
                  </a:cubicBezTo>
                  <a:cubicBezTo>
                    <a:pt x="197" y="1475"/>
                    <a:pt x="183" y="1458"/>
                    <a:pt x="120" y="1500"/>
                  </a:cubicBezTo>
                  <a:cubicBezTo>
                    <a:pt x="79" y="1562"/>
                    <a:pt x="73" y="1560"/>
                    <a:pt x="0" y="156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Freeform 15">
              <a:extLst>
                <a:ext uri="{FF2B5EF4-FFF2-40B4-BE49-F238E27FC236}">
                  <a16:creationId xmlns:a16="http://schemas.microsoft.com/office/drawing/2014/main" id="{544DCCC2-42BA-7D3D-2D02-64F657C65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" y="7516"/>
              <a:ext cx="791" cy="1140"/>
            </a:xfrm>
            <a:custGeom>
              <a:avLst/>
              <a:gdLst>
                <a:gd name="T0" fmla="*/ 375 w 791"/>
                <a:gd name="T1" fmla="*/ 1095 h 1140"/>
                <a:gd name="T2" fmla="*/ 420 w 791"/>
                <a:gd name="T3" fmla="*/ 960 h 1140"/>
                <a:gd name="T4" fmla="*/ 450 w 791"/>
                <a:gd name="T5" fmla="*/ 915 h 1140"/>
                <a:gd name="T6" fmla="*/ 480 w 791"/>
                <a:gd name="T7" fmla="*/ 825 h 1140"/>
                <a:gd name="T8" fmla="*/ 630 w 791"/>
                <a:gd name="T9" fmla="*/ 555 h 1140"/>
                <a:gd name="T10" fmla="*/ 645 w 791"/>
                <a:gd name="T11" fmla="*/ 510 h 1140"/>
                <a:gd name="T12" fmla="*/ 675 w 791"/>
                <a:gd name="T13" fmla="*/ 465 h 1140"/>
                <a:gd name="T14" fmla="*/ 750 w 791"/>
                <a:gd name="T15" fmla="*/ 270 h 1140"/>
                <a:gd name="T16" fmla="*/ 690 w 791"/>
                <a:gd name="T17" fmla="*/ 0 h 1140"/>
                <a:gd name="T18" fmla="*/ 285 w 791"/>
                <a:gd name="T19" fmla="*/ 60 h 1140"/>
                <a:gd name="T20" fmla="*/ 195 w 791"/>
                <a:gd name="T21" fmla="*/ 90 h 1140"/>
                <a:gd name="T22" fmla="*/ 105 w 791"/>
                <a:gd name="T23" fmla="*/ 150 h 1140"/>
                <a:gd name="T24" fmla="*/ 45 w 791"/>
                <a:gd name="T25" fmla="*/ 225 h 1140"/>
                <a:gd name="T26" fmla="*/ 0 w 791"/>
                <a:gd name="T27" fmla="*/ 315 h 1140"/>
                <a:gd name="T28" fmla="*/ 105 w 791"/>
                <a:gd name="T29" fmla="*/ 705 h 1140"/>
                <a:gd name="T30" fmla="*/ 150 w 791"/>
                <a:gd name="T31" fmla="*/ 795 h 1140"/>
                <a:gd name="T32" fmla="*/ 210 w 791"/>
                <a:gd name="T33" fmla="*/ 885 h 1140"/>
                <a:gd name="T34" fmla="*/ 255 w 791"/>
                <a:gd name="T35" fmla="*/ 1035 h 1140"/>
                <a:gd name="T36" fmla="*/ 270 w 791"/>
                <a:gd name="T37" fmla="*/ 1080 h 1140"/>
                <a:gd name="T38" fmla="*/ 285 w 791"/>
                <a:gd name="T39" fmla="*/ 1140 h 114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1" h="1140">
                  <a:moveTo>
                    <a:pt x="375" y="1095"/>
                  </a:moveTo>
                  <a:cubicBezTo>
                    <a:pt x="390" y="1050"/>
                    <a:pt x="405" y="1005"/>
                    <a:pt x="420" y="960"/>
                  </a:cubicBezTo>
                  <a:cubicBezTo>
                    <a:pt x="426" y="943"/>
                    <a:pt x="443" y="931"/>
                    <a:pt x="450" y="915"/>
                  </a:cubicBezTo>
                  <a:cubicBezTo>
                    <a:pt x="463" y="886"/>
                    <a:pt x="462" y="851"/>
                    <a:pt x="480" y="825"/>
                  </a:cubicBezTo>
                  <a:cubicBezTo>
                    <a:pt x="538" y="738"/>
                    <a:pt x="570" y="645"/>
                    <a:pt x="630" y="555"/>
                  </a:cubicBezTo>
                  <a:cubicBezTo>
                    <a:pt x="639" y="542"/>
                    <a:pt x="638" y="524"/>
                    <a:pt x="645" y="510"/>
                  </a:cubicBezTo>
                  <a:cubicBezTo>
                    <a:pt x="653" y="494"/>
                    <a:pt x="665" y="480"/>
                    <a:pt x="675" y="465"/>
                  </a:cubicBezTo>
                  <a:cubicBezTo>
                    <a:pt x="693" y="393"/>
                    <a:pt x="709" y="331"/>
                    <a:pt x="750" y="270"/>
                  </a:cubicBezTo>
                  <a:cubicBezTo>
                    <a:pt x="762" y="159"/>
                    <a:pt x="791" y="67"/>
                    <a:pt x="690" y="0"/>
                  </a:cubicBezTo>
                  <a:cubicBezTo>
                    <a:pt x="556" y="27"/>
                    <a:pt x="420" y="45"/>
                    <a:pt x="285" y="60"/>
                  </a:cubicBezTo>
                  <a:cubicBezTo>
                    <a:pt x="255" y="70"/>
                    <a:pt x="225" y="80"/>
                    <a:pt x="195" y="90"/>
                  </a:cubicBezTo>
                  <a:cubicBezTo>
                    <a:pt x="161" y="101"/>
                    <a:pt x="105" y="150"/>
                    <a:pt x="105" y="150"/>
                  </a:cubicBezTo>
                  <a:cubicBezTo>
                    <a:pt x="76" y="238"/>
                    <a:pt x="113" y="157"/>
                    <a:pt x="45" y="225"/>
                  </a:cubicBezTo>
                  <a:cubicBezTo>
                    <a:pt x="16" y="254"/>
                    <a:pt x="12" y="278"/>
                    <a:pt x="0" y="315"/>
                  </a:cubicBezTo>
                  <a:cubicBezTo>
                    <a:pt x="17" y="454"/>
                    <a:pt x="43" y="581"/>
                    <a:pt x="105" y="705"/>
                  </a:cubicBezTo>
                  <a:cubicBezTo>
                    <a:pt x="120" y="735"/>
                    <a:pt x="134" y="766"/>
                    <a:pt x="150" y="795"/>
                  </a:cubicBezTo>
                  <a:cubicBezTo>
                    <a:pt x="168" y="827"/>
                    <a:pt x="210" y="885"/>
                    <a:pt x="210" y="885"/>
                  </a:cubicBezTo>
                  <a:cubicBezTo>
                    <a:pt x="233" y="976"/>
                    <a:pt x="218" y="925"/>
                    <a:pt x="255" y="1035"/>
                  </a:cubicBezTo>
                  <a:cubicBezTo>
                    <a:pt x="260" y="1050"/>
                    <a:pt x="265" y="1065"/>
                    <a:pt x="270" y="1080"/>
                  </a:cubicBezTo>
                  <a:cubicBezTo>
                    <a:pt x="277" y="1100"/>
                    <a:pt x="285" y="1140"/>
                    <a:pt x="285" y="11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180" name="AutoShape 14">
              <a:extLst>
                <a:ext uri="{FF2B5EF4-FFF2-40B4-BE49-F238E27FC236}">
                  <a16:creationId xmlns:a16="http://schemas.microsoft.com/office/drawing/2014/main" id="{45745E45-37E3-9A98-B4A5-307132471C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51" y="9693"/>
              <a:ext cx="15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1" name="AutoShape 13">
              <a:extLst>
                <a:ext uri="{FF2B5EF4-FFF2-40B4-BE49-F238E27FC236}">
                  <a16:creationId xmlns:a16="http://schemas.microsoft.com/office/drawing/2014/main" id="{B50F41D6-9321-DEFF-1A3A-B7E24846CE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05" y="9256"/>
              <a:ext cx="45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2" name="AutoShape 12">
              <a:extLst>
                <a:ext uri="{FF2B5EF4-FFF2-40B4-BE49-F238E27FC236}">
                  <a16:creationId xmlns:a16="http://schemas.microsoft.com/office/drawing/2014/main" id="{C55DDE0D-584B-9C29-D74A-8E11E923B4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90" y="9031"/>
              <a:ext cx="7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3" name="AutoShape 11">
              <a:extLst>
                <a:ext uri="{FF2B5EF4-FFF2-40B4-BE49-F238E27FC236}">
                  <a16:creationId xmlns:a16="http://schemas.microsoft.com/office/drawing/2014/main" id="{19FAE6AC-1396-A48E-4566-190F7F2C1C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130" y="8829"/>
              <a:ext cx="45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4" name="AutoShape 10">
              <a:extLst>
                <a:ext uri="{FF2B5EF4-FFF2-40B4-BE49-F238E27FC236}">
                  <a16:creationId xmlns:a16="http://schemas.microsoft.com/office/drawing/2014/main" id="{169FED41-593E-C979-BE86-E09D4B6108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175" y="8955"/>
              <a:ext cx="75" cy="1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5" name="AutoShape 9">
              <a:extLst>
                <a:ext uri="{FF2B5EF4-FFF2-40B4-BE49-F238E27FC236}">
                  <a16:creationId xmlns:a16="http://schemas.microsoft.com/office/drawing/2014/main" id="{7F1F293F-8BAF-CA59-ECF7-83A77B76B7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00" y="7576"/>
              <a:ext cx="90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6" name="AutoShape 8">
              <a:extLst>
                <a:ext uri="{FF2B5EF4-FFF2-40B4-BE49-F238E27FC236}">
                  <a16:creationId xmlns:a16="http://schemas.microsoft.com/office/drawing/2014/main" id="{1158DD36-C85D-A42B-F20F-C565EB38F9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08" y="8238"/>
              <a:ext cx="110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7" name="AutoShape 7">
              <a:extLst>
                <a:ext uri="{FF2B5EF4-FFF2-40B4-BE49-F238E27FC236}">
                  <a16:creationId xmlns:a16="http://schemas.microsoft.com/office/drawing/2014/main" id="{761D2936-A5F6-9259-F4FB-F31188188F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127" y="8296"/>
              <a:ext cx="221" cy="1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8" name="AutoShape 6">
              <a:extLst>
                <a:ext uri="{FF2B5EF4-FFF2-40B4-BE49-F238E27FC236}">
                  <a16:creationId xmlns:a16="http://schemas.microsoft.com/office/drawing/2014/main" id="{A02A12B6-3CF1-9CA9-45F8-440713B8C2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70" y="8656"/>
              <a:ext cx="90" cy="1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C7663759-B09D-66BF-53D8-5E70C453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7.2.1 </a:t>
            </a:r>
            <a:r>
              <a:rPr lang="zh-CN" altLang="en-US" sz="5400" b="1">
                <a:solidFill>
                  <a:srgbClr val="333399"/>
                </a:solidFill>
              </a:rPr>
              <a:t>路</a:t>
            </a:r>
            <a:endParaRPr lang="zh-CN" altLang="en-US"/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0F3FA486-6295-C7EF-D724-1D999362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回</a:t>
            </a:r>
            <a:r>
              <a:rPr lang="en-US" altLang="zh-CN" dirty="0"/>
              <a:t>(circuit)</a:t>
            </a:r>
            <a:r>
              <a:rPr lang="zh-CN" altLang="en-US" dirty="0"/>
              <a:t>：</a:t>
            </a:r>
            <a:r>
              <a:rPr lang="zh-CN" altLang="zh-CN" dirty="0"/>
              <a:t>两端点相同的迹</a:t>
            </a:r>
            <a:r>
              <a:rPr lang="en-US" altLang="zh-CN" dirty="0"/>
              <a:t>    </a:t>
            </a:r>
            <a:r>
              <a:rPr lang="zh-CN" altLang="zh-CN" dirty="0">
                <a:solidFill>
                  <a:srgbClr val="FF0000"/>
                </a:solidFill>
              </a:rPr>
              <a:t>闭迹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00B050"/>
                </a:solidFill>
              </a:rPr>
              <a:t>圈</a:t>
            </a:r>
            <a:r>
              <a:rPr lang="en-US" altLang="zh-CN" dirty="0"/>
              <a:t>(cycle)</a:t>
            </a:r>
            <a:r>
              <a:rPr lang="zh-CN" altLang="zh-CN" dirty="0"/>
              <a:t>或</a:t>
            </a:r>
            <a:r>
              <a:rPr lang="zh-CN" altLang="zh-CN" b="1" dirty="0">
                <a:solidFill>
                  <a:srgbClr val="00B050"/>
                </a:solidFill>
              </a:rPr>
              <a:t>回路</a:t>
            </a:r>
            <a:r>
              <a:rPr lang="en-US" altLang="zh-CN" dirty="0"/>
              <a:t>(circuit)</a:t>
            </a:r>
            <a:r>
              <a:rPr lang="zh-CN" altLang="en-US" dirty="0"/>
              <a:t>：</a:t>
            </a:r>
            <a:r>
              <a:rPr lang="zh-CN" altLang="en-US" sz="2800" dirty="0"/>
              <a:t>两端点相同的路  </a:t>
            </a:r>
            <a:r>
              <a:rPr lang="zh-CN" altLang="zh-CN" sz="2800" dirty="0">
                <a:solidFill>
                  <a:srgbClr val="FF0000"/>
                </a:solidFill>
              </a:rPr>
              <a:t>闭路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k</a:t>
            </a:r>
            <a:r>
              <a:rPr lang="zh-CN" altLang="zh-CN" b="1" dirty="0">
                <a:solidFill>
                  <a:srgbClr val="FF0000"/>
                </a:solidFill>
              </a:rPr>
              <a:t>回</a:t>
            </a:r>
            <a:r>
              <a:rPr lang="zh-CN" altLang="en-US" b="1" dirty="0"/>
              <a:t>：</a:t>
            </a:r>
            <a:r>
              <a:rPr lang="zh-CN" altLang="zh-CN" dirty="0"/>
              <a:t>长度为</a:t>
            </a:r>
            <a:r>
              <a:rPr lang="en-US" altLang="zh-CN" dirty="0"/>
              <a:t>k</a:t>
            </a:r>
            <a:r>
              <a:rPr lang="zh-CN" altLang="zh-CN" dirty="0"/>
              <a:t>的回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00CC99"/>
                </a:solidFill>
              </a:rPr>
              <a:t>奇圈</a:t>
            </a:r>
            <a:r>
              <a:rPr lang="zh-CN" altLang="en-US" b="1" dirty="0"/>
              <a:t>：</a:t>
            </a:r>
            <a:r>
              <a:rPr lang="zh-CN" altLang="zh-CN"/>
              <a:t>长度为</a:t>
            </a:r>
            <a:r>
              <a:rPr lang="zh-CN" altLang="en-US"/>
              <a:t>奇</a:t>
            </a:r>
            <a:r>
              <a:rPr lang="zh-CN" altLang="zh-CN"/>
              <a:t>数</a:t>
            </a:r>
            <a:r>
              <a:rPr lang="zh-CN" altLang="zh-CN" dirty="0"/>
              <a:t>的圈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FF00FF"/>
                </a:solidFill>
              </a:rPr>
              <a:t>有向回</a:t>
            </a:r>
            <a:r>
              <a:rPr lang="zh-CN" altLang="en-US" b="1" dirty="0"/>
              <a:t>：</a:t>
            </a:r>
            <a:r>
              <a:rPr lang="zh-CN" altLang="zh-CN" dirty="0"/>
              <a:t>有向闭迹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00B0F0"/>
                </a:solidFill>
              </a:rPr>
              <a:t>有向圈</a:t>
            </a:r>
            <a:r>
              <a:rPr lang="zh-CN" altLang="en-US" b="1" dirty="0"/>
              <a:t>：</a:t>
            </a:r>
            <a:r>
              <a:rPr lang="zh-CN" altLang="zh-CN" dirty="0"/>
              <a:t>有向闭路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B4D8DDA5-97DE-1E2D-DB80-7F6386A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7.2.2 </a:t>
            </a:r>
            <a:r>
              <a:rPr lang="zh-CN" altLang="en-US" sz="5400" b="1">
                <a:solidFill>
                  <a:srgbClr val="333399"/>
                </a:solidFill>
              </a:rPr>
              <a:t>连通图</a:t>
            </a:r>
            <a:endParaRPr lang="zh-CN" altLang="en-US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C8391811-B479-F803-F22B-6BC36E76B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90000"/>
              </a:lnSpc>
            </a:pPr>
            <a:r>
              <a:rPr lang="zh-CN" altLang="zh-CN">
                <a:solidFill>
                  <a:srgbClr val="FF0000"/>
                </a:solidFill>
              </a:rPr>
              <a:t>结点</a:t>
            </a:r>
            <a:r>
              <a:rPr lang="en-US" altLang="zh-CN"/>
              <a:t>x</a:t>
            </a:r>
            <a:r>
              <a:rPr lang="zh-CN" altLang="zh-CN"/>
              <a:t>和</a:t>
            </a:r>
            <a:r>
              <a:rPr lang="en-US" altLang="zh-CN"/>
              <a:t>y</a:t>
            </a:r>
            <a:r>
              <a:rPr lang="zh-CN" altLang="zh-CN"/>
              <a:t>是</a:t>
            </a:r>
            <a:r>
              <a:rPr lang="zh-CN" altLang="zh-CN" b="1">
                <a:solidFill>
                  <a:srgbClr val="FF0000"/>
                </a:solidFill>
              </a:rPr>
              <a:t>连通的</a:t>
            </a:r>
            <a:r>
              <a:rPr lang="zh-CN" altLang="en-US" b="1"/>
              <a:t>：</a:t>
            </a:r>
            <a:r>
              <a:rPr lang="zh-CN" altLang="zh-CN">
                <a:solidFill>
                  <a:srgbClr val="0000FF"/>
                </a:solidFill>
              </a:rPr>
              <a:t>无向图</a:t>
            </a:r>
            <a:r>
              <a:rPr lang="en-US" altLang="zh-CN"/>
              <a:t>G</a:t>
            </a:r>
            <a:r>
              <a:rPr lang="zh-CN" altLang="zh-CN"/>
              <a:t>中存在连接</a:t>
            </a:r>
            <a:r>
              <a:rPr lang="zh-CN" altLang="en-US"/>
              <a:t>结点</a:t>
            </a:r>
            <a:r>
              <a:rPr lang="en-US" altLang="zh-CN"/>
              <a:t>x</a:t>
            </a:r>
            <a:r>
              <a:rPr lang="zh-CN" altLang="zh-CN"/>
              <a:t>和</a:t>
            </a:r>
            <a:r>
              <a:rPr lang="en-US" altLang="zh-CN"/>
              <a:t>y</a:t>
            </a:r>
            <a:r>
              <a:rPr lang="zh-CN" altLang="zh-CN"/>
              <a:t>的</a:t>
            </a:r>
            <a:r>
              <a:rPr lang="zh-CN" altLang="zh-CN">
                <a:solidFill>
                  <a:srgbClr val="0000FF"/>
                </a:solidFill>
              </a:rPr>
              <a:t>路</a:t>
            </a:r>
            <a:r>
              <a:rPr lang="zh-CN" altLang="en-US"/>
              <a:t>。  </a:t>
            </a:r>
            <a:r>
              <a:rPr lang="zh-CN" altLang="zh-CN">
                <a:solidFill>
                  <a:srgbClr val="CC0066"/>
                </a:solidFill>
              </a:rPr>
              <a:t>规定</a:t>
            </a:r>
            <a:r>
              <a:rPr lang="en-US" altLang="zh-CN"/>
              <a:t>x</a:t>
            </a:r>
            <a:r>
              <a:rPr lang="zh-CN" altLang="zh-CN"/>
              <a:t>到自身总是连通的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zh-CN" altLang="zh-CN" b="1">
                <a:solidFill>
                  <a:srgbClr val="FF0000"/>
                </a:solidFill>
              </a:rPr>
              <a:t>连通图</a:t>
            </a:r>
            <a:r>
              <a:rPr lang="zh-CN" altLang="en-US" b="1"/>
              <a:t>：</a:t>
            </a:r>
            <a:r>
              <a:rPr lang="zh-CN" altLang="zh-CN">
                <a:solidFill>
                  <a:srgbClr val="0000FF"/>
                </a:solidFill>
              </a:rPr>
              <a:t>无向图</a:t>
            </a:r>
            <a:r>
              <a:rPr lang="en-US" altLang="zh-CN"/>
              <a:t>G</a:t>
            </a:r>
            <a:r>
              <a:rPr lang="zh-CN" altLang="zh-CN"/>
              <a:t>中</a:t>
            </a:r>
            <a:r>
              <a:rPr lang="zh-CN" altLang="zh-CN">
                <a:solidFill>
                  <a:srgbClr val="FF00FF"/>
                </a:solidFill>
              </a:rPr>
              <a:t>每一对</a:t>
            </a:r>
            <a:r>
              <a:rPr lang="zh-CN" altLang="zh-CN"/>
              <a:t>不同的结点</a:t>
            </a:r>
            <a:r>
              <a:rPr lang="en-US" altLang="zh-CN"/>
              <a:t>x</a:t>
            </a:r>
            <a:r>
              <a:rPr lang="zh-CN" altLang="zh-CN"/>
              <a:t>和</a:t>
            </a:r>
            <a:r>
              <a:rPr lang="en-US" altLang="zh-CN"/>
              <a:t>y</a:t>
            </a:r>
            <a:r>
              <a:rPr lang="zh-CN" altLang="zh-CN"/>
              <a:t>间都有一条</a:t>
            </a:r>
            <a:r>
              <a:rPr lang="zh-CN" altLang="zh-CN">
                <a:solidFill>
                  <a:srgbClr val="0000FF"/>
                </a:solidFill>
              </a:rPr>
              <a:t>路</a:t>
            </a:r>
            <a:r>
              <a:rPr lang="zh-CN" altLang="en-US"/>
              <a:t>。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zh-CN" altLang="en-US" b="1">
                <a:solidFill>
                  <a:srgbClr val="FF0000"/>
                </a:solidFill>
              </a:rPr>
              <a:t>非连通图    </a:t>
            </a:r>
            <a:r>
              <a:rPr lang="zh-CN" altLang="en-US"/>
              <a:t>连通分支</a:t>
            </a:r>
            <a:r>
              <a:rPr lang="en-US" altLang="zh-CN"/>
              <a:t>   </a:t>
            </a:r>
            <a:r>
              <a:rPr lang="zh-CN" altLang="en-US"/>
              <a:t>连通分支数</a:t>
            </a:r>
            <a:endParaRPr lang="zh-CN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A924EE49-9E35-2AC3-88ED-98100C2A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7.2.2 </a:t>
            </a:r>
            <a:r>
              <a:rPr lang="zh-CN" altLang="en-US" sz="5400" b="1">
                <a:solidFill>
                  <a:srgbClr val="333399"/>
                </a:solidFill>
              </a:rPr>
              <a:t>连通图</a:t>
            </a:r>
            <a:endParaRPr lang="zh-CN" altLang="en-US"/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A77393AE-0A75-70AD-7AA0-135CE942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>
                <a:solidFill>
                  <a:srgbClr val="FF0000"/>
                </a:solidFill>
              </a:rPr>
              <a:t>连通分支</a:t>
            </a:r>
          </a:p>
        </p:txBody>
      </p:sp>
      <p:sp>
        <p:nvSpPr>
          <p:cNvPr id="9220" name="Rectangle 35">
            <a:extLst>
              <a:ext uri="{FF2B5EF4-FFF2-40B4-BE49-F238E27FC236}">
                <a16:creationId xmlns:a16="http://schemas.microsoft.com/office/drawing/2014/main" id="{CC9738C5-CC8C-98B5-698D-5BF6D8F97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221" name="Group 1">
            <a:extLst>
              <a:ext uri="{FF2B5EF4-FFF2-40B4-BE49-F238E27FC236}">
                <a16:creationId xmlns:a16="http://schemas.microsoft.com/office/drawing/2014/main" id="{A641DE32-A303-047F-898D-9F83C4507A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39775" y="3248025"/>
            <a:ext cx="8153400" cy="2413000"/>
            <a:chOff x="2392" y="9993"/>
            <a:chExt cx="7212" cy="2135"/>
          </a:xfrm>
        </p:grpSpPr>
        <p:sp>
          <p:nvSpPr>
            <p:cNvPr id="9222" name="AutoShape 34">
              <a:extLst>
                <a:ext uri="{FF2B5EF4-FFF2-40B4-BE49-F238E27FC236}">
                  <a16:creationId xmlns:a16="http://schemas.microsoft.com/office/drawing/2014/main" id="{6119322E-DD94-895B-97AB-993DC5462CE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92" y="9993"/>
              <a:ext cx="7212" cy="2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" name="Oval 33">
              <a:extLst>
                <a:ext uri="{FF2B5EF4-FFF2-40B4-BE49-F238E27FC236}">
                  <a16:creationId xmlns:a16="http://schemas.microsoft.com/office/drawing/2014/main" id="{891D1C34-2AF8-06FF-C599-460FB51E8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4" name="Oval 32">
              <a:extLst>
                <a:ext uri="{FF2B5EF4-FFF2-40B4-BE49-F238E27FC236}">
                  <a16:creationId xmlns:a16="http://schemas.microsoft.com/office/drawing/2014/main" id="{CC726166-3E9F-AAF7-EB5C-1586AD893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180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5" name="Oval 31">
              <a:extLst>
                <a:ext uri="{FF2B5EF4-FFF2-40B4-BE49-F238E27FC236}">
                  <a16:creationId xmlns:a16="http://schemas.microsoft.com/office/drawing/2014/main" id="{FFC79034-329E-5288-E693-E86F495EB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10796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6" name="Oval 30">
              <a:extLst>
                <a:ext uri="{FF2B5EF4-FFF2-40B4-BE49-F238E27FC236}">
                  <a16:creationId xmlns:a16="http://schemas.microsoft.com/office/drawing/2014/main" id="{2C508672-B1BD-0329-BEA2-6A31418D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11808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7" name="Oval 29">
              <a:extLst>
                <a:ext uri="{FF2B5EF4-FFF2-40B4-BE49-F238E27FC236}">
                  <a16:creationId xmlns:a16="http://schemas.microsoft.com/office/drawing/2014/main" id="{E97DA9F1-D12E-476D-6738-B96A7918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10001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8" name="Oval 28">
              <a:extLst>
                <a:ext uri="{FF2B5EF4-FFF2-40B4-BE49-F238E27FC236}">
                  <a16:creationId xmlns:a16="http://schemas.microsoft.com/office/drawing/2014/main" id="{647DE623-7C17-8209-41CC-431696D28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1291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9" name="Oval 27">
              <a:extLst>
                <a:ext uri="{FF2B5EF4-FFF2-40B4-BE49-F238E27FC236}">
                  <a16:creationId xmlns:a16="http://schemas.microsoft.com/office/drawing/2014/main" id="{CED7B6E8-944A-F15D-8E47-3496FB35E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066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0" name="Oval 26">
              <a:extLst>
                <a:ext uri="{FF2B5EF4-FFF2-40B4-BE49-F238E27FC236}">
                  <a16:creationId xmlns:a16="http://schemas.microsoft.com/office/drawing/2014/main" id="{558D39B8-F5AF-E948-1225-947A3EB34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7" y="1189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1" name="Oval 25">
              <a:extLst>
                <a:ext uri="{FF2B5EF4-FFF2-40B4-BE49-F238E27FC236}">
                  <a16:creationId xmlns:a16="http://schemas.microsoft.com/office/drawing/2014/main" id="{3FE8134F-24EC-41AE-AFD8-4F0B8A906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2" name="Oval 24">
              <a:extLst>
                <a:ext uri="{FF2B5EF4-FFF2-40B4-BE49-F238E27FC236}">
                  <a16:creationId xmlns:a16="http://schemas.microsoft.com/office/drawing/2014/main" id="{5FA76290-86C7-1574-5B05-DFC9A2781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3" name="Oval 23">
              <a:extLst>
                <a:ext uri="{FF2B5EF4-FFF2-40B4-BE49-F238E27FC236}">
                  <a16:creationId xmlns:a16="http://schemas.microsoft.com/office/drawing/2014/main" id="{CDBF6996-7560-A89F-3F9A-0E5D89182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18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4" name="Oval 22">
              <a:extLst>
                <a:ext uri="{FF2B5EF4-FFF2-40B4-BE49-F238E27FC236}">
                  <a16:creationId xmlns:a16="http://schemas.microsoft.com/office/drawing/2014/main" id="{A8AF3B4F-1F45-9A8B-0373-45E8808BC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5" y="118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5" name="Oval 21">
              <a:extLst>
                <a:ext uri="{FF2B5EF4-FFF2-40B4-BE49-F238E27FC236}">
                  <a16:creationId xmlns:a16="http://schemas.microsoft.com/office/drawing/2014/main" id="{6D447E9D-A845-0AF1-CF18-ACF7A0D3D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5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6" name="Oval 20">
              <a:extLst>
                <a:ext uri="{FF2B5EF4-FFF2-40B4-BE49-F238E27FC236}">
                  <a16:creationId xmlns:a16="http://schemas.microsoft.com/office/drawing/2014/main" id="{4E52651C-A981-70A0-5DF0-157AD887B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07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7" name="Oval 19">
              <a:extLst>
                <a:ext uri="{FF2B5EF4-FFF2-40B4-BE49-F238E27FC236}">
                  <a16:creationId xmlns:a16="http://schemas.microsoft.com/office/drawing/2014/main" id="{6359911B-FE79-F74F-C018-5C1A1F454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9" y="1000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9238" name="AutoShape 18">
              <a:extLst>
                <a:ext uri="{FF2B5EF4-FFF2-40B4-BE49-F238E27FC236}">
                  <a16:creationId xmlns:a16="http://schemas.microsoft.com/office/drawing/2014/main" id="{167E4A28-DE0E-3171-AC2E-BA0CFBC453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43" y="10223"/>
              <a:ext cx="537" cy="5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9" name="AutoShape 17">
              <a:extLst>
                <a:ext uri="{FF2B5EF4-FFF2-40B4-BE49-F238E27FC236}">
                  <a16:creationId xmlns:a16="http://schemas.microsoft.com/office/drawing/2014/main" id="{1C63BA3C-D251-6301-5AB2-E29B4E3B3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80" y="10223"/>
              <a:ext cx="427" cy="6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0" name="AutoShape 16">
              <a:extLst>
                <a:ext uri="{FF2B5EF4-FFF2-40B4-BE49-F238E27FC236}">
                  <a16:creationId xmlns:a16="http://schemas.microsoft.com/office/drawing/2014/main" id="{C3FBC03D-6484-27BB-943D-990A9C2959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553" y="10907"/>
              <a:ext cx="822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1" name="AutoShape 15">
              <a:extLst>
                <a:ext uri="{FF2B5EF4-FFF2-40B4-BE49-F238E27FC236}">
                  <a16:creationId xmlns:a16="http://schemas.microsoft.com/office/drawing/2014/main" id="{50BE3784-03BA-570C-755B-999721DBE2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86" y="11018"/>
              <a:ext cx="1" cy="8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2" name="AutoShape 14">
              <a:extLst>
                <a:ext uri="{FF2B5EF4-FFF2-40B4-BE49-F238E27FC236}">
                  <a16:creationId xmlns:a16="http://schemas.microsoft.com/office/drawing/2014/main" id="{E95BFFB0-8FBB-3032-D2AF-EB4F6D9274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76" y="10223"/>
              <a:ext cx="14" cy="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3" name="AutoShape 13">
              <a:extLst>
                <a:ext uri="{FF2B5EF4-FFF2-40B4-BE49-F238E27FC236}">
                  <a16:creationId xmlns:a16="http://schemas.microsoft.com/office/drawing/2014/main" id="{5B74B446-ADC1-CACE-A068-8A0F414A47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89" y="10853"/>
              <a:ext cx="639" cy="47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4" name="AutoShape 12">
              <a:extLst>
                <a:ext uri="{FF2B5EF4-FFF2-40B4-BE49-F238E27FC236}">
                  <a16:creationId xmlns:a16="http://schemas.microsoft.com/office/drawing/2014/main" id="{CB56F83F-F674-31A4-D549-7E71942578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84" y="11480"/>
              <a:ext cx="548" cy="3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5" name="AutoShape 11">
              <a:extLst>
                <a:ext uri="{FF2B5EF4-FFF2-40B4-BE49-F238E27FC236}">
                  <a16:creationId xmlns:a16="http://schemas.microsoft.com/office/drawing/2014/main" id="{5D600F1A-CA8C-123D-AFE2-EFB564A2AB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11" y="11018"/>
              <a:ext cx="1" cy="7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6" name="AutoShape 10">
              <a:extLst>
                <a:ext uri="{FF2B5EF4-FFF2-40B4-BE49-F238E27FC236}">
                  <a16:creationId xmlns:a16="http://schemas.microsoft.com/office/drawing/2014/main" id="{4C38D55B-BD83-37DC-EFAF-96BAA45546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21" y="11919"/>
              <a:ext cx="75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7" name="AutoShape 9">
              <a:extLst>
                <a:ext uri="{FF2B5EF4-FFF2-40B4-BE49-F238E27FC236}">
                  <a16:creationId xmlns:a16="http://schemas.microsoft.com/office/drawing/2014/main" id="{AF29B9FA-DEB9-7454-D7FC-9461D1E93F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90" y="11018"/>
              <a:ext cx="1" cy="7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8" name="AutoShape 8">
              <a:extLst>
                <a:ext uri="{FF2B5EF4-FFF2-40B4-BE49-F238E27FC236}">
                  <a16:creationId xmlns:a16="http://schemas.microsoft.com/office/drawing/2014/main" id="{AD3E355A-DD04-1886-76AF-F581FDADEA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89" y="10985"/>
              <a:ext cx="823" cy="8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9" name="AutoShape 7">
              <a:extLst>
                <a:ext uri="{FF2B5EF4-FFF2-40B4-BE49-F238E27FC236}">
                  <a16:creationId xmlns:a16="http://schemas.microsoft.com/office/drawing/2014/main" id="{F0B7844D-62F2-A97C-283A-BB082374C3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89" y="10985"/>
              <a:ext cx="823" cy="8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50" name="Freeform 6">
              <a:extLst>
                <a:ext uri="{FF2B5EF4-FFF2-40B4-BE49-F238E27FC236}">
                  <a16:creationId xmlns:a16="http://schemas.microsoft.com/office/drawing/2014/main" id="{C87EFA0E-3EA1-A166-8B77-3249C135D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10215"/>
              <a:ext cx="240" cy="750"/>
            </a:xfrm>
            <a:custGeom>
              <a:avLst/>
              <a:gdLst>
                <a:gd name="T0" fmla="*/ 240 w 240"/>
                <a:gd name="T1" fmla="*/ 0 h 750"/>
                <a:gd name="T2" fmla="*/ 195 w 240"/>
                <a:gd name="T3" fmla="*/ 15 h 750"/>
                <a:gd name="T4" fmla="*/ 180 w 240"/>
                <a:gd name="T5" fmla="*/ 60 h 750"/>
                <a:gd name="T6" fmla="*/ 105 w 240"/>
                <a:gd name="T7" fmla="*/ 120 h 750"/>
                <a:gd name="T8" fmla="*/ 30 w 240"/>
                <a:gd name="T9" fmla="*/ 255 h 750"/>
                <a:gd name="T10" fmla="*/ 0 w 240"/>
                <a:gd name="T11" fmla="*/ 345 h 750"/>
                <a:gd name="T12" fmla="*/ 120 w 240"/>
                <a:gd name="T13" fmla="*/ 615 h 750"/>
                <a:gd name="T14" fmla="*/ 180 w 240"/>
                <a:gd name="T15" fmla="*/ 705 h 750"/>
                <a:gd name="T16" fmla="*/ 225 w 240"/>
                <a:gd name="T17" fmla="*/ 720 h 750"/>
                <a:gd name="T18" fmla="*/ 225 w 240"/>
                <a:gd name="T19" fmla="*/ 750 h 7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0" h="750">
                  <a:moveTo>
                    <a:pt x="240" y="0"/>
                  </a:moveTo>
                  <a:cubicBezTo>
                    <a:pt x="225" y="5"/>
                    <a:pt x="206" y="4"/>
                    <a:pt x="195" y="15"/>
                  </a:cubicBezTo>
                  <a:cubicBezTo>
                    <a:pt x="184" y="26"/>
                    <a:pt x="187" y="46"/>
                    <a:pt x="180" y="60"/>
                  </a:cubicBezTo>
                  <a:cubicBezTo>
                    <a:pt x="153" y="114"/>
                    <a:pt x="157" y="103"/>
                    <a:pt x="105" y="120"/>
                  </a:cubicBezTo>
                  <a:cubicBezTo>
                    <a:pt x="89" y="169"/>
                    <a:pt x="46" y="206"/>
                    <a:pt x="30" y="255"/>
                  </a:cubicBezTo>
                  <a:cubicBezTo>
                    <a:pt x="20" y="285"/>
                    <a:pt x="0" y="345"/>
                    <a:pt x="0" y="345"/>
                  </a:cubicBezTo>
                  <a:cubicBezTo>
                    <a:pt x="35" y="450"/>
                    <a:pt x="22" y="550"/>
                    <a:pt x="120" y="615"/>
                  </a:cubicBezTo>
                  <a:cubicBezTo>
                    <a:pt x="140" y="645"/>
                    <a:pt x="146" y="694"/>
                    <a:pt x="180" y="705"/>
                  </a:cubicBezTo>
                  <a:cubicBezTo>
                    <a:pt x="195" y="710"/>
                    <a:pt x="214" y="709"/>
                    <a:pt x="225" y="720"/>
                  </a:cubicBezTo>
                  <a:cubicBezTo>
                    <a:pt x="232" y="727"/>
                    <a:pt x="225" y="740"/>
                    <a:pt x="225" y="75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Freeform 5">
              <a:extLst>
                <a:ext uri="{FF2B5EF4-FFF2-40B4-BE49-F238E27FC236}">
                  <a16:creationId xmlns:a16="http://schemas.microsoft.com/office/drawing/2014/main" id="{A6F71F50-FF44-35A0-ABB2-3C869B90B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5" y="10562"/>
              <a:ext cx="1050" cy="253"/>
            </a:xfrm>
            <a:custGeom>
              <a:avLst/>
              <a:gdLst>
                <a:gd name="T0" fmla="*/ 0 w 1050"/>
                <a:gd name="T1" fmla="*/ 223 h 253"/>
                <a:gd name="T2" fmla="*/ 30 w 1050"/>
                <a:gd name="T3" fmla="*/ 178 h 253"/>
                <a:gd name="T4" fmla="*/ 75 w 1050"/>
                <a:gd name="T5" fmla="*/ 163 h 253"/>
                <a:gd name="T6" fmla="*/ 165 w 1050"/>
                <a:gd name="T7" fmla="*/ 118 h 253"/>
                <a:gd name="T8" fmla="*/ 180 w 1050"/>
                <a:gd name="T9" fmla="*/ 73 h 253"/>
                <a:gd name="T10" fmla="*/ 225 w 1050"/>
                <a:gd name="T11" fmla="*/ 58 h 253"/>
                <a:gd name="T12" fmla="*/ 315 w 1050"/>
                <a:gd name="T13" fmla="*/ 13 h 253"/>
                <a:gd name="T14" fmla="*/ 750 w 1050"/>
                <a:gd name="T15" fmla="*/ 28 h 253"/>
                <a:gd name="T16" fmla="*/ 840 w 1050"/>
                <a:gd name="T17" fmla="*/ 58 h 253"/>
                <a:gd name="T18" fmla="*/ 975 w 1050"/>
                <a:gd name="T19" fmla="*/ 163 h 253"/>
                <a:gd name="T20" fmla="*/ 1020 w 1050"/>
                <a:gd name="T21" fmla="*/ 208 h 253"/>
                <a:gd name="T22" fmla="*/ 1050 w 1050"/>
                <a:gd name="T23" fmla="*/ 253 h 2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50" h="253">
                  <a:moveTo>
                    <a:pt x="0" y="223"/>
                  </a:moveTo>
                  <a:cubicBezTo>
                    <a:pt x="10" y="208"/>
                    <a:pt x="16" y="189"/>
                    <a:pt x="30" y="178"/>
                  </a:cubicBezTo>
                  <a:cubicBezTo>
                    <a:pt x="42" y="168"/>
                    <a:pt x="61" y="170"/>
                    <a:pt x="75" y="163"/>
                  </a:cubicBezTo>
                  <a:cubicBezTo>
                    <a:pt x="191" y="105"/>
                    <a:pt x="52" y="156"/>
                    <a:pt x="165" y="118"/>
                  </a:cubicBezTo>
                  <a:cubicBezTo>
                    <a:pt x="170" y="103"/>
                    <a:pt x="169" y="84"/>
                    <a:pt x="180" y="73"/>
                  </a:cubicBezTo>
                  <a:cubicBezTo>
                    <a:pt x="191" y="62"/>
                    <a:pt x="211" y="65"/>
                    <a:pt x="225" y="58"/>
                  </a:cubicBezTo>
                  <a:cubicBezTo>
                    <a:pt x="341" y="0"/>
                    <a:pt x="202" y="51"/>
                    <a:pt x="315" y="13"/>
                  </a:cubicBezTo>
                  <a:cubicBezTo>
                    <a:pt x="460" y="18"/>
                    <a:pt x="605" y="16"/>
                    <a:pt x="750" y="28"/>
                  </a:cubicBezTo>
                  <a:cubicBezTo>
                    <a:pt x="782" y="31"/>
                    <a:pt x="840" y="58"/>
                    <a:pt x="840" y="58"/>
                  </a:cubicBezTo>
                  <a:cubicBezTo>
                    <a:pt x="910" y="128"/>
                    <a:pt x="867" y="91"/>
                    <a:pt x="975" y="163"/>
                  </a:cubicBezTo>
                  <a:cubicBezTo>
                    <a:pt x="993" y="175"/>
                    <a:pt x="1006" y="192"/>
                    <a:pt x="1020" y="208"/>
                  </a:cubicBezTo>
                  <a:cubicBezTo>
                    <a:pt x="1032" y="222"/>
                    <a:pt x="1050" y="253"/>
                    <a:pt x="1050" y="25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252" name="AutoShape 4">
              <a:extLst>
                <a:ext uri="{FF2B5EF4-FFF2-40B4-BE49-F238E27FC236}">
                  <a16:creationId xmlns:a16="http://schemas.microsoft.com/office/drawing/2014/main" id="{89932E3E-033E-22C6-A652-A2D9A88E23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3" y="10907"/>
              <a:ext cx="8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53" name="Freeform 3">
              <a:extLst>
                <a:ext uri="{FF2B5EF4-FFF2-40B4-BE49-F238E27FC236}">
                  <a16:creationId xmlns:a16="http://schemas.microsoft.com/office/drawing/2014/main" id="{4C667A62-6E8B-DB6A-BF27-7643915C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0" y="11025"/>
              <a:ext cx="585" cy="1005"/>
            </a:xfrm>
            <a:custGeom>
              <a:avLst/>
              <a:gdLst>
                <a:gd name="T0" fmla="*/ 585 w 585"/>
                <a:gd name="T1" fmla="*/ 1005 h 1005"/>
                <a:gd name="T2" fmla="*/ 405 w 585"/>
                <a:gd name="T3" fmla="*/ 975 h 1005"/>
                <a:gd name="T4" fmla="*/ 180 w 585"/>
                <a:gd name="T5" fmla="*/ 780 h 1005"/>
                <a:gd name="T6" fmla="*/ 60 w 585"/>
                <a:gd name="T7" fmla="*/ 600 h 1005"/>
                <a:gd name="T8" fmla="*/ 0 w 585"/>
                <a:gd name="T9" fmla="*/ 225 h 1005"/>
                <a:gd name="T10" fmla="*/ 15 w 585"/>
                <a:gd name="T11" fmla="*/ 0 h 10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5" h="1005">
                  <a:moveTo>
                    <a:pt x="585" y="1005"/>
                  </a:moveTo>
                  <a:cubicBezTo>
                    <a:pt x="542" y="1000"/>
                    <a:pt x="455" y="1000"/>
                    <a:pt x="405" y="975"/>
                  </a:cubicBezTo>
                  <a:cubicBezTo>
                    <a:pt x="316" y="930"/>
                    <a:pt x="263" y="835"/>
                    <a:pt x="180" y="780"/>
                  </a:cubicBezTo>
                  <a:cubicBezTo>
                    <a:pt x="134" y="711"/>
                    <a:pt x="122" y="662"/>
                    <a:pt x="60" y="600"/>
                  </a:cubicBezTo>
                  <a:cubicBezTo>
                    <a:pt x="19" y="477"/>
                    <a:pt x="41" y="347"/>
                    <a:pt x="0" y="225"/>
                  </a:cubicBezTo>
                  <a:cubicBezTo>
                    <a:pt x="5" y="150"/>
                    <a:pt x="15" y="0"/>
                    <a:pt x="15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Freeform 2">
              <a:extLst>
                <a:ext uri="{FF2B5EF4-FFF2-40B4-BE49-F238E27FC236}">
                  <a16:creationId xmlns:a16="http://schemas.microsoft.com/office/drawing/2014/main" id="{45A82483-9D8C-E27D-1DFC-6A77FBC43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0" y="11025"/>
              <a:ext cx="394" cy="990"/>
            </a:xfrm>
            <a:custGeom>
              <a:avLst/>
              <a:gdLst>
                <a:gd name="T0" fmla="*/ 345 w 394"/>
                <a:gd name="T1" fmla="*/ 0 h 990"/>
                <a:gd name="T2" fmla="*/ 360 w 394"/>
                <a:gd name="T3" fmla="*/ 45 h 990"/>
                <a:gd name="T4" fmla="*/ 390 w 394"/>
                <a:gd name="T5" fmla="*/ 90 h 990"/>
                <a:gd name="T6" fmla="*/ 375 w 394"/>
                <a:gd name="T7" fmla="*/ 405 h 990"/>
                <a:gd name="T8" fmla="*/ 270 w 394"/>
                <a:gd name="T9" fmla="*/ 630 h 990"/>
                <a:gd name="T10" fmla="*/ 135 w 394"/>
                <a:gd name="T11" fmla="*/ 885 h 990"/>
                <a:gd name="T12" fmla="*/ 0 w 394"/>
                <a:gd name="T13" fmla="*/ 990 h 9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990">
                  <a:moveTo>
                    <a:pt x="345" y="0"/>
                  </a:moveTo>
                  <a:cubicBezTo>
                    <a:pt x="350" y="15"/>
                    <a:pt x="353" y="31"/>
                    <a:pt x="360" y="45"/>
                  </a:cubicBezTo>
                  <a:cubicBezTo>
                    <a:pt x="368" y="61"/>
                    <a:pt x="389" y="72"/>
                    <a:pt x="390" y="90"/>
                  </a:cubicBezTo>
                  <a:cubicBezTo>
                    <a:pt x="394" y="195"/>
                    <a:pt x="387" y="301"/>
                    <a:pt x="375" y="405"/>
                  </a:cubicBezTo>
                  <a:cubicBezTo>
                    <a:pt x="366" y="489"/>
                    <a:pt x="303" y="557"/>
                    <a:pt x="270" y="630"/>
                  </a:cubicBezTo>
                  <a:cubicBezTo>
                    <a:pt x="229" y="722"/>
                    <a:pt x="223" y="827"/>
                    <a:pt x="135" y="885"/>
                  </a:cubicBezTo>
                  <a:cubicBezTo>
                    <a:pt x="104" y="932"/>
                    <a:pt x="64" y="990"/>
                    <a:pt x="0" y="9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359A4761-29C9-4ED7-22D7-8D5123FC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7.2.2 </a:t>
            </a:r>
            <a:r>
              <a:rPr lang="zh-CN" altLang="en-US" sz="5400" b="1">
                <a:solidFill>
                  <a:srgbClr val="333399"/>
                </a:solidFill>
              </a:rPr>
              <a:t>连通图</a:t>
            </a:r>
            <a:endParaRPr lang="zh-CN" altLang="en-US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BC43A1AC-527B-3484-5823-710A2EED4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rgbClr val="FF0000"/>
                </a:solidFill>
              </a:rPr>
              <a:t>结点</a:t>
            </a:r>
            <a:r>
              <a:rPr lang="en-US" altLang="zh-CN" dirty="0"/>
              <a:t>x</a:t>
            </a:r>
            <a:r>
              <a:rPr lang="zh-CN" altLang="en-US" b="1" dirty="0">
                <a:solidFill>
                  <a:srgbClr val="FF00FF"/>
                </a:solidFill>
              </a:rPr>
              <a:t>可达</a:t>
            </a:r>
            <a:r>
              <a:rPr lang="en-US" altLang="zh-CN" dirty="0"/>
              <a:t>y</a:t>
            </a:r>
            <a:r>
              <a:rPr lang="zh-CN" altLang="en-US" b="1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有</a:t>
            </a:r>
            <a:r>
              <a:rPr lang="zh-CN" altLang="zh-CN" dirty="0">
                <a:solidFill>
                  <a:srgbClr val="0000FF"/>
                </a:solidFill>
              </a:rPr>
              <a:t>向图</a:t>
            </a:r>
            <a:r>
              <a:rPr lang="en-US" altLang="zh-CN" dirty="0"/>
              <a:t>D</a:t>
            </a:r>
            <a:r>
              <a:rPr lang="zh-CN" altLang="zh-CN" dirty="0"/>
              <a:t>中存在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y</a:t>
            </a:r>
            <a:r>
              <a:rPr lang="zh-CN" altLang="zh-CN" dirty="0"/>
              <a:t>的</a:t>
            </a:r>
            <a:r>
              <a:rPr lang="zh-CN" altLang="en-US" dirty="0"/>
              <a:t>有向</a:t>
            </a:r>
            <a:r>
              <a:rPr lang="zh-CN" altLang="zh-CN" dirty="0">
                <a:solidFill>
                  <a:srgbClr val="0000FF"/>
                </a:solidFill>
              </a:rPr>
              <a:t>路</a:t>
            </a:r>
            <a:r>
              <a:rPr lang="zh-CN" altLang="en-US" dirty="0"/>
              <a:t>  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                       </a:t>
            </a:r>
            <a:r>
              <a:rPr lang="zh-CN" altLang="zh-CN" dirty="0">
                <a:solidFill>
                  <a:srgbClr val="CC0066"/>
                </a:solidFill>
              </a:rPr>
              <a:t>规定</a:t>
            </a:r>
            <a:r>
              <a:rPr lang="zh-CN" altLang="en-US" dirty="0"/>
              <a:t>结点</a:t>
            </a:r>
            <a:r>
              <a:rPr lang="en-US" altLang="zh-CN" dirty="0"/>
              <a:t>x</a:t>
            </a:r>
            <a:r>
              <a:rPr lang="zh-CN" altLang="zh-CN" dirty="0"/>
              <a:t>到自身总是</a:t>
            </a:r>
            <a:r>
              <a:rPr lang="zh-CN" altLang="en-US" dirty="0"/>
              <a:t>可达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00B050"/>
                </a:solidFill>
              </a:rPr>
              <a:t>单侧连通</a:t>
            </a:r>
            <a:r>
              <a:rPr lang="zh-CN" altLang="zh-CN" dirty="0"/>
              <a:t>有向图</a:t>
            </a:r>
            <a:r>
              <a:rPr lang="zh-CN" altLang="en-US" dirty="0"/>
              <a:t>：</a:t>
            </a:r>
            <a:r>
              <a:rPr lang="zh-CN" altLang="zh-CN" dirty="0"/>
              <a:t>结点间一个可达另一个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CC0066"/>
                </a:solidFill>
              </a:rPr>
              <a:t>强连通</a:t>
            </a:r>
            <a:r>
              <a:rPr lang="zh-CN" altLang="zh-CN" dirty="0"/>
              <a:t>有向图</a:t>
            </a:r>
            <a:r>
              <a:rPr lang="zh-CN" altLang="en-US" dirty="0"/>
              <a:t>：</a:t>
            </a:r>
            <a:r>
              <a:rPr lang="zh-CN" altLang="zh-CN" dirty="0"/>
              <a:t>结点间相互可达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339933"/>
                </a:solidFill>
              </a:rPr>
              <a:t>弱连通</a:t>
            </a:r>
            <a:r>
              <a:rPr lang="zh-CN" altLang="zh-CN" dirty="0"/>
              <a:t>向图</a:t>
            </a:r>
            <a:r>
              <a:rPr lang="zh-CN" altLang="en-US" dirty="0"/>
              <a:t>：</a:t>
            </a:r>
            <a:r>
              <a:rPr lang="zh-CN" altLang="zh-CN" dirty="0"/>
              <a:t>基础图是连通图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FF"/>
                </a:solidFill>
              </a:rPr>
              <a:t>非强连通图</a:t>
            </a:r>
            <a:r>
              <a:rPr lang="zh-CN" altLang="en-US" b="1" dirty="0"/>
              <a:t>     </a:t>
            </a:r>
            <a:r>
              <a:rPr lang="zh-CN" altLang="zh-CN" dirty="0"/>
              <a:t>强连通分支</a:t>
            </a:r>
            <a:r>
              <a:rPr lang="zh-CN" altLang="en-US" dirty="0"/>
              <a:t>（</a:t>
            </a:r>
            <a:r>
              <a:rPr lang="zh-CN" altLang="zh-CN" dirty="0"/>
              <a:t>强分图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20EAD820-728D-488A-1825-C674DCAF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7.2.2 </a:t>
            </a:r>
            <a:r>
              <a:rPr lang="zh-CN" altLang="en-US" sz="5400" b="1">
                <a:solidFill>
                  <a:srgbClr val="333399"/>
                </a:solidFill>
              </a:rPr>
              <a:t>连通图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8518A-377D-F9B4-98C5-34BB8C090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424862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强连通图          单侧连通图      </a:t>
            </a:r>
            <a:r>
              <a:rPr lang="zh-CN" altLang="zh-CN" dirty="0"/>
              <a:t>弱连通</a:t>
            </a:r>
            <a:r>
              <a:rPr lang="zh-CN" altLang="en-US" dirty="0"/>
              <a:t>图</a:t>
            </a:r>
          </a:p>
        </p:txBody>
      </p:sp>
      <p:sp>
        <p:nvSpPr>
          <p:cNvPr id="11268" name="Rectangle 27">
            <a:extLst>
              <a:ext uri="{FF2B5EF4-FFF2-40B4-BE49-F238E27FC236}">
                <a16:creationId xmlns:a16="http://schemas.microsoft.com/office/drawing/2014/main" id="{43E3A2B0-555C-8D5E-22C3-140AAC7F4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269" name="Group 1">
            <a:extLst>
              <a:ext uri="{FF2B5EF4-FFF2-40B4-BE49-F238E27FC236}">
                <a16:creationId xmlns:a16="http://schemas.microsoft.com/office/drawing/2014/main" id="{09955AA4-A558-EAD6-288C-1D48F8E1D1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1100" y="3357563"/>
            <a:ext cx="7567613" cy="1514475"/>
            <a:chOff x="2592" y="10788"/>
            <a:chExt cx="6694" cy="1340"/>
          </a:xfrm>
        </p:grpSpPr>
        <p:sp>
          <p:nvSpPr>
            <p:cNvPr id="11270" name="AutoShape 26">
              <a:extLst>
                <a:ext uri="{FF2B5EF4-FFF2-40B4-BE49-F238E27FC236}">
                  <a16:creationId xmlns:a16="http://schemas.microsoft.com/office/drawing/2014/main" id="{370B6F37-238D-3AC2-6191-8439AABD7D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92" y="10788"/>
              <a:ext cx="6694" cy="1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" name="Oval 25">
              <a:extLst>
                <a:ext uri="{FF2B5EF4-FFF2-40B4-BE49-F238E27FC236}">
                  <a16:creationId xmlns:a16="http://schemas.microsoft.com/office/drawing/2014/main" id="{133AC0B7-55E3-BC46-1095-C82753EAA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2" name="Oval 24">
              <a:extLst>
                <a:ext uri="{FF2B5EF4-FFF2-40B4-BE49-F238E27FC236}">
                  <a16:creationId xmlns:a16="http://schemas.microsoft.com/office/drawing/2014/main" id="{7960366D-8516-8708-DD05-0F89B64A4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1180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3" name="Oval 23">
              <a:extLst>
                <a:ext uri="{FF2B5EF4-FFF2-40B4-BE49-F238E27FC236}">
                  <a16:creationId xmlns:a16="http://schemas.microsoft.com/office/drawing/2014/main" id="{27064069-950B-7A20-95D6-CD84F39EB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1" y="10798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4" name="Oval 22">
              <a:extLst>
                <a:ext uri="{FF2B5EF4-FFF2-40B4-BE49-F238E27FC236}">
                  <a16:creationId xmlns:a16="http://schemas.microsoft.com/office/drawing/2014/main" id="{B2DF4B68-E0B9-8B40-5E7B-74F1B9847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" y="11808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5" name="Oval 21">
              <a:extLst>
                <a:ext uri="{FF2B5EF4-FFF2-40B4-BE49-F238E27FC236}">
                  <a16:creationId xmlns:a16="http://schemas.microsoft.com/office/drawing/2014/main" id="{15C921DA-D715-C895-BAE9-5A4A7A93A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2" y="1189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6" name="Oval 20">
              <a:extLst>
                <a:ext uri="{FF2B5EF4-FFF2-40B4-BE49-F238E27FC236}">
                  <a16:creationId xmlns:a16="http://schemas.microsoft.com/office/drawing/2014/main" id="{537EA239-CDEA-9646-7121-13396C6E9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4" y="107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7" name="Oval 19">
              <a:extLst>
                <a:ext uri="{FF2B5EF4-FFF2-40B4-BE49-F238E27FC236}">
                  <a16:creationId xmlns:a16="http://schemas.microsoft.com/office/drawing/2014/main" id="{EA7AC580-C3B3-0736-D9EE-B35AF9B7A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3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8" name="Oval 18">
              <a:extLst>
                <a:ext uri="{FF2B5EF4-FFF2-40B4-BE49-F238E27FC236}">
                  <a16:creationId xmlns:a16="http://schemas.microsoft.com/office/drawing/2014/main" id="{C43211E5-E944-2E71-2A65-8BBA9FB32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0" y="118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9" name="Oval 17">
              <a:extLst>
                <a:ext uri="{FF2B5EF4-FFF2-40B4-BE49-F238E27FC236}">
                  <a16:creationId xmlns:a16="http://schemas.microsoft.com/office/drawing/2014/main" id="{6B984D3A-D911-AC60-6E47-E116F1A52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7" y="118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0" name="Oval 16">
              <a:extLst>
                <a:ext uri="{FF2B5EF4-FFF2-40B4-BE49-F238E27FC236}">
                  <a16:creationId xmlns:a16="http://schemas.microsoft.com/office/drawing/2014/main" id="{A49F8A8E-377D-D67C-E183-C1A12F62F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7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1" name="Oval 15">
              <a:extLst>
                <a:ext uri="{FF2B5EF4-FFF2-40B4-BE49-F238E27FC236}">
                  <a16:creationId xmlns:a16="http://schemas.microsoft.com/office/drawing/2014/main" id="{27993ACF-3E35-8CA8-E8EF-A9C031363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0" y="107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2" name="Oval 14">
              <a:extLst>
                <a:ext uri="{FF2B5EF4-FFF2-40B4-BE49-F238E27FC236}">
                  <a16:creationId xmlns:a16="http://schemas.microsoft.com/office/drawing/2014/main" id="{10F3FE8D-4B7C-1D7D-CF17-D1D87F389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4" y="1189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1283" name="AutoShape 13">
              <a:extLst>
                <a:ext uri="{FF2B5EF4-FFF2-40B4-BE49-F238E27FC236}">
                  <a16:creationId xmlns:a16="http://schemas.microsoft.com/office/drawing/2014/main" id="{BFCEF8F1-A720-5A56-0E7C-A98C1DA89C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605" y="10908"/>
              <a:ext cx="110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4" name="AutoShape 12">
              <a:extLst>
                <a:ext uri="{FF2B5EF4-FFF2-40B4-BE49-F238E27FC236}">
                  <a16:creationId xmlns:a16="http://schemas.microsoft.com/office/drawing/2014/main" id="{1D0E0678-6D5D-3A43-28F0-1920784BDA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605" y="12009"/>
              <a:ext cx="110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5" name="AutoShape 11">
              <a:extLst>
                <a:ext uri="{FF2B5EF4-FFF2-40B4-BE49-F238E27FC236}">
                  <a16:creationId xmlns:a16="http://schemas.microsoft.com/office/drawing/2014/main" id="{5ACC55C4-7F03-AEBD-8938-26CEFB2423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495" y="11020"/>
              <a:ext cx="1" cy="8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6" name="AutoShape 10">
              <a:extLst>
                <a:ext uri="{FF2B5EF4-FFF2-40B4-BE49-F238E27FC236}">
                  <a16:creationId xmlns:a16="http://schemas.microsoft.com/office/drawing/2014/main" id="{01803ED7-6EC5-9FE1-E3E7-959D106FE2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23" y="11018"/>
              <a:ext cx="1" cy="8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7" name="AutoShape 9">
              <a:extLst>
                <a:ext uri="{FF2B5EF4-FFF2-40B4-BE49-F238E27FC236}">
                  <a16:creationId xmlns:a16="http://schemas.microsoft.com/office/drawing/2014/main" id="{9B0C4F7E-27F1-8E1F-B6CE-9470992DA0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61" y="10907"/>
              <a:ext cx="1096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8" name="AutoShape 8">
              <a:extLst>
                <a:ext uri="{FF2B5EF4-FFF2-40B4-BE49-F238E27FC236}">
                  <a16:creationId xmlns:a16="http://schemas.microsoft.com/office/drawing/2014/main" id="{6DEF1CE1-6BF5-AC18-85F2-8A039F7E25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851" y="11020"/>
              <a:ext cx="1" cy="8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9" name="AutoShape 7">
              <a:extLst>
                <a:ext uri="{FF2B5EF4-FFF2-40B4-BE49-F238E27FC236}">
                  <a16:creationId xmlns:a16="http://schemas.microsoft.com/office/drawing/2014/main" id="{1335EFC0-4E14-E39B-020E-7A130DCB36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1" y="12009"/>
              <a:ext cx="109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0" name="AutoShape 6">
              <a:extLst>
                <a:ext uri="{FF2B5EF4-FFF2-40B4-BE49-F238E27FC236}">
                  <a16:creationId xmlns:a16="http://schemas.microsoft.com/office/drawing/2014/main" id="{29F49FAF-ABD9-2B35-6456-E3DF48A2C5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68" y="11018"/>
              <a:ext cx="1" cy="8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1" name="AutoShape 5">
              <a:extLst>
                <a:ext uri="{FF2B5EF4-FFF2-40B4-BE49-F238E27FC236}">
                  <a16:creationId xmlns:a16="http://schemas.microsoft.com/office/drawing/2014/main" id="{9DF92464-4658-9CC9-65B3-E1EEDFA81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165" y="11020"/>
              <a:ext cx="26" cy="7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2" name="AutoShape 4">
              <a:extLst>
                <a:ext uri="{FF2B5EF4-FFF2-40B4-BE49-F238E27FC236}">
                  <a16:creationId xmlns:a16="http://schemas.microsoft.com/office/drawing/2014/main" id="{A7B7B165-FDDB-C9D0-02C0-CA557C22A4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46" y="10907"/>
              <a:ext cx="1235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3" name="AutoShape 3">
              <a:extLst>
                <a:ext uri="{FF2B5EF4-FFF2-40B4-BE49-F238E27FC236}">
                  <a16:creationId xmlns:a16="http://schemas.microsoft.com/office/drawing/2014/main" id="{99D28D21-2051-3108-4153-2D0D729348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11" y="11018"/>
              <a:ext cx="25" cy="7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4" name="AutoShape 2">
              <a:extLst>
                <a:ext uri="{FF2B5EF4-FFF2-40B4-BE49-F238E27FC236}">
                  <a16:creationId xmlns:a16="http://schemas.microsoft.com/office/drawing/2014/main" id="{64F99199-C13A-8C52-4524-6A17FF7743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1" y="11919"/>
              <a:ext cx="123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3">
            <a:extLst>
              <a:ext uri="{FF2B5EF4-FFF2-40B4-BE49-F238E27FC236}">
                <a16:creationId xmlns:a16="http://schemas.microsoft.com/office/drawing/2014/main" id="{8AE07A1B-1F65-8ABC-6E65-76096178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7.2.2 </a:t>
            </a:r>
            <a:r>
              <a:rPr lang="zh-CN" altLang="en-US" sz="5400" b="1">
                <a:solidFill>
                  <a:srgbClr val="333399"/>
                </a:solidFill>
              </a:rPr>
              <a:t>连通图</a:t>
            </a:r>
            <a:endParaRPr lang="zh-CN" altLang="en-US"/>
          </a:p>
        </p:txBody>
      </p:sp>
      <p:sp>
        <p:nvSpPr>
          <p:cNvPr id="12291" name="内容占位符 4">
            <a:extLst>
              <a:ext uri="{FF2B5EF4-FFF2-40B4-BE49-F238E27FC236}">
                <a16:creationId xmlns:a16="http://schemas.microsoft.com/office/drawing/2014/main" id="{E11D7810-337B-1206-24A8-9FD84E504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938" y="1705689"/>
            <a:ext cx="41767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非强连通图</a:t>
            </a:r>
          </a:p>
        </p:txBody>
      </p:sp>
      <p:sp>
        <p:nvSpPr>
          <p:cNvPr id="12292" name="内容占位符 5">
            <a:extLst>
              <a:ext uri="{FF2B5EF4-FFF2-40B4-BE49-F238E27FC236}">
                <a16:creationId xmlns:a16="http://schemas.microsoft.com/office/drawing/2014/main" id="{98DBC826-463D-1A88-1E4E-979767ED0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97450" y="1846263"/>
            <a:ext cx="4103688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强分图</a:t>
            </a:r>
          </a:p>
        </p:txBody>
      </p:sp>
      <p:sp>
        <p:nvSpPr>
          <p:cNvPr id="12293" name="Rectangle 52">
            <a:extLst>
              <a:ext uri="{FF2B5EF4-FFF2-40B4-BE49-F238E27FC236}">
                <a16:creationId xmlns:a16="http://schemas.microsoft.com/office/drawing/2014/main" id="{09A096BD-5092-3B84-1343-A0DAFB862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2294" name="Group 1">
            <a:extLst>
              <a:ext uri="{FF2B5EF4-FFF2-40B4-BE49-F238E27FC236}">
                <a16:creationId xmlns:a16="http://schemas.microsoft.com/office/drawing/2014/main" id="{7238F0C8-1354-F42E-B428-3CCA05AAE6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213" y="2781300"/>
            <a:ext cx="3911600" cy="3703638"/>
            <a:chOff x="2130" y="3965"/>
            <a:chExt cx="3900" cy="3692"/>
          </a:xfrm>
        </p:grpSpPr>
        <p:sp>
          <p:nvSpPr>
            <p:cNvPr id="12334" name="AutoShape 51">
              <a:extLst>
                <a:ext uri="{FF2B5EF4-FFF2-40B4-BE49-F238E27FC236}">
                  <a16:creationId xmlns:a16="http://schemas.microsoft.com/office/drawing/2014/main" id="{5B631C6E-2F8B-12E6-CB67-000A3CEE0FEB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2130" y="3965"/>
              <a:ext cx="3900" cy="3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Text Box 50">
              <a:extLst>
                <a:ext uri="{FF2B5EF4-FFF2-40B4-BE49-F238E27FC236}">
                  <a16:creationId xmlns:a16="http://schemas.microsoft.com/office/drawing/2014/main" id="{6D384AE4-48CD-A6BC-CCE5-3C17A9004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6835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2336" name="Text Box 49">
              <a:extLst>
                <a:ext uri="{FF2B5EF4-FFF2-40B4-BE49-F238E27FC236}">
                  <a16:creationId xmlns:a16="http://schemas.microsoft.com/office/drawing/2014/main" id="{7C932E53-A0AA-128E-8706-1772D2732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5" y="6774"/>
              <a:ext cx="586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2337" name="Text Box 48">
              <a:extLst>
                <a:ext uri="{FF2B5EF4-FFF2-40B4-BE49-F238E27FC236}">
                  <a16:creationId xmlns:a16="http://schemas.microsoft.com/office/drawing/2014/main" id="{49E4367E-5583-9FE0-0843-0C5B46946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6737"/>
              <a:ext cx="587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2338" name="Text Box 47">
              <a:extLst>
                <a:ext uri="{FF2B5EF4-FFF2-40B4-BE49-F238E27FC236}">
                  <a16:creationId xmlns:a16="http://schemas.microsoft.com/office/drawing/2014/main" id="{635AD51A-782B-960A-1F07-05FC17101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" y="4918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2339" name="Text Box 46">
              <a:extLst>
                <a:ext uri="{FF2B5EF4-FFF2-40B4-BE49-F238E27FC236}">
                  <a16:creationId xmlns:a16="http://schemas.microsoft.com/office/drawing/2014/main" id="{BCFC535D-6399-CCF7-9AC0-D1EE3B775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3972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2340" name="Text Box 45">
              <a:extLst>
                <a:ext uri="{FF2B5EF4-FFF2-40B4-BE49-F238E27FC236}">
                  <a16:creationId xmlns:a16="http://schemas.microsoft.com/office/drawing/2014/main" id="{0FE628EA-988C-453E-5055-B20E07854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9" y="5245"/>
              <a:ext cx="586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2341" name="Text Box 44">
              <a:extLst>
                <a:ext uri="{FF2B5EF4-FFF2-40B4-BE49-F238E27FC236}">
                  <a16:creationId xmlns:a16="http://schemas.microsoft.com/office/drawing/2014/main" id="{ED1DCC43-1342-D053-45F7-0993E402B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5170"/>
              <a:ext cx="586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2342" name="Text Box 43">
              <a:extLst>
                <a:ext uri="{FF2B5EF4-FFF2-40B4-BE49-F238E27FC236}">
                  <a16:creationId xmlns:a16="http://schemas.microsoft.com/office/drawing/2014/main" id="{0FF40649-61E7-B44C-E643-59B71F19F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" y="5379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2343" name="Oval 42">
              <a:extLst>
                <a:ext uri="{FF2B5EF4-FFF2-40B4-BE49-F238E27FC236}">
                  <a16:creationId xmlns:a16="http://schemas.microsoft.com/office/drawing/2014/main" id="{9AC45BC4-BD58-A422-DFD8-781A5A1F5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" y="4446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4" name="Oval 41">
              <a:extLst>
                <a:ext uri="{FF2B5EF4-FFF2-40B4-BE49-F238E27FC236}">
                  <a16:creationId xmlns:a16="http://schemas.microsoft.com/office/drawing/2014/main" id="{EF316B77-C585-25B6-EFDF-1D8C392F3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" y="5136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5" name="Oval 40">
              <a:extLst>
                <a:ext uri="{FF2B5EF4-FFF2-40B4-BE49-F238E27FC236}">
                  <a16:creationId xmlns:a16="http://schemas.microsoft.com/office/drawing/2014/main" id="{230C93C7-E17E-3A90-DDF0-25DC9E773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" y="6627"/>
              <a:ext cx="173" cy="19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6" name="Oval 39">
              <a:extLst>
                <a:ext uri="{FF2B5EF4-FFF2-40B4-BE49-F238E27FC236}">
                  <a16:creationId xmlns:a16="http://schemas.microsoft.com/office/drawing/2014/main" id="{E2030E14-5B2A-CD6C-9999-1A8706E0D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5636"/>
              <a:ext cx="172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7" name="Oval 38">
              <a:extLst>
                <a:ext uri="{FF2B5EF4-FFF2-40B4-BE49-F238E27FC236}">
                  <a16:creationId xmlns:a16="http://schemas.microsoft.com/office/drawing/2014/main" id="{3DFB4EF7-CEF8-676D-85E3-FEFC94098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" y="6666"/>
              <a:ext cx="174" cy="19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8" name="Oval 37">
              <a:extLst>
                <a:ext uri="{FF2B5EF4-FFF2-40B4-BE49-F238E27FC236}">
                  <a16:creationId xmlns:a16="http://schemas.microsoft.com/office/drawing/2014/main" id="{655EB072-CA79-1CDC-DD7A-8C865293C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6730"/>
              <a:ext cx="174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9" name="Oval 36">
              <a:extLst>
                <a:ext uri="{FF2B5EF4-FFF2-40B4-BE49-F238E27FC236}">
                  <a16:creationId xmlns:a16="http://schemas.microsoft.com/office/drawing/2014/main" id="{F8E84AE4-CFBF-F90E-01ED-81C09D4C2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5673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50" name="Oval 35">
              <a:extLst>
                <a:ext uri="{FF2B5EF4-FFF2-40B4-BE49-F238E27FC236}">
                  <a16:creationId xmlns:a16="http://schemas.microsoft.com/office/drawing/2014/main" id="{0F6F64D2-86E1-B422-A566-3BE09B0BC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" y="5636"/>
              <a:ext cx="174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2351" name="AutoShape 34">
              <a:extLst>
                <a:ext uri="{FF2B5EF4-FFF2-40B4-BE49-F238E27FC236}">
                  <a16:creationId xmlns:a16="http://schemas.microsoft.com/office/drawing/2014/main" id="{E69A5680-259F-118A-A742-84FDA6A278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89" y="4611"/>
              <a:ext cx="629" cy="5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2" name="AutoShape 33">
              <a:extLst>
                <a:ext uri="{FF2B5EF4-FFF2-40B4-BE49-F238E27FC236}">
                  <a16:creationId xmlns:a16="http://schemas.microsoft.com/office/drawing/2014/main" id="{75CF9D3E-6593-AF25-5610-131B6363DA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89" y="5301"/>
              <a:ext cx="529" cy="3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3" name="AutoShape 32">
              <a:extLst>
                <a:ext uri="{FF2B5EF4-FFF2-40B4-BE49-F238E27FC236}">
                  <a16:creationId xmlns:a16="http://schemas.microsoft.com/office/drawing/2014/main" id="{3B0F5782-56A9-5FBC-5FE5-C976440B36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28" y="5329"/>
              <a:ext cx="1" cy="12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4" name="AutoShape 31">
              <a:extLst>
                <a:ext uri="{FF2B5EF4-FFF2-40B4-BE49-F238E27FC236}">
                  <a16:creationId xmlns:a16="http://schemas.microsoft.com/office/drawing/2014/main" id="{633688BB-2CFC-511E-E928-3858F5A145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89" y="5829"/>
              <a:ext cx="590" cy="8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5" name="AutoShape 30">
              <a:extLst>
                <a:ext uri="{FF2B5EF4-FFF2-40B4-BE49-F238E27FC236}">
                  <a16:creationId xmlns:a16="http://schemas.microsoft.com/office/drawing/2014/main" id="{0B4D8917-36EF-7C2A-6C53-F7A49499D7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0" y="5801"/>
              <a:ext cx="348" cy="8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6" name="AutoShape 29">
              <a:extLst>
                <a:ext uri="{FF2B5EF4-FFF2-40B4-BE49-F238E27FC236}">
                  <a16:creationId xmlns:a16="http://schemas.microsoft.com/office/drawing/2014/main" id="{8CE1A90D-979A-6265-DE9A-E59C9AD12F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65" y="5733"/>
              <a:ext cx="903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7" name="AutoShape 28">
              <a:extLst>
                <a:ext uri="{FF2B5EF4-FFF2-40B4-BE49-F238E27FC236}">
                  <a16:creationId xmlns:a16="http://schemas.microsoft.com/office/drawing/2014/main" id="{00575E12-3C68-7253-4DB3-11AAD1A1A0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341" y="5733"/>
              <a:ext cx="993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8" name="AutoShape 27">
              <a:extLst>
                <a:ext uri="{FF2B5EF4-FFF2-40B4-BE49-F238E27FC236}">
                  <a16:creationId xmlns:a16="http://schemas.microsoft.com/office/drawing/2014/main" id="{FC1F9194-9134-2428-8EB2-9B4D928DCE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712" y="5838"/>
              <a:ext cx="481" cy="8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59" name="AutoShape 26">
              <a:extLst>
                <a:ext uri="{FF2B5EF4-FFF2-40B4-BE49-F238E27FC236}">
                  <a16:creationId xmlns:a16="http://schemas.microsoft.com/office/drawing/2014/main" id="{7B6D909B-083A-060D-BB5B-7BC4020747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55" y="5866"/>
              <a:ext cx="628" cy="8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0" name="AutoShape 25">
              <a:extLst>
                <a:ext uri="{FF2B5EF4-FFF2-40B4-BE49-F238E27FC236}">
                  <a16:creationId xmlns:a16="http://schemas.microsoft.com/office/drawing/2014/main" id="{0DC2A8E1-C92D-B31C-F9BC-80B9657974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7" y="6763"/>
              <a:ext cx="1059" cy="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1" name="AutoShape 24">
              <a:extLst>
                <a:ext uri="{FF2B5EF4-FFF2-40B4-BE49-F238E27FC236}">
                  <a16:creationId xmlns:a16="http://schemas.microsoft.com/office/drawing/2014/main" id="{A35E4CF1-ECBE-3819-6D93-19F1E5AF33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45" y="5829"/>
              <a:ext cx="476" cy="9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2" name="AutoShape 23">
              <a:extLst>
                <a:ext uri="{FF2B5EF4-FFF2-40B4-BE49-F238E27FC236}">
                  <a16:creationId xmlns:a16="http://schemas.microsoft.com/office/drawing/2014/main" id="{04D8DB00-3AE1-F77E-0999-D3D6C05CD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66" y="4543"/>
              <a:ext cx="2055" cy="10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63" name="Freeform 22">
              <a:extLst>
                <a:ext uri="{FF2B5EF4-FFF2-40B4-BE49-F238E27FC236}">
                  <a16:creationId xmlns:a16="http://schemas.microsoft.com/office/drawing/2014/main" id="{948838F2-1110-04CD-9FA0-B556D5C24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4455"/>
              <a:ext cx="682" cy="665"/>
            </a:xfrm>
            <a:custGeom>
              <a:avLst/>
              <a:gdLst>
                <a:gd name="T0" fmla="*/ 328 w 870"/>
                <a:gd name="T1" fmla="*/ 68 h 765"/>
                <a:gd name="T2" fmla="*/ 260 w 870"/>
                <a:gd name="T3" fmla="*/ 0 h 765"/>
                <a:gd name="T4" fmla="*/ 158 w 870"/>
                <a:gd name="T5" fmla="*/ 34 h 765"/>
                <a:gd name="T6" fmla="*/ 141 w 870"/>
                <a:gd name="T7" fmla="*/ 51 h 765"/>
                <a:gd name="T8" fmla="*/ 125 w 870"/>
                <a:gd name="T9" fmla="*/ 60 h 765"/>
                <a:gd name="T10" fmla="*/ 90 w 870"/>
                <a:gd name="T11" fmla="*/ 94 h 765"/>
                <a:gd name="T12" fmla="*/ 79 w 870"/>
                <a:gd name="T13" fmla="*/ 120 h 765"/>
                <a:gd name="T14" fmla="*/ 62 w 870"/>
                <a:gd name="T15" fmla="*/ 137 h 765"/>
                <a:gd name="T16" fmla="*/ 45 w 870"/>
                <a:gd name="T17" fmla="*/ 223 h 765"/>
                <a:gd name="T18" fmla="*/ 23 w 870"/>
                <a:gd name="T19" fmla="*/ 274 h 765"/>
                <a:gd name="T20" fmla="*/ 0 w 870"/>
                <a:gd name="T21" fmla="*/ 436 h 7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70" h="765">
                  <a:moveTo>
                    <a:pt x="870" y="120"/>
                  </a:moveTo>
                  <a:cubicBezTo>
                    <a:pt x="806" y="77"/>
                    <a:pt x="765" y="25"/>
                    <a:pt x="690" y="0"/>
                  </a:cubicBezTo>
                  <a:cubicBezTo>
                    <a:pt x="588" y="11"/>
                    <a:pt x="515" y="28"/>
                    <a:pt x="420" y="60"/>
                  </a:cubicBezTo>
                  <a:cubicBezTo>
                    <a:pt x="403" y="66"/>
                    <a:pt x="391" y="82"/>
                    <a:pt x="375" y="90"/>
                  </a:cubicBezTo>
                  <a:cubicBezTo>
                    <a:pt x="361" y="97"/>
                    <a:pt x="344" y="97"/>
                    <a:pt x="330" y="105"/>
                  </a:cubicBezTo>
                  <a:cubicBezTo>
                    <a:pt x="298" y="123"/>
                    <a:pt x="240" y="165"/>
                    <a:pt x="240" y="165"/>
                  </a:cubicBezTo>
                  <a:cubicBezTo>
                    <a:pt x="230" y="180"/>
                    <a:pt x="223" y="197"/>
                    <a:pt x="210" y="210"/>
                  </a:cubicBezTo>
                  <a:cubicBezTo>
                    <a:pt x="197" y="223"/>
                    <a:pt x="175" y="225"/>
                    <a:pt x="165" y="240"/>
                  </a:cubicBezTo>
                  <a:cubicBezTo>
                    <a:pt x="82" y="372"/>
                    <a:pt x="173" y="285"/>
                    <a:pt x="120" y="390"/>
                  </a:cubicBezTo>
                  <a:cubicBezTo>
                    <a:pt x="104" y="422"/>
                    <a:pt x="80" y="450"/>
                    <a:pt x="60" y="480"/>
                  </a:cubicBezTo>
                  <a:cubicBezTo>
                    <a:pt x="21" y="539"/>
                    <a:pt x="0" y="697"/>
                    <a:pt x="0" y="7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4" name="Freeform 21">
              <a:extLst>
                <a:ext uri="{FF2B5EF4-FFF2-40B4-BE49-F238E27FC236}">
                  <a16:creationId xmlns:a16="http://schemas.microsoft.com/office/drawing/2014/main" id="{0E7D637F-1B18-6659-EE9B-5C70F08CF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5838"/>
              <a:ext cx="588" cy="901"/>
            </a:xfrm>
            <a:custGeom>
              <a:avLst/>
              <a:gdLst>
                <a:gd name="T0" fmla="*/ 283 w 750"/>
                <a:gd name="T1" fmla="*/ 0 h 1035"/>
                <a:gd name="T2" fmla="*/ 272 w 750"/>
                <a:gd name="T3" fmla="*/ 259 h 1035"/>
                <a:gd name="T4" fmla="*/ 260 w 750"/>
                <a:gd name="T5" fmla="*/ 310 h 1035"/>
                <a:gd name="T6" fmla="*/ 227 w 750"/>
                <a:gd name="T7" fmla="*/ 388 h 1035"/>
                <a:gd name="T8" fmla="*/ 221 w 750"/>
                <a:gd name="T9" fmla="*/ 414 h 1035"/>
                <a:gd name="T10" fmla="*/ 187 w 750"/>
                <a:gd name="T11" fmla="*/ 447 h 1035"/>
                <a:gd name="T12" fmla="*/ 147 w 750"/>
                <a:gd name="T13" fmla="*/ 491 h 1035"/>
                <a:gd name="T14" fmla="*/ 96 w 750"/>
                <a:gd name="T15" fmla="*/ 535 h 1035"/>
                <a:gd name="T16" fmla="*/ 28 w 750"/>
                <a:gd name="T17" fmla="*/ 568 h 1035"/>
                <a:gd name="T18" fmla="*/ 0 w 750"/>
                <a:gd name="T19" fmla="*/ 594 h 10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0" h="1035">
                  <a:moveTo>
                    <a:pt x="750" y="0"/>
                  </a:moveTo>
                  <a:cubicBezTo>
                    <a:pt x="748" y="34"/>
                    <a:pt x="737" y="359"/>
                    <a:pt x="720" y="450"/>
                  </a:cubicBezTo>
                  <a:cubicBezTo>
                    <a:pt x="714" y="481"/>
                    <a:pt x="708" y="514"/>
                    <a:pt x="690" y="540"/>
                  </a:cubicBezTo>
                  <a:cubicBezTo>
                    <a:pt x="660" y="585"/>
                    <a:pt x="617" y="624"/>
                    <a:pt x="600" y="675"/>
                  </a:cubicBezTo>
                  <a:cubicBezTo>
                    <a:pt x="595" y="690"/>
                    <a:pt x="596" y="709"/>
                    <a:pt x="585" y="720"/>
                  </a:cubicBezTo>
                  <a:cubicBezTo>
                    <a:pt x="560" y="745"/>
                    <a:pt x="495" y="780"/>
                    <a:pt x="495" y="780"/>
                  </a:cubicBezTo>
                  <a:cubicBezTo>
                    <a:pt x="470" y="855"/>
                    <a:pt x="495" y="820"/>
                    <a:pt x="390" y="855"/>
                  </a:cubicBezTo>
                  <a:cubicBezTo>
                    <a:pt x="357" y="866"/>
                    <a:pt x="289" y="915"/>
                    <a:pt x="255" y="930"/>
                  </a:cubicBezTo>
                  <a:cubicBezTo>
                    <a:pt x="199" y="955"/>
                    <a:pt x="133" y="971"/>
                    <a:pt x="75" y="990"/>
                  </a:cubicBezTo>
                  <a:cubicBezTo>
                    <a:pt x="47" y="999"/>
                    <a:pt x="26" y="1022"/>
                    <a:pt x="0" y="103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5" name="Freeform 19">
              <a:extLst>
                <a:ext uri="{FF2B5EF4-FFF2-40B4-BE49-F238E27FC236}">
                  <a16:creationId xmlns:a16="http://schemas.microsoft.com/office/drawing/2014/main" id="{EB7CC963-9BBE-5C78-E5CC-ACC2505CC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" y="5838"/>
              <a:ext cx="529" cy="992"/>
            </a:xfrm>
            <a:custGeom>
              <a:avLst/>
              <a:gdLst>
                <a:gd name="T0" fmla="*/ 237 w 675"/>
                <a:gd name="T1" fmla="*/ 0 h 1140"/>
                <a:gd name="T2" fmla="*/ 248 w 675"/>
                <a:gd name="T3" fmla="*/ 51 h 1140"/>
                <a:gd name="T4" fmla="*/ 255 w 675"/>
                <a:gd name="T5" fmla="*/ 77 h 1140"/>
                <a:gd name="T6" fmla="*/ 220 w 675"/>
                <a:gd name="T7" fmla="*/ 378 h 1140"/>
                <a:gd name="T8" fmla="*/ 192 w 675"/>
                <a:gd name="T9" fmla="*/ 456 h 1140"/>
                <a:gd name="T10" fmla="*/ 158 w 675"/>
                <a:gd name="T11" fmla="*/ 490 h 1140"/>
                <a:gd name="T12" fmla="*/ 130 w 675"/>
                <a:gd name="T13" fmla="*/ 533 h 1140"/>
                <a:gd name="T14" fmla="*/ 102 w 675"/>
                <a:gd name="T15" fmla="*/ 567 h 1140"/>
                <a:gd name="T16" fmla="*/ 56 w 675"/>
                <a:gd name="T17" fmla="*/ 620 h 1140"/>
                <a:gd name="T18" fmla="*/ 39 w 675"/>
                <a:gd name="T19" fmla="*/ 637 h 1140"/>
                <a:gd name="T20" fmla="*/ 23 w 675"/>
                <a:gd name="T21" fmla="*/ 645 h 1140"/>
                <a:gd name="T22" fmla="*/ 0 w 675"/>
                <a:gd name="T23" fmla="*/ 654 h 11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75" h="1140">
                  <a:moveTo>
                    <a:pt x="630" y="0"/>
                  </a:moveTo>
                  <a:cubicBezTo>
                    <a:pt x="640" y="30"/>
                    <a:pt x="650" y="60"/>
                    <a:pt x="660" y="90"/>
                  </a:cubicBezTo>
                  <a:cubicBezTo>
                    <a:pt x="665" y="105"/>
                    <a:pt x="675" y="135"/>
                    <a:pt x="675" y="135"/>
                  </a:cubicBezTo>
                  <a:cubicBezTo>
                    <a:pt x="662" y="349"/>
                    <a:pt x="650" y="466"/>
                    <a:pt x="585" y="660"/>
                  </a:cubicBezTo>
                  <a:cubicBezTo>
                    <a:pt x="569" y="707"/>
                    <a:pt x="554" y="766"/>
                    <a:pt x="510" y="795"/>
                  </a:cubicBezTo>
                  <a:cubicBezTo>
                    <a:pt x="480" y="815"/>
                    <a:pt x="420" y="855"/>
                    <a:pt x="420" y="855"/>
                  </a:cubicBezTo>
                  <a:cubicBezTo>
                    <a:pt x="340" y="975"/>
                    <a:pt x="445" y="830"/>
                    <a:pt x="345" y="930"/>
                  </a:cubicBezTo>
                  <a:cubicBezTo>
                    <a:pt x="277" y="998"/>
                    <a:pt x="358" y="961"/>
                    <a:pt x="270" y="990"/>
                  </a:cubicBezTo>
                  <a:cubicBezTo>
                    <a:pt x="227" y="1055"/>
                    <a:pt x="214" y="1048"/>
                    <a:pt x="150" y="1080"/>
                  </a:cubicBezTo>
                  <a:cubicBezTo>
                    <a:pt x="134" y="1088"/>
                    <a:pt x="121" y="1102"/>
                    <a:pt x="105" y="1110"/>
                  </a:cubicBezTo>
                  <a:cubicBezTo>
                    <a:pt x="91" y="1117"/>
                    <a:pt x="75" y="1121"/>
                    <a:pt x="60" y="1125"/>
                  </a:cubicBezTo>
                  <a:cubicBezTo>
                    <a:pt x="40" y="1131"/>
                    <a:pt x="0" y="1140"/>
                    <a:pt x="0" y="11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366" name="AutoShape 18">
              <a:extLst>
                <a:ext uri="{FF2B5EF4-FFF2-40B4-BE49-F238E27FC236}">
                  <a16:creationId xmlns:a16="http://schemas.microsoft.com/office/drawing/2014/main" id="{1B69C5FB-7699-7AD8-3E69-4F18C70731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89" y="6412"/>
              <a:ext cx="124" cy="2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7" name="AutoShape 17">
              <a:extLst>
                <a:ext uri="{FF2B5EF4-FFF2-40B4-BE49-F238E27FC236}">
                  <a16:creationId xmlns:a16="http://schemas.microsoft.com/office/drawing/2014/main" id="{9307A2D9-3ADE-F359-CDB3-97B64EBB38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49" y="5944"/>
              <a:ext cx="111" cy="2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8" name="AutoShape 16">
              <a:extLst>
                <a:ext uri="{FF2B5EF4-FFF2-40B4-BE49-F238E27FC236}">
                  <a16:creationId xmlns:a16="http://schemas.microsoft.com/office/drawing/2014/main" id="{36C17C5F-B421-BD37-1EAD-A313CDB0C1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20" y="5756"/>
              <a:ext cx="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9" name="AutoShape 14">
              <a:extLst>
                <a:ext uri="{FF2B5EF4-FFF2-40B4-BE49-F238E27FC236}">
                  <a16:creationId xmlns:a16="http://schemas.microsoft.com/office/drawing/2014/main" id="{AABFF31F-44BC-C996-6D94-407AAF3B1B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8" y="5757"/>
              <a:ext cx="12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0" name="AutoShape 13">
              <a:extLst>
                <a:ext uri="{FF2B5EF4-FFF2-40B4-BE49-F238E27FC236}">
                  <a16:creationId xmlns:a16="http://schemas.microsoft.com/office/drawing/2014/main" id="{5DD36F30-BB0B-F9A3-7268-9F86A3BA3F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86" y="4939"/>
              <a:ext cx="82" cy="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1" name="AutoShape 12">
              <a:extLst>
                <a:ext uri="{FF2B5EF4-FFF2-40B4-BE49-F238E27FC236}">
                  <a16:creationId xmlns:a16="http://schemas.microsoft.com/office/drawing/2014/main" id="{9E5A201F-7944-6072-FF20-202B8187CD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3" y="6412"/>
              <a:ext cx="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2" name="AutoShape 11">
              <a:extLst>
                <a:ext uri="{FF2B5EF4-FFF2-40B4-BE49-F238E27FC236}">
                  <a16:creationId xmlns:a16="http://schemas.microsoft.com/office/drawing/2014/main" id="{646D41C5-107A-1F12-F2DB-6F102C192E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438" y="6282"/>
              <a:ext cx="85" cy="2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3" name="AutoShape 10">
              <a:extLst>
                <a:ext uri="{FF2B5EF4-FFF2-40B4-BE49-F238E27FC236}">
                  <a16:creationId xmlns:a16="http://schemas.microsoft.com/office/drawing/2014/main" id="{AE5919E8-D189-9A8D-7A98-D6C72DA21B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63" y="6309"/>
              <a:ext cx="47" cy="1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4" name="AutoShape 9">
              <a:extLst>
                <a:ext uri="{FF2B5EF4-FFF2-40B4-BE49-F238E27FC236}">
                  <a16:creationId xmlns:a16="http://schemas.microsoft.com/office/drawing/2014/main" id="{6F2FB52C-8CD8-7335-1571-9AB51D5A3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4" y="6165"/>
              <a:ext cx="58" cy="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5" name="AutoShape 8">
              <a:extLst>
                <a:ext uri="{FF2B5EF4-FFF2-40B4-BE49-F238E27FC236}">
                  <a16:creationId xmlns:a16="http://schemas.microsoft.com/office/drawing/2014/main" id="{5F514DE7-53CE-1BF7-F267-BBC839203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41" y="6808"/>
              <a:ext cx="1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6" name="AutoShape 7">
              <a:extLst>
                <a:ext uri="{FF2B5EF4-FFF2-40B4-BE49-F238E27FC236}">
                  <a16:creationId xmlns:a16="http://schemas.microsoft.com/office/drawing/2014/main" id="{32D08379-A606-BFC1-D439-17FA56DE76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58" y="6230"/>
              <a:ext cx="23" cy="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7" name="AutoShape 6">
              <a:extLst>
                <a:ext uri="{FF2B5EF4-FFF2-40B4-BE49-F238E27FC236}">
                  <a16:creationId xmlns:a16="http://schemas.microsoft.com/office/drawing/2014/main" id="{74E05DD5-E438-D065-5BA7-081A04908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876" y="6165"/>
              <a:ext cx="58" cy="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8" name="AutoShape 5">
              <a:extLst>
                <a:ext uri="{FF2B5EF4-FFF2-40B4-BE49-F238E27FC236}">
                  <a16:creationId xmlns:a16="http://schemas.microsoft.com/office/drawing/2014/main" id="{8D1675BC-A22A-045C-9377-B790554F8A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28" y="5673"/>
              <a:ext cx="7" cy="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9" name="AutoShape 4">
              <a:extLst>
                <a:ext uri="{FF2B5EF4-FFF2-40B4-BE49-F238E27FC236}">
                  <a16:creationId xmlns:a16="http://schemas.microsoft.com/office/drawing/2014/main" id="{D257CCC9-4B13-FA35-8F63-A5D487542C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58" y="5421"/>
              <a:ext cx="59" cy="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80" name="AutoShape 3">
              <a:extLst>
                <a:ext uri="{FF2B5EF4-FFF2-40B4-BE49-F238E27FC236}">
                  <a16:creationId xmlns:a16="http://schemas.microsoft.com/office/drawing/2014/main" id="{AF66DB2E-34E9-412A-D7D4-1A7BF7B387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52" y="4546"/>
              <a:ext cx="130" cy="1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81" name="AutoShape 2">
              <a:extLst>
                <a:ext uri="{FF2B5EF4-FFF2-40B4-BE49-F238E27FC236}">
                  <a16:creationId xmlns:a16="http://schemas.microsoft.com/office/drawing/2014/main" id="{F6C36977-A3F2-CBD3-0F75-C7D21F8C14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34" y="4795"/>
              <a:ext cx="71" cy="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295" name="Rectangle 100">
            <a:extLst>
              <a:ext uri="{FF2B5EF4-FFF2-40B4-BE49-F238E27FC236}">
                <a16:creationId xmlns:a16="http://schemas.microsoft.com/office/drawing/2014/main" id="{F64BFC43-3833-4593-E679-DBC98B4F7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2296" name="Group 61">
            <a:extLst>
              <a:ext uri="{FF2B5EF4-FFF2-40B4-BE49-F238E27FC236}">
                <a16:creationId xmlns:a16="http://schemas.microsoft.com/office/drawing/2014/main" id="{F0C68971-031C-1B05-289D-BE538CF1D2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03800" y="2774950"/>
            <a:ext cx="3913188" cy="3606800"/>
            <a:chOff x="6169" y="4261"/>
            <a:chExt cx="3900" cy="3596"/>
          </a:xfrm>
        </p:grpSpPr>
        <p:sp>
          <p:nvSpPr>
            <p:cNvPr id="12298" name="AutoShape 99">
              <a:extLst>
                <a:ext uri="{FF2B5EF4-FFF2-40B4-BE49-F238E27FC236}">
                  <a16:creationId xmlns:a16="http://schemas.microsoft.com/office/drawing/2014/main" id="{5754739C-339C-8720-C888-3C9C3C056DF7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6169" y="4261"/>
              <a:ext cx="3900" cy="3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Text Box 98">
              <a:extLst>
                <a:ext uri="{FF2B5EF4-FFF2-40B4-BE49-F238E27FC236}">
                  <a16:creationId xmlns:a16="http://schemas.microsoft.com/office/drawing/2014/main" id="{A936A313-7A66-A68C-45B5-4BBC32727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3" y="7133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2300" name="Text Box 97">
              <a:extLst>
                <a:ext uri="{FF2B5EF4-FFF2-40B4-BE49-F238E27FC236}">
                  <a16:creationId xmlns:a16="http://schemas.microsoft.com/office/drawing/2014/main" id="{34374A3B-8339-49AE-9B3E-C58FBF25B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4" y="7070"/>
              <a:ext cx="586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2301" name="Text Box 96">
              <a:extLst>
                <a:ext uri="{FF2B5EF4-FFF2-40B4-BE49-F238E27FC236}">
                  <a16:creationId xmlns:a16="http://schemas.microsoft.com/office/drawing/2014/main" id="{3C95B0C0-E39D-4B73-DEFD-4F463E4A3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5" y="7033"/>
              <a:ext cx="587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2302" name="Text Box 95">
              <a:extLst>
                <a:ext uri="{FF2B5EF4-FFF2-40B4-BE49-F238E27FC236}">
                  <a16:creationId xmlns:a16="http://schemas.microsoft.com/office/drawing/2014/main" id="{3CB7945F-809B-33FE-CA51-1C81CCA23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5" y="5214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2303" name="Text Box 94">
              <a:extLst>
                <a:ext uri="{FF2B5EF4-FFF2-40B4-BE49-F238E27FC236}">
                  <a16:creationId xmlns:a16="http://schemas.microsoft.com/office/drawing/2014/main" id="{C6951338-4B39-1DD4-3B1A-041EAF22B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5" y="4268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2304" name="Text Box 93">
              <a:extLst>
                <a:ext uri="{FF2B5EF4-FFF2-40B4-BE49-F238E27FC236}">
                  <a16:creationId xmlns:a16="http://schemas.microsoft.com/office/drawing/2014/main" id="{6AE6B477-D0E4-B94E-874E-CAFFD88C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0" y="5516"/>
              <a:ext cx="586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2305" name="Text Box 92">
              <a:extLst>
                <a:ext uri="{FF2B5EF4-FFF2-40B4-BE49-F238E27FC236}">
                  <a16:creationId xmlns:a16="http://schemas.microsoft.com/office/drawing/2014/main" id="{608165C0-FED8-CF38-E172-69DFED4F3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3" y="5466"/>
              <a:ext cx="586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2306" name="Text Box 91">
              <a:extLst>
                <a:ext uri="{FF2B5EF4-FFF2-40B4-BE49-F238E27FC236}">
                  <a16:creationId xmlns:a16="http://schemas.microsoft.com/office/drawing/2014/main" id="{DB60A74B-48E1-50E8-0075-8273F0E01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76" y="5675"/>
              <a:ext cx="587" cy="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553" tIns="39776" rIns="79553" bIns="397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2307" name="Oval 90">
              <a:extLst>
                <a:ext uri="{FF2B5EF4-FFF2-40B4-BE49-F238E27FC236}">
                  <a16:creationId xmlns:a16="http://schemas.microsoft.com/office/drawing/2014/main" id="{D5FA658D-B279-CABD-6443-AD2AA431A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" y="4742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8" name="Oval 89">
              <a:extLst>
                <a:ext uri="{FF2B5EF4-FFF2-40B4-BE49-F238E27FC236}">
                  <a16:creationId xmlns:a16="http://schemas.microsoft.com/office/drawing/2014/main" id="{5160AA65-EFA9-0C37-9E02-B8E980252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" y="5432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9" name="Oval 88">
              <a:extLst>
                <a:ext uri="{FF2B5EF4-FFF2-40B4-BE49-F238E27FC236}">
                  <a16:creationId xmlns:a16="http://schemas.microsoft.com/office/drawing/2014/main" id="{5727DA5E-886F-2EF5-F223-FB382FA3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" y="6923"/>
              <a:ext cx="173" cy="19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0" name="Oval 87">
              <a:extLst>
                <a:ext uri="{FF2B5EF4-FFF2-40B4-BE49-F238E27FC236}">
                  <a16:creationId xmlns:a16="http://schemas.microsoft.com/office/drawing/2014/main" id="{99885AFC-6FE0-D8AB-6BA0-F6C7D07AD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2" y="5932"/>
              <a:ext cx="172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1" name="Oval 86">
              <a:extLst>
                <a:ext uri="{FF2B5EF4-FFF2-40B4-BE49-F238E27FC236}">
                  <a16:creationId xmlns:a16="http://schemas.microsoft.com/office/drawing/2014/main" id="{7EADA00B-3537-271D-0772-1F6A761BD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" y="6962"/>
              <a:ext cx="174" cy="19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2" name="Oval 85">
              <a:extLst>
                <a:ext uri="{FF2B5EF4-FFF2-40B4-BE49-F238E27FC236}">
                  <a16:creationId xmlns:a16="http://schemas.microsoft.com/office/drawing/2014/main" id="{F3722F5B-7188-934F-2862-5F0525551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5" y="7026"/>
              <a:ext cx="174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3" name="Oval 84">
              <a:extLst>
                <a:ext uri="{FF2B5EF4-FFF2-40B4-BE49-F238E27FC236}">
                  <a16:creationId xmlns:a16="http://schemas.microsoft.com/office/drawing/2014/main" id="{335B816D-A7B5-850F-3739-340B04106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7" y="5969"/>
              <a:ext cx="173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4" name="Oval 83">
              <a:extLst>
                <a:ext uri="{FF2B5EF4-FFF2-40B4-BE49-F238E27FC236}">
                  <a16:creationId xmlns:a16="http://schemas.microsoft.com/office/drawing/2014/main" id="{6E7C3A23-BC0F-40C7-A9D8-E4DAB281C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3" y="5932"/>
              <a:ext cx="174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2315" name="AutoShape 82">
              <a:extLst>
                <a:ext uri="{FF2B5EF4-FFF2-40B4-BE49-F238E27FC236}">
                  <a16:creationId xmlns:a16="http://schemas.microsoft.com/office/drawing/2014/main" id="{9A5454A8-A8BE-278B-7445-8CE0CA34FA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28" y="4907"/>
              <a:ext cx="629" cy="5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6" name="AutoShape 81">
              <a:extLst>
                <a:ext uri="{FF2B5EF4-FFF2-40B4-BE49-F238E27FC236}">
                  <a16:creationId xmlns:a16="http://schemas.microsoft.com/office/drawing/2014/main" id="{576FDBE5-603F-A132-CB8C-EDB19703DE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28" y="6125"/>
              <a:ext cx="590" cy="8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7" name="AutoShape 80">
              <a:extLst>
                <a:ext uri="{FF2B5EF4-FFF2-40B4-BE49-F238E27FC236}">
                  <a16:creationId xmlns:a16="http://schemas.microsoft.com/office/drawing/2014/main" id="{84EDA920-6D98-C5B7-66A2-875F2A7585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79" y="6097"/>
              <a:ext cx="348" cy="8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8" name="AutoShape 79">
              <a:extLst>
                <a:ext uri="{FF2B5EF4-FFF2-40B4-BE49-F238E27FC236}">
                  <a16:creationId xmlns:a16="http://schemas.microsoft.com/office/drawing/2014/main" id="{6E5D4192-5773-0DAF-289D-B3EC454BA9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04" y="6029"/>
              <a:ext cx="903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9" name="AutoShape 78">
              <a:extLst>
                <a:ext uri="{FF2B5EF4-FFF2-40B4-BE49-F238E27FC236}">
                  <a16:creationId xmlns:a16="http://schemas.microsoft.com/office/drawing/2014/main" id="{666C0244-4AA6-F3A5-CC58-4B891ACFD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51" y="6134"/>
              <a:ext cx="481" cy="8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77">
              <a:extLst>
                <a:ext uri="{FF2B5EF4-FFF2-40B4-BE49-F238E27FC236}">
                  <a16:creationId xmlns:a16="http://schemas.microsoft.com/office/drawing/2014/main" id="{5F833446-E3E8-B9D8-574A-A5FC8DCA2A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94" y="6162"/>
              <a:ext cx="628" cy="8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1" name="AutoShape 76">
              <a:extLst>
                <a:ext uri="{FF2B5EF4-FFF2-40B4-BE49-F238E27FC236}">
                  <a16:creationId xmlns:a16="http://schemas.microsoft.com/office/drawing/2014/main" id="{D32E4109-ED1E-347B-21FB-BD65A9E29E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76" y="7059"/>
              <a:ext cx="1059" cy="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2" name="Freeform 75">
              <a:extLst>
                <a:ext uri="{FF2B5EF4-FFF2-40B4-BE49-F238E27FC236}">
                  <a16:creationId xmlns:a16="http://schemas.microsoft.com/office/drawing/2014/main" id="{F4363740-589E-5113-ECFD-9E7FA2749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2" y="4751"/>
              <a:ext cx="682" cy="665"/>
            </a:xfrm>
            <a:custGeom>
              <a:avLst/>
              <a:gdLst>
                <a:gd name="T0" fmla="*/ 328 w 870"/>
                <a:gd name="T1" fmla="*/ 68 h 765"/>
                <a:gd name="T2" fmla="*/ 260 w 870"/>
                <a:gd name="T3" fmla="*/ 0 h 765"/>
                <a:gd name="T4" fmla="*/ 158 w 870"/>
                <a:gd name="T5" fmla="*/ 34 h 765"/>
                <a:gd name="T6" fmla="*/ 141 w 870"/>
                <a:gd name="T7" fmla="*/ 51 h 765"/>
                <a:gd name="T8" fmla="*/ 125 w 870"/>
                <a:gd name="T9" fmla="*/ 60 h 765"/>
                <a:gd name="T10" fmla="*/ 90 w 870"/>
                <a:gd name="T11" fmla="*/ 94 h 765"/>
                <a:gd name="T12" fmla="*/ 79 w 870"/>
                <a:gd name="T13" fmla="*/ 120 h 765"/>
                <a:gd name="T14" fmla="*/ 62 w 870"/>
                <a:gd name="T15" fmla="*/ 137 h 765"/>
                <a:gd name="T16" fmla="*/ 45 w 870"/>
                <a:gd name="T17" fmla="*/ 223 h 765"/>
                <a:gd name="T18" fmla="*/ 23 w 870"/>
                <a:gd name="T19" fmla="*/ 274 h 765"/>
                <a:gd name="T20" fmla="*/ 0 w 870"/>
                <a:gd name="T21" fmla="*/ 436 h 7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70" h="765">
                  <a:moveTo>
                    <a:pt x="870" y="120"/>
                  </a:moveTo>
                  <a:cubicBezTo>
                    <a:pt x="806" y="77"/>
                    <a:pt x="765" y="25"/>
                    <a:pt x="690" y="0"/>
                  </a:cubicBezTo>
                  <a:cubicBezTo>
                    <a:pt x="588" y="11"/>
                    <a:pt x="515" y="28"/>
                    <a:pt x="420" y="60"/>
                  </a:cubicBezTo>
                  <a:cubicBezTo>
                    <a:pt x="403" y="66"/>
                    <a:pt x="391" y="82"/>
                    <a:pt x="375" y="90"/>
                  </a:cubicBezTo>
                  <a:cubicBezTo>
                    <a:pt x="361" y="97"/>
                    <a:pt x="344" y="97"/>
                    <a:pt x="330" y="105"/>
                  </a:cubicBezTo>
                  <a:cubicBezTo>
                    <a:pt x="298" y="123"/>
                    <a:pt x="240" y="165"/>
                    <a:pt x="240" y="165"/>
                  </a:cubicBezTo>
                  <a:cubicBezTo>
                    <a:pt x="230" y="180"/>
                    <a:pt x="223" y="197"/>
                    <a:pt x="210" y="210"/>
                  </a:cubicBezTo>
                  <a:cubicBezTo>
                    <a:pt x="197" y="223"/>
                    <a:pt x="175" y="225"/>
                    <a:pt x="165" y="240"/>
                  </a:cubicBezTo>
                  <a:cubicBezTo>
                    <a:pt x="82" y="372"/>
                    <a:pt x="173" y="285"/>
                    <a:pt x="120" y="390"/>
                  </a:cubicBezTo>
                  <a:cubicBezTo>
                    <a:pt x="104" y="422"/>
                    <a:pt x="80" y="450"/>
                    <a:pt x="60" y="480"/>
                  </a:cubicBezTo>
                  <a:cubicBezTo>
                    <a:pt x="21" y="539"/>
                    <a:pt x="0" y="697"/>
                    <a:pt x="0" y="7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3" name="Freeform 74">
              <a:extLst>
                <a:ext uri="{FF2B5EF4-FFF2-40B4-BE49-F238E27FC236}">
                  <a16:creationId xmlns:a16="http://schemas.microsoft.com/office/drawing/2014/main" id="{DA0E6F71-40D3-E4C4-0115-D4031230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6" y="6134"/>
              <a:ext cx="588" cy="901"/>
            </a:xfrm>
            <a:custGeom>
              <a:avLst/>
              <a:gdLst>
                <a:gd name="T0" fmla="*/ 283 w 750"/>
                <a:gd name="T1" fmla="*/ 0 h 1035"/>
                <a:gd name="T2" fmla="*/ 272 w 750"/>
                <a:gd name="T3" fmla="*/ 259 h 1035"/>
                <a:gd name="T4" fmla="*/ 260 w 750"/>
                <a:gd name="T5" fmla="*/ 310 h 1035"/>
                <a:gd name="T6" fmla="*/ 227 w 750"/>
                <a:gd name="T7" fmla="*/ 388 h 1035"/>
                <a:gd name="T8" fmla="*/ 221 w 750"/>
                <a:gd name="T9" fmla="*/ 414 h 1035"/>
                <a:gd name="T10" fmla="*/ 187 w 750"/>
                <a:gd name="T11" fmla="*/ 447 h 1035"/>
                <a:gd name="T12" fmla="*/ 147 w 750"/>
                <a:gd name="T13" fmla="*/ 491 h 1035"/>
                <a:gd name="T14" fmla="*/ 96 w 750"/>
                <a:gd name="T15" fmla="*/ 535 h 1035"/>
                <a:gd name="T16" fmla="*/ 28 w 750"/>
                <a:gd name="T17" fmla="*/ 568 h 1035"/>
                <a:gd name="T18" fmla="*/ 0 w 750"/>
                <a:gd name="T19" fmla="*/ 594 h 10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0" h="1035">
                  <a:moveTo>
                    <a:pt x="750" y="0"/>
                  </a:moveTo>
                  <a:cubicBezTo>
                    <a:pt x="748" y="34"/>
                    <a:pt x="737" y="359"/>
                    <a:pt x="720" y="450"/>
                  </a:cubicBezTo>
                  <a:cubicBezTo>
                    <a:pt x="714" y="481"/>
                    <a:pt x="708" y="514"/>
                    <a:pt x="690" y="540"/>
                  </a:cubicBezTo>
                  <a:cubicBezTo>
                    <a:pt x="660" y="585"/>
                    <a:pt x="617" y="624"/>
                    <a:pt x="600" y="675"/>
                  </a:cubicBezTo>
                  <a:cubicBezTo>
                    <a:pt x="595" y="690"/>
                    <a:pt x="596" y="709"/>
                    <a:pt x="585" y="720"/>
                  </a:cubicBezTo>
                  <a:cubicBezTo>
                    <a:pt x="560" y="745"/>
                    <a:pt x="495" y="780"/>
                    <a:pt x="495" y="780"/>
                  </a:cubicBezTo>
                  <a:cubicBezTo>
                    <a:pt x="470" y="855"/>
                    <a:pt x="495" y="820"/>
                    <a:pt x="390" y="855"/>
                  </a:cubicBezTo>
                  <a:cubicBezTo>
                    <a:pt x="357" y="866"/>
                    <a:pt x="289" y="915"/>
                    <a:pt x="255" y="930"/>
                  </a:cubicBezTo>
                  <a:cubicBezTo>
                    <a:pt x="199" y="955"/>
                    <a:pt x="133" y="971"/>
                    <a:pt x="75" y="990"/>
                  </a:cubicBezTo>
                  <a:cubicBezTo>
                    <a:pt x="47" y="999"/>
                    <a:pt x="26" y="1022"/>
                    <a:pt x="0" y="103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324" name="AutoShape 71">
              <a:extLst>
                <a:ext uri="{FF2B5EF4-FFF2-40B4-BE49-F238E27FC236}">
                  <a16:creationId xmlns:a16="http://schemas.microsoft.com/office/drawing/2014/main" id="{6CEB93C3-45B2-0122-9312-0EAED054A8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27" y="6053"/>
              <a:ext cx="12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5" name="AutoShape 70">
              <a:extLst>
                <a:ext uri="{FF2B5EF4-FFF2-40B4-BE49-F238E27FC236}">
                  <a16:creationId xmlns:a16="http://schemas.microsoft.com/office/drawing/2014/main" id="{2CB39F15-1A3A-E31A-CA02-3DBD7BC4E6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62" y="6708"/>
              <a:ext cx="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6" name="AutoShape 69">
              <a:extLst>
                <a:ext uri="{FF2B5EF4-FFF2-40B4-BE49-F238E27FC236}">
                  <a16:creationId xmlns:a16="http://schemas.microsoft.com/office/drawing/2014/main" id="{EF3F55C2-AA22-9957-6041-D13E0842E1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79" y="6605"/>
              <a:ext cx="83" cy="2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7" name="AutoShape 68">
              <a:extLst>
                <a:ext uri="{FF2B5EF4-FFF2-40B4-BE49-F238E27FC236}">
                  <a16:creationId xmlns:a16="http://schemas.microsoft.com/office/drawing/2014/main" id="{9A44E9D6-8002-5C0C-9E5B-75B60263D6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02" y="6605"/>
              <a:ext cx="47" cy="1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8" name="AutoShape 67">
              <a:extLst>
                <a:ext uri="{FF2B5EF4-FFF2-40B4-BE49-F238E27FC236}">
                  <a16:creationId xmlns:a16="http://schemas.microsoft.com/office/drawing/2014/main" id="{9B4A0C38-50A3-51B4-E97A-B3E87BBEAB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13" y="6461"/>
              <a:ext cx="58" cy="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9" name="AutoShape 66">
              <a:extLst>
                <a:ext uri="{FF2B5EF4-FFF2-40B4-BE49-F238E27FC236}">
                  <a16:creationId xmlns:a16="http://schemas.microsoft.com/office/drawing/2014/main" id="{A3017B4C-54EB-C3BE-B9F4-330F77774C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80" y="7104"/>
              <a:ext cx="1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0" name="AutoShape 65">
              <a:extLst>
                <a:ext uri="{FF2B5EF4-FFF2-40B4-BE49-F238E27FC236}">
                  <a16:creationId xmlns:a16="http://schemas.microsoft.com/office/drawing/2014/main" id="{666BE22F-7963-195B-A162-3B2B32AB5D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97" y="6526"/>
              <a:ext cx="23" cy="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1" name="AutoShape 64">
              <a:extLst>
                <a:ext uri="{FF2B5EF4-FFF2-40B4-BE49-F238E27FC236}">
                  <a16:creationId xmlns:a16="http://schemas.microsoft.com/office/drawing/2014/main" id="{52B322C9-0EAC-74C7-4276-39E890BD3E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15" y="6461"/>
              <a:ext cx="58" cy="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2" name="AutoShape 63">
              <a:extLst>
                <a:ext uri="{FF2B5EF4-FFF2-40B4-BE49-F238E27FC236}">
                  <a16:creationId xmlns:a16="http://schemas.microsoft.com/office/drawing/2014/main" id="{05610555-DC8C-AE3A-87B6-93259B2524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91" y="4842"/>
              <a:ext cx="130" cy="1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3" name="AutoShape 62">
              <a:extLst>
                <a:ext uri="{FF2B5EF4-FFF2-40B4-BE49-F238E27FC236}">
                  <a16:creationId xmlns:a16="http://schemas.microsoft.com/office/drawing/2014/main" id="{A6E67556-68A0-8ED4-08DF-5DF3819209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73" y="5091"/>
              <a:ext cx="71" cy="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B15F987C-6104-B368-63E8-AEDB20D616FB}"/>
              </a:ext>
            </a:extLst>
          </p:cNvPr>
          <p:cNvCxnSpPr/>
          <p:nvPr/>
        </p:nvCxnSpPr>
        <p:spPr>
          <a:xfrm>
            <a:off x="2092325" y="40322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5731B4A3-2ECD-4807-E6C9-0CC9D777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7.2.3 </a:t>
            </a:r>
            <a:r>
              <a:rPr lang="zh-CN" altLang="en-US" sz="5400" b="1">
                <a:solidFill>
                  <a:srgbClr val="333399"/>
                </a:solidFill>
              </a:rPr>
              <a:t>连通度</a:t>
            </a:r>
            <a:endParaRPr lang="zh-CN" altLang="en-US"/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366563EC-3742-B68E-384E-E2DCF455E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割点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桥</a:t>
            </a:r>
          </a:p>
        </p:txBody>
      </p:sp>
      <p:sp>
        <p:nvSpPr>
          <p:cNvPr id="13316" name="Rectangle 34">
            <a:extLst>
              <a:ext uri="{FF2B5EF4-FFF2-40B4-BE49-F238E27FC236}">
                <a16:creationId xmlns:a16="http://schemas.microsoft.com/office/drawing/2014/main" id="{98ED597E-3FBA-9F90-0D37-C8EB5CB55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317" name="Group 1">
            <a:extLst>
              <a:ext uri="{FF2B5EF4-FFF2-40B4-BE49-F238E27FC236}">
                <a16:creationId xmlns:a16="http://schemas.microsoft.com/office/drawing/2014/main" id="{BE4D75FF-B861-41D7-0692-67DFA3BC29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01750" y="3132138"/>
            <a:ext cx="7113588" cy="2673350"/>
            <a:chOff x="2260" y="10467"/>
            <a:chExt cx="6293" cy="2366"/>
          </a:xfrm>
        </p:grpSpPr>
        <p:sp>
          <p:nvSpPr>
            <p:cNvPr id="13318" name="AutoShape 33">
              <a:extLst>
                <a:ext uri="{FF2B5EF4-FFF2-40B4-BE49-F238E27FC236}">
                  <a16:creationId xmlns:a16="http://schemas.microsoft.com/office/drawing/2014/main" id="{E2EC580C-C884-CA73-7E31-4E38C1F9DB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60" y="10467"/>
              <a:ext cx="6274" cy="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Oval 32">
              <a:extLst>
                <a:ext uri="{FF2B5EF4-FFF2-40B4-BE49-F238E27FC236}">
                  <a16:creationId xmlns:a16="http://schemas.microsoft.com/office/drawing/2014/main" id="{D4D78915-B63C-EDF1-543D-40038A183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148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0" name="Oval 31">
              <a:extLst>
                <a:ext uri="{FF2B5EF4-FFF2-40B4-BE49-F238E27FC236}">
                  <a16:creationId xmlns:a16="http://schemas.microsoft.com/office/drawing/2014/main" id="{69C171A7-940A-9BA5-8084-60D2DD300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" y="104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1" name="Oval 30">
              <a:extLst>
                <a:ext uri="{FF2B5EF4-FFF2-40B4-BE49-F238E27FC236}">
                  <a16:creationId xmlns:a16="http://schemas.microsoft.com/office/drawing/2014/main" id="{4EA5C243-BC87-CE3C-42DA-D07CF2850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1471"/>
              <a:ext cx="220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2" name="Oval 29">
              <a:extLst>
                <a:ext uri="{FF2B5EF4-FFF2-40B4-BE49-F238E27FC236}">
                  <a16:creationId xmlns:a16="http://schemas.microsoft.com/office/drawing/2014/main" id="{6E805C47-9B5F-5504-0171-2C230C43A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048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3" name="Oval 28">
              <a:extLst>
                <a:ext uri="{FF2B5EF4-FFF2-40B4-BE49-F238E27FC236}">
                  <a16:creationId xmlns:a16="http://schemas.microsoft.com/office/drawing/2014/main" id="{2DA235D8-C0BE-D33A-2F38-E7859D03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" y="1146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4" name="Oval 27">
              <a:extLst>
                <a:ext uri="{FF2B5EF4-FFF2-40B4-BE49-F238E27FC236}">
                  <a16:creationId xmlns:a16="http://schemas.microsoft.com/office/drawing/2014/main" id="{FA89E792-FA57-27CF-A6C1-9F9493BC6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1469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5" name="Oval 26">
              <a:extLst>
                <a:ext uri="{FF2B5EF4-FFF2-40B4-BE49-F238E27FC236}">
                  <a16:creationId xmlns:a16="http://schemas.microsoft.com/office/drawing/2014/main" id="{20859C98-2975-691F-05F8-E4C5A5D42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2008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6" name="Oval 25">
              <a:extLst>
                <a:ext uri="{FF2B5EF4-FFF2-40B4-BE49-F238E27FC236}">
                  <a16:creationId xmlns:a16="http://schemas.microsoft.com/office/drawing/2014/main" id="{36098C23-F158-23F9-6DCA-D1BC17C0E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079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7" name="Oval 24">
              <a:extLst>
                <a:ext uri="{FF2B5EF4-FFF2-40B4-BE49-F238E27FC236}">
                  <a16:creationId xmlns:a16="http://schemas.microsoft.com/office/drawing/2014/main" id="{6B7B127F-2F24-5FAE-CBE6-483E392A0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2" y="1079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8" name="Oval 23">
              <a:extLst>
                <a:ext uri="{FF2B5EF4-FFF2-40B4-BE49-F238E27FC236}">
                  <a16:creationId xmlns:a16="http://schemas.microsoft.com/office/drawing/2014/main" id="{D0845627-55F2-027E-D018-6B7BDB0DA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" y="1203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9" name="Oval 22">
              <a:extLst>
                <a:ext uri="{FF2B5EF4-FFF2-40B4-BE49-F238E27FC236}">
                  <a16:creationId xmlns:a16="http://schemas.microsoft.com/office/drawing/2014/main" id="{FED575A4-3776-EE8E-5CAF-4A07FE551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0" name="Oval 21">
              <a:extLst>
                <a:ext uri="{FF2B5EF4-FFF2-40B4-BE49-F238E27FC236}">
                  <a16:creationId xmlns:a16="http://schemas.microsoft.com/office/drawing/2014/main" id="{F7390BD3-400E-4FC4-705B-B7B49D737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1" name="Oval 20">
              <a:extLst>
                <a:ext uri="{FF2B5EF4-FFF2-40B4-BE49-F238E27FC236}">
                  <a16:creationId xmlns:a16="http://schemas.microsoft.com/office/drawing/2014/main" id="{3C615C31-A16C-D2D5-A0F4-2E5290A15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26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2" name="Oval 19">
              <a:extLst>
                <a:ext uri="{FF2B5EF4-FFF2-40B4-BE49-F238E27FC236}">
                  <a16:creationId xmlns:a16="http://schemas.microsoft.com/office/drawing/2014/main" id="{7069E3D8-51A4-5412-3231-8275DD28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" y="120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333" name="AutoShape 18">
              <a:extLst>
                <a:ext uri="{FF2B5EF4-FFF2-40B4-BE49-F238E27FC236}">
                  <a16:creationId xmlns:a16="http://schemas.microsoft.com/office/drawing/2014/main" id="{19F3FB18-D4BC-B3DA-7456-D42AF7D272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0" y="10594"/>
              <a:ext cx="70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4" name="AutoShape 17">
              <a:extLst>
                <a:ext uri="{FF2B5EF4-FFF2-40B4-BE49-F238E27FC236}">
                  <a16:creationId xmlns:a16="http://schemas.microsoft.com/office/drawing/2014/main" id="{A90E638D-C30D-CFB5-F19B-1F191896D8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1" y="10705"/>
              <a:ext cx="1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5" name="AutoShape 16">
              <a:extLst>
                <a:ext uri="{FF2B5EF4-FFF2-40B4-BE49-F238E27FC236}">
                  <a16:creationId xmlns:a16="http://schemas.microsoft.com/office/drawing/2014/main" id="{680751F3-F252-423C-4406-4055B6E108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46" y="11693"/>
              <a:ext cx="1" cy="9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6" name="AutoShape 15">
              <a:extLst>
                <a:ext uri="{FF2B5EF4-FFF2-40B4-BE49-F238E27FC236}">
                  <a16:creationId xmlns:a16="http://schemas.microsoft.com/office/drawing/2014/main" id="{A2CEED21-EB67-2BD1-6A39-DA555CC1F5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6" y="11582"/>
              <a:ext cx="750" cy="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7" name="AutoShape 14">
              <a:extLst>
                <a:ext uri="{FF2B5EF4-FFF2-40B4-BE49-F238E27FC236}">
                  <a16:creationId xmlns:a16="http://schemas.microsoft.com/office/drawing/2014/main" id="{7DD73E74-5020-F5A5-506D-6EEF59C4AF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6" y="11706"/>
              <a:ext cx="33" cy="9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8" name="AutoShape 13">
              <a:extLst>
                <a:ext uri="{FF2B5EF4-FFF2-40B4-BE49-F238E27FC236}">
                  <a16:creationId xmlns:a16="http://schemas.microsoft.com/office/drawing/2014/main" id="{C179AFFE-1EAE-77E1-C2ED-C5FA424307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9" y="12722"/>
              <a:ext cx="71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9" name="AutoShape 12">
              <a:extLst>
                <a:ext uri="{FF2B5EF4-FFF2-40B4-BE49-F238E27FC236}">
                  <a16:creationId xmlns:a16="http://schemas.microsoft.com/office/drawing/2014/main" id="{6BA2CA57-024B-C079-F5AB-D5F5EBDC59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4" y="11673"/>
              <a:ext cx="513" cy="9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0" name="AutoShape 11">
              <a:extLst>
                <a:ext uri="{FF2B5EF4-FFF2-40B4-BE49-F238E27FC236}">
                  <a16:creationId xmlns:a16="http://schemas.microsoft.com/office/drawing/2014/main" id="{2DD0EAA8-5A1B-A356-5214-3607C66BE3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11" y="11691"/>
              <a:ext cx="473" cy="9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1" name="AutoShape 10">
              <a:extLst>
                <a:ext uri="{FF2B5EF4-FFF2-40B4-BE49-F238E27FC236}">
                  <a16:creationId xmlns:a16="http://schemas.microsoft.com/office/drawing/2014/main" id="{84DC5010-AA9C-0B25-4676-0DEAFA8917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6" y="11580"/>
              <a:ext cx="784" cy="1"/>
            </a:xfrm>
            <a:prstGeom prst="straightConnector1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2" name="AutoShape 9">
              <a:extLst>
                <a:ext uri="{FF2B5EF4-FFF2-40B4-BE49-F238E27FC236}">
                  <a16:creationId xmlns:a16="http://schemas.microsoft.com/office/drawing/2014/main" id="{E402F739-2638-BAD9-D121-BF5038C7AF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24" y="10985"/>
              <a:ext cx="710" cy="5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3" name="AutoShape 8">
              <a:extLst>
                <a:ext uri="{FF2B5EF4-FFF2-40B4-BE49-F238E27FC236}">
                  <a16:creationId xmlns:a16="http://schemas.microsoft.com/office/drawing/2014/main" id="{22F9EB06-7B6A-6F57-25B4-F1BD8C7BEC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24" y="11660"/>
              <a:ext cx="710" cy="4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4" name="AutoShape 7">
              <a:extLst>
                <a:ext uri="{FF2B5EF4-FFF2-40B4-BE49-F238E27FC236}">
                  <a16:creationId xmlns:a16="http://schemas.microsoft.com/office/drawing/2014/main" id="{B9C5E097-2142-A116-2738-BE5105B36D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3" y="10907"/>
              <a:ext cx="8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5" name="AutoShape 6">
              <a:extLst>
                <a:ext uri="{FF2B5EF4-FFF2-40B4-BE49-F238E27FC236}">
                  <a16:creationId xmlns:a16="http://schemas.microsoft.com/office/drawing/2014/main" id="{0FFC5BC9-CD3D-3C5B-6570-664B4DE14B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23" y="12119"/>
              <a:ext cx="889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6" name="AutoShape 5">
              <a:extLst>
                <a:ext uri="{FF2B5EF4-FFF2-40B4-BE49-F238E27FC236}">
                  <a16:creationId xmlns:a16="http://schemas.microsoft.com/office/drawing/2014/main" id="{CC22969C-A0A6-D800-769E-9D9ED01540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13" y="11018"/>
              <a:ext cx="1" cy="10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7" name="AutoShape 4">
              <a:extLst>
                <a:ext uri="{FF2B5EF4-FFF2-40B4-BE49-F238E27FC236}">
                  <a16:creationId xmlns:a16="http://schemas.microsoft.com/office/drawing/2014/main" id="{823976C4-DA31-ABE4-5217-19C20E29B1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3" y="11018"/>
              <a:ext cx="1" cy="9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8" name="AutoShape 3">
              <a:extLst>
                <a:ext uri="{FF2B5EF4-FFF2-40B4-BE49-F238E27FC236}">
                  <a16:creationId xmlns:a16="http://schemas.microsoft.com/office/drawing/2014/main" id="{FA3CC781-CBDC-1D77-9A0F-F5FAB17B76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34" y="12119"/>
              <a:ext cx="798" cy="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9" name="AutoShape 2">
              <a:extLst>
                <a:ext uri="{FF2B5EF4-FFF2-40B4-BE49-F238E27FC236}">
                  <a16:creationId xmlns:a16="http://schemas.microsoft.com/office/drawing/2014/main" id="{AA0B23CD-AFB9-BBDB-4EA4-6A88884B0E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2" y="11580"/>
              <a:ext cx="843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1C843327-0510-06F8-04B1-495ACA53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7.2.3 </a:t>
            </a:r>
            <a:r>
              <a:rPr lang="zh-CN" altLang="en-US" sz="5400" b="1">
                <a:solidFill>
                  <a:srgbClr val="333399"/>
                </a:solidFill>
              </a:rPr>
              <a:t>连通度</a:t>
            </a:r>
            <a:endParaRPr lang="zh-CN" altLang="en-US"/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D5F00FE1-2A99-469E-BAB7-36B2B105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点割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边割</a:t>
            </a:r>
          </a:p>
        </p:txBody>
      </p:sp>
      <p:sp>
        <p:nvSpPr>
          <p:cNvPr id="14340" name="Rectangle 36">
            <a:extLst>
              <a:ext uri="{FF2B5EF4-FFF2-40B4-BE49-F238E27FC236}">
                <a16:creationId xmlns:a16="http://schemas.microsoft.com/office/drawing/2014/main" id="{3CE94006-18BB-AD17-E65E-A5F955176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4341" name="Group 3">
            <a:extLst>
              <a:ext uri="{FF2B5EF4-FFF2-40B4-BE49-F238E27FC236}">
                <a16:creationId xmlns:a16="http://schemas.microsoft.com/office/drawing/2014/main" id="{4342075B-1EEA-F17A-F012-F165B98E99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38263" y="3284538"/>
            <a:ext cx="7626350" cy="2536825"/>
            <a:chOff x="2632" y="7764"/>
            <a:chExt cx="6747" cy="2245"/>
          </a:xfrm>
        </p:grpSpPr>
        <p:sp>
          <p:nvSpPr>
            <p:cNvPr id="14354" name="AutoShape 35">
              <a:extLst>
                <a:ext uri="{FF2B5EF4-FFF2-40B4-BE49-F238E27FC236}">
                  <a16:creationId xmlns:a16="http://schemas.microsoft.com/office/drawing/2014/main" id="{EE94AD5E-6D02-5FA9-A321-B25F08D9472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632" y="7764"/>
              <a:ext cx="6747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Oval 34">
              <a:extLst>
                <a:ext uri="{FF2B5EF4-FFF2-40B4-BE49-F238E27FC236}">
                  <a16:creationId xmlns:a16="http://schemas.microsoft.com/office/drawing/2014/main" id="{92A72FC2-A0AC-1119-E015-71D2208E2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48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6" name="Oval 33">
              <a:extLst>
                <a:ext uri="{FF2B5EF4-FFF2-40B4-BE49-F238E27FC236}">
                  <a16:creationId xmlns:a16="http://schemas.microsoft.com/office/drawing/2014/main" id="{0F34B7C0-8AD1-4330-470C-E354531A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8605"/>
              <a:ext cx="220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7" name="Oval 32">
              <a:extLst>
                <a:ext uri="{FF2B5EF4-FFF2-40B4-BE49-F238E27FC236}">
                  <a16:creationId xmlns:a16="http://schemas.microsoft.com/office/drawing/2014/main" id="{37EBEDB3-79FD-E73F-8A1B-6CEFA8679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" y="860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8" name="Oval 31">
              <a:extLst>
                <a:ext uri="{FF2B5EF4-FFF2-40B4-BE49-F238E27FC236}">
                  <a16:creationId xmlns:a16="http://schemas.microsoft.com/office/drawing/2014/main" id="{F8538C95-6AE7-E22F-F9DA-30CFAA063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" y="860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9" name="Oval 30">
              <a:extLst>
                <a:ext uri="{FF2B5EF4-FFF2-40B4-BE49-F238E27FC236}">
                  <a16:creationId xmlns:a16="http://schemas.microsoft.com/office/drawing/2014/main" id="{6B252143-32BB-FEB9-F2B8-B44F51AAC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969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0" name="Oval 29">
              <a:extLst>
                <a:ext uri="{FF2B5EF4-FFF2-40B4-BE49-F238E27FC236}">
                  <a16:creationId xmlns:a16="http://schemas.microsoft.com/office/drawing/2014/main" id="{F0A780C7-89FF-31A5-AF17-43873C6D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9" y="978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1" name="Oval 28">
              <a:extLst>
                <a:ext uri="{FF2B5EF4-FFF2-40B4-BE49-F238E27FC236}">
                  <a16:creationId xmlns:a16="http://schemas.microsoft.com/office/drawing/2014/main" id="{9F73AE4F-9000-DC95-3876-93EECAE92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6" y="975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2" name="Oval 27">
              <a:extLst>
                <a:ext uri="{FF2B5EF4-FFF2-40B4-BE49-F238E27FC236}">
                  <a16:creationId xmlns:a16="http://schemas.microsoft.com/office/drawing/2014/main" id="{46262378-63EB-61F8-60F2-C8BFFB0FF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9708"/>
              <a:ext cx="221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3" name="Oval 26">
              <a:extLst>
                <a:ext uri="{FF2B5EF4-FFF2-40B4-BE49-F238E27FC236}">
                  <a16:creationId xmlns:a16="http://schemas.microsoft.com/office/drawing/2014/main" id="{5F406924-7E79-60E5-43BB-35D46BFBE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5" y="778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4" name="Oval 25">
              <a:extLst>
                <a:ext uri="{FF2B5EF4-FFF2-40B4-BE49-F238E27FC236}">
                  <a16:creationId xmlns:a16="http://schemas.microsoft.com/office/drawing/2014/main" id="{D16C8B79-A45B-5FE9-127A-5CF6AE260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7772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4365" name="AutoShape 24">
              <a:extLst>
                <a:ext uri="{FF2B5EF4-FFF2-40B4-BE49-F238E27FC236}">
                  <a16:creationId xmlns:a16="http://schemas.microsoft.com/office/drawing/2014/main" id="{1816D62E-A7DF-D25F-F5B0-B7AF2CEB6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29" y="7962"/>
              <a:ext cx="945" cy="5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6" name="AutoShape 23">
              <a:extLst>
                <a:ext uri="{FF2B5EF4-FFF2-40B4-BE49-F238E27FC236}">
                  <a16:creationId xmlns:a16="http://schemas.microsoft.com/office/drawing/2014/main" id="{9D5982E2-5B89-A61B-4756-E122D2D10D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31" y="7962"/>
              <a:ext cx="977" cy="6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7" name="AutoShape 22">
              <a:extLst>
                <a:ext uri="{FF2B5EF4-FFF2-40B4-BE49-F238E27FC236}">
                  <a16:creationId xmlns:a16="http://schemas.microsoft.com/office/drawing/2014/main" id="{9DF10E25-825F-AE9A-1A9F-AB6017759D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51" y="8707"/>
              <a:ext cx="420" cy="9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8" name="AutoShape 21">
              <a:extLst>
                <a:ext uri="{FF2B5EF4-FFF2-40B4-BE49-F238E27FC236}">
                  <a16:creationId xmlns:a16="http://schemas.microsoft.com/office/drawing/2014/main" id="{E44F9F81-4D79-0612-470E-0B69ADDDE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1" y="9804"/>
              <a:ext cx="964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9" name="AutoShape 20">
              <a:extLst>
                <a:ext uri="{FF2B5EF4-FFF2-40B4-BE49-F238E27FC236}">
                  <a16:creationId xmlns:a16="http://schemas.microsoft.com/office/drawing/2014/main" id="{1C95C519-8093-DE16-22E7-6A2AB1D217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49" y="7995"/>
              <a:ext cx="604" cy="17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0" name="AutoShape 19">
              <a:extLst>
                <a:ext uri="{FF2B5EF4-FFF2-40B4-BE49-F238E27FC236}">
                  <a16:creationId xmlns:a16="http://schemas.microsoft.com/office/drawing/2014/main" id="{C9D6EFE2-236B-B8A8-7FDE-39339B397A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53" y="7995"/>
              <a:ext cx="503" cy="17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1" name="AutoShape 18">
              <a:extLst>
                <a:ext uri="{FF2B5EF4-FFF2-40B4-BE49-F238E27FC236}">
                  <a16:creationId xmlns:a16="http://schemas.microsoft.com/office/drawing/2014/main" id="{47645AF5-6FE6-4509-DBB5-4F629F63F5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61" y="8596"/>
              <a:ext cx="2015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2" name="AutoShape 17">
              <a:extLst>
                <a:ext uri="{FF2B5EF4-FFF2-40B4-BE49-F238E27FC236}">
                  <a16:creationId xmlns:a16="http://schemas.microsoft.com/office/drawing/2014/main" id="{9CB91A32-6A88-B12F-23C7-AB13F9BAA9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49" y="8794"/>
              <a:ext cx="1659" cy="9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3" name="AutoShape 16">
              <a:extLst>
                <a:ext uri="{FF2B5EF4-FFF2-40B4-BE49-F238E27FC236}">
                  <a16:creationId xmlns:a16="http://schemas.microsoft.com/office/drawing/2014/main" id="{280B0F53-EDA5-813F-397B-0F737BF17E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9" y="8674"/>
              <a:ext cx="1448" cy="10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293180F-8D24-71F8-2F59-D70B67101EBA}"/>
              </a:ext>
            </a:extLst>
          </p:cNvPr>
          <p:cNvCxnSpPr>
            <a:stCxn id="14361" idx="6"/>
            <a:endCxn id="14360" idx="2"/>
          </p:cNvCxnSpPr>
          <p:nvPr/>
        </p:nvCxnSpPr>
        <p:spPr>
          <a:xfrm>
            <a:off x="6124575" y="5654675"/>
            <a:ext cx="974725" cy="33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BC4BAAA-61CA-E498-4E0F-C17A92B82EF7}"/>
              </a:ext>
            </a:extLst>
          </p:cNvPr>
          <p:cNvCxnSpPr>
            <a:endCxn id="14361" idx="0"/>
          </p:cNvCxnSpPr>
          <p:nvPr/>
        </p:nvCxnSpPr>
        <p:spPr>
          <a:xfrm flipH="1">
            <a:off x="6000750" y="3562350"/>
            <a:ext cx="574675" cy="1966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A5D281-07CC-3965-1921-9FD66E8632D4}"/>
              </a:ext>
            </a:extLst>
          </p:cNvPr>
          <p:cNvCxnSpPr>
            <a:endCxn id="14360" idx="0"/>
          </p:cNvCxnSpPr>
          <p:nvPr/>
        </p:nvCxnSpPr>
        <p:spPr>
          <a:xfrm>
            <a:off x="6575425" y="3562350"/>
            <a:ext cx="649288" cy="2000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054E31B-037F-C594-9B85-1D0A9125DEB6}"/>
              </a:ext>
            </a:extLst>
          </p:cNvPr>
          <p:cNvCxnSpPr>
            <a:stCxn id="14357" idx="6"/>
            <a:endCxn id="14358" idx="2"/>
          </p:cNvCxnSpPr>
          <p:nvPr/>
        </p:nvCxnSpPr>
        <p:spPr>
          <a:xfrm>
            <a:off x="5476875" y="4360863"/>
            <a:ext cx="2270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95DC8E6-C50A-D5B2-D694-34EC37E3CBB8}"/>
              </a:ext>
            </a:extLst>
          </p:cNvPr>
          <p:cNvCxnSpPr>
            <a:endCxn id="14357" idx="0"/>
          </p:cNvCxnSpPr>
          <p:nvPr/>
        </p:nvCxnSpPr>
        <p:spPr>
          <a:xfrm flipH="1">
            <a:off x="5351463" y="3562350"/>
            <a:ext cx="1223962" cy="673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45181A-C9F1-CA3F-0D89-043782D7081E}"/>
              </a:ext>
            </a:extLst>
          </p:cNvPr>
          <p:cNvCxnSpPr>
            <a:stCxn id="14363" idx="4"/>
            <a:endCxn id="14358" idx="0"/>
          </p:cNvCxnSpPr>
          <p:nvPr/>
        </p:nvCxnSpPr>
        <p:spPr>
          <a:xfrm>
            <a:off x="6575425" y="3562350"/>
            <a:ext cx="1296988" cy="673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B8770A-931C-DC2E-C637-55FB6EAD452E}"/>
              </a:ext>
            </a:extLst>
          </p:cNvPr>
          <p:cNvCxnSpPr>
            <a:stCxn id="14358" idx="4"/>
            <a:endCxn id="14360" idx="7"/>
          </p:cNvCxnSpPr>
          <p:nvPr/>
        </p:nvCxnSpPr>
        <p:spPr>
          <a:xfrm flipH="1">
            <a:off x="7312025" y="4486275"/>
            <a:ext cx="560388" cy="1112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5D49D37-5E21-AB59-C2B2-858E7AC75EBD}"/>
              </a:ext>
            </a:extLst>
          </p:cNvPr>
          <p:cNvCxnSpPr>
            <a:stCxn id="14358" idx="3"/>
            <a:endCxn id="14361" idx="6"/>
          </p:cNvCxnSpPr>
          <p:nvPr/>
        </p:nvCxnSpPr>
        <p:spPr>
          <a:xfrm flipH="1">
            <a:off x="6124575" y="4449763"/>
            <a:ext cx="1658938" cy="12049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E779DBB-4808-5FDA-1A6A-0A35FA63E3AD}"/>
              </a:ext>
            </a:extLst>
          </p:cNvPr>
          <p:cNvCxnSpPr>
            <a:stCxn id="14357" idx="4"/>
            <a:endCxn id="14360" idx="1"/>
          </p:cNvCxnSpPr>
          <p:nvPr/>
        </p:nvCxnSpPr>
        <p:spPr>
          <a:xfrm>
            <a:off x="5351463" y="4486275"/>
            <a:ext cx="1784350" cy="1112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0FA2CD0-7B22-79EB-9F68-D792FF0CC396}"/>
              </a:ext>
            </a:extLst>
          </p:cNvPr>
          <p:cNvCxnSpPr>
            <a:stCxn id="14356" idx="6"/>
          </p:cNvCxnSpPr>
          <p:nvPr/>
        </p:nvCxnSpPr>
        <p:spPr>
          <a:xfrm>
            <a:off x="4122738" y="4360863"/>
            <a:ext cx="1103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89A8E4C-0BF7-6963-5655-972B1439A1D1}"/>
              </a:ext>
            </a:extLst>
          </p:cNvPr>
          <p:cNvCxnSpPr>
            <a:endCxn id="14361" idx="2"/>
          </p:cNvCxnSpPr>
          <p:nvPr/>
        </p:nvCxnSpPr>
        <p:spPr>
          <a:xfrm>
            <a:off x="3411538" y="5607050"/>
            <a:ext cx="2463800" cy="476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F596C42-091F-D870-E7FE-0B93B9554CB1}"/>
              </a:ext>
            </a:extLst>
          </p:cNvPr>
          <p:cNvCxnSpPr>
            <a:stCxn id="14357" idx="3"/>
            <a:endCxn id="14362" idx="7"/>
          </p:cNvCxnSpPr>
          <p:nvPr/>
        </p:nvCxnSpPr>
        <p:spPr>
          <a:xfrm flipH="1">
            <a:off x="3375025" y="4449763"/>
            <a:ext cx="1887538" cy="10683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D764C9AD-424E-AEB6-F745-77B2B99A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7.2.3 </a:t>
            </a:r>
            <a:r>
              <a:rPr lang="zh-CN" altLang="en-US" sz="5400" b="1">
                <a:solidFill>
                  <a:srgbClr val="333399"/>
                </a:solidFill>
              </a:rPr>
              <a:t>连通度</a:t>
            </a:r>
            <a:endParaRPr lang="zh-CN" altLang="en-US"/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589DD4C7-B994-A2A6-CE4D-3BBE1E15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FF0000"/>
                </a:solidFill>
              </a:rPr>
              <a:t>割点</a:t>
            </a:r>
            <a:endParaRPr lang="en-US" altLang="zh-CN" b="1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339933"/>
                </a:solidFill>
              </a:rPr>
              <a:t>割边</a:t>
            </a:r>
            <a:r>
              <a:rPr lang="zh-CN" altLang="zh-CN"/>
              <a:t>或</a:t>
            </a:r>
            <a:r>
              <a:rPr lang="zh-CN" altLang="zh-CN" b="1">
                <a:solidFill>
                  <a:srgbClr val="0066FF"/>
                </a:solidFill>
              </a:rPr>
              <a:t>桥</a:t>
            </a:r>
            <a:endParaRPr lang="zh-CN" altLang="zh-CN">
              <a:solidFill>
                <a:srgbClr val="0066FF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FF00FF"/>
                </a:solidFill>
              </a:rPr>
              <a:t>块</a:t>
            </a:r>
            <a:r>
              <a:rPr lang="zh-CN" altLang="en-US" b="1"/>
              <a:t>：</a:t>
            </a:r>
            <a:r>
              <a:rPr lang="zh-CN" altLang="zh-CN"/>
              <a:t>没有割点的非平凡连通图</a:t>
            </a:r>
          </a:p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C00000"/>
                </a:solidFill>
              </a:rPr>
              <a:t>点割</a:t>
            </a:r>
            <a:endParaRPr lang="en-US" altLang="zh-CN" b="1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00B050"/>
                </a:solidFill>
              </a:rPr>
              <a:t>边割</a:t>
            </a:r>
            <a:endParaRPr lang="en-US" altLang="zh-CN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/>
              <a:t>(</a:t>
            </a:r>
            <a:r>
              <a:rPr lang="zh-CN" altLang="zh-CN" b="1">
                <a:solidFill>
                  <a:srgbClr val="0070C0"/>
                </a:solidFill>
              </a:rPr>
              <a:t>点</a:t>
            </a:r>
            <a:r>
              <a:rPr lang="en-US" altLang="zh-CN"/>
              <a:t>)</a:t>
            </a:r>
            <a:r>
              <a:rPr lang="zh-CN" altLang="zh-CN" b="1">
                <a:solidFill>
                  <a:srgbClr val="0070C0"/>
                </a:solidFill>
              </a:rPr>
              <a:t>连通度</a:t>
            </a:r>
            <a:r>
              <a:rPr lang="en-US" altLang="zh-CN"/>
              <a:t>K(G)</a:t>
            </a:r>
            <a:r>
              <a:rPr lang="zh-CN" altLang="zh-CN"/>
              <a:t>＝</a:t>
            </a:r>
            <a:r>
              <a:rPr lang="en-US" altLang="zh-CN"/>
              <a:t>min{|T||T</a:t>
            </a:r>
            <a:r>
              <a:rPr lang="zh-CN" altLang="zh-CN"/>
              <a:t>是</a:t>
            </a:r>
            <a:r>
              <a:rPr lang="en-US" altLang="zh-CN"/>
              <a:t>G</a:t>
            </a:r>
            <a:r>
              <a:rPr lang="zh-CN" altLang="zh-CN"/>
              <a:t>的点割</a:t>
            </a:r>
            <a:r>
              <a:rPr lang="en-US" altLang="zh-CN"/>
              <a:t>} </a:t>
            </a:r>
          </a:p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FF00FF"/>
                </a:solidFill>
              </a:rPr>
              <a:t>边连通度</a:t>
            </a:r>
            <a:r>
              <a:rPr lang="el-GR" altLang="zh-CN"/>
              <a:t>λ</a:t>
            </a:r>
            <a:r>
              <a:rPr lang="en-US" altLang="zh-CN"/>
              <a:t>(G)</a:t>
            </a:r>
            <a:r>
              <a:rPr lang="zh-CN" altLang="zh-CN"/>
              <a:t>＝</a:t>
            </a:r>
            <a:r>
              <a:rPr lang="en-US" altLang="zh-CN"/>
              <a:t>min{|S||S</a:t>
            </a:r>
            <a:r>
              <a:rPr lang="zh-CN" altLang="zh-CN"/>
              <a:t>是</a:t>
            </a:r>
            <a:r>
              <a:rPr lang="en-US" altLang="zh-CN"/>
              <a:t>G</a:t>
            </a:r>
            <a:r>
              <a:rPr lang="zh-CN" altLang="zh-CN"/>
              <a:t>的边割</a:t>
            </a:r>
            <a:r>
              <a:rPr lang="en-US" altLang="zh-CN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88112883-2E95-0773-3520-EE1285A5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7.2.3 </a:t>
            </a:r>
            <a:r>
              <a:rPr lang="zh-CN" altLang="en-US" sz="5400" b="1">
                <a:solidFill>
                  <a:srgbClr val="333399"/>
                </a:solidFill>
              </a:rPr>
              <a:t>连通度</a:t>
            </a:r>
            <a:endParaRPr lang="zh-CN" altLang="en-US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05F4BD20-208D-69AD-FBFA-A81924B5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7.2.6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对图</a:t>
            </a:r>
            <a:r>
              <a:rPr lang="en-US" altLang="zh-CN" dirty="0"/>
              <a:t>G</a:t>
            </a:r>
            <a:r>
              <a:rPr lang="zh-CN" altLang="zh-CN" dirty="0"/>
              <a:t>，有</a:t>
            </a:r>
            <a:r>
              <a:rPr lang="en-US" altLang="zh-CN" dirty="0"/>
              <a:t>K(G)</a:t>
            </a:r>
            <a:r>
              <a:rPr lang="zh-CN" altLang="zh-CN" dirty="0"/>
              <a:t>≤</a:t>
            </a:r>
            <a:r>
              <a:rPr lang="el-GR" altLang="zh-CN" dirty="0"/>
              <a:t>λ</a:t>
            </a:r>
            <a:r>
              <a:rPr lang="en-US" altLang="zh-CN" dirty="0"/>
              <a:t>(G)</a:t>
            </a:r>
            <a:r>
              <a:rPr lang="zh-CN" altLang="zh-CN" dirty="0"/>
              <a:t>≤</a:t>
            </a:r>
            <a:r>
              <a:rPr lang="el-GR" altLang="zh-CN" dirty="0"/>
              <a:t>δ</a:t>
            </a:r>
            <a:r>
              <a:rPr lang="en-US" altLang="zh-CN" dirty="0"/>
              <a:t>(G)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defRPr/>
            </a:pPr>
            <a:r>
              <a:rPr lang="zh-CN" altLang="zh-CN" dirty="0"/>
              <a:t>若</a:t>
            </a:r>
            <a:r>
              <a:rPr lang="en-US" altLang="zh-CN" dirty="0"/>
              <a:t>G</a:t>
            </a:r>
            <a:r>
              <a:rPr lang="zh-CN" altLang="zh-CN" dirty="0"/>
              <a:t>不连通，则</a:t>
            </a:r>
            <a:r>
              <a:rPr lang="en-US" altLang="zh-CN" dirty="0"/>
              <a:t>K(G)</a:t>
            </a:r>
            <a:r>
              <a:rPr lang="zh-CN" altLang="zh-CN" dirty="0"/>
              <a:t>＝</a:t>
            </a:r>
            <a:r>
              <a:rPr lang="el-GR" altLang="zh-CN" dirty="0"/>
              <a:t>λ</a:t>
            </a:r>
            <a:r>
              <a:rPr lang="en-US" altLang="zh-CN" dirty="0"/>
              <a:t>(G)</a:t>
            </a:r>
            <a:r>
              <a:rPr lang="zh-CN" altLang="zh-CN" dirty="0"/>
              <a:t>＝</a:t>
            </a:r>
            <a:r>
              <a:rPr lang="en-US" altLang="zh-CN" dirty="0"/>
              <a:t>0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若</a:t>
            </a:r>
            <a:r>
              <a:rPr lang="en-US" altLang="zh-CN" dirty="0"/>
              <a:t>G</a:t>
            </a:r>
            <a:r>
              <a:rPr lang="zh-CN" altLang="zh-CN" dirty="0"/>
              <a:t>连通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l-GR" altLang="zh-CN" dirty="0"/>
              <a:t>λ</a:t>
            </a:r>
            <a:r>
              <a:rPr lang="en-US" altLang="zh-CN" dirty="0"/>
              <a:t>(G)</a:t>
            </a:r>
            <a:r>
              <a:rPr lang="zh-CN" altLang="zh-CN" dirty="0"/>
              <a:t>≤</a:t>
            </a:r>
            <a:r>
              <a:rPr lang="el-GR" altLang="zh-CN" dirty="0"/>
              <a:t>δ</a:t>
            </a:r>
            <a:r>
              <a:rPr lang="en-US" altLang="zh-CN" dirty="0"/>
              <a:t>(G)</a:t>
            </a:r>
            <a:r>
              <a:rPr lang="zh-CN" altLang="en-US" dirty="0"/>
              <a:t>  </a:t>
            </a:r>
            <a:r>
              <a:rPr lang="en-US" altLang="zh-CN" dirty="0"/>
              <a:t> 2</a:t>
            </a:r>
            <a:r>
              <a:rPr lang="zh-CN" altLang="zh-CN" dirty="0"/>
              <a:t>）</a:t>
            </a:r>
            <a:r>
              <a:rPr lang="en-US" altLang="zh-CN" dirty="0"/>
              <a:t>K(G)</a:t>
            </a:r>
            <a:r>
              <a:rPr lang="zh-CN" altLang="zh-CN" dirty="0"/>
              <a:t>≤</a:t>
            </a:r>
            <a:r>
              <a:rPr lang="el-GR" altLang="zh-CN" dirty="0"/>
              <a:t>λ</a:t>
            </a:r>
            <a:r>
              <a:rPr lang="en-US" altLang="zh-CN" dirty="0"/>
              <a:t>(G)</a:t>
            </a:r>
            <a:endParaRPr lang="zh-CN" altLang="zh-CN" dirty="0"/>
          </a:p>
        </p:txBody>
      </p:sp>
      <p:sp>
        <p:nvSpPr>
          <p:cNvPr id="16388" name="Rectangle 36">
            <a:extLst>
              <a:ext uri="{FF2B5EF4-FFF2-40B4-BE49-F238E27FC236}">
                <a16:creationId xmlns:a16="http://schemas.microsoft.com/office/drawing/2014/main" id="{DD4B7310-71CD-FBF5-7DDA-229EEF859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6389" name="Group 3">
            <a:extLst>
              <a:ext uri="{FF2B5EF4-FFF2-40B4-BE49-F238E27FC236}">
                <a16:creationId xmlns:a16="http://schemas.microsoft.com/office/drawing/2014/main" id="{0DB8CF9E-05B4-4E5F-36AF-8DB16D9763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38263" y="4205288"/>
            <a:ext cx="7626350" cy="2536825"/>
            <a:chOff x="2632" y="7764"/>
            <a:chExt cx="6747" cy="2245"/>
          </a:xfrm>
        </p:grpSpPr>
        <p:sp>
          <p:nvSpPr>
            <p:cNvPr id="16402" name="AutoShape 35">
              <a:extLst>
                <a:ext uri="{FF2B5EF4-FFF2-40B4-BE49-F238E27FC236}">
                  <a16:creationId xmlns:a16="http://schemas.microsoft.com/office/drawing/2014/main" id="{FB7778D2-8EA4-43BF-95B7-2683CE1E07A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632" y="7764"/>
              <a:ext cx="6747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Oval 34">
              <a:extLst>
                <a:ext uri="{FF2B5EF4-FFF2-40B4-BE49-F238E27FC236}">
                  <a16:creationId xmlns:a16="http://schemas.microsoft.com/office/drawing/2014/main" id="{610C0848-3D41-3B86-CBC2-DD2F5BB02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48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4" name="Oval 33">
              <a:extLst>
                <a:ext uri="{FF2B5EF4-FFF2-40B4-BE49-F238E27FC236}">
                  <a16:creationId xmlns:a16="http://schemas.microsoft.com/office/drawing/2014/main" id="{BC9246F0-94A1-37A5-9D9F-6EE3DEA1F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8605"/>
              <a:ext cx="220" cy="22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5" name="Oval 32">
              <a:extLst>
                <a:ext uri="{FF2B5EF4-FFF2-40B4-BE49-F238E27FC236}">
                  <a16:creationId xmlns:a16="http://schemas.microsoft.com/office/drawing/2014/main" id="{826AAC4D-9430-9022-EA1E-751074BAC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" y="860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6" name="Oval 31">
              <a:extLst>
                <a:ext uri="{FF2B5EF4-FFF2-40B4-BE49-F238E27FC236}">
                  <a16:creationId xmlns:a16="http://schemas.microsoft.com/office/drawing/2014/main" id="{239879C0-68EA-25DB-7948-6AA3575D2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" y="860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7" name="Oval 30">
              <a:extLst>
                <a:ext uri="{FF2B5EF4-FFF2-40B4-BE49-F238E27FC236}">
                  <a16:creationId xmlns:a16="http://schemas.microsoft.com/office/drawing/2014/main" id="{1864176E-FF87-0198-91F0-A159D3317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969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8" name="Oval 29">
              <a:extLst>
                <a:ext uri="{FF2B5EF4-FFF2-40B4-BE49-F238E27FC236}">
                  <a16:creationId xmlns:a16="http://schemas.microsoft.com/office/drawing/2014/main" id="{45DCE4A2-AC07-B6C7-0310-006C7A0B6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9" y="978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9" name="Oval 28">
              <a:extLst>
                <a:ext uri="{FF2B5EF4-FFF2-40B4-BE49-F238E27FC236}">
                  <a16:creationId xmlns:a16="http://schemas.microsoft.com/office/drawing/2014/main" id="{6CF1535D-A583-CA88-27D4-1EA6A2182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6" y="975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10" name="Oval 27">
              <a:extLst>
                <a:ext uri="{FF2B5EF4-FFF2-40B4-BE49-F238E27FC236}">
                  <a16:creationId xmlns:a16="http://schemas.microsoft.com/office/drawing/2014/main" id="{5B4D804B-40BB-31CC-A0E1-09B077F9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9708"/>
              <a:ext cx="221" cy="2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11" name="Oval 26">
              <a:extLst>
                <a:ext uri="{FF2B5EF4-FFF2-40B4-BE49-F238E27FC236}">
                  <a16:creationId xmlns:a16="http://schemas.microsoft.com/office/drawing/2014/main" id="{AE48FD03-A0F0-3B73-54A1-93FCC9ABD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5" y="778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12" name="Oval 25">
              <a:extLst>
                <a:ext uri="{FF2B5EF4-FFF2-40B4-BE49-F238E27FC236}">
                  <a16:creationId xmlns:a16="http://schemas.microsoft.com/office/drawing/2014/main" id="{48708ACB-3327-814F-B9BC-EDD89A689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7772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6413" name="AutoShape 24">
              <a:extLst>
                <a:ext uri="{FF2B5EF4-FFF2-40B4-BE49-F238E27FC236}">
                  <a16:creationId xmlns:a16="http://schemas.microsoft.com/office/drawing/2014/main" id="{CB766CA8-B2EE-6929-A477-591753A403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29" y="7962"/>
              <a:ext cx="945" cy="5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4" name="AutoShape 23">
              <a:extLst>
                <a:ext uri="{FF2B5EF4-FFF2-40B4-BE49-F238E27FC236}">
                  <a16:creationId xmlns:a16="http://schemas.microsoft.com/office/drawing/2014/main" id="{81BD6C16-CFD4-DD20-043C-F70EB4A8B2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31" y="7962"/>
              <a:ext cx="977" cy="676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5" name="AutoShape 22">
              <a:extLst>
                <a:ext uri="{FF2B5EF4-FFF2-40B4-BE49-F238E27FC236}">
                  <a16:creationId xmlns:a16="http://schemas.microsoft.com/office/drawing/2014/main" id="{FD9805CF-7FBB-F9F8-3C47-E8F54E0568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51" y="8707"/>
              <a:ext cx="420" cy="9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6" name="AutoShape 21">
              <a:extLst>
                <a:ext uri="{FF2B5EF4-FFF2-40B4-BE49-F238E27FC236}">
                  <a16:creationId xmlns:a16="http://schemas.microsoft.com/office/drawing/2014/main" id="{57F286A9-45DA-1E59-DD68-C3F895BD0D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1" y="9804"/>
              <a:ext cx="964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7" name="AutoShape 20">
              <a:extLst>
                <a:ext uri="{FF2B5EF4-FFF2-40B4-BE49-F238E27FC236}">
                  <a16:creationId xmlns:a16="http://schemas.microsoft.com/office/drawing/2014/main" id="{43E0EB42-40DB-8A88-9323-D19D7EC487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49" y="7995"/>
              <a:ext cx="604" cy="17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8" name="AutoShape 19">
              <a:extLst>
                <a:ext uri="{FF2B5EF4-FFF2-40B4-BE49-F238E27FC236}">
                  <a16:creationId xmlns:a16="http://schemas.microsoft.com/office/drawing/2014/main" id="{9C29C012-1497-D4BB-7AA2-728F79155C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53" y="7995"/>
              <a:ext cx="503" cy="17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9" name="AutoShape 18">
              <a:extLst>
                <a:ext uri="{FF2B5EF4-FFF2-40B4-BE49-F238E27FC236}">
                  <a16:creationId xmlns:a16="http://schemas.microsoft.com/office/drawing/2014/main" id="{53107425-8899-2C49-F6FF-D107308443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61" y="8596"/>
              <a:ext cx="2015" cy="12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0" name="AutoShape 17">
              <a:extLst>
                <a:ext uri="{FF2B5EF4-FFF2-40B4-BE49-F238E27FC236}">
                  <a16:creationId xmlns:a16="http://schemas.microsoft.com/office/drawing/2014/main" id="{246C3259-BE70-6140-2088-36C0DBFE1A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49" y="8794"/>
              <a:ext cx="1659" cy="932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1" name="AutoShape 16">
              <a:extLst>
                <a:ext uri="{FF2B5EF4-FFF2-40B4-BE49-F238E27FC236}">
                  <a16:creationId xmlns:a16="http://schemas.microsoft.com/office/drawing/2014/main" id="{677DD72C-5360-A02E-5833-42583542D8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9" y="8674"/>
              <a:ext cx="1448" cy="10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3B96C82-873C-74DD-74CC-ACFFE740750E}"/>
              </a:ext>
            </a:extLst>
          </p:cNvPr>
          <p:cNvCxnSpPr>
            <a:stCxn id="16409" idx="6"/>
            <a:endCxn id="16408" idx="2"/>
          </p:cNvCxnSpPr>
          <p:nvPr/>
        </p:nvCxnSpPr>
        <p:spPr>
          <a:xfrm>
            <a:off x="6124575" y="6573838"/>
            <a:ext cx="974725" cy="3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752C07-407F-DE72-984F-4FC6E2BDB25D}"/>
              </a:ext>
            </a:extLst>
          </p:cNvPr>
          <p:cNvCxnSpPr>
            <a:endCxn id="16409" idx="0"/>
          </p:cNvCxnSpPr>
          <p:nvPr/>
        </p:nvCxnSpPr>
        <p:spPr>
          <a:xfrm flipH="1">
            <a:off x="6000750" y="4481513"/>
            <a:ext cx="574675" cy="19669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903F0EB-749B-1779-3750-A7F1B6D3B4E1}"/>
              </a:ext>
            </a:extLst>
          </p:cNvPr>
          <p:cNvCxnSpPr>
            <a:endCxn id="16408" idx="0"/>
          </p:cNvCxnSpPr>
          <p:nvPr/>
        </p:nvCxnSpPr>
        <p:spPr>
          <a:xfrm>
            <a:off x="6575425" y="4481513"/>
            <a:ext cx="649288" cy="200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462E0CF-3648-E697-F153-21FA4F06C8D3}"/>
              </a:ext>
            </a:extLst>
          </p:cNvPr>
          <p:cNvCxnSpPr>
            <a:stCxn id="16405" idx="6"/>
            <a:endCxn id="16406" idx="2"/>
          </p:cNvCxnSpPr>
          <p:nvPr/>
        </p:nvCxnSpPr>
        <p:spPr>
          <a:xfrm>
            <a:off x="5476875" y="5280025"/>
            <a:ext cx="2270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075CDFE-C5CE-9E30-8750-C62DC2C8B173}"/>
              </a:ext>
            </a:extLst>
          </p:cNvPr>
          <p:cNvCxnSpPr>
            <a:endCxn id="16405" idx="0"/>
          </p:cNvCxnSpPr>
          <p:nvPr/>
        </p:nvCxnSpPr>
        <p:spPr>
          <a:xfrm flipH="1">
            <a:off x="5351463" y="4481513"/>
            <a:ext cx="1223962" cy="673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873EC8D-3717-D2D5-2EA6-EBCB8B9A32E9}"/>
              </a:ext>
            </a:extLst>
          </p:cNvPr>
          <p:cNvCxnSpPr>
            <a:stCxn id="16411" idx="4"/>
            <a:endCxn id="16406" idx="0"/>
          </p:cNvCxnSpPr>
          <p:nvPr/>
        </p:nvCxnSpPr>
        <p:spPr>
          <a:xfrm>
            <a:off x="6575425" y="4481513"/>
            <a:ext cx="1296988" cy="673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CF6E1A-7D0D-3904-9527-49646088E077}"/>
              </a:ext>
            </a:extLst>
          </p:cNvPr>
          <p:cNvCxnSpPr>
            <a:stCxn id="16406" idx="4"/>
            <a:endCxn id="16408" idx="7"/>
          </p:cNvCxnSpPr>
          <p:nvPr/>
        </p:nvCxnSpPr>
        <p:spPr>
          <a:xfrm flipH="1">
            <a:off x="7312025" y="5405438"/>
            <a:ext cx="560388" cy="1114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4B995D-90BB-F653-ED66-B7DE9E60150A}"/>
              </a:ext>
            </a:extLst>
          </p:cNvPr>
          <p:cNvCxnSpPr>
            <a:stCxn id="16406" idx="3"/>
            <a:endCxn id="16409" idx="6"/>
          </p:cNvCxnSpPr>
          <p:nvPr/>
        </p:nvCxnSpPr>
        <p:spPr>
          <a:xfrm flipH="1">
            <a:off x="6124575" y="5368925"/>
            <a:ext cx="1658938" cy="1204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909FB7C-2EE9-6B6D-EA52-2CED21CA5D64}"/>
              </a:ext>
            </a:extLst>
          </p:cNvPr>
          <p:cNvCxnSpPr>
            <a:stCxn id="16405" idx="4"/>
            <a:endCxn id="16408" idx="1"/>
          </p:cNvCxnSpPr>
          <p:nvPr/>
        </p:nvCxnSpPr>
        <p:spPr>
          <a:xfrm>
            <a:off x="5351463" y="5405438"/>
            <a:ext cx="1784350" cy="1114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D943B80-5F68-E826-4D6C-E3B94FBB2D49}"/>
              </a:ext>
            </a:extLst>
          </p:cNvPr>
          <p:cNvCxnSpPr>
            <a:stCxn id="16404" idx="6"/>
          </p:cNvCxnSpPr>
          <p:nvPr/>
        </p:nvCxnSpPr>
        <p:spPr>
          <a:xfrm>
            <a:off x="4122738" y="5280025"/>
            <a:ext cx="1103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BB03999-C8E2-B8EA-1DFB-71E66921C39B}"/>
              </a:ext>
            </a:extLst>
          </p:cNvPr>
          <p:cNvCxnSpPr>
            <a:endCxn id="16409" idx="2"/>
          </p:cNvCxnSpPr>
          <p:nvPr/>
        </p:nvCxnSpPr>
        <p:spPr>
          <a:xfrm>
            <a:off x="3411538" y="6526213"/>
            <a:ext cx="2463800" cy="476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5A0D619-1D47-00D3-A147-612D562C038D}"/>
              </a:ext>
            </a:extLst>
          </p:cNvPr>
          <p:cNvCxnSpPr>
            <a:stCxn id="16405" idx="3"/>
            <a:endCxn id="16410" idx="7"/>
          </p:cNvCxnSpPr>
          <p:nvPr/>
        </p:nvCxnSpPr>
        <p:spPr>
          <a:xfrm flipH="1">
            <a:off x="3375025" y="5368925"/>
            <a:ext cx="1887538" cy="10683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BBCBE23A-F1B2-E410-BFA0-7E8CDADF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7.2.4 </a:t>
            </a:r>
            <a:r>
              <a:rPr lang="zh-CN" altLang="en-US" sz="5400" b="1">
                <a:solidFill>
                  <a:srgbClr val="333399"/>
                </a:solidFill>
              </a:rPr>
              <a:t>二分图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33452-2C5D-49D8-B7CE-2DFB2A9AF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二分图</a:t>
            </a:r>
            <a:r>
              <a:rPr lang="zh-CN" altLang="zh-CN" dirty="0"/>
              <a:t>（</a:t>
            </a:r>
            <a:r>
              <a:rPr lang="en-US" altLang="zh-CN" dirty="0"/>
              <a:t>bipartite graph</a:t>
            </a:r>
            <a:r>
              <a:rPr lang="zh-CN" altLang="zh-CN" dirty="0"/>
              <a:t>）或</a:t>
            </a:r>
            <a:r>
              <a:rPr lang="zh-CN" altLang="zh-CN" b="1" dirty="0">
                <a:solidFill>
                  <a:srgbClr val="FF0000"/>
                </a:solidFill>
              </a:rPr>
              <a:t>偶图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简单图</a:t>
            </a:r>
            <a:r>
              <a:rPr lang="en-US" altLang="zh-CN" dirty="0"/>
              <a:t>       G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2</a:t>
            </a:r>
            <a:r>
              <a:rPr lang="en-US" altLang="zh-CN" dirty="0"/>
              <a:t>,E</a:t>
            </a:r>
            <a:r>
              <a:rPr lang="en-US" altLang="zh-CN" dirty="0">
                <a:latin typeface="+mn-ea"/>
              </a:rPr>
              <a:t>&gt;</a:t>
            </a:r>
            <a:endParaRPr lang="zh-CN" altLang="en-US" dirty="0">
              <a:latin typeface="+mn-ea"/>
            </a:endParaRPr>
          </a:p>
        </p:txBody>
      </p:sp>
      <p:sp>
        <p:nvSpPr>
          <p:cNvPr id="17412" name="Rectangle 39">
            <a:extLst>
              <a:ext uri="{FF2B5EF4-FFF2-40B4-BE49-F238E27FC236}">
                <a16:creationId xmlns:a16="http://schemas.microsoft.com/office/drawing/2014/main" id="{7058930E-C220-4412-3F1B-CDD10236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7413" name="Group 1">
            <a:extLst>
              <a:ext uri="{FF2B5EF4-FFF2-40B4-BE49-F238E27FC236}">
                <a16:creationId xmlns:a16="http://schemas.microsoft.com/office/drawing/2014/main" id="{77FAA492-D7D3-42CD-86DA-DC636F40F7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188" y="3500438"/>
            <a:ext cx="8421687" cy="3241675"/>
            <a:chOff x="2258" y="6854"/>
            <a:chExt cx="7450" cy="2868"/>
          </a:xfrm>
        </p:grpSpPr>
        <p:sp>
          <p:nvSpPr>
            <p:cNvPr id="17414" name="AutoShape 38">
              <a:extLst>
                <a:ext uri="{FF2B5EF4-FFF2-40B4-BE49-F238E27FC236}">
                  <a16:creationId xmlns:a16="http://schemas.microsoft.com/office/drawing/2014/main" id="{A725C2F4-7234-DBF7-FBB3-36C544F40E6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58" y="6854"/>
              <a:ext cx="7450" cy="2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5" name="Text Box 37">
              <a:extLst>
                <a:ext uri="{FF2B5EF4-FFF2-40B4-BE49-F238E27FC236}">
                  <a16:creationId xmlns:a16="http://schemas.microsoft.com/office/drawing/2014/main" id="{56F8FE1F-6A6C-FCE1-7C52-24326A753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" y="693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7416" name="Text Box 36">
              <a:extLst>
                <a:ext uri="{FF2B5EF4-FFF2-40B4-BE49-F238E27FC236}">
                  <a16:creationId xmlns:a16="http://schemas.microsoft.com/office/drawing/2014/main" id="{C1F0C5BF-BF6F-8C01-0A09-44A823CAD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" y="792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7417" name="Text Box 35">
              <a:extLst>
                <a:ext uri="{FF2B5EF4-FFF2-40B4-BE49-F238E27FC236}">
                  <a16:creationId xmlns:a16="http://schemas.microsoft.com/office/drawing/2014/main" id="{716D1883-0013-029D-96E5-DBEBADD25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9" y="907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7418" name="Text Box 34">
              <a:extLst>
                <a:ext uri="{FF2B5EF4-FFF2-40B4-BE49-F238E27FC236}">
                  <a16:creationId xmlns:a16="http://schemas.microsoft.com/office/drawing/2014/main" id="{D2EDC344-A601-9E85-9B54-A8D82F55B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907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17419" name="Text Box 33">
              <a:extLst>
                <a:ext uri="{FF2B5EF4-FFF2-40B4-BE49-F238E27FC236}">
                  <a16:creationId xmlns:a16="http://schemas.microsoft.com/office/drawing/2014/main" id="{1949AAA1-E69E-5F88-32F6-591CBC335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8" y="792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17420" name="Text Box 32">
              <a:extLst>
                <a:ext uri="{FF2B5EF4-FFF2-40B4-BE49-F238E27FC236}">
                  <a16:creationId xmlns:a16="http://schemas.microsoft.com/office/drawing/2014/main" id="{4EBAFBFB-4489-9461-147E-D7E5618EE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693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17421" name="Text Box 31">
              <a:extLst>
                <a:ext uri="{FF2B5EF4-FFF2-40B4-BE49-F238E27FC236}">
                  <a16:creationId xmlns:a16="http://schemas.microsoft.com/office/drawing/2014/main" id="{B27495DC-B202-8CBA-F174-D6DB40F49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6" y="874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17422" name="Text Box 30">
              <a:extLst>
                <a:ext uri="{FF2B5EF4-FFF2-40B4-BE49-F238E27FC236}">
                  <a16:creationId xmlns:a16="http://schemas.microsoft.com/office/drawing/2014/main" id="{0049E360-0130-89EF-E69A-3877B23A7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8" y="787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7423" name="Text Box 29">
              <a:extLst>
                <a:ext uri="{FF2B5EF4-FFF2-40B4-BE49-F238E27FC236}">
                  <a16:creationId xmlns:a16="http://schemas.microsoft.com/office/drawing/2014/main" id="{5282E5EC-E88C-7C58-EA68-B45E33EC1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3" y="703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7424" name="Text Box 28">
              <a:extLst>
                <a:ext uri="{FF2B5EF4-FFF2-40B4-BE49-F238E27FC236}">
                  <a16:creationId xmlns:a16="http://schemas.microsoft.com/office/drawing/2014/main" id="{E2C9BDFC-F819-FBFC-96A1-A45C28B3D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" y="866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17425" name="Text Box 27">
              <a:extLst>
                <a:ext uri="{FF2B5EF4-FFF2-40B4-BE49-F238E27FC236}">
                  <a16:creationId xmlns:a16="http://schemas.microsoft.com/office/drawing/2014/main" id="{8E61D2AF-0991-D01D-9C2E-42665DBFE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1" y="788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17426" name="Text Box 26">
              <a:extLst>
                <a:ext uri="{FF2B5EF4-FFF2-40B4-BE49-F238E27FC236}">
                  <a16:creationId xmlns:a16="http://schemas.microsoft.com/office/drawing/2014/main" id="{9F3FA232-1E25-2561-010F-F0418FBD8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1" y="692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7427" name="Oval 25">
              <a:extLst>
                <a:ext uri="{FF2B5EF4-FFF2-40B4-BE49-F238E27FC236}">
                  <a16:creationId xmlns:a16="http://schemas.microsoft.com/office/drawing/2014/main" id="{8F563706-0309-83BD-58B6-B6E274D13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" y="7195"/>
              <a:ext cx="221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28" name="Oval 24">
              <a:extLst>
                <a:ext uri="{FF2B5EF4-FFF2-40B4-BE49-F238E27FC236}">
                  <a16:creationId xmlns:a16="http://schemas.microsoft.com/office/drawing/2014/main" id="{CF613C58-5AF2-CC33-34C4-74A60E1B0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" y="8125"/>
              <a:ext cx="221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29" name="Oval 23">
              <a:extLst>
                <a:ext uri="{FF2B5EF4-FFF2-40B4-BE49-F238E27FC236}">
                  <a16:creationId xmlns:a16="http://schemas.microsoft.com/office/drawing/2014/main" id="{ADE7D1CB-8CC4-D3BE-A820-4B6D88DC5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1" y="8951"/>
              <a:ext cx="221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0" name="Oval 22">
              <a:extLst>
                <a:ext uri="{FF2B5EF4-FFF2-40B4-BE49-F238E27FC236}">
                  <a16:creationId xmlns:a16="http://schemas.microsoft.com/office/drawing/2014/main" id="{D4764756-9B58-9E64-10E2-A56386E8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" y="719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1" name="Oval 21">
              <a:extLst>
                <a:ext uri="{FF2B5EF4-FFF2-40B4-BE49-F238E27FC236}">
                  <a16:creationId xmlns:a16="http://schemas.microsoft.com/office/drawing/2014/main" id="{4831FFE3-B385-7A00-57DC-7856BB4E9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" y="814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2" name="Oval 20">
              <a:extLst>
                <a:ext uri="{FF2B5EF4-FFF2-40B4-BE49-F238E27FC236}">
                  <a16:creationId xmlns:a16="http://schemas.microsoft.com/office/drawing/2014/main" id="{00E8F678-574C-F2AC-64CA-9EF480CD5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" y="896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3" name="Oval 19">
              <a:extLst>
                <a:ext uri="{FF2B5EF4-FFF2-40B4-BE49-F238E27FC236}">
                  <a16:creationId xmlns:a16="http://schemas.microsoft.com/office/drawing/2014/main" id="{00652DAF-EE6C-1E99-BAD5-B3407C0D4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8934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4" name="Oval 18">
              <a:extLst>
                <a:ext uri="{FF2B5EF4-FFF2-40B4-BE49-F238E27FC236}">
                  <a16:creationId xmlns:a16="http://schemas.microsoft.com/office/drawing/2014/main" id="{B6729953-8A5A-F65A-AB28-0A4DD06FB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8934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5" name="Oval 17">
              <a:extLst>
                <a:ext uri="{FF2B5EF4-FFF2-40B4-BE49-F238E27FC236}">
                  <a16:creationId xmlns:a16="http://schemas.microsoft.com/office/drawing/2014/main" id="{5FC614BB-502C-F947-AE06-42EE20D0B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" y="8070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6" name="Oval 16">
              <a:extLst>
                <a:ext uri="{FF2B5EF4-FFF2-40B4-BE49-F238E27FC236}">
                  <a16:creationId xmlns:a16="http://schemas.microsoft.com/office/drawing/2014/main" id="{625E459F-F436-E358-6FFE-8E5D7C3E6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810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7" name="Oval 15">
              <a:extLst>
                <a:ext uri="{FF2B5EF4-FFF2-40B4-BE49-F238E27FC236}">
                  <a16:creationId xmlns:a16="http://schemas.microsoft.com/office/drawing/2014/main" id="{53D7673F-9EAB-B3AB-38D9-24358E86A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" y="7197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8" name="Oval 14">
              <a:extLst>
                <a:ext uri="{FF2B5EF4-FFF2-40B4-BE49-F238E27FC236}">
                  <a16:creationId xmlns:a16="http://schemas.microsoft.com/office/drawing/2014/main" id="{306547D9-D72F-F438-C376-024A8F229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7197"/>
              <a:ext cx="221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7439" name="AutoShape 13">
              <a:extLst>
                <a:ext uri="{FF2B5EF4-FFF2-40B4-BE49-F238E27FC236}">
                  <a16:creationId xmlns:a16="http://schemas.microsoft.com/office/drawing/2014/main" id="{24FEB885-9519-30B4-BD08-828654EEF8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01" y="7308"/>
              <a:ext cx="100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0" name="AutoShape 12">
              <a:extLst>
                <a:ext uri="{FF2B5EF4-FFF2-40B4-BE49-F238E27FC236}">
                  <a16:creationId xmlns:a16="http://schemas.microsoft.com/office/drawing/2014/main" id="{B93ED18C-9E45-B623-9ABA-5C4BFB1BA5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6" y="7386"/>
              <a:ext cx="446" cy="7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1" name="AutoShape 11">
              <a:extLst>
                <a:ext uri="{FF2B5EF4-FFF2-40B4-BE49-F238E27FC236}">
                  <a16:creationId xmlns:a16="http://schemas.microsoft.com/office/drawing/2014/main" id="{1105758D-1A34-68A2-228D-C313F09AF3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8" y="7386"/>
              <a:ext cx="488" cy="7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2" name="AutoShape 10">
              <a:extLst>
                <a:ext uri="{FF2B5EF4-FFF2-40B4-BE49-F238E27FC236}">
                  <a16:creationId xmlns:a16="http://schemas.microsoft.com/office/drawing/2014/main" id="{18883DD9-264D-9C05-7182-350206C932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18" y="8292"/>
              <a:ext cx="447" cy="6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3" name="AutoShape 9">
              <a:extLst>
                <a:ext uri="{FF2B5EF4-FFF2-40B4-BE49-F238E27FC236}">
                  <a16:creationId xmlns:a16="http://schemas.microsoft.com/office/drawing/2014/main" id="{C791630F-5D48-B9A3-60EF-D6D440B7C7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44" y="8292"/>
              <a:ext cx="458" cy="6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4" name="AutoShape 8">
              <a:extLst>
                <a:ext uri="{FF2B5EF4-FFF2-40B4-BE49-F238E27FC236}">
                  <a16:creationId xmlns:a16="http://schemas.microsoft.com/office/drawing/2014/main" id="{8C91F1A3-7BBB-3482-4658-EAD796BDBB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1" y="9045"/>
              <a:ext cx="103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5" name="AutoShape 7">
              <a:extLst>
                <a:ext uri="{FF2B5EF4-FFF2-40B4-BE49-F238E27FC236}">
                  <a16:creationId xmlns:a16="http://schemas.microsoft.com/office/drawing/2014/main" id="{D4405572-FA13-C091-9F78-2113509985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06" y="7307"/>
              <a:ext cx="102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6" name="AutoShape 6">
              <a:extLst>
                <a:ext uri="{FF2B5EF4-FFF2-40B4-BE49-F238E27FC236}">
                  <a16:creationId xmlns:a16="http://schemas.microsoft.com/office/drawing/2014/main" id="{AF147D00-2CFD-5EC8-1C25-7F61B459A9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06" y="8237"/>
              <a:ext cx="1024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7" name="AutoShape 5">
              <a:extLst>
                <a:ext uri="{FF2B5EF4-FFF2-40B4-BE49-F238E27FC236}">
                  <a16:creationId xmlns:a16="http://schemas.microsoft.com/office/drawing/2014/main" id="{FB2D0728-353F-2568-1CB4-E71129755B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32" y="9063"/>
              <a:ext cx="1024" cy="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8" name="AutoShape 4">
              <a:extLst>
                <a:ext uri="{FF2B5EF4-FFF2-40B4-BE49-F238E27FC236}">
                  <a16:creationId xmlns:a16="http://schemas.microsoft.com/office/drawing/2014/main" id="{46736742-5175-E828-04E5-A824310554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596" y="7386"/>
              <a:ext cx="1166" cy="7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9" name="AutoShape 3">
              <a:extLst>
                <a:ext uri="{FF2B5EF4-FFF2-40B4-BE49-F238E27FC236}">
                  <a16:creationId xmlns:a16="http://schemas.microsoft.com/office/drawing/2014/main" id="{6C0A20B9-59DF-B6B0-F595-AEAC4829CA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00" y="8363"/>
              <a:ext cx="1141" cy="6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0" name="AutoShape 2">
              <a:extLst>
                <a:ext uri="{FF2B5EF4-FFF2-40B4-BE49-F238E27FC236}">
                  <a16:creationId xmlns:a16="http://schemas.microsoft.com/office/drawing/2014/main" id="{989634D0-90FD-8647-BDD9-6A56C70491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96" y="7418"/>
              <a:ext cx="1271" cy="15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90F0F1B9-46A4-F640-3C2B-AAE9F022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7.2.4 </a:t>
            </a:r>
            <a:r>
              <a:rPr lang="zh-CN" altLang="en-US" sz="5400" b="1">
                <a:solidFill>
                  <a:srgbClr val="333399"/>
                </a:solidFill>
              </a:rPr>
              <a:t>二分图</a:t>
            </a:r>
            <a:endParaRPr lang="zh-CN" altLang="en-US"/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A012B811-FD2F-C72F-41F2-2985EB51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r>
              <a:rPr lang="zh-CN" altLang="zh-CN" b="1">
                <a:solidFill>
                  <a:srgbClr val="FF0066"/>
                </a:solidFill>
              </a:rPr>
              <a:t>完全二分图</a:t>
            </a:r>
            <a:r>
              <a:rPr lang="zh-CN" altLang="zh-CN"/>
              <a:t>（</a:t>
            </a:r>
            <a:r>
              <a:rPr lang="en-US" altLang="zh-CN"/>
              <a:t>complete bipartite graph</a:t>
            </a:r>
            <a:r>
              <a:rPr lang="zh-CN" altLang="zh-CN"/>
              <a:t>）</a:t>
            </a:r>
            <a:endParaRPr lang="zh-CN" altLang="en-US"/>
          </a:p>
        </p:txBody>
      </p:sp>
      <p:sp>
        <p:nvSpPr>
          <p:cNvPr id="18436" name="Rectangle 84">
            <a:extLst>
              <a:ext uri="{FF2B5EF4-FFF2-40B4-BE49-F238E27FC236}">
                <a16:creationId xmlns:a16="http://schemas.microsoft.com/office/drawing/2014/main" id="{E2D7B13A-A4AE-6DF7-F34A-D5A0318F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7" name="Rectangle 85">
            <a:extLst>
              <a:ext uri="{FF2B5EF4-FFF2-40B4-BE49-F238E27FC236}">
                <a16:creationId xmlns:a16="http://schemas.microsoft.com/office/drawing/2014/main" id="{99C881CD-6D52-F7A7-9620-D790A611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8" name="Rectangle 87">
            <a:extLst>
              <a:ext uri="{FF2B5EF4-FFF2-40B4-BE49-F238E27FC236}">
                <a16:creationId xmlns:a16="http://schemas.microsoft.com/office/drawing/2014/main" id="{2E88EC68-F1D8-4CC6-EC2A-AB781F3F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9" name="Rectangle 89">
            <a:extLst>
              <a:ext uri="{FF2B5EF4-FFF2-40B4-BE49-F238E27FC236}">
                <a16:creationId xmlns:a16="http://schemas.microsoft.com/office/drawing/2014/main" id="{4C27AA39-AFBB-B798-0394-5EB2E25C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0" name="Rectangle 91">
            <a:extLst>
              <a:ext uri="{FF2B5EF4-FFF2-40B4-BE49-F238E27FC236}">
                <a16:creationId xmlns:a16="http://schemas.microsoft.com/office/drawing/2014/main" id="{32C299A2-59D5-20BE-B405-ECAF51AB2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58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1" name="Rectangle 176">
            <a:extLst>
              <a:ext uri="{FF2B5EF4-FFF2-40B4-BE49-F238E27FC236}">
                <a16:creationId xmlns:a16="http://schemas.microsoft.com/office/drawing/2014/main" id="{239743E5-8D34-7E13-0B08-37772836E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2" name="Rectangle 177">
            <a:extLst>
              <a:ext uri="{FF2B5EF4-FFF2-40B4-BE49-F238E27FC236}">
                <a16:creationId xmlns:a16="http://schemas.microsoft.com/office/drawing/2014/main" id="{C7D158D4-29EE-1FBA-8BEF-E15950F6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3" name="Rectangle 179">
            <a:extLst>
              <a:ext uri="{FF2B5EF4-FFF2-40B4-BE49-F238E27FC236}">
                <a16:creationId xmlns:a16="http://schemas.microsoft.com/office/drawing/2014/main" id="{CF7AE988-3C6B-ABED-A5F4-E16A10704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0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Rectangle 181">
            <a:extLst>
              <a:ext uri="{FF2B5EF4-FFF2-40B4-BE49-F238E27FC236}">
                <a16:creationId xmlns:a16="http://schemas.microsoft.com/office/drawing/2014/main" id="{9468DF1C-C22C-59C3-668A-E47F738B1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5" name="Rectangle 183">
            <a:extLst>
              <a:ext uri="{FF2B5EF4-FFF2-40B4-BE49-F238E27FC236}">
                <a16:creationId xmlns:a16="http://schemas.microsoft.com/office/drawing/2014/main" id="{7266310D-1BAF-E45A-9E71-1514190A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8446" name="Group 185">
            <a:extLst>
              <a:ext uri="{FF2B5EF4-FFF2-40B4-BE49-F238E27FC236}">
                <a16:creationId xmlns:a16="http://schemas.microsoft.com/office/drawing/2014/main" id="{C2AF1AC1-68D5-9894-4E46-A2C1B306D7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04913" y="2571750"/>
            <a:ext cx="6811962" cy="4294188"/>
            <a:chOff x="2572" y="1784"/>
            <a:chExt cx="7099" cy="4624"/>
          </a:xfrm>
        </p:grpSpPr>
        <p:sp>
          <p:nvSpPr>
            <p:cNvPr id="18456" name="AutoShape 267">
              <a:extLst>
                <a:ext uri="{FF2B5EF4-FFF2-40B4-BE49-F238E27FC236}">
                  <a16:creationId xmlns:a16="http://schemas.microsoft.com/office/drawing/2014/main" id="{D0695A2A-36E4-7685-5B65-A1D763947C7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72" y="1784"/>
              <a:ext cx="7099" cy="4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Oval 266">
              <a:extLst>
                <a:ext uri="{FF2B5EF4-FFF2-40B4-BE49-F238E27FC236}">
                  <a16:creationId xmlns:a16="http://schemas.microsoft.com/office/drawing/2014/main" id="{9C39413D-37E7-C345-A6F8-AC9951A97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179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8" name="Oval 265">
              <a:extLst>
                <a:ext uri="{FF2B5EF4-FFF2-40B4-BE49-F238E27FC236}">
                  <a16:creationId xmlns:a16="http://schemas.microsoft.com/office/drawing/2014/main" id="{A44C6A57-3087-EE86-BBDD-EB754F8A9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" y="179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9" name="Oval 264">
              <a:extLst>
                <a:ext uri="{FF2B5EF4-FFF2-40B4-BE49-F238E27FC236}">
                  <a16:creationId xmlns:a16="http://schemas.microsoft.com/office/drawing/2014/main" id="{1A66EC65-37F9-A6D4-B0BC-A375FC929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262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0" name="Oval 263">
              <a:extLst>
                <a:ext uri="{FF2B5EF4-FFF2-40B4-BE49-F238E27FC236}">
                  <a16:creationId xmlns:a16="http://schemas.microsoft.com/office/drawing/2014/main" id="{D51237A4-E469-89A0-3A94-3B45D0AE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" y="262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1" name="Oval 262">
              <a:extLst>
                <a:ext uri="{FF2B5EF4-FFF2-40B4-BE49-F238E27FC236}">
                  <a16:creationId xmlns:a16="http://schemas.microsoft.com/office/drawing/2014/main" id="{CBA7262E-B72D-48AA-E286-E95378C07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630"/>
              <a:ext cx="222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2" name="Oval 261">
              <a:extLst>
                <a:ext uri="{FF2B5EF4-FFF2-40B4-BE49-F238E27FC236}">
                  <a16:creationId xmlns:a16="http://schemas.microsoft.com/office/drawing/2014/main" id="{062AD89C-085A-F71B-F10B-5DDFE189A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4402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3" name="Oval 260">
              <a:extLst>
                <a:ext uri="{FF2B5EF4-FFF2-40B4-BE49-F238E27FC236}">
                  <a16:creationId xmlns:a16="http://schemas.microsoft.com/office/drawing/2014/main" id="{8132E3D0-DC3E-1928-0621-CCBA3D811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" y="4402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4" name="Oval 259">
              <a:extLst>
                <a:ext uri="{FF2B5EF4-FFF2-40B4-BE49-F238E27FC236}">
                  <a16:creationId xmlns:a16="http://schemas.microsoft.com/office/drawing/2014/main" id="{1EC6F018-76F4-5395-5645-975760CC4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4401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5" name="Oval 258">
              <a:extLst>
                <a:ext uri="{FF2B5EF4-FFF2-40B4-BE49-F238E27FC236}">
                  <a16:creationId xmlns:a16="http://schemas.microsoft.com/office/drawing/2014/main" id="{FC0CA8D6-CC20-D230-ADFE-AEF6ED3F8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524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6" name="Oval 257">
              <a:extLst>
                <a:ext uri="{FF2B5EF4-FFF2-40B4-BE49-F238E27FC236}">
                  <a16:creationId xmlns:a16="http://schemas.microsoft.com/office/drawing/2014/main" id="{A49ED215-0A76-9D48-77B3-F555E3857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" y="524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7" name="Oval 256">
              <a:extLst>
                <a:ext uri="{FF2B5EF4-FFF2-40B4-BE49-F238E27FC236}">
                  <a16:creationId xmlns:a16="http://schemas.microsoft.com/office/drawing/2014/main" id="{5A5C76F2-1A6D-0E2D-0488-CF8AB20B5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9" y="263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8" name="Oval 255">
              <a:extLst>
                <a:ext uri="{FF2B5EF4-FFF2-40B4-BE49-F238E27FC236}">
                  <a16:creationId xmlns:a16="http://schemas.microsoft.com/office/drawing/2014/main" id="{7CEFE447-E837-86FA-50E1-370DB1113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7" y="264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69" name="Oval 254">
              <a:extLst>
                <a:ext uri="{FF2B5EF4-FFF2-40B4-BE49-F238E27FC236}">
                  <a16:creationId xmlns:a16="http://schemas.microsoft.com/office/drawing/2014/main" id="{A2F4639A-9051-2462-1EAB-D05CA89DA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2" y="264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0" name="Oval 253">
              <a:extLst>
                <a:ext uri="{FF2B5EF4-FFF2-40B4-BE49-F238E27FC236}">
                  <a16:creationId xmlns:a16="http://schemas.microsoft.com/office/drawing/2014/main" id="{28463345-2038-17A6-B92D-E9A474564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6" y="263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1" name="Oval 252">
              <a:extLst>
                <a:ext uri="{FF2B5EF4-FFF2-40B4-BE49-F238E27FC236}">
                  <a16:creationId xmlns:a16="http://schemas.microsoft.com/office/drawing/2014/main" id="{F3FBD3DD-C892-951C-5834-0CCCE04EF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7" y="263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2" name="Oval 251">
              <a:extLst>
                <a:ext uri="{FF2B5EF4-FFF2-40B4-BE49-F238E27FC236}">
                  <a16:creationId xmlns:a16="http://schemas.microsoft.com/office/drawing/2014/main" id="{5120C146-0CD7-C07A-4334-AE459F1F4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" y="524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3" name="Oval 250">
              <a:extLst>
                <a:ext uri="{FF2B5EF4-FFF2-40B4-BE49-F238E27FC236}">
                  <a16:creationId xmlns:a16="http://schemas.microsoft.com/office/drawing/2014/main" id="{AF0AB7B4-F987-11B4-E062-A0ABCA12A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4" y="440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4" name="Oval 249">
              <a:extLst>
                <a:ext uri="{FF2B5EF4-FFF2-40B4-BE49-F238E27FC236}">
                  <a16:creationId xmlns:a16="http://schemas.microsoft.com/office/drawing/2014/main" id="{5CF16323-F66A-F7D2-4E9A-4E76AF950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3" y="263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5" name="Oval 248">
              <a:extLst>
                <a:ext uri="{FF2B5EF4-FFF2-40B4-BE49-F238E27FC236}">
                  <a16:creationId xmlns:a16="http://schemas.microsoft.com/office/drawing/2014/main" id="{65E2A896-B738-F0AD-4282-ACEAFB846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179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6" name="Oval 247">
              <a:extLst>
                <a:ext uri="{FF2B5EF4-FFF2-40B4-BE49-F238E27FC236}">
                  <a16:creationId xmlns:a16="http://schemas.microsoft.com/office/drawing/2014/main" id="{7C2622CB-7A89-B559-C897-3B52CF8B7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2" y="524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7" name="Oval 246">
              <a:extLst>
                <a:ext uri="{FF2B5EF4-FFF2-40B4-BE49-F238E27FC236}">
                  <a16:creationId xmlns:a16="http://schemas.microsoft.com/office/drawing/2014/main" id="{4532F626-DFC6-A284-3AC3-02BD51703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" y="524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8" name="Oval 245">
              <a:extLst>
                <a:ext uri="{FF2B5EF4-FFF2-40B4-BE49-F238E27FC236}">
                  <a16:creationId xmlns:a16="http://schemas.microsoft.com/office/drawing/2014/main" id="{33020FA5-C1C8-A847-8891-E2E1D61E4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9" y="524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9" name="Oval 244">
              <a:extLst>
                <a:ext uri="{FF2B5EF4-FFF2-40B4-BE49-F238E27FC236}">
                  <a16:creationId xmlns:a16="http://schemas.microsoft.com/office/drawing/2014/main" id="{33F745E3-8D04-FF89-0FDF-66913999B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" y="524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0" name="Oval 243">
              <a:extLst>
                <a:ext uri="{FF2B5EF4-FFF2-40B4-BE49-F238E27FC236}">
                  <a16:creationId xmlns:a16="http://schemas.microsoft.com/office/drawing/2014/main" id="{E0D10D5D-3C6B-BA2B-8E01-2E9280C05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8" y="524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1" name="Oval 242">
              <a:extLst>
                <a:ext uri="{FF2B5EF4-FFF2-40B4-BE49-F238E27FC236}">
                  <a16:creationId xmlns:a16="http://schemas.microsoft.com/office/drawing/2014/main" id="{91C8FD55-57CA-E4E1-8343-FECF90833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" y="440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2" name="Oval 241">
              <a:extLst>
                <a:ext uri="{FF2B5EF4-FFF2-40B4-BE49-F238E27FC236}">
                  <a16:creationId xmlns:a16="http://schemas.microsoft.com/office/drawing/2014/main" id="{8B0ED6A6-C11E-0B4F-539D-B01D2C385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2" y="440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3" name="Oval 240">
              <a:extLst>
                <a:ext uri="{FF2B5EF4-FFF2-40B4-BE49-F238E27FC236}">
                  <a16:creationId xmlns:a16="http://schemas.microsoft.com/office/drawing/2014/main" id="{618632CD-5B31-0CE8-FC13-B3DEFDDF6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" y="524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4" name="Oval 239">
              <a:extLst>
                <a:ext uri="{FF2B5EF4-FFF2-40B4-BE49-F238E27FC236}">
                  <a16:creationId xmlns:a16="http://schemas.microsoft.com/office/drawing/2014/main" id="{7AE7D2C1-3DBC-86C4-2B7B-3C291F69A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7" y="184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8485" name="AutoShape 230">
              <a:extLst>
                <a:ext uri="{FF2B5EF4-FFF2-40B4-BE49-F238E27FC236}">
                  <a16:creationId xmlns:a16="http://schemas.microsoft.com/office/drawing/2014/main" id="{15A65924-7B3F-5A03-F1E1-23D066ED21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8" y="2013"/>
              <a:ext cx="422" cy="6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6" name="AutoShape 229">
              <a:extLst>
                <a:ext uri="{FF2B5EF4-FFF2-40B4-BE49-F238E27FC236}">
                  <a16:creationId xmlns:a16="http://schemas.microsoft.com/office/drawing/2014/main" id="{324DEB2B-4542-3727-530F-A7CCC3DB4C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90" y="2013"/>
              <a:ext cx="517" cy="6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7" name="AutoShape 228">
              <a:extLst>
                <a:ext uri="{FF2B5EF4-FFF2-40B4-BE49-F238E27FC236}">
                  <a16:creationId xmlns:a16="http://schemas.microsoft.com/office/drawing/2014/main" id="{9E9273DA-F492-A645-5551-7956AD17B8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68" y="1981"/>
              <a:ext cx="1485" cy="6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8" name="AutoShape 227">
              <a:extLst>
                <a:ext uri="{FF2B5EF4-FFF2-40B4-BE49-F238E27FC236}">
                  <a16:creationId xmlns:a16="http://schemas.microsoft.com/office/drawing/2014/main" id="{03A8838B-2B9B-8051-FE08-F31F518423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8" y="2013"/>
              <a:ext cx="1453" cy="6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9" name="AutoShape 226">
              <a:extLst>
                <a:ext uri="{FF2B5EF4-FFF2-40B4-BE49-F238E27FC236}">
                  <a16:creationId xmlns:a16="http://schemas.microsoft.com/office/drawing/2014/main" id="{65C7031D-85AA-1EC3-772D-52208FFDC6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785" y="2013"/>
              <a:ext cx="436" cy="6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0" name="AutoShape 225">
              <a:extLst>
                <a:ext uri="{FF2B5EF4-FFF2-40B4-BE49-F238E27FC236}">
                  <a16:creationId xmlns:a16="http://schemas.microsoft.com/office/drawing/2014/main" id="{C52D9A86-3D37-189F-8D31-8981CEAAC2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99" y="1981"/>
              <a:ext cx="533" cy="6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1" name="AutoShape 224">
              <a:extLst>
                <a:ext uri="{FF2B5EF4-FFF2-40B4-BE49-F238E27FC236}">
                  <a16:creationId xmlns:a16="http://schemas.microsoft.com/office/drawing/2014/main" id="{FE3A3F82-79BC-F1CD-B463-02AEDBC462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78" y="1981"/>
              <a:ext cx="874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2" name="AutoShape 223">
              <a:extLst>
                <a:ext uri="{FF2B5EF4-FFF2-40B4-BE49-F238E27FC236}">
                  <a16:creationId xmlns:a16="http://schemas.microsoft.com/office/drawing/2014/main" id="{0A310ECF-3364-A587-BBBD-1D658803AA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64" y="2013"/>
              <a:ext cx="367" cy="6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3" name="AutoShape 222">
              <a:extLst>
                <a:ext uri="{FF2B5EF4-FFF2-40B4-BE49-F238E27FC236}">
                  <a16:creationId xmlns:a16="http://schemas.microsoft.com/office/drawing/2014/main" id="{046E4930-6F25-633B-ED9A-AA4936E8D7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31" y="2013"/>
              <a:ext cx="277" cy="6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4" name="AutoShape 221">
              <a:extLst>
                <a:ext uri="{FF2B5EF4-FFF2-40B4-BE49-F238E27FC236}">
                  <a16:creationId xmlns:a16="http://schemas.microsoft.com/office/drawing/2014/main" id="{57F53E20-011B-E1B1-B1D5-0DDE652A0B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31" y="2013"/>
              <a:ext cx="908" cy="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5" name="AutoShape 220">
              <a:extLst>
                <a:ext uri="{FF2B5EF4-FFF2-40B4-BE49-F238E27FC236}">
                  <a16:creationId xmlns:a16="http://schemas.microsoft.com/office/drawing/2014/main" id="{8BA514A0-B3E1-7695-D98C-6F73AC007F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09" y="1981"/>
              <a:ext cx="1516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6" name="AutoShape 219">
              <a:extLst>
                <a:ext uri="{FF2B5EF4-FFF2-40B4-BE49-F238E27FC236}">
                  <a16:creationId xmlns:a16="http://schemas.microsoft.com/office/drawing/2014/main" id="{5510771C-335E-6EAB-84BC-373AE54C5D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09" y="1981"/>
              <a:ext cx="2221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7" name="AutoShape 218">
              <a:extLst>
                <a:ext uri="{FF2B5EF4-FFF2-40B4-BE49-F238E27FC236}">
                  <a16:creationId xmlns:a16="http://schemas.microsoft.com/office/drawing/2014/main" id="{BC2C99C5-22D6-7A0E-2511-4272E12333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78" y="2062"/>
              <a:ext cx="2310" cy="6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8" name="AutoShape 217">
              <a:extLst>
                <a:ext uri="{FF2B5EF4-FFF2-40B4-BE49-F238E27FC236}">
                  <a16:creationId xmlns:a16="http://schemas.microsoft.com/office/drawing/2014/main" id="{E032966F-8D13-956A-31E2-3759ED7C53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42" y="2062"/>
              <a:ext cx="1646" cy="6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9" name="AutoShape 216">
              <a:extLst>
                <a:ext uri="{FF2B5EF4-FFF2-40B4-BE49-F238E27FC236}">
                  <a16:creationId xmlns:a16="http://schemas.microsoft.com/office/drawing/2014/main" id="{8C1C48E5-F673-880D-50FE-DE93A82F2A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408" y="2062"/>
              <a:ext cx="1080" cy="5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0" name="AutoShape 215">
              <a:extLst>
                <a:ext uri="{FF2B5EF4-FFF2-40B4-BE49-F238E27FC236}">
                  <a16:creationId xmlns:a16="http://schemas.microsoft.com/office/drawing/2014/main" id="{75B89D6F-5F6C-21CB-2DC3-01641C52D8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194" y="2062"/>
              <a:ext cx="294" cy="6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1" name="AutoShape 214">
              <a:extLst>
                <a:ext uri="{FF2B5EF4-FFF2-40B4-BE49-F238E27FC236}">
                  <a16:creationId xmlns:a16="http://schemas.microsoft.com/office/drawing/2014/main" id="{6A45CB7E-29A1-3A26-99BC-AC5BCAD56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8" y="2062"/>
              <a:ext cx="237" cy="6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2" name="AutoShape 213">
              <a:extLst>
                <a:ext uri="{FF2B5EF4-FFF2-40B4-BE49-F238E27FC236}">
                  <a16:creationId xmlns:a16="http://schemas.microsoft.com/office/drawing/2014/main" id="{F14B6D7E-6008-5816-F961-B59099265E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8" y="2062"/>
              <a:ext cx="942" cy="6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3" name="AutoShape 212">
              <a:extLst>
                <a:ext uri="{FF2B5EF4-FFF2-40B4-BE49-F238E27FC236}">
                  <a16:creationId xmlns:a16="http://schemas.microsoft.com/office/drawing/2014/main" id="{C1F78849-3AD2-48B1-2CDF-F5A0F4EB6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97" y="4622"/>
              <a:ext cx="1" cy="6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4" name="AutoShape 211">
              <a:extLst>
                <a:ext uri="{FF2B5EF4-FFF2-40B4-BE49-F238E27FC236}">
                  <a16:creationId xmlns:a16="http://schemas.microsoft.com/office/drawing/2014/main" id="{53CF76A4-2824-CFDF-5499-F9A83BE498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97" y="4622"/>
              <a:ext cx="1037" cy="6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5" name="AutoShape 210">
              <a:extLst>
                <a:ext uri="{FF2B5EF4-FFF2-40B4-BE49-F238E27FC236}">
                  <a16:creationId xmlns:a16="http://schemas.microsoft.com/office/drawing/2014/main" id="{6555F682-CE38-B094-E94C-68E84AD983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74" y="4590"/>
              <a:ext cx="2070" cy="6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6" name="AutoShape 209">
              <a:extLst>
                <a:ext uri="{FF2B5EF4-FFF2-40B4-BE49-F238E27FC236}">
                  <a16:creationId xmlns:a16="http://schemas.microsoft.com/office/drawing/2014/main" id="{A1A186E4-0F1F-E3E0-EEE2-36D26B2084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3" y="4622"/>
              <a:ext cx="1" cy="6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7" name="AutoShape 208">
              <a:extLst>
                <a:ext uri="{FF2B5EF4-FFF2-40B4-BE49-F238E27FC236}">
                  <a16:creationId xmlns:a16="http://schemas.microsoft.com/office/drawing/2014/main" id="{4B9F60C7-759B-9633-B011-C477678034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3" y="4622"/>
              <a:ext cx="60" cy="6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8" name="AutoShape 207">
              <a:extLst>
                <a:ext uri="{FF2B5EF4-FFF2-40B4-BE49-F238E27FC236}">
                  <a16:creationId xmlns:a16="http://schemas.microsoft.com/office/drawing/2014/main" id="{0DB3B4A1-3864-14B4-9AEC-F0EC639795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97" y="4622"/>
              <a:ext cx="1116" cy="6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9" name="AutoShape 206">
              <a:extLst>
                <a:ext uri="{FF2B5EF4-FFF2-40B4-BE49-F238E27FC236}">
                  <a16:creationId xmlns:a16="http://schemas.microsoft.com/office/drawing/2014/main" id="{01116221-1CC9-C79D-070E-351FB5EF1D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91" y="4590"/>
              <a:ext cx="953" cy="6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0" name="AutoShape 205">
              <a:extLst>
                <a:ext uri="{FF2B5EF4-FFF2-40B4-BE49-F238E27FC236}">
                  <a16:creationId xmlns:a16="http://schemas.microsoft.com/office/drawing/2014/main" id="{748C7845-F742-B51D-B8EE-98435D2AD5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74" y="4590"/>
              <a:ext cx="2010" cy="6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1" name="AutoShape 204">
              <a:extLst>
                <a:ext uri="{FF2B5EF4-FFF2-40B4-BE49-F238E27FC236}">
                  <a16:creationId xmlns:a16="http://schemas.microsoft.com/office/drawing/2014/main" id="{63774BF0-4B79-B8E4-4503-F757F325E8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91" y="4622"/>
              <a:ext cx="972" cy="6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2" name="AutoShape 203">
              <a:extLst>
                <a:ext uri="{FF2B5EF4-FFF2-40B4-BE49-F238E27FC236}">
                  <a16:creationId xmlns:a16="http://schemas.microsoft.com/office/drawing/2014/main" id="{336C3482-82B1-C288-32B9-E84512D2D2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00" y="4592"/>
              <a:ext cx="616" cy="6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3" name="AutoShape 202">
              <a:extLst>
                <a:ext uri="{FF2B5EF4-FFF2-40B4-BE49-F238E27FC236}">
                  <a16:creationId xmlns:a16="http://schemas.microsoft.com/office/drawing/2014/main" id="{916EB38B-0E48-55F9-483B-CFEA05E7ED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5" y="4624"/>
              <a:ext cx="15" cy="6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4" name="AutoShape 201">
              <a:extLst>
                <a:ext uri="{FF2B5EF4-FFF2-40B4-BE49-F238E27FC236}">
                  <a16:creationId xmlns:a16="http://schemas.microsoft.com/office/drawing/2014/main" id="{AD92E520-4A96-F57F-9AEF-F86F9B4C47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3" y="4592"/>
              <a:ext cx="559" cy="6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5" name="AutoShape 200">
              <a:extLst>
                <a:ext uri="{FF2B5EF4-FFF2-40B4-BE49-F238E27FC236}">
                  <a16:creationId xmlns:a16="http://schemas.microsoft.com/office/drawing/2014/main" id="{3837427C-0B93-D50A-F4F9-284E775C4E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3" y="4592"/>
              <a:ext cx="1294" cy="6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6" name="AutoShape 199">
              <a:extLst>
                <a:ext uri="{FF2B5EF4-FFF2-40B4-BE49-F238E27FC236}">
                  <a16:creationId xmlns:a16="http://schemas.microsoft.com/office/drawing/2014/main" id="{617882E9-80D0-DC1A-C6BA-5107959CDA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3" y="4592"/>
              <a:ext cx="1897" cy="6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7" name="AutoShape 198">
              <a:extLst>
                <a:ext uri="{FF2B5EF4-FFF2-40B4-BE49-F238E27FC236}">
                  <a16:creationId xmlns:a16="http://schemas.microsoft.com/office/drawing/2014/main" id="{427A219C-FF60-B4D5-5C90-C77446646E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3" y="4592"/>
              <a:ext cx="2501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8" name="AutoShape 197">
              <a:extLst>
                <a:ext uri="{FF2B5EF4-FFF2-40B4-BE49-F238E27FC236}">
                  <a16:creationId xmlns:a16="http://schemas.microsoft.com/office/drawing/2014/main" id="{99CA68F1-CA73-F803-8F7F-1E01CA0A5C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00" y="4592"/>
              <a:ext cx="1624" cy="6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9" name="AutoShape 196">
              <a:extLst>
                <a:ext uri="{FF2B5EF4-FFF2-40B4-BE49-F238E27FC236}">
                  <a16:creationId xmlns:a16="http://schemas.microsoft.com/office/drawing/2014/main" id="{A3FD63A3-AAD4-A3C9-0028-8E4CD2FFC0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88" y="4592"/>
              <a:ext cx="836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0" name="AutoShape 195">
              <a:extLst>
                <a:ext uri="{FF2B5EF4-FFF2-40B4-BE49-F238E27FC236}">
                  <a16:creationId xmlns:a16="http://schemas.microsoft.com/office/drawing/2014/main" id="{7C2CB2A0-0613-B550-BB93-A96AB28320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0" y="4592"/>
              <a:ext cx="214" cy="6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1" name="AutoShape 194">
              <a:extLst>
                <a:ext uri="{FF2B5EF4-FFF2-40B4-BE49-F238E27FC236}">
                  <a16:creationId xmlns:a16="http://schemas.microsoft.com/office/drawing/2014/main" id="{3BDCB47C-C3E3-0CC4-050D-F20EE2924A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24" y="4592"/>
              <a:ext cx="443" cy="6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2" name="AutoShape 193">
              <a:extLst>
                <a:ext uri="{FF2B5EF4-FFF2-40B4-BE49-F238E27FC236}">
                  <a16:creationId xmlns:a16="http://schemas.microsoft.com/office/drawing/2014/main" id="{8ECB79D3-AF2C-8252-9081-D4DEAC1387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03" y="4624"/>
              <a:ext cx="967" cy="6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3" name="AutoShape 192">
              <a:extLst>
                <a:ext uri="{FF2B5EF4-FFF2-40B4-BE49-F238E27FC236}">
                  <a16:creationId xmlns:a16="http://schemas.microsoft.com/office/drawing/2014/main" id="{5E3B1C05-FCFB-89A8-5999-4D0376E861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81" y="4592"/>
              <a:ext cx="1493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4" name="AutoShape 191">
              <a:extLst>
                <a:ext uri="{FF2B5EF4-FFF2-40B4-BE49-F238E27FC236}">
                  <a16:creationId xmlns:a16="http://schemas.microsoft.com/office/drawing/2014/main" id="{0FC41A03-9126-C3D9-F8A9-4487A20C0C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78" y="4592"/>
              <a:ext cx="2532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5" name="AutoShape 190">
              <a:extLst>
                <a:ext uri="{FF2B5EF4-FFF2-40B4-BE49-F238E27FC236}">
                  <a16:creationId xmlns:a16="http://schemas.microsoft.com/office/drawing/2014/main" id="{40C3E36D-4A94-2090-B3BD-75F760E71E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88" y="4624"/>
              <a:ext cx="1901" cy="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6" name="AutoShape 189">
              <a:extLst>
                <a:ext uri="{FF2B5EF4-FFF2-40B4-BE49-F238E27FC236}">
                  <a16:creationId xmlns:a16="http://schemas.microsoft.com/office/drawing/2014/main" id="{E16BE445-9A05-6186-C648-F13FEB1A32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0" y="4624"/>
              <a:ext cx="1279" cy="6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7" name="AutoShape 188">
              <a:extLst>
                <a:ext uri="{FF2B5EF4-FFF2-40B4-BE49-F238E27FC236}">
                  <a16:creationId xmlns:a16="http://schemas.microsoft.com/office/drawing/2014/main" id="{67285CF9-D09B-5FFC-F83A-67990A155C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67" y="4624"/>
              <a:ext cx="622" cy="6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8" name="AutoShape 187">
              <a:extLst>
                <a:ext uri="{FF2B5EF4-FFF2-40B4-BE49-F238E27FC236}">
                  <a16:creationId xmlns:a16="http://schemas.microsoft.com/office/drawing/2014/main" id="{53891401-3358-76AB-A1EC-CF163DA579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89" y="4624"/>
              <a:ext cx="60" cy="6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29" name="AutoShape 186">
              <a:extLst>
                <a:ext uri="{FF2B5EF4-FFF2-40B4-BE49-F238E27FC236}">
                  <a16:creationId xmlns:a16="http://schemas.microsoft.com/office/drawing/2014/main" id="{1F4CAC6D-8981-1C58-09E9-98B39FEE4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89" y="4624"/>
              <a:ext cx="664" cy="6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47" name="Rectangle 268">
            <a:extLst>
              <a:ext uri="{FF2B5EF4-FFF2-40B4-BE49-F238E27FC236}">
                <a16:creationId xmlns:a16="http://schemas.microsoft.com/office/drawing/2014/main" id="{E33FF9D3-44FC-4914-2E2B-9E8DC5C27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8" name="Rectangle 269">
            <a:extLst>
              <a:ext uri="{FF2B5EF4-FFF2-40B4-BE49-F238E27FC236}">
                <a16:creationId xmlns:a16="http://schemas.microsoft.com/office/drawing/2014/main" id="{0CD991CA-3531-2F29-0EFD-0112D0112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9" name="Rectangle 271">
            <a:extLst>
              <a:ext uri="{FF2B5EF4-FFF2-40B4-BE49-F238E27FC236}">
                <a16:creationId xmlns:a16="http://schemas.microsoft.com/office/drawing/2014/main" id="{C2BD7C39-F677-6191-7720-885E4545A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334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0" name="Rectangle 273">
            <a:extLst>
              <a:ext uri="{FF2B5EF4-FFF2-40B4-BE49-F238E27FC236}">
                <a16:creationId xmlns:a16="http://schemas.microsoft.com/office/drawing/2014/main" id="{E80F9061-BB98-29D9-AF32-BFE41A8D1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620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1" name="Rectangle 275">
            <a:extLst>
              <a:ext uri="{FF2B5EF4-FFF2-40B4-BE49-F238E27FC236}">
                <a16:creationId xmlns:a16="http://schemas.microsoft.com/office/drawing/2014/main" id="{78AD8059-268F-4F98-4FC5-D1838F21D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906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995043CF-1600-E237-5BD5-B985B3F3BA8A}"/>
              </a:ext>
            </a:extLst>
          </p:cNvPr>
          <p:cNvSpPr/>
          <p:nvPr/>
        </p:nvSpPr>
        <p:spPr>
          <a:xfrm>
            <a:off x="5938838" y="6021388"/>
            <a:ext cx="10096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kern="100" dirty="0">
                <a:latin typeface="Times New Roman"/>
                <a:ea typeface="宋体"/>
              </a:rPr>
              <a:t>K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3</a:t>
            </a:r>
            <a:r>
              <a:rPr lang="en-US" altLang="zh-CN" sz="2400" kern="100" baseline="-25000" dirty="0">
                <a:latin typeface="+mn-ea"/>
                <a:ea typeface="+mn-ea"/>
              </a:rPr>
              <a:t>,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6</a:t>
            </a:r>
            <a:endParaRPr lang="zh-CN" altLang="en-US" sz="2400" dirty="0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AE77A333-9B0E-6586-4705-5F7D423C6CED}"/>
              </a:ext>
            </a:extLst>
          </p:cNvPr>
          <p:cNvSpPr/>
          <p:nvPr/>
        </p:nvSpPr>
        <p:spPr>
          <a:xfrm>
            <a:off x="2122488" y="3789363"/>
            <a:ext cx="10096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kern="100" dirty="0">
                <a:latin typeface="Times New Roman"/>
                <a:ea typeface="宋体"/>
              </a:rPr>
              <a:t>K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2</a:t>
            </a:r>
            <a:r>
              <a:rPr lang="en-US" altLang="zh-CN" sz="2400" kern="100" baseline="-25000" dirty="0">
                <a:latin typeface="+mn-ea"/>
                <a:ea typeface="+mn-ea"/>
              </a:rPr>
              <a:t>,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3</a:t>
            </a:r>
            <a:endParaRPr lang="zh-CN" altLang="en-US" sz="2400" dirty="0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DE940622-66C0-670D-4020-AC20FB066D6F}"/>
              </a:ext>
            </a:extLst>
          </p:cNvPr>
          <p:cNvSpPr/>
          <p:nvPr/>
        </p:nvSpPr>
        <p:spPr>
          <a:xfrm>
            <a:off x="2195513" y="6064250"/>
            <a:ext cx="10096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kern="100" dirty="0">
                <a:latin typeface="Times New Roman"/>
                <a:ea typeface="宋体"/>
              </a:rPr>
              <a:t>K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3</a:t>
            </a:r>
            <a:r>
              <a:rPr lang="en-US" altLang="zh-CN" sz="2400" kern="100" baseline="-25000" dirty="0">
                <a:latin typeface="+mn-ea"/>
                <a:ea typeface="+mn-ea"/>
              </a:rPr>
              <a:t>,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3</a:t>
            </a:r>
            <a:endParaRPr lang="zh-CN" altLang="en-US" sz="2400" dirty="0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35F019E-69DC-35F6-DAC6-1107044BF767}"/>
              </a:ext>
            </a:extLst>
          </p:cNvPr>
          <p:cNvSpPr/>
          <p:nvPr/>
        </p:nvSpPr>
        <p:spPr>
          <a:xfrm>
            <a:off x="5794375" y="3789363"/>
            <a:ext cx="10096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kern="100" dirty="0">
                <a:latin typeface="Times New Roman"/>
                <a:ea typeface="宋体"/>
              </a:rPr>
              <a:t>K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2</a:t>
            </a:r>
            <a:r>
              <a:rPr lang="en-US" altLang="zh-CN" sz="2400" kern="100" baseline="-25000" dirty="0">
                <a:latin typeface="+mn-ea"/>
                <a:ea typeface="+mn-ea"/>
              </a:rPr>
              <a:t>,</a:t>
            </a:r>
            <a:r>
              <a:rPr lang="en-US" altLang="zh-CN" sz="2400" kern="100" baseline="-25000" dirty="0">
                <a:latin typeface="Times New Roman"/>
                <a:ea typeface="宋体"/>
              </a:rPr>
              <a:t>6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8E476E66-0ACE-7F6B-4487-7ECAE27F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7.2.4 </a:t>
            </a:r>
            <a:r>
              <a:rPr lang="zh-CN" altLang="en-US" sz="5400" b="1">
                <a:solidFill>
                  <a:srgbClr val="333399"/>
                </a:solidFill>
              </a:rPr>
              <a:t>二分图</a:t>
            </a:r>
            <a:endParaRPr lang="zh-CN" altLang="en-US"/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D08A6ABF-F23D-19BB-C2E8-CFFBF13D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定理</a:t>
            </a:r>
            <a:r>
              <a:rPr lang="en-US" altLang="zh-CN" b="1">
                <a:solidFill>
                  <a:srgbClr val="FF0000"/>
                </a:solidFill>
              </a:rPr>
              <a:t>7.2.9 </a:t>
            </a:r>
            <a:r>
              <a:rPr lang="zh-CN" altLang="zh-CN"/>
              <a:t>非平凡图</a:t>
            </a:r>
            <a:r>
              <a:rPr lang="en-US" altLang="zh-CN"/>
              <a:t>G</a:t>
            </a:r>
            <a:r>
              <a:rPr lang="zh-CN" altLang="zh-CN"/>
              <a:t>是二分图当且仅当</a:t>
            </a:r>
            <a:r>
              <a:rPr lang="en-US" altLang="zh-CN"/>
              <a:t>G</a:t>
            </a:r>
            <a:r>
              <a:rPr lang="zh-CN" altLang="zh-CN"/>
              <a:t>中不含有长为奇数的圈。</a:t>
            </a:r>
            <a:endParaRPr lang="zh-CN" altLang="en-US"/>
          </a:p>
        </p:txBody>
      </p:sp>
      <p:sp>
        <p:nvSpPr>
          <p:cNvPr id="19460" name="Rectangle 46">
            <a:extLst>
              <a:ext uri="{FF2B5EF4-FFF2-40B4-BE49-F238E27FC236}">
                <a16:creationId xmlns:a16="http://schemas.microsoft.com/office/drawing/2014/main" id="{7531D9B1-F84D-10FF-3212-8CCF88D9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9461" name="Group 1">
            <a:extLst>
              <a:ext uri="{FF2B5EF4-FFF2-40B4-BE49-F238E27FC236}">
                <a16:creationId xmlns:a16="http://schemas.microsoft.com/office/drawing/2014/main" id="{273EA003-BC80-3FB4-FAB4-3E622C6D06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42988" y="2997200"/>
            <a:ext cx="7921625" cy="3486150"/>
            <a:chOff x="2722" y="8459"/>
            <a:chExt cx="7425" cy="3268"/>
          </a:xfrm>
        </p:grpSpPr>
        <p:sp>
          <p:nvSpPr>
            <p:cNvPr id="19462" name="AutoShape 45">
              <a:extLst>
                <a:ext uri="{FF2B5EF4-FFF2-40B4-BE49-F238E27FC236}">
                  <a16:creationId xmlns:a16="http://schemas.microsoft.com/office/drawing/2014/main" id="{C2355CEF-1B4E-570F-01B2-4591893B012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22" y="8459"/>
              <a:ext cx="7425" cy="3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Oval 44">
              <a:extLst>
                <a:ext uri="{FF2B5EF4-FFF2-40B4-BE49-F238E27FC236}">
                  <a16:creationId xmlns:a16="http://schemas.microsoft.com/office/drawing/2014/main" id="{88950C87-364F-0207-29CC-AE28ECEDC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9353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4" name="Oval 43">
              <a:extLst>
                <a:ext uri="{FF2B5EF4-FFF2-40B4-BE49-F238E27FC236}">
                  <a16:creationId xmlns:a16="http://schemas.microsoft.com/office/drawing/2014/main" id="{819E3831-ABF7-3429-9773-5E9CE332B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935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5" name="Oval 42">
              <a:extLst>
                <a:ext uri="{FF2B5EF4-FFF2-40B4-BE49-F238E27FC236}">
                  <a16:creationId xmlns:a16="http://schemas.microsoft.com/office/drawing/2014/main" id="{A68969D6-6363-D7E0-2E9E-75B3EDECC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11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6" name="Oval 41">
              <a:extLst>
                <a:ext uri="{FF2B5EF4-FFF2-40B4-BE49-F238E27FC236}">
                  <a16:creationId xmlns:a16="http://schemas.microsoft.com/office/drawing/2014/main" id="{0C056A92-D1C0-FC53-F97F-73D255692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111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7" name="Oval 40">
              <a:extLst>
                <a:ext uri="{FF2B5EF4-FFF2-40B4-BE49-F238E27FC236}">
                  <a16:creationId xmlns:a16="http://schemas.microsoft.com/office/drawing/2014/main" id="{6F65F918-6D81-929B-F50F-15AC4A79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6" y="10036"/>
              <a:ext cx="222" cy="2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8" name="Oval 39">
              <a:extLst>
                <a:ext uri="{FF2B5EF4-FFF2-40B4-BE49-F238E27FC236}">
                  <a16:creationId xmlns:a16="http://schemas.microsoft.com/office/drawing/2014/main" id="{16458C78-1CE5-562D-9BE8-650EA8B05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" y="11496"/>
              <a:ext cx="222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9" name="Oval 38">
              <a:extLst>
                <a:ext uri="{FF2B5EF4-FFF2-40B4-BE49-F238E27FC236}">
                  <a16:creationId xmlns:a16="http://schemas.microsoft.com/office/drawing/2014/main" id="{073FE9DF-FE52-500A-A504-33A18D885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2" y="1061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0" name="Oval 37">
              <a:extLst>
                <a:ext uri="{FF2B5EF4-FFF2-40B4-BE49-F238E27FC236}">
                  <a16:creationId xmlns:a16="http://schemas.microsoft.com/office/drawing/2014/main" id="{45577B64-0D73-BD0A-B753-048B75E1B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" y="9574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1" name="Oval 36">
              <a:extLst>
                <a:ext uri="{FF2B5EF4-FFF2-40B4-BE49-F238E27FC236}">
                  <a16:creationId xmlns:a16="http://schemas.microsoft.com/office/drawing/2014/main" id="{651E78EE-FF7F-0530-8D76-0AC79B7A7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7" y="9574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2" name="Oval 35">
              <a:extLst>
                <a:ext uri="{FF2B5EF4-FFF2-40B4-BE49-F238E27FC236}">
                  <a16:creationId xmlns:a16="http://schemas.microsoft.com/office/drawing/2014/main" id="{A469833C-A9D5-E161-B61F-9A56D3250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" y="1061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3" name="Oval 34">
              <a:extLst>
                <a:ext uri="{FF2B5EF4-FFF2-40B4-BE49-F238E27FC236}">
                  <a16:creationId xmlns:a16="http://schemas.microsoft.com/office/drawing/2014/main" id="{8AED428D-5707-979E-2A76-1CC162C97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8" y="10039"/>
              <a:ext cx="222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4" name="Oval 33">
              <a:extLst>
                <a:ext uri="{FF2B5EF4-FFF2-40B4-BE49-F238E27FC236}">
                  <a16:creationId xmlns:a16="http://schemas.microsoft.com/office/drawing/2014/main" id="{2B080959-77CF-7BEA-6EF7-863AB96C3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7" y="10039"/>
              <a:ext cx="221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5" name="Oval 32">
              <a:extLst>
                <a:ext uri="{FF2B5EF4-FFF2-40B4-BE49-F238E27FC236}">
                  <a16:creationId xmlns:a16="http://schemas.microsoft.com/office/drawing/2014/main" id="{5BD62261-90C3-9E69-32BC-B11FFF1C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6" y="10071"/>
              <a:ext cx="223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6" name="Oval 31">
              <a:extLst>
                <a:ext uri="{FF2B5EF4-FFF2-40B4-BE49-F238E27FC236}">
                  <a16:creationId xmlns:a16="http://schemas.microsoft.com/office/drawing/2014/main" id="{0CBFB9C5-7CB4-A54C-33BE-329A36440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9" y="1003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7" name="Oval 30">
              <a:extLst>
                <a:ext uri="{FF2B5EF4-FFF2-40B4-BE49-F238E27FC236}">
                  <a16:creationId xmlns:a16="http://schemas.microsoft.com/office/drawing/2014/main" id="{659B59FD-507C-652E-2757-8B00E4324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3" y="8467"/>
              <a:ext cx="222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8" name="Oval 29">
              <a:extLst>
                <a:ext uri="{FF2B5EF4-FFF2-40B4-BE49-F238E27FC236}">
                  <a16:creationId xmlns:a16="http://schemas.microsoft.com/office/drawing/2014/main" id="{B5184D44-EFCB-975F-4C37-1FD5C9F53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9351"/>
              <a:ext cx="224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9479" name="AutoShape 28">
              <a:extLst>
                <a:ext uri="{FF2B5EF4-FFF2-40B4-BE49-F238E27FC236}">
                  <a16:creationId xmlns:a16="http://schemas.microsoft.com/office/drawing/2014/main" id="{02B93998-C164-333E-D0EB-1E32C27C65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7" y="9796"/>
              <a:ext cx="261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0" name="AutoShape 27">
              <a:extLst>
                <a:ext uri="{FF2B5EF4-FFF2-40B4-BE49-F238E27FC236}">
                  <a16:creationId xmlns:a16="http://schemas.microsoft.com/office/drawing/2014/main" id="{90EBEB33-3A05-9CC6-6F17-07BA0CABC3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56" y="9763"/>
              <a:ext cx="225" cy="3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1" name="AutoShape 26">
              <a:extLst>
                <a:ext uri="{FF2B5EF4-FFF2-40B4-BE49-F238E27FC236}">
                  <a16:creationId xmlns:a16="http://schemas.microsoft.com/office/drawing/2014/main" id="{C132A069-9D91-A29A-3065-BAB4F8252D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59" y="9763"/>
              <a:ext cx="305" cy="2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2" name="AutoShape 25">
              <a:extLst>
                <a:ext uri="{FF2B5EF4-FFF2-40B4-BE49-F238E27FC236}">
                  <a16:creationId xmlns:a16="http://schemas.microsoft.com/office/drawing/2014/main" id="{C388C55E-F050-F8B6-2069-E712FD4D1F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20" y="9763"/>
              <a:ext cx="208" cy="2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3" name="AutoShape 24">
              <a:extLst>
                <a:ext uri="{FF2B5EF4-FFF2-40B4-BE49-F238E27FC236}">
                  <a16:creationId xmlns:a16="http://schemas.microsoft.com/office/drawing/2014/main" id="{460DB0E7-9281-7FE1-54B9-B28B2CA263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7" y="10256"/>
              <a:ext cx="213" cy="3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4" name="AutoShape 23">
              <a:extLst>
                <a:ext uri="{FF2B5EF4-FFF2-40B4-BE49-F238E27FC236}">
                  <a16:creationId xmlns:a16="http://schemas.microsoft.com/office/drawing/2014/main" id="{FDEB1400-18EA-50C3-ACC1-DDD3B4BEC5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08" y="10260"/>
              <a:ext cx="351" cy="3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5" name="AutoShape 22">
              <a:extLst>
                <a:ext uri="{FF2B5EF4-FFF2-40B4-BE49-F238E27FC236}">
                  <a16:creationId xmlns:a16="http://schemas.microsoft.com/office/drawing/2014/main" id="{CD4256B0-18FF-D09D-A556-22C31F9750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37" y="10228"/>
              <a:ext cx="336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6" name="AutoShape 21">
              <a:extLst>
                <a:ext uri="{FF2B5EF4-FFF2-40B4-BE49-F238E27FC236}">
                  <a16:creationId xmlns:a16="http://schemas.microsoft.com/office/drawing/2014/main" id="{EF9877B9-0F80-2E72-BF3D-B366E46BAA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673" y="10260"/>
              <a:ext cx="255" cy="3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7" name="AutoShape 20">
              <a:extLst>
                <a:ext uri="{FF2B5EF4-FFF2-40B4-BE49-F238E27FC236}">
                  <a16:creationId xmlns:a16="http://schemas.microsoft.com/office/drawing/2014/main" id="{088E76BD-D109-0710-A07B-0F0CE63E57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5" y="8579"/>
              <a:ext cx="1564" cy="15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8" name="AutoShape 19">
              <a:extLst>
                <a:ext uri="{FF2B5EF4-FFF2-40B4-BE49-F238E27FC236}">
                  <a16:creationId xmlns:a16="http://schemas.microsoft.com/office/drawing/2014/main" id="{C03300CB-C907-AECE-D891-5708EFA004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88" y="8657"/>
              <a:ext cx="1608" cy="14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9" name="AutoShape 18">
              <a:extLst>
                <a:ext uri="{FF2B5EF4-FFF2-40B4-BE49-F238E27FC236}">
                  <a16:creationId xmlns:a16="http://schemas.microsoft.com/office/drawing/2014/main" id="{3362DAEE-EE9C-07E7-1AA3-06056FD569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10" y="10259"/>
              <a:ext cx="1680" cy="13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0" name="AutoShape 17">
              <a:extLst>
                <a:ext uri="{FF2B5EF4-FFF2-40B4-BE49-F238E27FC236}">
                  <a16:creationId xmlns:a16="http://schemas.microsoft.com/office/drawing/2014/main" id="{F51F764C-2AB7-0A79-7336-23144FF5DF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12" y="10293"/>
              <a:ext cx="1616" cy="1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1" name="AutoShape 16">
              <a:extLst>
                <a:ext uri="{FF2B5EF4-FFF2-40B4-BE49-F238E27FC236}">
                  <a16:creationId xmlns:a16="http://schemas.microsoft.com/office/drawing/2014/main" id="{7855E091-D8D2-2008-AC5B-F4139B7035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78" y="8690"/>
              <a:ext cx="396" cy="8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2" name="AutoShape 15">
              <a:extLst>
                <a:ext uri="{FF2B5EF4-FFF2-40B4-BE49-F238E27FC236}">
                  <a16:creationId xmlns:a16="http://schemas.microsoft.com/office/drawing/2014/main" id="{182358FE-4636-B9E6-83E2-E5338EE306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52" y="8657"/>
              <a:ext cx="290" cy="9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3" name="AutoShape 14">
              <a:extLst>
                <a:ext uri="{FF2B5EF4-FFF2-40B4-BE49-F238E27FC236}">
                  <a16:creationId xmlns:a16="http://schemas.microsoft.com/office/drawing/2014/main" id="{5A381542-E707-D030-D8A9-76DB753D02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21" y="10146"/>
              <a:ext cx="885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4" name="AutoShape 13">
              <a:extLst>
                <a:ext uri="{FF2B5EF4-FFF2-40B4-BE49-F238E27FC236}">
                  <a16:creationId xmlns:a16="http://schemas.microsoft.com/office/drawing/2014/main" id="{6453C9C6-0EF5-BE2C-44A0-9499EB3127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38" y="10150"/>
              <a:ext cx="878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5" name="AutoShape 12">
              <a:extLst>
                <a:ext uri="{FF2B5EF4-FFF2-40B4-BE49-F238E27FC236}">
                  <a16:creationId xmlns:a16="http://schemas.microsoft.com/office/drawing/2014/main" id="{8F6FF1EC-AE5C-6F96-72A1-00ED592815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86" y="10808"/>
              <a:ext cx="237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6" name="AutoShape 11">
              <a:extLst>
                <a:ext uri="{FF2B5EF4-FFF2-40B4-BE49-F238E27FC236}">
                  <a16:creationId xmlns:a16="http://schemas.microsoft.com/office/drawing/2014/main" id="{065656F2-09B5-BD4A-8D17-A087A830FD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01" y="10841"/>
              <a:ext cx="372" cy="6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7" name="AutoShape 10">
              <a:extLst>
                <a:ext uri="{FF2B5EF4-FFF2-40B4-BE49-F238E27FC236}">
                  <a16:creationId xmlns:a16="http://schemas.microsoft.com/office/drawing/2014/main" id="{1A839390-03BF-49E7-9E7B-14F6B66652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41" y="9574"/>
              <a:ext cx="1" cy="15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8" name="AutoShape 9">
              <a:extLst>
                <a:ext uri="{FF2B5EF4-FFF2-40B4-BE49-F238E27FC236}">
                  <a16:creationId xmlns:a16="http://schemas.microsoft.com/office/drawing/2014/main" id="{705139C3-EA87-49F3-852A-412299788D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54" y="9463"/>
              <a:ext cx="6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9" name="AutoShape 8">
              <a:extLst>
                <a:ext uri="{FF2B5EF4-FFF2-40B4-BE49-F238E27FC236}">
                  <a16:creationId xmlns:a16="http://schemas.microsoft.com/office/drawing/2014/main" id="{EC4FFD13-3E0D-5E9E-6CAA-6C0055CB19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95" y="9464"/>
              <a:ext cx="7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0" name="AutoShape 7">
              <a:extLst>
                <a:ext uri="{FF2B5EF4-FFF2-40B4-BE49-F238E27FC236}">
                  <a16:creationId xmlns:a16="http://schemas.microsoft.com/office/drawing/2014/main" id="{9840425E-B583-E3CA-10C2-D6939DB1FC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2" y="9574"/>
              <a:ext cx="1" cy="15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1" name="AutoShape 6">
              <a:extLst>
                <a:ext uri="{FF2B5EF4-FFF2-40B4-BE49-F238E27FC236}">
                  <a16:creationId xmlns:a16="http://schemas.microsoft.com/office/drawing/2014/main" id="{8CBE8FA7-95B9-E68C-1D50-2D26FB305F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51" y="11244"/>
              <a:ext cx="16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2" name="Oval 5">
              <a:extLst>
                <a:ext uri="{FF2B5EF4-FFF2-40B4-BE49-F238E27FC236}">
                  <a16:creationId xmlns:a16="http://schemas.microsoft.com/office/drawing/2014/main" id="{5D2575D2-0E92-E5A2-5027-0F393B32E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1025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9503" name="AutoShape 4">
              <a:extLst>
                <a:ext uri="{FF2B5EF4-FFF2-40B4-BE49-F238E27FC236}">
                  <a16:creationId xmlns:a16="http://schemas.microsoft.com/office/drawing/2014/main" id="{04862E8B-4680-6CC2-05B4-07BBB71CAC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5" y="9574"/>
              <a:ext cx="1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4" name="AutoShape 3">
              <a:extLst>
                <a:ext uri="{FF2B5EF4-FFF2-40B4-BE49-F238E27FC236}">
                  <a16:creationId xmlns:a16="http://schemas.microsoft.com/office/drawing/2014/main" id="{ED574D80-4726-7D9B-3E2E-C4E4E67D91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19" y="10445"/>
              <a:ext cx="688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5" name="AutoShape 2">
              <a:extLst>
                <a:ext uri="{FF2B5EF4-FFF2-40B4-BE49-F238E27FC236}">
                  <a16:creationId xmlns:a16="http://schemas.microsoft.com/office/drawing/2014/main" id="{8DB31E40-9BE2-998A-5CAD-8C991598F7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4" y="10445"/>
              <a:ext cx="839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F9D43081-B8B2-1F5F-3DC3-FC3B2797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7.2.4 </a:t>
            </a:r>
            <a:r>
              <a:rPr lang="zh-CN" altLang="en-US" sz="5400" b="1">
                <a:solidFill>
                  <a:srgbClr val="333399"/>
                </a:solidFill>
              </a:rPr>
              <a:t>二分图</a:t>
            </a:r>
            <a:endParaRPr lang="zh-CN" altLang="en-US"/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94F7DC9C-1DF6-7C27-2CB3-737ADAED0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zh-CN">
                <a:solidFill>
                  <a:srgbClr val="FF0000"/>
                </a:solidFill>
              </a:rPr>
              <a:t>维立方体</a:t>
            </a:r>
            <a:r>
              <a:rPr lang="en-US" altLang="zh-CN">
                <a:solidFill>
                  <a:srgbClr val="FF0000"/>
                </a:solidFill>
              </a:rPr>
              <a:t>Q</a:t>
            </a:r>
            <a:r>
              <a:rPr lang="en-US" altLang="zh-CN" baseline="-25000">
                <a:solidFill>
                  <a:srgbClr val="FF0000"/>
                </a:solidFill>
              </a:rPr>
              <a:t>n</a:t>
            </a:r>
            <a:r>
              <a:rPr lang="zh-CN" altLang="zh-CN"/>
              <a:t>是二分图</a:t>
            </a:r>
            <a:endParaRPr lang="zh-CN" altLang="en-US"/>
          </a:p>
        </p:txBody>
      </p:sp>
      <p:sp>
        <p:nvSpPr>
          <p:cNvPr id="20484" name="Rectangle 67">
            <a:extLst>
              <a:ext uri="{FF2B5EF4-FFF2-40B4-BE49-F238E27FC236}">
                <a16:creationId xmlns:a16="http://schemas.microsoft.com/office/drawing/2014/main" id="{84D6A22D-1330-BCCD-467A-F0C577EA9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485" name="Group 1">
            <a:extLst>
              <a:ext uri="{FF2B5EF4-FFF2-40B4-BE49-F238E27FC236}">
                <a16:creationId xmlns:a16="http://schemas.microsoft.com/office/drawing/2014/main" id="{4109B1B1-6534-144B-D331-8A871A50C9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0113" y="2852738"/>
            <a:ext cx="8001000" cy="3717925"/>
            <a:chOff x="2388" y="1289"/>
            <a:chExt cx="7501" cy="3485"/>
          </a:xfrm>
        </p:grpSpPr>
        <p:sp>
          <p:nvSpPr>
            <p:cNvPr id="20486" name="AutoShape 66">
              <a:extLst>
                <a:ext uri="{FF2B5EF4-FFF2-40B4-BE49-F238E27FC236}">
                  <a16:creationId xmlns:a16="http://schemas.microsoft.com/office/drawing/2014/main" id="{E183E921-BC7E-FC71-251D-B3C38B1418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8" y="1289"/>
              <a:ext cx="7466" cy="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87" name="Text Box 65">
              <a:extLst>
                <a:ext uri="{FF2B5EF4-FFF2-40B4-BE49-F238E27FC236}">
                  <a16:creationId xmlns:a16="http://schemas.microsoft.com/office/drawing/2014/main" id="{7808FA82-EEE3-31E5-AAE1-90CBBEFB7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9" y="234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1101</a:t>
              </a:r>
              <a:endParaRPr lang="en-US" altLang="zh-CN" sz="2800"/>
            </a:p>
          </p:txBody>
        </p:sp>
        <p:sp>
          <p:nvSpPr>
            <p:cNvPr id="20488" name="Text Box 64">
              <a:extLst>
                <a:ext uri="{FF2B5EF4-FFF2-40B4-BE49-F238E27FC236}">
                  <a16:creationId xmlns:a16="http://schemas.microsoft.com/office/drawing/2014/main" id="{710916C0-6F93-5217-041A-8E5FC1D60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1" y="3829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sz="2800"/>
            </a:p>
          </p:txBody>
        </p:sp>
        <p:sp>
          <p:nvSpPr>
            <p:cNvPr id="20489" name="Text Box 63">
              <a:extLst>
                <a:ext uri="{FF2B5EF4-FFF2-40B4-BE49-F238E27FC236}">
                  <a16:creationId xmlns:a16="http://schemas.microsoft.com/office/drawing/2014/main" id="{E9E3F200-BB46-634F-EAD4-E97AA6900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9" y="3885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sz="2800"/>
            </a:p>
          </p:txBody>
        </p:sp>
        <p:sp>
          <p:nvSpPr>
            <p:cNvPr id="20490" name="Text Box 62">
              <a:extLst>
                <a:ext uri="{FF2B5EF4-FFF2-40B4-BE49-F238E27FC236}">
                  <a16:creationId xmlns:a16="http://schemas.microsoft.com/office/drawing/2014/main" id="{B8AC5D13-1F8C-8DEC-DB9B-239C1DD5A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4" y="3147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sz="2800"/>
            </a:p>
          </p:txBody>
        </p:sp>
        <p:sp>
          <p:nvSpPr>
            <p:cNvPr id="20491" name="Text Box 61">
              <a:extLst>
                <a:ext uri="{FF2B5EF4-FFF2-40B4-BE49-F238E27FC236}">
                  <a16:creationId xmlns:a16="http://schemas.microsoft.com/office/drawing/2014/main" id="{B3E2EE9D-3BB2-094F-6502-0A6EA4193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1" y="342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1011</a:t>
              </a:r>
              <a:endParaRPr lang="en-US" altLang="zh-CN" sz="2800"/>
            </a:p>
          </p:txBody>
        </p:sp>
        <p:sp>
          <p:nvSpPr>
            <p:cNvPr id="20492" name="Text Box 60">
              <a:extLst>
                <a:ext uri="{FF2B5EF4-FFF2-40B4-BE49-F238E27FC236}">
                  <a16:creationId xmlns:a16="http://schemas.microsoft.com/office/drawing/2014/main" id="{B2E2753E-FC88-D06F-58C0-0C18C7694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7" y="2247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1100</a:t>
              </a:r>
              <a:endParaRPr lang="en-US" altLang="zh-CN" sz="2800" dirty="0"/>
            </a:p>
          </p:txBody>
        </p:sp>
        <p:sp>
          <p:nvSpPr>
            <p:cNvPr id="20493" name="Text Box 59">
              <a:extLst>
                <a:ext uri="{FF2B5EF4-FFF2-40B4-BE49-F238E27FC236}">
                  <a16:creationId xmlns:a16="http://schemas.microsoft.com/office/drawing/2014/main" id="{396FA4FA-154F-1ABA-209B-01E00FAFA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4" y="1491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1111</a:t>
              </a:r>
              <a:endParaRPr lang="en-US" altLang="zh-CN" sz="2800"/>
            </a:p>
          </p:txBody>
        </p:sp>
        <p:sp>
          <p:nvSpPr>
            <p:cNvPr id="20494" name="Text Box 58">
              <a:extLst>
                <a:ext uri="{FF2B5EF4-FFF2-40B4-BE49-F238E27FC236}">
                  <a16:creationId xmlns:a16="http://schemas.microsoft.com/office/drawing/2014/main" id="{69A56C57-C92C-183C-1A9C-6BC8A1121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9" y="142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1110</a:t>
              </a:r>
              <a:endParaRPr lang="en-US" altLang="zh-CN" sz="2800"/>
            </a:p>
          </p:txBody>
        </p:sp>
        <p:sp>
          <p:nvSpPr>
            <p:cNvPr id="20495" name="Text Box 57">
              <a:extLst>
                <a:ext uri="{FF2B5EF4-FFF2-40B4-BE49-F238E27FC236}">
                  <a16:creationId xmlns:a16="http://schemas.microsoft.com/office/drawing/2014/main" id="{3D689DD7-E6CD-CC4D-50BF-AEA257B1C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3854"/>
              <a:ext cx="1106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sz="2800"/>
            </a:p>
          </p:txBody>
        </p:sp>
        <p:sp>
          <p:nvSpPr>
            <p:cNvPr id="20496" name="Text Box 56">
              <a:extLst>
                <a:ext uri="{FF2B5EF4-FFF2-40B4-BE49-F238E27FC236}">
                  <a16:creationId xmlns:a16="http://schemas.microsoft.com/office/drawing/2014/main" id="{F4F5D490-50D1-8E16-06CF-B263FCB67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3963"/>
              <a:ext cx="980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sz="2800"/>
            </a:p>
          </p:txBody>
        </p:sp>
        <p:sp>
          <p:nvSpPr>
            <p:cNvPr id="20497" name="Text Box 55">
              <a:extLst>
                <a:ext uri="{FF2B5EF4-FFF2-40B4-BE49-F238E27FC236}">
                  <a16:creationId xmlns:a16="http://schemas.microsoft.com/office/drawing/2014/main" id="{45017C65-676D-B10D-3F26-2F89B7456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246"/>
              <a:ext cx="982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sz="2800"/>
            </a:p>
          </p:txBody>
        </p:sp>
        <p:sp>
          <p:nvSpPr>
            <p:cNvPr id="20498" name="Text Box 54">
              <a:extLst>
                <a:ext uri="{FF2B5EF4-FFF2-40B4-BE49-F238E27FC236}">
                  <a16:creationId xmlns:a16="http://schemas.microsoft.com/office/drawing/2014/main" id="{6FBB5DB8-5145-34B6-0BA9-BF89F68BB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" y="1534"/>
              <a:ext cx="1020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sz="2800"/>
            </a:p>
          </p:txBody>
        </p:sp>
        <p:sp>
          <p:nvSpPr>
            <p:cNvPr id="20499" name="Text Box 53">
              <a:extLst>
                <a:ext uri="{FF2B5EF4-FFF2-40B4-BE49-F238E27FC236}">
                  <a16:creationId xmlns:a16="http://schemas.microsoft.com/office/drawing/2014/main" id="{28307F7D-7CB8-227E-DE76-6F192308A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" y="1424"/>
              <a:ext cx="857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sz="2800"/>
            </a:p>
          </p:txBody>
        </p:sp>
        <p:sp>
          <p:nvSpPr>
            <p:cNvPr id="20500" name="Text Box 52">
              <a:extLst>
                <a:ext uri="{FF2B5EF4-FFF2-40B4-BE49-F238E27FC236}">
                  <a16:creationId xmlns:a16="http://schemas.microsoft.com/office/drawing/2014/main" id="{2D40189A-6B7F-8EF9-F041-A9DB91C89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3381"/>
              <a:ext cx="972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sz="2800"/>
            </a:p>
          </p:txBody>
        </p:sp>
        <p:sp>
          <p:nvSpPr>
            <p:cNvPr id="20501" name="Text Box 51">
              <a:extLst>
                <a:ext uri="{FF2B5EF4-FFF2-40B4-BE49-F238E27FC236}">
                  <a16:creationId xmlns:a16="http://schemas.microsoft.com/office/drawing/2014/main" id="{22A16E1C-FCA2-7855-4049-624C64B48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" y="2411"/>
              <a:ext cx="1028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sz="2800"/>
            </a:p>
          </p:txBody>
        </p:sp>
        <p:sp>
          <p:nvSpPr>
            <p:cNvPr id="20502" name="Text Box 50">
              <a:extLst>
                <a:ext uri="{FF2B5EF4-FFF2-40B4-BE49-F238E27FC236}">
                  <a16:creationId xmlns:a16="http://schemas.microsoft.com/office/drawing/2014/main" id="{6434C43F-AC55-C5C5-CE15-15CD842DC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166"/>
              <a:ext cx="1041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2800"/>
            </a:p>
          </p:txBody>
        </p:sp>
        <p:sp>
          <p:nvSpPr>
            <p:cNvPr id="20503" name="Oval 49">
              <a:extLst>
                <a:ext uri="{FF2B5EF4-FFF2-40B4-BE49-F238E27FC236}">
                  <a16:creationId xmlns:a16="http://schemas.microsoft.com/office/drawing/2014/main" id="{75F6675E-3E20-84D9-5C03-49DF36EE9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4" name="Oval 48">
              <a:extLst>
                <a:ext uri="{FF2B5EF4-FFF2-40B4-BE49-F238E27FC236}">
                  <a16:creationId xmlns:a16="http://schemas.microsoft.com/office/drawing/2014/main" id="{204C12BE-C909-B90C-8B7A-D887360D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5" name="Oval 47">
              <a:extLst>
                <a:ext uri="{FF2B5EF4-FFF2-40B4-BE49-F238E27FC236}">
                  <a16:creationId xmlns:a16="http://schemas.microsoft.com/office/drawing/2014/main" id="{68D4C195-7D0C-FFC0-8DD0-F925E7303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344"/>
              <a:ext cx="170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6" name="Oval 46">
              <a:extLst>
                <a:ext uri="{FF2B5EF4-FFF2-40B4-BE49-F238E27FC236}">
                  <a16:creationId xmlns:a16="http://schemas.microsoft.com/office/drawing/2014/main" id="{42D39721-7850-4847-97DB-67189EB18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7" name="Oval 45">
              <a:extLst>
                <a:ext uri="{FF2B5EF4-FFF2-40B4-BE49-F238E27FC236}">
                  <a16:creationId xmlns:a16="http://schemas.microsoft.com/office/drawing/2014/main" id="{26175185-3EF6-BB83-39A3-3B144B1CE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3335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8" name="Oval 44">
              <a:extLst>
                <a:ext uri="{FF2B5EF4-FFF2-40B4-BE49-F238E27FC236}">
                  <a16:creationId xmlns:a16="http://schemas.microsoft.com/office/drawing/2014/main" id="{1C84440B-2D4F-0B04-87EC-72CBA0C02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9" name="Oval 43">
              <a:extLst>
                <a:ext uri="{FF2B5EF4-FFF2-40B4-BE49-F238E27FC236}">
                  <a16:creationId xmlns:a16="http://schemas.microsoft.com/office/drawing/2014/main" id="{1156F5E1-0EB5-96DF-7BB5-2AB417476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0" name="Oval 42">
              <a:extLst>
                <a:ext uri="{FF2B5EF4-FFF2-40B4-BE49-F238E27FC236}">
                  <a16:creationId xmlns:a16="http://schemas.microsoft.com/office/drawing/2014/main" id="{EFD59C0E-97D1-4865-AF00-A9665BE6D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" y="3272"/>
              <a:ext cx="169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0511" name="AutoShape 41">
              <a:extLst>
                <a:ext uri="{FF2B5EF4-FFF2-40B4-BE49-F238E27FC236}">
                  <a16:creationId xmlns:a16="http://schemas.microsoft.com/office/drawing/2014/main" id="{1B731633-5A83-42C4-42A6-B81B98402E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05" y="1687"/>
              <a:ext cx="9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2" name="AutoShape 40">
              <a:extLst>
                <a:ext uri="{FF2B5EF4-FFF2-40B4-BE49-F238E27FC236}">
                  <a16:creationId xmlns:a16="http://schemas.microsoft.com/office/drawing/2014/main" id="{22A84675-30BB-9813-7F41-EDF5075266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95" y="1746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3" name="AutoShape 39">
              <a:extLst>
                <a:ext uri="{FF2B5EF4-FFF2-40B4-BE49-F238E27FC236}">
                  <a16:creationId xmlns:a16="http://schemas.microsoft.com/office/drawing/2014/main" id="{1FD722B8-D939-5C67-287F-15B509AFA8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80" y="2429"/>
              <a:ext cx="91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4" name="AutoShape 38">
              <a:extLst>
                <a:ext uri="{FF2B5EF4-FFF2-40B4-BE49-F238E27FC236}">
                  <a16:creationId xmlns:a16="http://schemas.microsoft.com/office/drawing/2014/main" id="{DB1C2B3D-5AE9-9E4E-A28D-0E5AAA67CA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34" y="1771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37">
              <a:extLst>
                <a:ext uri="{FF2B5EF4-FFF2-40B4-BE49-F238E27FC236}">
                  <a16:creationId xmlns:a16="http://schemas.microsoft.com/office/drawing/2014/main" id="{C04AA3AC-F8CD-59FB-7E09-C4B8D18CE2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21" y="1771"/>
              <a:ext cx="1" cy="1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36">
              <a:extLst>
                <a:ext uri="{FF2B5EF4-FFF2-40B4-BE49-F238E27FC236}">
                  <a16:creationId xmlns:a16="http://schemas.microsoft.com/office/drawing/2014/main" id="{B5C96F6A-610D-F783-712C-C00508410B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72" y="1771"/>
              <a:ext cx="3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35">
              <a:extLst>
                <a:ext uri="{FF2B5EF4-FFF2-40B4-BE49-F238E27FC236}">
                  <a16:creationId xmlns:a16="http://schemas.microsoft.com/office/drawing/2014/main" id="{7F723880-D8C5-5FA5-5791-4841B35542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95" y="2513"/>
              <a:ext cx="53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8" name="AutoShape 34">
              <a:extLst>
                <a:ext uri="{FF2B5EF4-FFF2-40B4-BE49-F238E27FC236}">
                  <a16:creationId xmlns:a16="http://schemas.microsoft.com/office/drawing/2014/main" id="{DB0BBE87-411B-7A57-0194-4D64705406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5" y="2513"/>
              <a:ext cx="62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9" name="AutoShape 33">
              <a:extLst>
                <a:ext uri="{FF2B5EF4-FFF2-40B4-BE49-F238E27FC236}">
                  <a16:creationId xmlns:a16="http://schemas.microsoft.com/office/drawing/2014/main" id="{BEDF2FAE-8D0A-9C9F-327F-2C20D16897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05" y="3415"/>
              <a:ext cx="1067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0" name="AutoShape 32">
              <a:extLst>
                <a:ext uri="{FF2B5EF4-FFF2-40B4-BE49-F238E27FC236}">
                  <a16:creationId xmlns:a16="http://schemas.microsoft.com/office/drawing/2014/main" id="{268668F2-6F6B-D976-858F-658AA8CD58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55" y="3440"/>
              <a:ext cx="377" cy="5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31">
              <a:extLst>
                <a:ext uri="{FF2B5EF4-FFF2-40B4-BE49-F238E27FC236}">
                  <a16:creationId xmlns:a16="http://schemas.microsoft.com/office/drawing/2014/main" id="{3C087979-4937-E959-9B31-404B9503D4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07" y="3504"/>
              <a:ext cx="314" cy="5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2" name="AutoShape 30">
              <a:extLst>
                <a:ext uri="{FF2B5EF4-FFF2-40B4-BE49-F238E27FC236}">
                  <a16:creationId xmlns:a16="http://schemas.microsoft.com/office/drawing/2014/main" id="{BBE98AA5-C7E2-B9ED-D898-293653CB2A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2" y="4067"/>
              <a:ext cx="9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23" name="Oval 29">
              <a:extLst>
                <a:ext uri="{FF2B5EF4-FFF2-40B4-BE49-F238E27FC236}">
                  <a16:creationId xmlns:a16="http://schemas.microsoft.com/office/drawing/2014/main" id="{6F69436E-2BF1-0E1E-8E5D-82E440013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" y="400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4" name="Oval 28">
              <a:extLst>
                <a:ext uri="{FF2B5EF4-FFF2-40B4-BE49-F238E27FC236}">
                  <a16:creationId xmlns:a16="http://schemas.microsoft.com/office/drawing/2014/main" id="{B4F9E89F-3BA1-4066-D4EE-CD2018B3A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8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5" name="Oval 27">
              <a:extLst>
                <a:ext uri="{FF2B5EF4-FFF2-40B4-BE49-F238E27FC236}">
                  <a16:creationId xmlns:a16="http://schemas.microsoft.com/office/drawing/2014/main" id="{D783EFA0-5D0B-ED2C-BAC1-2DA2B3C6D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6" name="Oval 26">
              <a:extLst>
                <a:ext uri="{FF2B5EF4-FFF2-40B4-BE49-F238E27FC236}">
                  <a16:creationId xmlns:a16="http://schemas.microsoft.com/office/drawing/2014/main" id="{7502E8B4-3DB6-C543-E158-BEC49BC89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7" name="Oval 25">
              <a:extLst>
                <a:ext uri="{FF2B5EF4-FFF2-40B4-BE49-F238E27FC236}">
                  <a16:creationId xmlns:a16="http://schemas.microsoft.com/office/drawing/2014/main" id="{22C9E075-8A13-229D-4B6F-F8ED76202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8" name="Oval 24">
              <a:extLst>
                <a:ext uri="{FF2B5EF4-FFF2-40B4-BE49-F238E27FC236}">
                  <a16:creationId xmlns:a16="http://schemas.microsoft.com/office/drawing/2014/main" id="{CE21226A-5295-E2E0-78CB-76FD1C8A0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8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9" name="Oval 23">
              <a:extLst>
                <a:ext uri="{FF2B5EF4-FFF2-40B4-BE49-F238E27FC236}">
                  <a16:creationId xmlns:a16="http://schemas.microsoft.com/office/drawing/2014/main" id="{DAB27F4C-134D-D1F6-C47F-180732C54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" y="157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30" name="Oval 22">
              <a:extLst>
                <a:ext uri="{FF2B5EF4-FFF2-40B4-BE49-F238E27FC236}">
                  <a16:creationId xmlns:a16="http://schemas.microsoft.com/office/drawing/2014/main" id="{304BE6E4-8815-15CF-5B0E-3532D76D9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" y="160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0531" name="AutoShape 21">
              <a:extLst>
                <a:ext uri="{FF2B5EF4-FFF2-40B4-BE49-F238E27FC236}">
                  <a16:creationId xmlns:a16="http://schemas.microsoft.com/office/drawing/2014/main" id="{5CB91F93-733F-F059-F0C5-39F675D97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48" y="1687"/>
              <a:ext cx="98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2" name="AutoShape 20">
              <a:extLst>
                <a:ext uri="{FF2B5EF4-FFF2-40B4-BE49-F238E27FC236}">
                  <a16:creationId xmlns:a16="http://schemas.microsoft.com/office/drawing/2014/main" id="{AECEFB49-BA39-7CA7-2CD5-952BB463DD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72" y="1746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3" name="AutoShape 19">
              <a:extLst>
                <a:ext uri="{FF2B5EF4-FFF2-40B4-BE49-F238E27FC236}">
                  <a16:creationId xmlns:a16="http://schemas.microsoft.com/office/drawing/2014/main" id="{B383DD92-C80E-1E0E-AED9-5D1FDF8802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75" y="1771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4" name="AutoShape 18">
              <a:extLst>
                <a:ext uri="{FF2B5EF4-FFF2-40B4-BE49-F238E27FC236}">
                  <a16:creationId xmlns:a16="http://schemas.microsoft.com/office/drawing/2014/main" id="{4EAB7F31-FF31-82B0-E8B1-084E7DBC4E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26" y="1771"/>
              <a:ext cx="60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5" name="AutoShape 17">
              <a:extLst>
                <a:ext uri="{FF2B5EF4-FFF2-40B4-BE49-F238E27FC236}">
                  <a16:creationId xmlns:a16="http://schemas.microsoft.com/office/drawing/2014/main" id="{7A549C75-2B14-9B1B-8B1C-3C8ACEF992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723" y="1746"/>
              <a:ext cx="103" cy="15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6" name="AutoShape 16">
              <a:extLst>
                <a:ext uri="{FF2B5EF4-FFF2-40B4-BE49-F238E27FC236}">
                  <a16:creationId xmlns:a16="http://schemas.microsoft.com/office/drawing/2014/main" id="{BD95BA6C-E1A1-DED3-573B-AFA4B2CEB8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31" y="2458"/>
              <a:ext cx="98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7" name="AutoShape 15">
              <a:extLst>
                <a:ext uri="{FF2B5EF4-FFF2-40B4-BE49-F238E27FC236}">
                  <a16:creationId xmlns:a16="http://schemas.microsoft.com/office/drawing/2014/main" id="{55BF10C7-613D-2BB0-BFC7-F446114085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02" y="2513"/>
              <a:ext cx="70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8" name="AutoShape 14">
              <a:extLst>
                <a:ext uri="{FF2B5EF4-FFF2-40B4-BE49-F238E27FC236}">
                  <a16:creationId xmlns:a16="http://schemas.microsoft.com/office/drawing/2014/main" id="{B73C6A17-D2B5-F3C9-EF4D-8ABF301D62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25" y="2513"/>
              <a:ext cx="51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9" name="AutoShape 13">
              <a:extLst>
                <a:ext uri="{FF2B5EF4-FFF2-40B4-BE49-F238E27FC236}">
                  <a16:creationId xmlns:a16="http://schemas.microsoft.com/office/drawing/2014/main" id="{C401A5AE-93D7-77D0-8771-DFDD2A86C0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10" y="3382"/>
              <a:ext cx="92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0" name="AutoShape 12">
              <a:extLst>
                <a:ext uri="{FF2B5EF4-FFF2-40B4-BE49-F238E27FC236}">
                  <a16:creationId xmlns:a16="http://schemas.microsoft.com/office/drawing/2014/main" id="{C88AE107-5291-E1B2-FA19-E5BAAA0851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84" y="3466"/>
              <a:ext cx="339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1" name="AutoShape 11">
              <a:extLst>
                <a:ext uri="{FF2B5EF4-FFF2-40B4-BE49-F238E27FC236}">
                  <a16:creationId xmlns:a16="http://schemas.microsoft.com/office/drawing/2014/main" id="{DE55561B-F7F4-C554-AFBC-C185BD38D2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61" y="3441"/>
              <a:ext cx="306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2" name="AutoShape 10">
              <a:extLst>
                <a:ext uri="{FF2B5EF4-FFF2-40B4-BE49-F238E27FC236}">
                  <a16:creationId xmlns:a16="http://schemas.microsoft.com/office/drawing/2014/main" id="{C0FB7B6B-FA5B-9D05-29D5-A4ECBA220B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86" y="4067"/>
              <a:ext cx="955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43" name="Freeform 9">
              <a:extLst>
                <a:ext uri="{FF2B5EF4-FFF2-40B4-BE49-F238E27FC236}">
                  <a16:creationId xmlns:a16="http://schemas.microsoft.com/office/drawing/2014/main" id="{095F599C-B3C2-791C-DAF0-7BC1140B4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1440"/>
              <a:ext cx="2655" cy="180"/>
            </a:xfrm>
            <a:custGeom>
              <a:avLst/>
              <a:gdLst>
                <a:gd name="T0" fmla="*/ 0 w 2655"/>
                <a:gd name="T1" fmla="*/ 180 h 180"/>
                <a:gd name="T2" fmla="*/ 300 w 2655"/>
                <a:gd name="T3" fmla="*/ 105 h 180"/>
                <a:gd name="T4" fmla="*/ 525 w 2655"/>
                <a:gd name="T5" fmla="*/ 75 h 180"/>
                <a:gd name="T6" fmla="*/ 675 w 2655"/>
                <a:gd name="T7" fmla="*/ 30 h 180"/>
                <a:gd name="T8" fmla="*/ 855 w 2655"/>
                <a:gd name="T9" fmla="*/ 0 h 180"/>
                <a:gd name="T10" fmla="*/ 2355 w 2655"/>
                <a:gd name="T11" fmla="*/ 60 h 180"/>
                <a:gd name="T12" fmla="*/ 2535 w 2655"/>
                <a:gd name="T13" fmla="*/ 105 h 180"/>
                <a:gd name="T14" fmla="*/ 2580 w 2655"/>
                <a:gd name="T15" fmla="*/ 120 h 180"/>
                <a:gd name="T16" fmla="*/ 2625 w 2655"/>
                <a:gd name="T17" fmla="*/ 135 h 180"/>
                <a:gd name="T18" fmla="*/ 2655 w 2655"/>
                <a:gd name="T19" fmla="*/ 18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55" h="180">
                  <a:moveTo>
                    <a:pt x="0" y="180"/>
                  </a:moveTo>
                  <a:cubicBezTo>
                    <a:pt x="105" y="165"/>
                    <a:pt x="197" y="126"/>
                    <a:pt x="300" y="105"/>
                  </a:cubicBezTo>
                  <a:cubicBezTo>
                    <a:pt x="367" y="92"/>
                    <a:pt x="459" y="86"/>
                    <a:pt x="525" y="75"/>
                  </a:cubicBezTo>
                  <a:cubicBezTo>
                    <a:pt x="576" y="66"/>
                    <a:pt x="623" y="37"/>
                    <a:pt x="675" y="30"/>
                  </a:cubicBezTo>
                  <a:cubicBezTo>
                    <a:pt x="805" y="11"/>
                    <a:pt x="745" y="22"/>
                    <a:pt x="855" y="0"/>
                  </a:cubicBezTo>
                  <a:cubicBezTo>
                    <a:pt x="1355" y="22"/>
                    <a:pt x="1855" y="41"/>
                    <a:pt x="2355" y="60"/>
                  </a:cubicBezTo>
                  <a:cubicBezTo>
                    <a:pt x="2476" y="80"/>
                    <a:pt x="2416" y="65"/>
                    <a:pt x="2535" y="105"/>
                  </a:cubicBezTo>
                  <a:cubicBezTo>
                    <a:pt x="2550" y="110"/>
                    <a:pt x="2565" y="115"/>
                    <a:pt x="2580" y="120"/>
                  </a:cubicBezTo>
                  <a:cubicBezTo>
                    <a:pt x="2595" y="125"/>
                    <a:pt x="2625" y="135"/>
                    <a:pt x="2625" y="135"/>
                  </a:cubicBezTo>
                  <a:cubicBezTo>
                    <a:pt x="2635" y="150"/>
                    <a:pt x="2655" y="180"/>
                    <a:pt x="2655" y="1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4" name="Freeform 8">
              <a:extLst>
                <a:ext uri="{FF2B5EF4-FFF2-40B4-BE49-F238E27FC236}">
                  <a16:creationId xmlns:a16="http://schemas.microsoft.com/office/drawing/2014/main" id="{5B85A397-5ECD-162C-74EF-8EA4A769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305"/>
              <a:ext cx="4890" cy="330"/>
            </a:xfrm>
            <a:custGeom>
              <a:avLst/>
              <a:gdLst>
                <a:gd name="T0" fmla="*/ 0 w 4890"/>
                <a:gd name="T1" fmla="*/ 330 h 330"/>
                <a:gd name="T2" fmla="*/ 90 w 4890"/>
                <a:gd name="T3" fmla="*/ 285 h 330"/>
                <a:gd name="T4" fmla="*/ 105 w 4890"/>
                <a:gd name="T5" fmla="*/ 240 h 330"/>
                <a:gd name="T6" fmla="*/ 195 w 4890"/>
                <a:gd name="T7" fmla="*/ 210 h 330"/>
                <a:gd name="T8" fmla="*/ 510 w 4890"/>
                <a:gd name="T9" fmla="*/ 150 h 330"/>
                <a:gd name="T10" fmla="*/ 1440 w 4890"/>
                <a:gd name="T11" fmla="*/ 45 h 330"/>
                <a:gd name="T12" fmla="*/ 1545 w 4890"/>
                <a:gd name="T13" fmla="*/ 30 h 330"/>
                <a:gd name="T14" fmla="*/ 1830 w 4890"/>
                <a:gd name="T15" fmla="*/ 0 h 330"/>
                <a:gd name="T16" fmla="*/ 3030 w 4890"/>
                <a:gd name="T17" fmla="*/ 45 h 330"/>
                <a:gd name="T18" fmla="*/ 3990 w 4890"/>
                <a:gd name="T19" fmla="*/ 75 h 330"/>
                <a:gd name="T20" fmla="*/ 4425 w 4890"/>
                <a:gd name="T21" fmla="*/ 180 h 330"/>
                <a:gd name="T22" fmla="*/ 4845 w 4890"/>
                <a:gd name="T23" fmla="*/ 270 h 330"/>
                <a:gd name="T24" fmla="*/ 4890 w 4890"/>
                <a:gd name="T25" fmla="*/ 285 h 3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90" h="330">
                  <a:moveTo>
                    <a:pt x="0" y="330"/>
                  </a:moveTo>
                  <a:cubicBezTo>
                    <a:pt x="30" y="320"/>
                    <a:pt x="69" y="311"/>
                    <a:pt x="90" y="285"/>
                  </a:cubicBezTo>
                  <a:cubicBezTo>
                    <a:pt x="100" y="273"/>
                    <a:pt x="92" y="249"/>
                    <a:pt x="105" y="240"/>
                  </a:cubicBezTo>
                  <a:cubicBezTo>
                    <a:pt x="131" y="222"/>
                    <a:pt x="165" y="220"/>
                    <a:pt x="195" y="210"/>
                  </a:cubicBezTo>
                  <a:cubicBezTo>
                    <a:pt x="302" y="174"/>
                    <a:pt x="394" y="162"/>
                    <a:pt x="510" y="150"/>
                  </a:cubicBezTo>
                  <a:cubicBezTo>
                    <a:pt x="805" y="52"/>
                    <a:pt x="1136" y="55"/>
                    <a:pt x="1440" y="45"/>
                  </a:cubicBezTo>
                  <a:cubicBezTo>
                    <a:pt x="1475" y="40"/>
                    <a:pt x="1510" y="34"/>
                    <a:pt x="1545" y="30"/>
                  </a:cubicBezTo>
                  <a:cubicBezTo>
                    <a:pt x="1640" y="19"/>
                    <a:pt x="1830" y="0"/>
                    <a:pt x="1830" y="0"/>
                  </a:cubicBezTo>
                  <a:cubicBezTo>
                    <a:pt x="2237" y="8"/>
                    <a:pt x="2629" y="5"/>
                    <a:pt x="3030" y="45"/>
                  </a:cubicBezTo>
                  <a:cubicBezTo>
                    <a:pt x="3385" y="134"/>
                    <a:pt x="3010" y="45"/>
                    <a:pt x="3990" y="75"/>
                  </a:cubicBezTo>
                  <a:cubicBezTo>
                    <a:pt x="4145" y="80"/>
                    <a:pt x="4279" y="144"/>
                    <a:pt x="4425" y="180"/>
                  </a:cubicBezTo>
                  <a:cubicBezTo>
                    <a:pt x="4564" y="215"/>
                    <a:pt x="4703" y="252"/>
                    <a:pt x="4845" y="270"/>
                  </a:cubicBezTo>
                  <a:cubicBezTo>
                    <a:pt x="4860" y="275"/>
                    <a:pt x="4890" y="285"/>
                    <a:pt x="4890" y="2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5" name="Freeform 7">
              <a:extLst>
                <a:ext uri="{FF2B5EF4-FFF2-40B4-BE49-F238E27FC236}">
                  <a16:creationId xmlns:a16="http://schemas.microsoft.com/office/drawing/2014/main" id="{7CF68F3E-851E-CE72-84A2-A83487625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278"/>
              <a:ext cx="2645" cy="137"/>
            </a:xfrm>
            <a:custGeom>
              <a:avLst/>
              <a:gdLst>
                <a:gd name="T0" fmla="*/ 2645 w 2645"/>
                <a:gd name="T1" fmla="*/ 137 h 137"/>
                <a:gd name="T2" fmla="*/ 2450 w 2645"/>
                <a:gd name="T3" fmla="*/ 62 h 137"/>
                <a:gd name="T4" fmla="*/ 2150 w 2645"/>
                <a:gd name="T5" fmla="*/ 17 h 137"/>
                <a:gd name="T6" fmla="*/ 410 w 2645"/>
                <a:gd name="T7" fmla="*/ 32 h 137"/>
                <a:gd name="T8" fmla="*/ 200 w 2645"/>
                <a:gd name="T9" fmla="*/ 62 h 137"/>
                <a:gd name="T10" fmla="*/ 95 w 2645"/>
                <a:gd name="T11" fmla="*/ 77 h 137"/>
                <a:gd name="T12" fmla="*/ 5 w 2645"/>
                <a:gd name="T13" fmla="*/ 122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45" h="137">
                  <a:moveTo>
                    <a:pt x="2645" y="137"/>
                  </a:moveTo>
                  <a:cubicBezTo>
                    <a:pt x="2526" y="57"/>
                    <a:pt x="2591" y="82"/>
                    <a:pt x="2450" y="62"/>
                  </a:cubicBezTo>
                  <a:cubicBezTo>
                    <a:pt x="2344" y="27"/>
                    <a:pt x="2271" y="26"/>
                    <a:pt x="2150" y="17"/>
                  </a:cubicBezTo>
                  <a:cubicBezTo>
                    <a:pt x="1665" y="114"/>
                    <a:pt x="908" y="41"/>
                    <a:pt x="410" y="32"/>
                  </a:cubicBezTo>
                  <a:cubicBezTo>
                    <a:pt x="315" y="0"/>
                    <a:pt x="291" y="49"/>
                    <a:pt x="200" y="62"/>
                  </a:cubicBezTo>
                  <a:cubicBezTo>
                    <a:pt x="165" y="67"/>
                    <a:pt x="130" y="72"/>
                    <a:pt x="95" y="77"/>
                  </a:cubicBezTo>
                  <a:cubicBezTo>
                    <a:pt x="0" y="109"/>
                    <a:pt x="5" y="75"/>
                    <a:pt x="5" y="12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Freeform 6">
              <a:extLst>
                <a:ext uri="{FF2B5EF4-FFF2-40B4-BE49-F238E27FC236}">
                  <a16:creationId xmlns:a16="http://schemas.microsoft.com/office/drawing/2014/main" id="{1D21E96F-7A06-C39F-CE76-DDB566489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105"/>
              <a:ext cx="4905" cy="280"/>
            </a:xfrm>
            <a:custGeom>
              <a:avLst/>
              <a:gdLst>
                <a:gd name="T0" fmla="*/ 4905 w 4905"/>
                <a:gd name="T1" fmla="*/ 280 h 280"/>
                <a:gd name="T2" fmla="*/ 4575 w 4905"/>
                <a:gd name="T3" fmla="*/ 235 h 280"/>
                <a:gd name="T4" fmla="*/ 4335 w 4905"/>
                <a:gd name="T5" fmla="*/ 160 h 280"/>
                <a:gd name="T6" fmla="*/ 3960 w 4905"/>
                <a:gd name="T7" fmla="*/ 85 h 280"/>
                <a:gd name="T8" fmla="*/ 3690 w 4905"/>
                <a:gd name="T9" fmla="*/ 25 h 280"/>
                <a:gd name="T10" fmla="*/ 3450 w 4905"/>
                <a:gd name="T11" fmla="*/ 10 h 280"/>
                <a:gd name="T12" fmla="*/ 1365 w 4905"/>
                <a:gd name="T13" fmla="*/ 55 h 280"/>
                <a:gd name="T14" fmla="*/ 900 w 4905"/>
                <a:gd name="T15" fmla="*/ 115 h 280"/>
                <a:gd name="T16" fmla="*/ 435 w 4905"/>
                <a:gd name="T17" fmla="*/ 175 h 280"/>
                <a:gd name="T18" fmla="*/ 105 w 4905"/>
                <a:gd name="T19" fmla="*/ 235 h 280"/>
                <a:gd name="T20" fmla="*/ 0 w 4905"/>
                <a:gd name="T21" fmla="*/ 280 h 2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05" h="280">
                  <a:moveTo>
                    <a:pt x="4905" y="280"/>
                  </a:moveTo>
                  <a:cubicBezTo>
                    <a:pt x="4790" y="261"/>
                    <a:pt x="4695" y="245"/>
                    <a:pt x="4575" y="235"/>
                  </a:cubicBezTo>
                  <a:cubicBezTo>
                    <a:pt x="4493" y="215"/>
                    <a:pt x="4415" y="187"/>
                    <a:pt x="4335" y="160"/>
                  </a:cubicBezTo>
                  <a:cubicBezTo>
                    <a:pt x="4213" y="119"/>
                    <a:pt x="4086" y="105"/>
                    <a:pt x="3960" y="85"/>
                  </a:cubicBezTo>
                  <a:cubicBezTo>
                    <a:pt x="3759" y="53"/>
                    <a:pt x="3832" y="72"/>
                    <a:pt x="3690" y="25"/>
                  </a:cubicBezTo>
                  <a:cubicBezTo>
                    <a:pt x="3614" y="0"/>
                    <a:pt x="3530" y="15"/>
                    <a:pt x="3450" y="10"/>
                  </a:cubicBezTo>
                  <a:cubicBezTo>
                    <a:pt x="2455" y="19"/>
                    <a:pt x="2108" y="9"/>
                    <a:pt x="1365" y="55"/>
                  </a:cubicBezTo>
                  <a:cubicBezTo>
                    <a:pt x="1214" y="93"/>
                    <a:pt x="1055" y="93"/>
                    <a:pt x="900" y="115"/>
                  </a:cubicBezTo>
                  <a:cubicBezTo>
                    <a:pt x="754" y="164"/>
                    <a:pt x="587" y="153"/>
                    <a:pt x="435" y="175"/>
                  </a:cubicBezTo>
                  <a:cubicBezTo>
                    <a:pt x="329" y="210"/>
                    <a:pt x="214" y="204"/>
                    <a:pt x="105" y="235"/>
                  </a:cubicBezTo>
                  <a:cubicBezTo>
                    <a:pt x="81" y="242"/>
                    <a:pt x="0" y="246"/>
                    <a:pt x="0" y="2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Freeform 5">
              <a:extLst>
                <a:ext uri="{FF2B5EF4-FFF2-40B4-BE49-F238E27FC236}">
                  <a16:creationId xmlns:a16="http://schemas.microsoft.com/office/drawing/2014/main" id="{9FEC89A5-B964-FBF3-2DC0-B4CBCF9BD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3225"/>
              <a:ext cx="2460" cy="165"/>
            </a:xfrm>
            <a:custGeom>
              <a:avLst/>
              <a:gdLst>
                <a:gd name="T0" fmla="*/ 2460 w 2460"/>
                <a:gd name="T1" fmla="*/ 165 h 165"/>
                <a:gd name="T2" fmla="*/ 2145 w 2460"/>
                <a:gd name="T3" fmla="*/ 60 h 165"/>
                <a:gd name="T4" fmla="*/ 1950 w 2460"/>
                <a:gd name="T5" fmla="*/ 90 h 165"/>
                <a:gd name="T6" fmla="*/ 1155 w 2460"/>
                <a:gd name="T7" fmla="*/ 60 h 165"/>
                <a:gd name="T8" fmla="*/ 840 w 2460"/>
                <a:gd name="T9" fmla="*/ 0 h 165"/>
                <a:gd name="T10" fmla="*/ 180 w 2460"/>
                <a:gd name="T11" fmla="*/ 45 h 165"/>
                <a:gd name="T12" fmla="*/ 0 w 2460"/>
                <a:gd name="T13" fmla="*/ 6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0" h="165">
                  <a:moveTo>
                    <a:pt x="2460" y="165"/>
                  </a:moveTo>
                  <a:cubicBezTo>
                    <a:pt x="2360" y="115"/>
                    <a:pt x="2251" y="95"/>
                    <a:pt x="2145" y="60"/>
                  </a:cubicBezTo>
                  <a:cubicBezTo>
                    <a:pt x="2080" y="67"/>
                    <a:pt x="2016" y="90"/>
                    <a:pt x="1950" y="90"/>
                  </a:cubicBezTo>
                  <a:cubicBezTo>
                    <a:pt x="1685" y="90"/>
                    <a:pt x="1420" y="68"/>
                    <a:pt x="1155" y="60"/>
                  </a:cubicBezTo>
                  <a:cubicBezTo>
                    <a:pt x="1049" y="39"/>
                    <a:pt x="945" y="26"/>
                    <a:pt x="840" y="0"/>
                  </a:cubicBezTo>
                  <a:cubicBezTo>
                    <a:pt x="612" y="16"/>
                    <a:pt x="414" y="36"/>
                    <a:pt x="180" y="45"/>
                  </a:cubicBezTo>
                  <a:cubicBezTo>
                    <a:pt x="60" y="65"/>
                    <a:pt x="120" y="60"/>
                    <a:pt x="0" y="6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8" name="Freeform 4">
              <a:extLst>
                <a:ext uri="{FF2B5EF4-FFF2-40B4-BE49-F238E27FC236}">
                  <a16:creationId xmlns:a16="http://schemas.microsoft.com/office/drawing/2014/main" id="{59F24ED3-5E59-C40B-CB90-D13B0AD72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030"/>
              <a:ext cx="4830" cy="345"/>
            </a:xfrm>
            <a:custGeom>
              <a:avLst/>
              <a:gdLst>
                <a:gd name="T0" fmla="*/ 4830 w 4830"/>
                <a:gd name="T1" fmla="*/ 300 h 345"/>
                <a:gd name="T2" fmla="*/ 3930 w 4830"/>
                <a:gd name="T3" fmla="*/ 105 h 345"/>
                <a:gd name="T4" fmla="*/ 2925 w 4830"/>
                <a:gd name="T5" fmla="*/ 60 h 345"/>
                <a:gd name="T6" fmla="*/ 2190 w 4830"/>
                <a:gd name="T7" fmla="*/ 60 h 345"/>
                <a:gd name="T8" fmla="*/ 1395 w 4830"/>
                <a:gd name="T9" fmla="*/ 45 h 345"/>
                <a:gd name="T10" fmla="*/ 1200 w 4830"/>
                <a:gd name="T11" fmla="*/ 60 h 345"/>
                <a:gd name="T12" fmla="*/ 885 w 4830"/>
                <a:gd name="T13" fmla="*/ 150 h 345"/>
                <a:gd name="T14" fmla="*/ 735 w 4830"/>
                <a:gd name="T15" fmla="*/ 165 h 345"/>
                <a:gd name="T16" fmla="*/ 270 w 4830"/>
                <a:gd name="T17" fmla="*/ 255 h 345"/>
                <a:gd name="T18" fmla="*/ 135 w 4830"/>
                <a:gd name="T19" fmla="*/ 300 h 345"/>
                <a:gd name="T20" fmla="*/ 0 w 4830"/>
                <a:gd name="T21" fmla="*/ 345 h 3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30" h="345">
                  <a:moveTo>
                    <a:pt x="4830" y="300"/>
                  </a:moveTo>
                  <a:cubicBezTo>
                    <a:pt x="4538" y="203"/>
                    <a:pt x="4236" y="136"/>
                    <a:pt x="3930" y="105"/>
                  </a:cubicBezTo>
                  <a:cubicBezTo>
                    <a:pt x="3726" y="37"/>
                    <a:pt x="3047" y="63"/>
                    <a:pt x="2925" y="60"/>
                  </a:cubicBezTo>
                  <a:cubicBezTo>
                    <a:pt x="2625" y="0"/>
                    <a:pt x="2953" y="60"/>
                    <a:pt x="2190" y="60"/>
                  </a:cubicBezTo>
                  <a:cubicBezTo>
                    <a:pt x="1925" y="60"/>
                    <a:pt x="1660" y="50"/>
                    <a:pt x="1395" y="45"/>
                  </a:cubicBezTo>
                  <a:cubicBezTo>
                    <a:pt x="1330" y="50"/>
                    <a:pt x="1265" y="52"/>
                    <a:pt x="1200" y="60"/>
                  </a:cubicBezTo>
                  <a:cubicBezTo>
                    <a:pt x="1096" y="73"/>
                    <a:pt x="984" y="117"/>
                    <a:pt x="885" y="150"/>
                  </a:cubicBezTo>
                  <a:cubicBezTo>
                    <a:pt x="837" y="166"/>
                    <a:pt x="785" y="160"/>
                    <a:pt x="735" y="165"/>
                  </a:cubicBezTo>
                  <a:cubicBezTo>
                    <a:pt x="576" y="218"/>
                    <a:pt x="441" y="242"/>
                    <a:pt x="270" y="255"/>
                  </a:cubicBezTo>
                  <a:cubicBezTo>
                    <a:pt x="103" y="283"/>
                    <a:pt x="240" y="247"/>
                    <a:pt x="135" y="300"/>
                  </a:cubicBezTo>
                  <a:cubicBezTo>
                    <a:pt x="92" y="321"/>
                    <a:pt x="43" y="323"/>
                    <a:pt x="0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9" name="Freeform 3">
              <a:extLst>
                <a:ext uri="{FF2B5EF4-FFF2-40B4-BE49-F238E27FC236}">
                  <a16:creationId xmlns:a16="http://schemas.microsoft.com/office/drawing/2014/main" id="{3D4506C8-751B-2397-B3A5-30852C13C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4155"/>
              <a:ext cx="2610" cy="330"/>
            </a:xfrm>
            <a:custGeom>
              <a:avLst/>
              <a:gdLst>
                <a:gd name="T0" fmla="*/ 2610 w 2610"/>
                <a:gd name="T1" fmla="*/ 0 h 330"/>
                <a:gd name="T2" fmla="*/ 2580 w 2610"/>
                <a:gd name="T3" fmla="*/ 90 h 330"/>
                <a:gd name="T4" fmla="*/ 2355 w 2610"/>
                <a:gd name="T5" fmla="*/ 240 h 330"/>
                <a:gd name="T6" fmla="*/ 1995 w 2610"/>
                <a:gd name="T7" fmla="*/ 330 h 330"/>
                <a:gd name="T8" fmla="*/ 495 w 2610"/>
                <a:gd name="T9" fmla="*/ 285 h 330"/>
                <a:gd name="T10" fmla="*/ 180 w 2610"/>
                <a:gd name="T11" fmla="*/ 225 h 330"/>
                <a:gd name="T12" fmla="*/ 135 w 2610"/>
                <a:gd name="T13" fmla="*/ 195 h 330"/>
                <a:gd name="T14" fmla="*/ 90 w 2610"/>
                <a:gd name="T15" fmla="*/ 180 h 330"/>
                <a:gd name="T16" fmla="*/ 45 w 2610"/>
                <a:gd name="T17" fmla="*/ 90 h 330"/>
                <a:gd name="T18" fmla="*/ 0 w 2610"/>
                <a:gd name="T19" fmla="*/ 15 h 3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10" h="330">
                  <a:moveTo>
                    <a:pt x="2610" y="0"/>
                  </a:moveTo>
                  <a:cubicBezTo>
                    <a:pt x="2600" y="30"/>
                    <a:pt x="2606" y="72"/>
                    <a:pt x="2580" y="90"/>
                  </a:cubicBezTo>
                  <a:cubicBezTo>
                    <a:pt x="2505" y="140"/>
                    <a:pt x="2430" y="190"/>
                    <a:pt x="2355" y="240"/>
                  </a:cubicBezTo>
                  <a:cubicBezTo>
                    <a:pt x="2276" y="293"/>
                    <a:pt x="2093" y="297"/>
                    <a:pt x="1995" y="330"/>
                  </a:cubicBezTo>
                  <a:cubicBezTo>
                    <a:pt x="1500" y="280"/>
                    <a:pt x="989" y="293"/>
                    <a:pt x="495" y="285"/>
                  </a:cubicBezTo>
                  <a:cubicBezTo>
                    <a:pt x="394" y="251"/>
                    <a:pt x="284" y="251"/>
                    <a:pt x="180" y="225"/>
                  </a:cubicBezTo>
                  <a:cubicBezTo>
                    <a:pt x="165" y="215"/>
                    <a:pt x="151" y="203"/>
                    <a:pt x="135" y="195"/>
                  </a:cubicBezTo>
                  <a:cubicBezTo>
                    <a:pt x="121" y="188"/>
                    <a:pt x="102" y="190"/>
                    <a:pt x="90" y="180"/>
                  </a:cubicBezTo>
                  <a:cubicBezTo>
                    <a:pt x="54" y="151"/>
                    <a:pt x="63" y="126"/>
                    <a:pt x="45" y="90"/>
                  </a:cubicBezTo>
                  <a:cubicBezTo>
                    <a:pt x="32" y="64"/>
                    <a:pt x="13" y="41"/>
                    <a:pt x="0" y="1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Freeform 2">
              <a:extLst>
                <a:ext uri="{FF2B5EF4-FFF2-40B4-BE49-F238E27FC236}">
                  <a16:creationId xmlns:a16="http://schemas.microsoft.com/office/drawing/2014/main" id="{7D85A0F8-DA3F-8ED4-A560-6CD175B1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4140"/>
              <a:ext cx="4935" cy="626"/>
            </a:xfrm>
            <a:custGeom>
              <a:avLst/>
              <a:gdLst>
                <a:gd name="T0" fmla="*/ 4935 w 4935"/>
                <a:gd name="T1" fmla="*/ 0 h 626"/>
                <a:gd name="T2" fmla="*/ 4905 w 4935"/>
                <a:gd name="T3" fmla="*/ 45 h 626"/>
                <a:gd name="T4" fmla="*/ 4860 w 4935"/>
                <a:gd name="T5" fmla="*/ 75 h 626"/>
                <a:gd name="T6" fmla="*/ 4800 w 4935"/>
                <a:gd name="T7" fmla="*/ 150 h 626"/>
                <a:gd name="T8" fmla="*/ 4245 w 4935"/>
                <a:gd name="T9" fmla="*/ 375 h 626"/>
                <a:gd name="T10" fmla="*/ 3960 w 4935"/>
                <a:gd name="T11" fmla="*/ 465 h 626"/>
                <a:gd name="T12" fmla="*/ 3795 w 4935"/>
                <a:gd name="T13" fmla="*/ 495 h 626"/>
                <a:gd name="T14" fmla="*/ 3540 w 4935"/>
                <a:gd name="T15" fmla="*/ 555 h 626"/>
                <a:gd name="T16" fmla="*/ 3285 w 4935"/>
                <a:gd name="T17" fmla="*/ 570 h 626"/>
                <a:gd name="T18" fmla="*/ 2100 w 4935"/>
                <a:gd name="T19" fmla="*/ 555 h 626"/>
                <a:gd name="T20" fmla="*/ 1455 w 4935"/>
                <a:gd name="T21" fmla="*/ 510 h 626"/>
                <a:gd name="T22" fmla="*/ 1065 w 4935"/>
                <a:gd name="T23" fmla="*/ 465 h 626"/>
                <a:gd name="T24" fmla="*/ 795 w 4935"/>
                <a:gd name="T25" fmla="*/ 375 h 626"/>
                <a:gd name="T26" fmla="*/ 660 w 4935"/>
                <a:gd name="T27" fmla="*/ 300 h 626"/>
                <a:gd name="T28" fmla="*/ 405 w 4935"/>
                <a:gd name="T29" fmla="*/ 180 h 626"/>
                <a:gd name="T30" fmla="*/ 315 w 4935"/>
                <a:gd name="T31" fmla="*/ 120 h 626"/>
                <a:gd name="T32" fmla="*/ 0 w 4935"/>
                <a:gd name="T33" fmla="*/ 0 h 62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935" h="626">
                  <a:moveTo>
                    <a:pt x="4935" y="0"/>
                  </a:moveTo>
                  <a:cubicBezTo>
                    <a:pt x="4925" y="15"/>
                    <a:pt x="4918" y="32"/>
                    <a:pt x="4905" y="45"/>
                  </a:cubicBezTo>
                  <a:cubicBezTo>
                    <a:pt x="4892" y="58"/>
                    <a:pt x="4871" y="61"/>
                    <a:pt x="4860" y="75"/>
                  </a:cubicBezTo>
                  <a:cubicBezTo>
                    <a:pt x="4777" y="179"/>
                    <a:pt x="4929" y="64"/>
                    <a:pt x="4800" y="150"/>
                  </a:cubicBezTo>
                  <a:cubicBezTo>
                    <a:pt x="4677" y="334"/>
                    <a:pt x="4437" y="327"/>
                    <a:pt x="4245" y="375"/>
                  </a:cubicBezTo>
                  <a:cubicBezTo>
                    <a:pt x="4152" y="398"/>
                    <a:pt x="4051" y="435"/>
                    <a:pt x="3960" y="465"/>
                  </a:cubicBezTo>
                  <a:cubicBezTo>
                    <a:pt x="3907" y="483"/>
                    <a:pt x="3849" y="482"/>
                    <a:pt x="3795" y="495"/>
                  </a:cubicBezTo>
                  <a:cubicBezTo>
                    <a:pt x="3721" y="512"/>
                    <a:pt x="3616" y="547"/>
                    <a:pt x="3540" y="555"/>
                  </a:cubicBezTo>
                  <a:cubicBezTo>
                    <a:pt x="3455" y="563"/>
                    <a:pt x="3370" y="565"/>
                    <a:pt x="3285" y="570"/>
                  </a:cubicBezTo>
                  <a:cubicBezTo>
                    <a:pt x="2895" y="626"/>
                    <a:pt x="2490" y="611"/>
                    <a:pt x="2100" y="555"/>
                  </a:cubicBezTo>
                  <a:cubicBezTo>
                    <a:pt x="1917" y="494"/>
                    <a:pt x="1602" y="515"/>
                    <a:pt x="1455" y="510"/>
                  </a:cubicBezTo>
                  <a:cubicBezTo>
                    <a:pt x="1184" y="491"/>
                    <a:pt x="1314" y="507"/>
                    <a:pt x="1065" y="465"/>
                  </a:cubicBezTo>
                  <a:cubicBezTo>
                    <a:pt x="977" y="450"/>
                    <a:pt x="881" y="404"/>
                    <a:pt x="795" y="375"/>
                  </a:cubicBezTo>
                  <a:cubicBezTo>
                    <a:pt x="766" y="365"/>
                    <a:pt x="689" y="316"/>
                    <a:pt x="660" y="300"/>
                  </a:cubicBezTo>
                  <a:cubicBezTo>
                    <a:pt x="579" y="254"/>
                    <a:pt x="486" y="225"/>
                    <a:pt x="405" y="180"/>
                  </a:cubicBezTo>
                  <a:cubicBezTo>
                    <a:pt x="373" y="162"/>
                    <a:pt x="349" y="131"/>
                    <a:pt x="315" y="120"/>
                  </a:cubicBezTo>
                  <a:cubicBezTo>
                    <a:pt x="226" y="90"/>
                    <a:pt x="63" y="63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C2F0A153-24D2-7646-A265-93399E74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>
                <a:solidFill>
                  <a:srgbClr val="333399"/>
                </a:solidFill>
              </a:rPr>
              <a:t>7.2.4 </a:t>
            </a:r>
            <a:r>
              <a:rPr lang="zh-CN" altLang="en-US" sz="5400" b="1">
                <a:solidFill>
                  <a:srgbClr val="333399"/>
                </a:solidFill>
              </a:rPr>
              <a:t>二分图</a:t>
            </a:r>
            <a:endParaRPr lang="zh-CN" altLang="en-US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A9E46938-E16F-39AE-C7D8-AA8587065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zh-CN">
                <a:solidFill>
                  <a:srgbClr val="FF0000"/>
                </a:solidFill>
              </a:rPr>
              <a:t>维立方体</a:t>
            </a:r>
            <a:r>
              <a:rPr lang="en-US" altLang="zh-CN">
                <a:solidFill>
                  <a:srgbClr val="FF0000"/>
                </a:solidFill>
              </a:rPr>
              <a:t>Q</a:t>
            </a:r>
            <a:r>
              <a:rPr lang="en-US" altLang="zh-CN" baseline="-25000">
                <a:solidFill>
                  <a:srgbClr val="FF0000"/>
                </a:solidFill>
              </a:rPr>
              <a:t>n</a:t>
            </a:r>
            <a:r>
              <a:rPr lang="zh-CN" altLang="zh-CN"/>
              <a:t>是二分图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1508" name="Rectangle 67">
            <a:extLst>
              <a:ext uri="{FF2B5EF4-FFF2-40B4-BE49-F238E27FC236}">
                <a16:creationId xmlns:a16="http://schemas.microsoft.com/office/drawing/2014/main" id="{50E221E3-9399-007E-D799-9675384F2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1509" name="Group 1">
            <a:extLst>
              <a:ext uri="{FF2B5EF4-FFF2-40B4-BE49-F238E27FC236}">
                <a16:creationId xmlns:a16="http://schemas.microsoft.com/office/drawing/2014/main" id="{7209C887-EAE3-2162-737C-F184D6756C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7544" y="2924175"/>
            <a:ext cx="8464550" cy="3097213"/>
            <a:chOff x="1957" y="8670"/>
            <a:chExt cx="7936" cy="2902"/>
          </a:xfrm>
        </p:grpSpPr>
        <p:sp>
          <p:nvSpPr>
            <p:cNvPr id="21510" name="AutoShape 66">
              <a:extLst>
                <a:ext uri="{FF2B5EF4-FFF2-40B4-BE49-F238E27FC236}">
                  <a16:creationId xmlns:a16="http://schemas.microsoft.com/office/drawing/2014/main" id="{0E709D69-F107-155F-F320-8CFCBAF7EDD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57" y="8670"/>
              <a:ext cx="7936" cy="2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1" name="Text Box 65">
              <a:extLst>
                <a:ext uri="{FF2B5EF4-FFF2-40B4-BE49-F238E27FC236}">
                  <a16:creationId xmlns:a16="http://schemas.microsoft.com/office/drawing/2014/main" id="{330A5BFD-7510-AB01-DF20-93AF55338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8678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sz="2800"/>
            </a:p>
          </p:txBody>
        </p:sp>
        <p:sp>
          <p:nvSpPr>
            <p:cNvPr id="21512" name="Text Box 64">
              <a:extLst>
                <a:ext uri="{FF2B5EF4-FFF2-40B4-BE49-F238E27FC236}">
                  <a16:creationId xmlns:a16="http://schemas.microsoft.com/office/drawing/2014/main" id="{1B6C4820-BDAA-8276-B751-6AAF94147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8716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sz="2800"/>
            </a:p>
          </p:txBody>
        </p:sp>
        <p:sp>
          <p:nvSpPr>
            <p:cNvPr id="21513" name="Text Box 63">
              <a:extLst>
                <a:ext uri="{FF2B5EF4-FFF2-40B4-BE49-F238E27FC236}">
                  <a16:creationId xmlns:a16="http://schemas.microsoft.com/office/drawing/2014/main" id="{5AF2D81C-9913-D02A-8D5C-2C17ABED5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8731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sz="2800"/>
            </a:p>
          </p:txBody>
        </p:sp>
        <p:sp>
          <p:nvSpPr>
            <p:cNvPr id="21514" name="Text Box 62">
              <a:extLst>
                <a:ext uri="{FF2B5EF4-FFF2-40B4-BE49-F238E27FC236}">
                  <a16:creationId xmlns:a16="http://schemas.microsoft.com/office/drawing/2014/main" id="{7654C812-684E-517F-5D3E-8EEB91BDA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0" y="8731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sz="2800"/>
            </a:p>
          </p:txBody>
        </p:sp>
        <p:sp>
          <p:nvSpPr>
            <p:cNvPr id="21515" name="Text Box 61">
              <a:extLst>
                <a:ext uri="{FF2B5EF4-FFF2-40B4-BE49-F238E27FC236}">
                  <a16:creationId xmlns:a16="http://schemas.microsoft.com/office/drawing/2014/main" id="{9EA988F9-6EA1-F61E-8A50-76C77791D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8" y="8738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sz="2800"/>
            </a:p>
          </p:txBody>
        </p:sp>
        <p:sp>
          <p:nvSpPr>
            <p:cNvPr id="21516" name="Text Box 60">
              <a:extLst>
                <a:ext uri="{FF2B5EF4-FFF2-40B4-BE49-F238E27FC236}">
                  <a16:creationId xmlns:a16="http://schemas.microsoft.com/office/drawing/2014/main" id="{89CE93AF-309F-145E-191A-7CDAB2D89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3" y="8728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sz="2800"/>
            </a:p>
          </p:txBody>
        </p:sp>
        <p:sp>
          <p:nvSpPr>
            <p:cNvPr id="21517" name="Text Box 59">
              <a:extLst>
                <a:ext uri="{FF2B5EF4-FFF2-40B4-BE49-F238E27FC236}">
                  <a16:creationId xmlns:a16="http://schemas.microsoft.com/office/drawing/2014/main" id="{73C6C0CD-80D8-8008-4647-6A43F0336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3" y="8708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1100</a:t>
              </a:r>
              <a:endParaRPr lang="en-US" altLang="zh-CN" sz="2800"/>
            </a:p>
          </p:txBody>
        </p:sp>
        <p:sp>
          <p:nvSpPr>
            <p:cNvPr id="21518" name="Text Box 58">
              <a:extLst>
                <a:ext uri="{FF2B5EF4-FFF2-40B4-BE49-F238E27FC236}">
                  <a16:creationId xmlns:a16="http://schemas.microsoft.com/office/drawing/2014/main" id="{6F301032-063C-26A5-FAA2-A199B7FE5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7" y="8727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1111</a:t>
              </a:r>
              <a:endParaRPr lang="en-US" altLang="zh-CN" sz="2800"/>
            </a:p>
          </p:txBody>
        </p:sp>
        <p:sp>
          <p:nvSpPr>
            <p:cNvPr id="21519" name="Text Box 57">
              <a:extLst>
                <a:ext uri="{FF2B5EF4-FFF2-40B4-BE49-F238E27FC236}">
                  <a16:creationId xmlns:a16="http://schemas.microsoft.com/office/drawing/2014/main" id="{1416219D-F10C-CAC7-737F-11A7C64E6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5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sz="2800"/>
            </a:p>
          </p:txBody>
        </p:sp>
        <p:sp>
          <p:nvSpPr>
            <p:cNvPr id="21520" name="Text Box 56">
              <a:extLst>
                <a:ext uri="{FF2B5EF4-FFF2-40B4-BE49-F238E27FC236}">
                  <a16:creationId xmlns:a16="http://schemas.microsoft.com/office/drawing/2014/main" id="{7762F968-4C59-846B-6DB0-509DDE61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sz="2800"/>
            </a:p>
          </p:txBody>
        </p:sp>
        <p:sp>
          <p:nvSpPr>
            <p:cNvPr id="21521" name="Text Box 55">
              <a:extLst>
                <a:ext uri="{FF2B5EF4-FFF2-40B4-BE49-F238E27FC236}">
                  <a16:creationId xmlns:a16="http://schemas.microsoft.com/office/drawing/2014/main" id="{C8F1F533-1625-BAA3-D2B9-7A6892A2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2800"/>
            </a:p>
          </p:txBody>
        </p:sp>
        <p:sp>
          <p:nvSpPr>
            <p:cNvPr id="21522" name="Text Box 54">
              <a:extLst>
                <a:ext uri="{FF2B5EF4-FFF2-40B4-BE49-F238E27FC236}">
                  <a16:creationId xmlns:a16="http://schemas.microsoft.com/office/drawing/2014/main" id="{34915432-4CC5-848D-7B40-A8821A0F7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sz="2800"/>
            </a:p>
          </p:txBody>
        </p:sp>
        <p:sp>
          <p:nvSpPr>
            <p:cNvPr id="21523" name="Text Box 53">
              <a:extLst>
                <a:ext uri="{FF2B5EF4-FFF2-40B4-BE49-F238E27FC236}">
                  <a16:creationId xmlns:a16="http://schemas.microsoft.com/office/drawing/2014/main" id="{FBB54BBA-2828-CBF6-058E-9E663AC5C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0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sz="2800"/>
            </a:p>
          </p:txBody>
        </p:sp>
        <p:sp>
          <p:nvSpPr>
            <p:cNvPr id="21524" name="Text Box 52">
              <a:extLst>
                <a:ext uri="{FF2B5EF4-FFF2-40B4-BE49-F238E27FC236}">
                  <a16:creationId xmlns:a16="http://schemas.microsoft.com/office/drawing/2014/main" id="{DAAD8A23-FE43-2C00-EB31-3025173AF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0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1011</a:t>
              </a:r>
              <a:endParaRPr lang="en-US" altLang="zh-CN" sz="2800"/>
            </a:p>
          </p:txBody>
        </p:sp>
        <p:sp>
          <p:nvSpPr>
            <p:cNvPr id="21525" name="Text Box 51">
              <a:extLst>
                <a:ext uri="{FF2B5EF4-FFF2-40B4-BE49-F238E27FC236}">
                  <a16:creationId xmlns:a16="http://schemas.microsoft.com/office/drawing/2014/main" id="{0EBD7095-F3A8-33D7-0358-E8D1FA414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4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1101</a:t>
              </a:r>
              <a:endParaRPr lang="en-US" altLang="zh-CN" sz="2800"/>
            </a:p>
          </p:txBody>
        </p:sp>
        <p:sp>
          <p:nvSpPr>
            <p:cNvPr id="21526" name="Text Box 50">
              <a:extLst>
                <a:ext uri="{FF2B5EF4-FFF2-40B4-BE49-F238E27FC236}">
                  <a16:creationId xmlns:a16="http://schemas.microsoft.com/office/drawing/2014/main" id="{3D7582C4-A4C1-A95E-24E5-097E805B6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2" y="10922"/>
              <a:ext cx="8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1110</a:t>
              </a:r>
              <a:endParaRPr lang="en-US" altLang="zh-CN" sz="2800"/>
            </a:p>
          </p:txBody>
        </p:sp>
        <p:sp>
          <p:nvSpPr>
            <p:cNvPr id="21527" name="Oval 49">
              <a:extLst>
                <a:ext uri="{FF2B5EF4-FFF2-40B4-BE49-F238E27FC236}">
                  <a16:creationId xmlns:a16="http://schemas.microsoft.com/office/drawing/2014/main" id="{3B9A3E9C-4185-FB60-8986-DD5D01681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925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8" name="Oval 48">
              <a:extLst>
                <a:ext uri="{FF2B5EF4-FFF2-40B4-BE49-F238E27FC236}">
                  <a16:creationId xmlns:a16="http://schemas.microsoft.com/office/drawing/2014/main" id="{9C29E36D-86AF-2D07-42ED-F440A5C14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" y="928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9" name="Oval 47">
              <a:extLst>
                <a:ext uri="{FF2B5EF4-FFF2-40B4-BE49-F238E27FC236}">
                  <a16:creationId xmlns:a16="http://schemas.microsoft.com/office/drawing/2014/main" id="{3EECD87A-2617-2B65-AFD8-3CD7D2881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9303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0" name="Oval 46">
              <a:extLst>
                <a:ext uri="{FF2B5EF4-FFF2-40B4-BE49-F238E27FC236}">
                  <a16:creationId xmlns:a16="http://schemas.microsoft.com/office/drawing/2014/main" id="{5DA5FCE2-5B34-8FB6-9679-A896E1973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2" y="928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1" name="Oval 45">
              <a:extLst>
                <a:ext uri="{FF2B5EF4-FFF2-40B4-BE49-F238E27FC236}">
                  <a16:creationId xmlns:a16="http://schemas.microsoft.com/office/drawing/2014/main" id="{30F853C9-6B62-98C2-8F44-7BBC6AAF5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" y="9287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2" name="Oval 44">
              <a:extLst>
                <a:ext uri="{FF2B5EF4-FFF2-40B4-BE49-F238E27FC236}">
                  <a16:creationId xmlns:a16="http://schemas.microsoft.com/office/drawing/2014/main" id="{6C9A4378-2BE2-D76A-54DC-E2766CA59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" y="9272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3" name="Oval 43">
              <a:extLst>
                <a:ext uri="{FF2B5EF4-FFF2-40B4-BE49-F238E27FC236}">
                  <a16:creationId xmlns:a16="http://schemas.microsoft.com/office/drawing/2014/main" id="{15A316F9-84DB-FA8A-ACBC-5C80E4577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4" y="928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4" name="Oval 42">
              <a:extLst>
                <a:ext uri="{FF2B5EF4-FFF2-40B4-BE49-F238E27FC236}">
                  <a16:creationId xmlns:a16="http://schemas.microsoft.com/office/drawing/2014/main" id="{46A7F522-EDC1-84CD-28F0-77D6066B1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" y="928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5" name="Oval 41">
              <a:extLst>
                <a:ext uri="{FF2B5EF4-FFF2-40B4-BE49-F238E27FC236}">
                  <a16:creationId xmlns:a16="http://schemas.microsoft.com/office/drawing/2014/main" id="{2D65C841-D93A-16FA-4490-01922C327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3" y="1079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6" name="Oval 40">
              <a:extLst>
                <a:ext uri="{FF2B5EF4-FFF2-40B4-BE49-F238E27FC236}">
                  <a16:creationId xmlns:a16="http://schemas.microsoft.com/office/drawing/2014/main" id="{DDE6F74F-A27B-BFE5-CC02-A2B9B59F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3" y="1079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7" name="Oval 39">
              <a:extLst>
                <a:ext uri="{FF2B5EF4-FFF2-40B4-BE49-F238E27FC236}">
                  <a16:creationId xmlns:a16="http://schemas.microsoft.com/office/drawing/2014/main" id="{D0E50684-43E9-58C7-D06B-58FCCBBD2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" y="1079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8" name="Oval 38">
              <a:extLst>
                <a:ext uri="{FF2B5EF4-FFF2-40B4-BE49-F238E27FC236}">
                  <a16:creationId xmlns:a16="http://schemas.microsoft.com/office/drawing/2014/main" id="{ECEC258D-DA70-AAD4-7CC6-8EE852605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" y="10797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9" name="Oval 37">
              <a:extLst>
                <a:ext uri="{FF2B5EF4-FFF2-40B4-BE49-F238E27FC236}">
                  <a16:creationId xmlns:a16="http://schemas.microsoft.com/office/drawing/2014/main" id="{97AC04C0-E7E6-58E9-E9AD-C855EEFA8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10797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0" name="Oval 36">
              <a:extLst>
                <a:ext uri="{FF2B5EF4-FFF2-40B4-BE49-F238E27FC236}">
                  <a16:creationId xmlns:a16="http://schemas.microsoft.com/office/drawing/2014/main" id="{40A9F40E-5C94-5D95-4BA7-4A72D1C7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1079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1" name="Oval 35">
              <a:extLst>
                <a:ext uri="{FF2B5EF4-FFF2-40B4-BE49-F238E27FC236}">
                  <a16:creationId xmlns:a16="http://schemas.microsoft.com/office/drawing/2014/main" id="{D0AC640E-3C86-DDAC-778E-C5F3E6DE9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" y="10797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2" name="Oval 34">
              <a:extLst>
                <a:ext uri="{FF2B5EF4-FFF2-40B4-BE49-F238E27FC236}">
                  <a16:creationId xmlns:a16="http://schemas.microsoft.com/office/drawing/2014/main" id="{50EE3AB6-7394-4C4D-9A9B-D2B676FAF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10798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1543" name="AutoShape 33">
              <a:extLst>
                <a:ext uri="{FF2B5EF4-FFF2-40B4-BE49-F238E27FC236}">
                  <a16:creationId xmlns:a16="http://schemas.microsoft.com/office/drawing/2014/main" id="{2C22A3AB-6021-8461-868C-18860E0F8F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2" y="9478"/>
              <a:ext cx="1" cy="13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4" name="AutoShape 32">
              <a:extLst>
                <a:ext uri="{FF2B5EF4-FFF2-40B4-BE49-F238E27FC236}">
                  <a16:creationId xmlns:a16="http://schemas.microsoft.com/office/drawing/2014/main" id="{219F454A-80D6-3428-1971-FF7197BC16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2" y="9478"/>
              <a:ext cx="970" cy="13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AutoShape 31">
              <a:extLst>
                <a:ext uri="{FF2B5EF4-FFF2-40B4-BE49-F238E27FC236}">
                  <a16:creationId xmlns:a16="http://schemas.microsoft.com/office/drawing/2014/main" id="{EFC391CD-EC1A-8270-F61E-2D95E57104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2" y="9478"/>
              <a:ext cx="2023" cy="13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6" name="AutoShape 30">
              <a:extLst>
                <a:ext uri="{FF2B5EF4-FFF2-40B4-BE49-F238E27FC236}">
                  <a16:creationId xmlns:a16="http://schemas.microsoft.com/office/drawing/2014/main" id="{8C7BC3C6-730A-FE3B-0E00-CC5FE0E459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2" y="9478"/>
              <a:ext cx="3923" cy="13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7" name="AutoShape 29">
              <a:extLst>
                <a:ext uri="{FF2B5EF4-FFF2-40B4-BE49-F238E27FC236}">
                  <a16:creationId xmlns:a16="http://schemas.microsoft.com/office/drawing/2014/main" id="{B24A3C72-DB23-A5CB-71AB-76FAA48C61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38" y="9508"/>
              <a:ext cx="2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8" name="AutoShape 28">
              <a:extLst>
                <a:ext uri="{FF2B5EF4-FFF2-40B4-BE49-F238E27FC236}">
                  <a16:creationId xmlns:a16="http://schemas.microsoft.com/office/drawing/2014/main" id="{94372CFF-DC6A-494E-7078-62DA6702BD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38" y="9508"/>
              <a:ext cx="1897" cy="13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9" name="AutoShape 27">
              <a:extLst>
                <a:ext uri="{FF2B5EF4-FFF2-40B4-BE49-F238E27FC236}">
                  <a16:creationId xmlns:a16="http://schemas.microsoft.com/office/drawing/2014/main" id="{3387EB1D-DA8D-E6F8-4BB2-E43A86E105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16" y="9476"/>
              <a:ext cx="3769" cy="1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0" name="AutoShape 26">
              <a:extLst>
                <a:ext uri="{FF2B5EF4-FFF2-40B4-BE49-F238E27FC236}">
                  <a16:creationId xmlns:a16="http://schemas.microsoft.com/office/drawing/2014/main" id="{5255E837-EA94-7CDD-BEB0-65C0D644F2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92" y="9508"/>
              <a:ext cx="1046" cy="12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1" name="AutoShape 25">
              <a:extLst>
                <a:ext uri="{FF2B5EF4-FFF2-40B4-BE49-F238E27FC236}">
                  <a16:creationId xmlns:a16="http://schemas.microsoft.com/office/drawing/2014/main" id="{4ABD6C5C-C333-9F45-9732-D5C7D0466B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5" y="9523"/>
              <a:ext cx="1" cy="1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2" name="AutoShape 24">
              <a:extLst>
                <a:ext uri="{FF2B5EF4-FFF2-40B4-BE49-F238E27FC236}">
                  <a16:creationId xmlns:a16="http://schemas.microsoft.com/office/drawing/2014/main" id="{AE844EDE-C782-27DE-8C1C-5C3D196349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5" y="9523"/>
              <a:ext cx="998" cy="1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3" name="AutoShape 23">
              <a:extLst>
                <a:ext uri="{FF2B5EF4-FFF2-40B4-BE49-F238E27FC236}">
                  <a16:creationId xmlns:a16="http://schemas.microsoft.com/office/drawing/2014/main" id="{DC6CC66E-96C1-16BE-EF6C-E6CF5EA200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93" y="9491"/>
              <a:ext cx="3853" cy="13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4" name="AutoShape 22">
              <a:extLst>
                <a:ext uri="{FF2B5EF4-FFF2-40B4-BE49-F238E27FC236}">
                  <a16:creationId xmlns:a16="http://schemas.microsoft.com/office/drawing/2014/main" id="{24693FCC-4618-4349-B625-A007AEB541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92" y="9523"/>
              <a:ext cx="2023" cy="12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5" name="AutoShape 21">
              <a:extLst>
                <a:ext uri="{FF2B5EF4-FFF2-40B4-BE49-F238E27FC236}">
                  <a16:creationId xmlns:a16="http://schemas.microsoft.com/office/drawing/2014/main" id="{DF987433-B0B6-F5FC-22B0-720EFA2348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3" y="9508"/>
              <a:ext cx="1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20">
              <a:extLst>
                <a:ext uri="{FF2B5EF4-FFF2-40B4-BE49-F238E27FC236}">
                  <a16:creationId xmlns:a16="http://schemas.microsoft.com/office/drawing/2014/main" id="{986D825C-54FA-26D0-4DD3-851BF3D072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5" y="9508"/>
              <a:ext cx="998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19">
              <a:extLst>
                <a:ext uri="{FF2B5EF4-FFF2-40B4-BE49-F238E27FC236}">
                  <a16:creationId xmlns:a16="http://schemas.microsoft.com/office/drawing/2014/main" id="{48AA531D-EDD1-32AE-58D8-24153B6E5B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3" y="9508"/>
              <a:ext cx="3893" cy="13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8" name="AutoShape 18">
              <a:extLst>
                <a:ext uri="{FF2B5EF4-FFF2-40B4-BE49-F238E27FC236}">
                  <a16:creationId xmlns:a16="http://schemas.microsoft.com/office/drawing/2014/main" id="{7FAA9682-BF1A-E06C-50A1-4572E59530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40" y="9508"/>
              <a:ext cx="1973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9" name="AutoShape 17">
              <a:extLst>
                <a:ext uri="{FF2B5EF4-FFF2-40B4-BE49-F238E27FC236}">
                  <a16:creationId xmlns:a16="http://schemas.microsoft.com/office/drawing/2014/main" id="{F694BAC0-C519-911A-C65E-B824126A3F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70" y="9508"/>
              <a:ext cx="23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0" name="AutoShape 16">
              <a:extLst>
                <a:ext uri="{FF2B5EF4-FFF2-40B4-BE49-F238E27FC236}">
                  <a16:creationId xmlns:a16="http://schemas.microsoft.com/office/drawing/2014/main" id="{31DAC89E-261A-F421-FD40-1B58CA6E95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70" y="9508"/>
              <a:ext cx="915" cy="13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1" name="AutoShape 15">
              <a:extLst>
                <a:ext uri="{FF2B5EF4-FFF2-40B4-BE49-F238E27FC236}">
                  <a16:creationId xmlns:a16="http://schemas.microsoft.com/office/drawing/2014/main" id="{3742252E-58C0-37FE-B25E-F42A48A8FC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8" y="9476"/>
              <a:ext cx="1876" cy="13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2" name="AutoShape 14">
              <a:extLst>
                <a:ext uri="{FF2B5EF4-FFF2-40B4-BE49-F238E27FC236}">
                  <a16:creationId xmlns:a16="http://schemas.microsoft.com/office/drawing/2014/main" id="{893A7992-C3CC-2F67-4D6A-8971CE86E4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92" y="9476"/>
              <a:ext cx="3900" cy="13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3" name="AutoShape 13">
              <a:extLst>
                <a:ext uri="{FF2B5EF4-FFF2-40B4-BE49-F238E27FC236}">
                  <a16:creationId xmlns:a16="http://schemas.microsoft.com/office/drawing/2014/main" id="{FDF282BB-BC2F-26BC-DFDC-E03A7F9EC1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30" y="9493"/>
              <a:ext cx="34" cy="13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4" name="AutoShape 12">
              <a:extLst>
                <a:ext uri="{FF2B5EF4-FFF2-40B4-BE49-F238E27FC236}">
                  <a16:creationId xmlns:a16="http://schemas.microsoft.com/office/drawing/2014/main" id="{4A490011-0560-5552-9772-143B0DB39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30" y="9493"/>
              <a:ext cx="1976" cy="13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5" name="AutoShape 11">
              <a:extLst>
                <a:ext uri="{FF2B5EF4-FFF2-40B4-BE49-F238E27FC236}">
                  <a16:creationId xmlns:a16="http://schemas.microsoft.com/office/drawing/2014/main" id="{632C0EF1-943D-AD7D-4E05-6D47D441EB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71" y="9493"/>
              <a:ext cx="859" cy="13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6" name="AutoShape 10">
              <a:extLst>
                <a:ext uri="{FF2B5EF4-FFF2-40B4-BE49-F238E27FC236}">
                  <a16:creationId xmlns:a16="http://schemas.microsoft.com/office/drawing/2014/main" id="{C6F0B4E6-B223-D179-70B0-899B25D329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28" y="9493"/>
              <a:ext cx="3902" cy="1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7" name="AutoShape 9">
              <a:extLst>
                <a:ext uri="{FF2B5EF4-FFF2-40B4-BE49-F238E27FC236}">
                  <a16:creationId xmlns:a16="http://schemas.microsoft.com/office/drawing/2014/main" id="{A362381A-A771-07F3-54AE-2358F95178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75" y="9507"/>
              <a:ext cx="49" cy="12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8" name="AutoShape 8">
              <a:extLst>
                <a:ext uri="{FF2B5EF4-FFF2-40B4-BE49-F238E27FC236}">
                  <a16:creationId xmlns:a16="http://schemas.microsoft.com/office/drawing/2014/main" id="{F345BEBE-2C05-2520-00B3-2991737BCE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75" y="9507"/>
              <a:ext cx="1031" cy="13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9" name="AutoShape 7">
              <a:extLst>
                <a:ext uri="{FF2B5EF4-FFF2-40B4-BE49-F238E27FC236}">
                  <a16:creationId xmlns:a16="http://schemas.microsoft.com/office/drawing/2014/main" id="{707EAB20-C45A-7F9B-144A-2B84BDBC6E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71" y="9507"/>
              <a:ext cx="1804" cy="13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0" name="AutoShape 6">
              <a:extLst>
                <a:ext uri="{FF2B5EF4-FFF2-40B4-BE49-F238E27FC236}">
                  <a16:creationId xmlns:a16="http://schemas.microsoft.com/office/drawing/2014/main" id="{7F080A00-54C3-218E-B871-ED1AA29C3A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15" y="9507"/>
              <a:ext cx="3860" cy="12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1" name="AutoShape 5">
              <a:extLst>
                <a:ext uri="{FF2B5EF4-FFF2-40B4-BE49-F238E27FC236}">
                  <a16:creationId xmlns:a16="http://schemas.microsoft.com/office/drawing/2014/main" id="{050B9C7A-105E-1AA7-586A-95D16A76C8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85" y="9508"/>
              <a:ext cx="1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2" name="AutoShape 4">
              <a:extLst>
                <a:ext uri="{FF2B5EF4-FFF2-40B4-BE49-F238E27FC236}">
                  <a16:creationId xmlns:a16="http://schemas.microsoft.com/office/drawing/2014/main" id="{27A67626-8B26-BB43-7A39-6C872C4BF5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24" y="9508"/>
              <a:ext cx="1061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3" name="AutoShape 3">
              <a:extLst>
                <a:ext uri="{FF2B5EF4-FFF2-40B4-BE49-F238E27FC236}">
                  <a16:creationId xmlns:a16="http://schemas.microsoft.com/office/drawing/2014/main" id="{48DDCB8E-2C63-BB21-6124-979FBDB0F1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64" y="9508"/>
              <a:ext cx="2021" cy="1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4" name="AutoShape 2">
              <a:extLst>
                <a:ext uri="{FF2B5EF4-FFF2-40B4-BE49-F238E27FC236}">
                  <a16:creationId xmlns:a16="http://schemas.microsoft.com/office/drawing/2014/main" id="{A56D6BD9-BC2B-241A-F050-2566D59BCE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413" y="9476"/>
              <a:ext cx="3893" cy="13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4911</TotalTime>
  <Words>783</Words>
  <Application>Microsoft Office PowerPoint</Application>
  <PresentationFormat>全屏显示(4:3)</PresentationFormat>
  <Paragraphs>164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宋体</vt:lpstr>
      <vt:lpstr>Calibri</vt:lpstr>
      <vt:lpstr>Tahoma</vt:lpstr>
      <vt:lpstr>Times New Roman</vt:lpstr>
      <vt:lpstr>Wingdings</vt:lpstr>
      <vt:lpstr>Blends</vt:lpstr>
      <vt:lpstr>7.2 路与连通</vt:lpstr>
      <vt:lpstr>7.2.1 路</vt:lpstr>
      <vt:lpstr>7.2.1 路</vt:lpstr>
      <vt:lpstr>7.2.1 路</vt:lpstr>
      <vt:lpstr>7.2.1 路</vt:lpstr>
      <vt:lpstr>7.2.2 连通图</vt:lpstr>
      <vt:lpstr>7.2.2 连通图</vt:lpstr>
      <vt:lpstr>7.2.2 连通图</vt:lpstr>
      <vt:lpstr>7.2.2 连通图</vt:lpstr>
      <vt:lpstr>7.2.2 连通图</vt:lpstr>
      <vt:lpstr>7.2.3 连通度</vt:lpstr>
      <vt:lpstr>7.2.3 连通度</vt:lpstr>
      <vt:lpstr>7.2.3 连通度</vt:lpstr>
      <vt:lpstr>7.2.3 连通度</vt:lpstr>
      <vt:lpstr>7.2.4 二分图</vt:lpstr>
      <vt:lpstr>7.2.4 二分图</vt:lpstr>
      <vt:lpstr>7.2.4 二分图</vt:lpstr>
      <vt:lpstr>7.2.4 二分图</vt:lpstr>
      <vt:lpstr>7.2.4 二分图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127</cp:revision>
  <dcterms:created xsi:type="dcterms:W3CDTF">2010-04-09T13:44:14Z</dcterms:created>
  <dcterms:modified xsi:type="dcterms:W3CDTF">2023-11-16T04:22:08Z</dcterms:modified>
</cp:coreProperties>
</file>