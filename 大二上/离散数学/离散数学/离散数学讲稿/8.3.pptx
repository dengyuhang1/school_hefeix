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5"/>
  </p:notesMasterIdLst>
  <p:sldIdLst>
    <p:sldId id="361" r:id="rId2"/>
    <p:sldId id="465" r:id="rId3"/>
    <p:sldId id="506" r:id="rId4"/>
    <p:sldId id="466" r:id="rId5"/>
    <p:sldId id="467" r:id="rId6"/>
    <p:sldId id="468" r:id="rId7"/>
    <p:sldId id="469" r:id="rId8"/>
    <p:sldId id="508" r:id="rId9"/>
    <p:sldId id="470" r:id="rId10"/>
    <p:sldId id="471" r:id="rId11"/>
    <p:sldId id="488" r:id="rId12"/>
    <p:sldId id="472" r:id="rId13"/>
    <p:sldId id="473" r:id="rId14"/>
    <p:sldId id="509" r:id="rId15"/>
    <p:sldId id="494" r:id="rId16"/>
    <p:sldId id="496" r:id="rId17"/>
    <p:sldId id="474" r:id="rId18"/>
    <p:sldId id="475" r:id="rId19"/>
    <p:sldId id="476" r:id="rId20"/>
    <p:sldId id="490" r:id="rId21"/>
    <p:sldId id="481" r:id="rId22"/>
    <p:sldId id="482" r:id="rId23"/>
    <p:sldId id="483" r:id="rId24"/>
    <p:sldId id="484" r:id="rId25"/>
    <p:sldId id="485" r:id="rId26"/>
    <p:sldId id="499" r:id="rId27"/>
    <p:sldId id="500" r:id="rId28"/>
    <p:sldId id="501" r:id="rId29"/>
    <p:sldId id="502" r:id="rId30"/>
    <p:sldId id="503" r:id="rId31"/>
    <p:sldId id="504" r:id="rId32"/>
    <p:sldId id="505" r:id="rId33"/>
    <p:sldId id="510" r:id="rId3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FF00FF"/>
    <a:srgbClr val="0000FF"/>
    <a:srgbClr val="FF0066"/>
    <a:srgbClr val="00CC99"/>
    <a:srgbClr val="CC0066"/>
    <a:srgbClr val="0066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3825" autoAdjust="0"/>
  </p:normalViewPr>
  <p:slideViewPr>
    <p:cSldViewPr>
      <p:cViewPr varScale="1">
        <p:scale>
          <a:sx n="65" d="100"/>
          <a:sy n="65" d="100"/>
        </p:scale>
        <p:origin x="66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109EDFD-1A6A-0FB5-FC73-DBFD17B736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C877F9-BA06-A10E-9DE2-3CE3FEDB50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59659EC-E382-4CC6-86A4-A34350AF6D45}" type="datetimeFigureOut">
              <a:rPr lang="zh-CN" altLang="en-US"/>
              <a:pPr>
                <a:defRPr/>
              </a:pPr>
              <a:t>2023/12/21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7D8A630-BABF-6D56-A6A7-DA2F3E36C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9339BF9-1A03-D50B-10B2-02B2235F6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733D8F-F7A7-1422-86DE-5A5227ABC4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ABC823-D0AA-0B29-9B3A-8D36CF708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3C78A8B-17DE-4DD5-9E8C-F26A51106C2F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D4990FF1-0831-A4C1-7DC6-142B92D9D6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EEC1C75C-4D2C-F7FA-27AA-14DBC0274D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288DF73C-6360-F102-4392-7DC08A2BC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ED3656-87DD-4704-ADA3-C76C2EDDB194}" type="slidenum">
              <a:rPr lang="zh-CN" altLang="en-US"/>
              <a:pPr eaLnBrk="1" hangingPunct="1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71F90CE8-A91F-0486-C8CB-3B079FEE68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DAEF70B5-C6EE-A6C7-B7BA-FF7CB02082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377CEA70-0592-7511-E811-62BE428FE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5CC6EB-94D0-4869-B071-BB7759317D37}" type="slidenum">
              <a:rPr lang="zh-CN" altLang="en-US"/>
              <a:pPr eaLnBrk="1" hangingPunct="1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4097E5-2AA9-B6A7-224E-E342C6968C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DF60812-D2A1-D91B-D75E-82BD509B6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685E21BF-8DE4-40C4-5ECA-DB47025D8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9AD0F157-C5F0-867E-7A79-05BC6A901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D39289D9-A0F3-6D3E-7E4C-F5F1347AAF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3CF92E-56EF-B1D4-33CB-EE2734635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754F9E-6337-AA32-1FF9-816073F20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8378D290-5E84-0009-B096-323F25845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921BBD5F-1751-5BEA-896F-AF1B72F61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64E8B3F-253A-3C58-2C99-D8B6699AC6D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7F35CC9-B40D-4A83-9757-0E8933201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9DE0ED4-AD1C-ED25-A953-8D52580091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95A06563-A476-05D1-A445-08F7987FC6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9177FCC-A95E-41CB-A028-DA2E0D4E67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580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89681B2-826C-04DE-371C-1815D7D2C7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6FE6FC5-EA5F-D433-568F-D710F7D56C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8C320AB-BDA2-A647-68DD-142BB4D451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94F867-D129-425D-B774-107BB80C84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6035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CE8FCA-B631-12CB-D218-9CEE9A9E2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CFBE21-477F-9010-DDED-EE69F38E3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C72D814-1F4A-C07D-E9B4-D0554E188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757626-4A52-433E-AB12-04703E013B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24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F5295E1-5516-E39A-8925-84C19EF6E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81C8829-69F4-A1AD-4168-E30058C31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F2BC8DC-1AA3-67D0-9629-37AF8553DD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2B7665-2D6A-436B-B566-8BFC19D7CE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39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E77E387-022C-FCD4-A487-1062DD1EF3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D119041-2B74-0B56-FE97-020409143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2554144-8728-1F2F-7A03-D3995AC6B5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E04C25-528D-42A0-87E5-E0BC233DE1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59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125C911-5FCC-BCFC-840A-31D91B8FC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005E3FB-90EC-9B8D-AA1C-CB22866FE9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BEA7741-95F8-3C8A-F9A8-485A5643A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AE04FA-FF24-4CB7-A9A8-4F29DC0E83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27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BE1EB77-A5E2-53D0-4F23-D9987AF7A4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A475EC9-AA78-B9CE-F548-6877FF73D0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D1E0DBA-ACDE-929B-613D-5B45A82439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4656D5-6766-4C7D-BD3A-56060FE465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81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8BF4657-B603-4BB5-C9ED-E09183E666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493F667-57BE-299D-B9C8-50BEBCC072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3E79A09-EA4F-BBD8-6577-2522FD6B05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C4C84C-ED41-4C7C-B544-2F46CBFDA1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595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B3893D2-F19E-4DCF-10C1-657572343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8DBE6A0-0E46-8777-17AD-E3C7C956E2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28FA93D-B8C1-146E-1F5A-64D202B357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F9EB4A-57B0-4030-91CB-F9C1BEAEE9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711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3FBA4ED-EDAF-8144-809C-9783B2387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3C15AA5-70C1-B756-2192-219CB3BF30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3EDCF0D-1800-4ACE-CF10-72C2B0EE1F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1D4603-DF57-4F0A-9D40-A8078C6EDF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4358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A64B9A-A06D-B57C-5B87-7478EC1C55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E570DDD-14A7-68AE-B8AF-47EA97C59E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D12F0ED-CDC6-913A-3B28-9AFE93AFA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884BDF-A039-4154-9158-3CD77CC3C2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056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264C6D6-75E4-32C0-E0F5-6BFB85A3C0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EEB3948-B336-62B4-F166-359354DE3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D39B8BA-86A0-B071-8CF9-14E6600E40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7319-5A17-4EDC-85B1-27B5849D19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0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3C2E33-6BA1-D373-B4FC-0B4B7A3B8E3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67FB17-2B80-272E-4325-E81F6E0677B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5D8178-8C67-8FEA-7A0A-9BB4E22C1E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5063AD4-C841-9EEF-829A-92147BA8FD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FDBA2A-810C-702A-095D-CC3A7E0062D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05C9533-E8F6-A5CC-23E9-9D3695D59A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9574B55-E807-5260-4348-EFF362414DD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05E7DCD-3A8D-B600-1495-A020C3701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962D704C-EDA4-6A12-8586-9A5058653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574CB847-1449-979D-7704-1A22BD1DE5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8BD8F174-CCAD-7013-AE7D-E88375DEDA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C57EBBA-D3E9-E2FA-3ACC-A7B7E8C142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C7D4C03-F83C-49C7-A0B6-C264E4EFADB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2217940-57C8-FB20-E8BE-A314FFE258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8.3 </a:t>
            </a:r>
            <a:r>
              <a:rPr lang="zh-CN" altLang="en-US" sz="5400"/>
              <a:t>树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DC194D9-79D9-F3C1-9900-620EAA968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6815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8.3.1 </a:t>
            </a:r>
            <a:r>
              <a:rPr lang="zh-CN" altLang="en-US" sz="4400" b="1"/>
              <a:t>树的概念</a:t>
            </a:r>
            <a:r>
              <a:rPr lang="zh-CN" altLang="en-US" sz="4400"/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8.3.2 </a:t>
            </a:r>
            <a:r>
              <a:rPr lang="zh-CN" altLang="en-US" sz="4400" b="1"/>
              <a:t>根树</a:t>
            </a:r>
            <a:r>
              <a:rPr lang="zh-CN" altLang="en-US" sz="4400"/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8.3.3 </a:t>
            </a:r>
            <a:r>
              <a:rPr lang="zh-CN" altLang="en-US" sz="4400" b="1"/>
              <a:t>决策树</a:t>
            </a:r>
            <a:endParaRPr lang="en-US" altLang="zh-CN" sz="44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8.3.4  </a:t>
            </a:r>
            <a:r>
              <a:rPr lang="zh-CN" altLang="zh-CN" sz="4400" b="1"/>
              <a:t>二进制编址</a:t>
            </a:r>
            <a:endParaRPr lang="en-US" altLang="zh-CN" sz="44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8.3.5  </a:t>
            </a:r>
            <a:r>
              <a:rPr lang="zh-CN" altLang="en-US" sz="4400" b="1"/>
              <a:t>最优</a:t>
            </a:r>
            <a:r>
              <a:rPr lang="zh-CN" altLang="zh-CN" sz="4400" b="1"/>
              <a:t>二</a:t>
            </a:r>
            <a:r>
              <a:rPr lang="zh-CN" altLang="en-US" sz="4400" b="1"/>
              <a:t>叉树</a:t>
            </a:r>
            <a:endParaRPr lang="en-US" altLang="zh-CN" sz="4400" b="1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4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4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4400" b="1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endParaRPr lang="zh-CN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34422BDE-DA13-D65E-8A2C-D3232E1D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8.3.1 </a:t>
            </a:r>
            <a:r>
              <a:rPr lang="zh-CN" altLang="en-US" sz="5400"/>
              <a:t>树的概念 </a:t>
            </a:r>
          </a:p>
        </p:txBody>
      </p:sp>
      <p:sp>
        <p:nvSpPr>
          <p:cNvPr id="4099" name="内容占位符 2">
            <a:extLst>
              <a:ext uri="{FF2B5EF4-FFF2-40B4-BE49-F238E27FC236}">
                <a16:creationId xmlns:a16="http://schemas.microsoft.com/office/drawing/2014/main" id="{5B6C5D27-ADF9-4CFD-B969-F70731542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00225"/>
            <a:ext cx="8964612" cy="50847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8.3.1</a:t>
            </a:r>
            <a:r>
              <a:rPr lang="zh-CN" altLang="zh-CN"/>
              <a:t>无圈连通无向图称作</a:t>
            </a:r>
            <a:r>
              <a:rPr lang="zh-CN" altLang="zh-CN" b="1">
                <a:solidFill>
                  <a:srgbClr val="FF0000"/>
                </a:solidFill>
              </a:rPr>
              <a:t>树</a:t>
            </a:r>
            <a:r>
              <a:rPr lang="en-US" altLang="zh-CN"/>
              <a:t>(tree)</a:t>
            </a:r>
            <a:r>
              <a:rPr lang="zh-CN" altLang="zh-CN"/>
              <a:t>。度数为</a:t>
            </a:r>
            <a:r>
              <a:rPr lang="en-US" altLang="zh-CN"/>
              <a:t>1</a:t>
            </a:r>
            <a:r>
              <a:rPr lang="zh-CN" altLang="zh-CN"/>
              <a:t>的结点称为树的</a:t>
            </a:r>
            <a:r>
              <a:rPr lang="zh-CN" altLang="zh-CN" b="1">
                <a:solidFill>
                  <a:srgbClr val="FF0000"/>
                </a:solidFill>
              </a:rPr>
              <a:t>叶</a:t>
            </a:r>
            <a:r>
              <a:rPr lang="en-US" altLang="zh-CN"/>
              <a:t>(leafage)</a:t>
            </a:r>
            <a:r>
              <a:rPr lang="zh-CN" altLang="zh-CN"/>
              <a:t>，度数大于</a:t>
            </a:r>
            <a:r>
              <a:rPr lang="en-US" altLang="zh-CN"/>
              <a:t>1</a:t>
            </a:r>
            <a:r>
              <a:rPr lang="zh-CN" altLang="zh-CN"/>
              <a:t>的结点称为树的</a:t>
            </a:r>
            <a:r>
              <a:rPr lang="zh-CN" altLang="zh-CN" b="1">
                <a:solidFill>
                  <a:srgbClr val="FF0000"/>
                </a:solidFill>
              </a:rPr>
              <a:t>分枝点</a:t>
            </a:r>
            <a:r>
              <a:rPr lang="en-US" altLang="zh-CN"/>
              <a:t>(branch vertex)</a:t>
            </a:r>
            <a:r>
              <a:rPr lang="zh-CN" altLang="zh-CN"/>
              <a:t>或</a:t>
            </a:r>
            <a:r>
              <a:rPr lang="zh-CN" altLang="zh-CN" b="1">
                <a:solidFill>
                  <a:srgbClr val="FF0000"/>
                </a:solidFill>
              </a:rPr>
              <a:t>内点</a:t>
            </a:r>
            <a:r>
              <a:rPr lang="zh-CN" altLang="zh-CN"/>
              <a:t>。</a:t>
            </a:r>
            <a:endParaRPr lang="en-US" altLang="zh-CN"/>
          </a:p>
          <a:p>
            <a:pPr>
              <a:lnSpc>
                <a:spcPct val="200000"/>
              </a:lnSpc>
            </a:pPr>
            <a:r>
              <a:rPr lang="zh-CN" altLang="zh-CN"/>
              <a:t>不相交的若干树称为</a:t>
            </a:r>
            <a:r>
              <a:rPr lang="zh-CN" altLang="zh-CN" b="1">
                <a:solidFill>
                  <a:srgbClr val="FF0000"/>
                </a:solidFill>
              </a:rPr>
              <a:t>森林</a:t>
            </a:r>
            <a:r>
              <a:rPr lang="en-US" altLang="zh-CN"/>
              <a:t>(forest)</a:t>
            </a:r>
            <a:r>
              <a:rPr lang="zh-CN" altLang="zh-CN"/>
              <a:t>，即森林的每个连通分支是树。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078EF01E-8C95-0C2C-4F95-EC32C5B9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8.3.1 </a:t>
            </a:r>
            <a:r>
              <a:rPr lang="zh-CN" altLang="en-US" sz="5400">
                <a:solidFill>
                  <a:srgbClr val="333399"/>
                </a:solidFill>
              </a:rPr>
              <a:t>树的概念 </a:t>
            </a:r>
            <a:endParaRPr lang="zh-CN" altLang="en-US"/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06CA6AF4-69BA-A8CB-D5F1-50E78935B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3" y="1844675"/>
            <a:ext cx="8878887" cy="48974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树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无向 连通 无圈 </a:t>
            </a:r>
            <a:r>
              <a:rPr lang="zh-CN" altLang="en-US">
                <a:solidFill>
                  <a:srgbClr val="FF0000"/>
                </a:solidFill>
              </a:rPr>
              <a:t>图</a:t>
            </a:r>
          </a:p>
        </p:txBody>
      </p:sp>
      <p:sp>
        <p:nvSpPr>
          <p:cNvPr id="5124" name="Rectangle 34">
            <a:extLst>
              <a:ext uri="{FF2B5EF4-FFF2-40B4-BE49-F238E27FC236}">
                <a16:creationId xmlns:a16="http://schemas.microsoft.com/office/drawing/2014/main" id="{AA93E825-EA99-2537-70F7-E951AEDAB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125" name="Group 1">
            <a:extLst>
              <a:ext uri="{FF2B5EF4-FFF2-40B4-BE49-F238E27FC236}">
                <a16:creationId xmlns:a16="http://schemas.microsoft.com/office/drawing/2014/main" id="{A1E6515F-3A1C-ABAA-128C-42C6922C8A2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2688" y="3108325"/>
            <a:ext cx="6773862" cy="2552700"/>
            <a:chOff x="2287" y="10475"/>
            <a:chExt cx="6274" cy="2366"/>
          </a:xfrm>
        </p:grpSpPr>
        <p:sp>
          <p:nvSpPr>
            <p:cNvPr id="5126" name="AutoShape 33">
              <a:extLst>
                <a:ext uri="{FF2B5EF4-FFF2-40B4-BE49-F238E27FC236}">
                  <a16:creationId xmlns:a16="http://schemas.microsoft.com/office/drawing/2014/main" id="{BE3DEE31-E574-856A-A2A7-F1400093EF3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87" y="10475"/>
              <a:ext cx="6274" cy="2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" name="Oval 32">
              <a:extLst>
                <a:ext uri="{FF2B5EF4-FFF2-40B4-BE49-F238E27FC236}">
                  <a16:creationId xmlns:a16="http://schemas.microsoft.com/office/drawing/2014/main" id="{47D5634C-5F06-1BFA-7910-E68E8283C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148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28" name="Oval 31">
              <a:extLst>
                <a:ext uri="{FF2B5EF4-FFF2-40B4-BE49-F238E27FC236}">
                  <a16:creationId xmlns:a16="http://schemas.microsoft.com/office/drawing/2014/main" id="{6AED69B1-81BE-0906-D5C4-C64F51A8C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" y="104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29" name="Oval 30">
              <a:extLst>
                <a:ext uri="{FF2B5EF4-FFF2-40B4-BE49-F238E27FC236}">
                  <a16:creationId xmlns:a16="http://schemas.microsoft.com/office/drawing/2014/main" id="{03C89CD9-40BA-126B-34E0-0B38EE618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1471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0" name="Oval 29">
              <a:extLst>
                <a:ext uri="{FF2B5EF4-FFF2-40B4-BE49-F238E27FC236}">
                  <a16:creationId xmlns:a16="http://schemas.microsoft.com/office/drawing/2014/main" id="{EF8BA38A-E050-D977-39DC-34DC7FCDF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0483"/>
              <a:ext cx="222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1" name="Oval 28">
              <a:extLst>
                <a:ext uri="{FF2B5EF4-FFF2-40B4-BE49-F238E27FC236}">
                  <a16:creationId xmlns:a16="http://schemas.microsoft.com/office/drawing/2014/main" id="{64B45DED-5258-F1EF-48DB-1FCCC2646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1146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2" name="Oval 27">
              <a:extLst>
                <a:ext uri="{FF2B5EF4-FFF2-40B4-BE49-F238E27FC236}">
                  <a16:creationId xmlns:a16="http://schemas.microsoft.com/office/drawing/2014/main" id="{27E2C6DE-04C2-F5FD-0CAB-D504CD156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1469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3" name="Oval 26">
              <a:extLst>
                <a:ext uri="{FF2B5EF4-FFF2-40B4-BE49-F238E27FC236}">
                  <a16:creationId xmlns:a16="http://schemas.microsoft.com/office/drawing/2014/main" id="{309760F8-A92D-7A87-2BF3-4D541CFC1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200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4" name="Oval 25">
              <a:extLst>
                <a:ext uri="{FF2B5EF4-FFF2-40B4-BE49-F238E27FC236}">
                  <a16:creationId xmlns:a16="http://schemas.microsoft.com/office/drawing/2014/main" id="{678CF2D4-C18B-0D2A-F936-313021EFA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5" name="Oval 24">
              <a:extLst>
                <a:ext uri="{FF2B5EF4-FFF2-40B4-BE49-F238E27FC236}">
                  <a16:creationId xmlns:a16="http://schemas.microsoft.com/office/drawing/2014/main" id="{728ABE07-B90E-7770-F428-D245021BC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6" name="Oval 23">
              <a:extLst>
                <a:ext uri="{FF2B5EF4-FFF2-40B4-BE49-F238E27FC236}">
                  <a16:creationId xmlns:a16="http://schemas.microsoft.com/office/drawing/2014/main" id="{B4C10471-86AE-382E-1B4F-4DB7D92E2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2036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7" name="Oval 22">
              <a:extLst>
                <a:ext uri="{FF2B5EF4-FFF2-40B4-BE49-F238E27FC236}">
                  <a16:creationId xmlns:a16="http://schemas.microsoft.com/office/drawing/2014/main" id="{CE504ABF-A7E0-16D9-056D-5A7770BA7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2611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8" name="Oval 21">
              <a:extLst>
                <a:ext uri="{FF2B5EF4-FFF2-40B4-BE49-F238E27FC236}">
                  <a16:creationId xmlns:a16="http://schemas.microsoft.com/office/drawing/2014/main" id="{B0126EFE-BD1A-2626-94D2-802ACEF9E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9" name="Oval 20">
              <a:extLst>
                <a:ext uri="{FF2B5EF4-FFF2-40B4-BE49-F238E27FC236}">
                  <a16:creationId xmlns:a16="http://schemas.microsoft.com/office/drawing/2014/main" id="{0F0FFC4B-330C-DD19-A723-ADD7C970A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2611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40" name="Oval 19">
              <a:extLst>
                <a:ext uri="{FF2B5EF4-FFF2-40B4-BE49-F238E27FC236}">
                  <a16:creationId xmlns:a16="http://schemas.microsoft.com/office/drawing/2014/main" id="{253BD60E-1B90-A4FB-37AF-38B241DD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2033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5141" name="AutoShape 18">
              <a:extLst>
                <a:ext uri="{FF2B5EF4-FFF2-40B4-BE49-F238E27FC236}">
                  <a16:creationId xmlns:a16="http://schemas.microsoft.com/office/drawing/2014/main" id="{18622F48-A5A0-F022-690E-9EC07D8125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20" y="10594"/>
              <a:ext cx="70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2" name="AutoShape 17">
              <a:extLst>
                <a:ext uri="{FF2B5EF4-FFF2-40B4-BE49-F238E27FC236}">
                  <a16:creationId xmlns:a16="http://schemas.microsoft.com/office/drawing/2014/main" id="{C0E37CA3-0FBE-17EB-DD42-8EDABD7A17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31" y="10705"/>
              <a:ext cx="15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3" name="AutoShape 15">
              <a:extLst>
                <a:ext uri="{FF2B5EF4-FFF2-40B4-BE49-F238E27FC236}">
                  <a16:creationId xmlns:a16="http://schemas.microsoft.com/office/drawing/2014/main" id="{7EFC22D0-9EFC-A9D4-F463-3F56206607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86" y="11582"/>
              <a:ext cx="750" cy="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4" name="AutoShape 14">
              <a:extLst>
                <a:ext uri="{FF2B5EF4-FFF2-40B4-BE49-F238E27FC236}">
                  <a16:creationId xmlns:a16="http://schemas.microsoft.com/office/drawing/2014/main" id="{046B6EC5-9AB8-E24D-01F4-B6117EA167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6" y="11706"/>
              <a:ext cx="33" cy="9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5" name="AutoShape 13">
              <a:extLst>
                <a:ext uri="{FF2B5EF4-FFF2-40B4-BE49-F238E27FC236}">
                  <a16:creationId xmlns:a16="http://schemas.microsoft.com/office/drawing/2014/main" id="{3A929C57-00BB-CADA-C15F-4E87525F8E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19" y="12722"/>
              <a:ext cx="71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6" name="AutoShape 12">
              <a:extLst>
                <a:ext uri="{FF2B5EF4-FFF2-40B4-BE49-F238E27FC236}">
                  <a16:creationId xmlns:a16="http://schemas.microsoft.com/office/drawing/2014/main" id="{7BCCB6D3-181C-CA66-37D6-CE941050AC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4" y="11673"/>
              <a:ext cx="513" cy="9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7" name="AutoShape 10">
              <a:extLst>
                <a:ext uri="{FF2B5EF4-FFF2-40B4-BE49-F238E27FC236}">
                  <a16:creationId xmlns:a16="http://schemas.microsoft.com/office/drawing/2014/main" id="{7DBD4E00-A9F5-269C-FC7A-0571259862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6" y="11580"/>
              <a:ext cx="78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8" name="AutoShape 9">
              <a:extLst>
                <a:ext uri="{FF2B5EF4-FFF2-40B4-BE49-F238E27FC236}">
                  <a16:creationId xmlns:a16="http://schemas.microsoft.com/office/drawing/2014/main" id="{90968F2B-87BF-B6C0-3915-6B7F874387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24" y="10985"/>
              <a:ext cx="710" cy="5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9" name="AutoShape 7">
              <a:extLst>
                <a:ext uri="{FF2B5EF4-FFF2-40B4-BE49-F238E27FC236}">
                  <a16:creationId xmlns:a16="http://schemas.microsoft.com/office/drawing/2014/main" id="{9467D955-0269-265A-2A47-AF91F2A7E4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23" y="10907"/>
              <a:ext cx="8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0" name="AutoShape 6">
              <a:extLst>
                <a:ext uri="{FF2B5EF4-FFF2-40B4-BE49-F238E27FC236}">
                  <a16:creationId xmlns:a16="http://schemas.microsoft.com/office/drawing/2014/main" id="{E2AAF29F-CFF0-0217-9887-01D09E6D19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23" y="12119"/>
              <a:ext cx="889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1" name="AutoShape 4">
              <a:extLst>
                <a:ext uri="{FF2B5EF4-FFF2-40B4-BE49-F238E27FC236}">
                  <a16:creationId xmlns:a16="http://schemas.microsoft.com/office/drawing/2014/main" id="{2CCA10D9-7994-516B-6EB4-FB8583184D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23" y="11018"/>
              <a:ext cx="1" cy="9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2" name="AutoShape 3">
              <a:extLst>
                <a:ext uri="{FF2B5EF4-FFF2-40B4-BE49-F238E27FC236}">
                  <a16:creationId xmlns:a16="http://schemas.microsoft.com/office/drawing/2014/main" id="{79EE4636-1399-D845-3D67-54C1A88EAF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34" y="12119"/>
              <a:ext cx="798" cy="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3" name="AutoShape 2">
              <a:extLst>
                <a:ext uri="{FF2B5EF4-FFF2-40B4-BE49-F238E27FC236}">
                  <a16:creationId xmlns:a16="http://schemas.microsoft.com/office/drawing/2014/main" id="{CC2DABE1-E762-8BB9-B8F1-6AA1A5E3B7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2" y="11580"/>
              <a:ext cx="843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2522129A-E7D5-BE99-6334-584A94DA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8.3.1 </a:t>
            </a:r>
            <a:r>
              <a:rPr lang="zh-CN" altLang="en-US" sz="5400"/>
              <a:t>树的概念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76610B-B11F-21E5-17CD-503E844D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844675"/>
            <a:ext cx="8888412" cy="5013325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8.3.1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下列四命题相互等价。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(1)T</a:t>
            </a:r>
            <a:r>
              <a:rPr lang="zh-CN" altLang="zh-CN" dirty="0"/>
              <a:t>是树</a:t>
            </a:r>
            <a:r>
              <a:rPr lang="zh-CN" altLang="en-US" dirty="0">
                <a:sym typeface="Symbol"/>
              </a:rPr>
              <a:t>。</a:t>
            </a:r>
            <a:endParaRPr lang="en-US" altLang="zh-CN" dirty="0">
              <a:sym typeface="Symbol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(2)T</a:t>
            </a:r>
            <a:r>
              <a:rPr lang="zh-CN" altLang="zh-CN" dirty="0"/>
              <a:t>无环且任</a:t>
            </a:r>
            <a:r>
              <a:rPr lang="zh-CN" altLang="en-US" dirty="0"/>
              <a:t>两</a:t>
            </a:r>
            <a:r>
              <a:rPr lang="zh-CN" altLang="zh-CN" dirty="0"/>
              <a:t>不同顶点间有且仅有一条路。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(3)T</a:t>
            </a:r>
            <a:r>
              <a:rPr lang="zh-CN" altLang="zh-CN" dirty="0"/>
              <a:t>连通且对</a:t>
            </a:r>
            <a:r>
              <a:rPr lang="en-US" altLang="zh-CN" dirty="0">
                <a:sym typeface="Symbol"/>
              </a:rPr>
              <a:t></a:t>
            </a:r>
            <a:r>
              <a:rPr lang="en-US" altLang="zh-CN" dirty="0"/>
              <a:t>e</a:t>
            </a:r>
            <a:r>
              <a:rPr lang="zh-CN" altLang="zh-CN" dirty="0"/>
              <a:t>∈</a:t>
            </a:r>
            <a:r>
              <a:rPr lang="en-US" altLang="zh-CN" dirty="0"/>
              <a:t>E(T)</a:t>
            </a:r>
            <a:r>
              <a:rPr lang="zh-CN" altLang="zh-CN" dirty="0"/>
              <a:t>，有</a:t>
            </a:r>
            <a:r>
              <a:rPr lang="en-US" altLang="zh-CN" dirty="0"/>
              <a:t>W(T</a:t>
            </a:r>
            <a:r>
              <a:rPr lang="zh-CN" altLang="zh-CN" dirty="0"/>
              <a:t>－</a:t>
            </a:r>
            <a:r>
              <a:rPr lang="en-US" altLang="zh-CN" dirty="0"/>
              <a:t>e)</a:t>
            </a:r>
            <a:r>
              <a:rPr lang="zh-CN" altLang="zh-CN" dirty="0"/>
              <a:t>＝</a:t>
            </a:r>
            <a:r>
              <a:rPr lang="en-US" altLang="zh-CN" dirty="0"/>
              <a:t>2</a:t>
            </a:r>
            <a:r>
              <a:rPr lang="zh-CN" altLang="zh-CN" dirty="0"/>
              <a:t>。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(4)T</a:t>
            </a:r>
            <a:r>
              <a:rPr lang="zh-CN" altLang="zh-CN" dirty="0"/>
              <a:t>连通且</a:t>
            </a:r>
            <a:r>
              <a:rPr lang="en-US" altLang="zh-CN" dirty="0"/>
              <a:t>e</a:t>
            </a:r>
            <a:r>
              <a:rPr lang="zh-CN" altLang="zh-CN" dirty="0"/>
              <a:t>＝</a:t>
            </a:r>
            <a:r>
              <a:rPr lang="en-US" altLang="zh-CN" dirty="0"/>
              <a:t>v</a:t>
            </a:r>
            <a:r>
              <a:rPr lang="zh-CN" altLang="zh-CN" dirty="0"/>
              <a:t>－</a:t>
            </a:r>
            <a:r>
              <a:rPr lang="en-US" altLang="zh-CN" dirty="0"/>
              <a:t>1</a:t>
            </a:r>
            <a:r>
              <a:rPr lang="zh-CN" altLang="en-US" dirty="0"/>
              <a:t>（</a:t>
            </a:r>
            <a:r>
              <a:rPr lang="en-US" altLang="zh-CN" dirty="0"/>
              <a:t>e</a:t>
            </a:r>
            <a:r>
              <a:rPr lang="zh-CN" altLang="zh-CN" dirty="0"/>
              <a:t>边数，</a:t>
            </a:r>
            <a:r>
              <a:rPr lang="en-US" altLang="zh-CN" dirty="0"/>
              <a:t>v</a:t>
            </a:r>
            <a:r>
              <a:rPr lang="zh-CN" altLang="zh-CN" dirty="0"/>
              <a:t>为顶点数</a:t>
            </a:r>
            <a:r>
              <a:rPr lang="zh-CN" altLang="en-US" dirty="0"/>
              <a:t>）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lnSpc>
                <a:spcPct val="13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8.3.2  </a:t>
            </a:r>
            <a:r>
              <a:rPr lang="zh-CN" altLang="zh-CN" dirty="0"/>
              <a:t>设</a:t>
            </a:r>
            <a:r>
              <a:rPr lang="en-US" altLang="zh-CN" dirty="0"/>
              <a:t>T</a:t>
            </a:r>
            <a:r>
              <a:rPr lang="zh-CN" altLang="zh-CN" dirty="0"/>
              <a:t>是</a:t>
            </a:r>
            <a:r>
              <a:rPr lang="en-US" altLang="zh-CN" dirty="0"/>
              <a:t>n</a:t>
            </a:r>
            <a:r>
              <a:rPr lang="zh-CN" altLang="zh-CN" dirty="0"/>
              <a:t>阶非平凡树，则</a:t>
            </a:r>
            <a:r>
              <a:rPr lang="en-US" altLang="zh-CN" dirty="0"/>
              <a:t>T</a:t>
            </a:r>
            <a:r>
              <a:rPr lang="zh-CN" altLang="zh-CN" dirty="0"/>
              <a:t>中至少有</a:t>
            </a:r>
            <a:r>
              <a:rPr lang="en-US" altLang="zh-CN" dirty="0"/>
              <a:t>2</a:t>
            </a:r>
            <a:r>
              <a:rPr lang="zh-CN" altLang="zh-CN" dirty="0"/>
              <a:t>片树叶。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FD0675A6-4FA1-AACF-3D68-B7A81338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8.3.1 </a:t>
            </a:r>
            <a:r>
              <a:rPr lang="zh-CN" altLang="en-US" sz="5400"/>
              <a:t>树的概念 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236748F1-9BB7-447A-2D3B-45C6A0640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844675"/>
            <a:ext cx="8928100" cy="5013325"/>
          </a:xfrm>
        </p:spPr>
        <p:txBody>
          <a:bodyPr/>
          <a:lstStyle/>
          <a:p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8.3.1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画出全部</a:t>
            </a:r>
            <a:r>
              <a:rPr lang="en-US" altLang="zh-CN"/>
              <a:t>6</a:t>
            </a:r>
            <a:r>
              <a:rPr lang="zh-CN" altLang="zh-CN"/>
              <a:t>阶非同构树。</a:t>
            </a:r>
            <a:endParaRPr lang="zh-CN" altLang="en-US"/>
          </a:p>
        </p:txBody>
      </p:sp>
      <p:sp>
        <p:nvSpPr>
          <p:cNvPr id="7172" name="Rectangle 69">
            <a:extLst>
              <a:ext uri="{FF2B5EF4-FFF2-40B4-BE49-F238E27FC236}">
                <a16:creationId xmlns:a16="http://schemas.microsoft.com/office/drawing/2014/main" id="{8400E392-617B-88D4-F363-8E1C97254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173" name="Group 1">
            <a:extLst>
              <a:ext uri="{FF2B5EF4-FFF2-40B4-BE49-F238E27FC236}">
                <a16:creationId xmlns:a16="http://schemas.microsoft.com/office/drawing/2014/main" id="{556474C9-54D9-866D-AABC-13B9DE7ED2E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51063" y="2041525"/>
            <a:ext cx="6165850" cy="4772025"/>
            <a:chOff x="2307" y="7497"/>
            <a:chExt cx="7706" cy="5965"/>
          </a:xfrm>
        </p:grpSpPr>
        <p:sp>
          <p:nvSpPr>
            <p:cNvPr id="7174" name="AutoShape 68">
              <a:extLst>
                <a:ext uri="{FF2B5EF4-FFF2-40B4-BE49-F238E27FC236}">
                  <a16:creationId xmlns:a16="http://schemas.microsoft.com/office/drawing/2014/main" id="{83DA56C2-1304-7396-E14A-7552893AD11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07" y="7497"/>
              <a:ext cx="7706" cy="5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" name="Oval 67">
              <a:extLst>
                <a:ext uri="{FF2B5EF4-FFF2-40B4-BE49-F238E27FC236}">
                  <a16:creationId xmlns:a16="http://schemas.microsoft.com/office/drawing/2014/main" id="{63522E46-7E53-D2E2-92A6-9102F1345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1" y="8266"/>
              <a:ext cx="229" cy="2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6" name="Oval 66">
              <a:extLst>
                <a:ext uri="{FF2B5EF4-FFF2-40B4-BE49-F238E27FC236}">
                  <a16:creationId xmlns:a16="http://schemas.microsoft.com/office/drawing/2014/main" id="{009364A9-52FC-F080-1686-26A82CED8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8266"/>
              <a:ext cx="229" cy="2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7" name="Oval 65">
              <a:extLst>
                <a:ext uri="{FF2B5EF4-FFF2-40B4-BE49-F238E27FC236}">
                  <a16:creationId xmlns:a16="http://schemas.microsoft.com/office/drawing/2014/main" id="{4F9DBE19-5EAC-71DA-0476-587C3D26B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" y="8266"/>
              <a:ext cx="228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8" name="Oval 64">
              <a:extLst>
                <a:ext uri="{FF2B5EF4-FFF2-40B4-BE49-F238E27FC236}">
                  <a16:creationId xmlns:a16="http://schemas.microsoft.com/office/drawing/2014/main" id="{C436EF35-9EA0-93B0-D380-958B59092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" y="8266"/>
              <a:ext cx="231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9" name="Oval 63">
              <a:extLst>
                <a:ext uri="{FF2B5EF4-FFF2-40B4-BE49-F238E27FC236}">
                  <a16:creationId xmlns:a16="http://schemas.microsoft.com/office/drawing/2014/main" id="{9A75EFFD-40C4-9301-748F-C4CC49AD7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8265"/>
              <a:ext cx="231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0" name="Oval 62">
              <a:extLst>
                <a:ext uri="{FF2B5EF4-FFF2-40B4-BE49-F238E27FC236}">
                  <a16:creationId xmlns:a16="http://schemas.microsoft.com/office/drawing/2014/main" id="{5DF4BDDF-E63C-539C-8CA5-7ED5F2CD0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" y="8265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1" name="Oval 61">
              <a:extLst>
                <a:ext uri="{FF2B5EF4-FFF2-40B4-BE49-F238E27FC236}">
                  <a16:creationId xmlns:a16="http://schemas.microsoft.com/office/drawing/2014/main" id="{8888A44C-2253-6F66-7E53-18A2E4F39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" y="8266"/>
              <a:ext cx="229" cy="2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2" name="Oval 60">
              <a:extLst>
                <a:ext uri="{FF2B5EF4-FFF2-40B4-BE49-F238E27FC236}">
                  <a16:creationId xmlns:a16="http://schemas.microsoft.com/office/drawing/2014/main" id="{247AE3E0-3149-21A7-7E18-F9D3F9AB0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5" y="8268"/>
              <a:ext cx="230" cy="23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3" name="Oval 59">
              <a:extLst>
                <a:ext uri="{FF2B5EF4-FFF2-40B4-BE49-F238E27FC236}">
                  <a16:creationId xmlns:a16="http://schemas.microsoft.com/office/drawing/2014/main" id="{CEB07A38-56B5-F9D7-61AC-F4B293C3B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1" y="8270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4" name="Oval 58">
              <a:extLst>
                <a:ext uri="{FF2B5EF4-FFF2-40B4-BE49-F238E27FC236}">
                  <a16:creationId xmlns:a16="http://schemas.microsoft.com/office/drawing/2014/main" id="{083A7E97-5027-F7B4-768B-1DC2BEE97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1" y="8265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5" name="Oval 57">
              <a:extLst>
                <a:ext uri="{FF2B5EF4-FFF2-40B4-BE49-F238E27FC236}">
                  <a16:creationId xmlns:a16="http://schemas.microsoft.com/office/drawing/2014/main" id="{A2D445CB-BB5C-9039-B70D-BB055B2BF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6" y="8270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6" name="Oval 56">
              <a:extLst>
                <a:ext uri="{FF2B5EF4-FFF2-40B4-BE49-F238E27FC236}">
                  <a16:creationId xmlns:a16="http://schemas.microsoft.com/office/drawing/2014/main" id="{C13EA8CD-1212-1CA6-6C93-B0C84CE8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1" y="7505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7" name="Oval 55">
              <a:extLst>
                <a:ext uri="{FF2B5EF4-FFF2-40B4-BE49-F238E27FC236}">
                  <a16:creationId xmlns:a16="http://schemas.microsoft.com/office/drawing/2014/main" id="{45ADAEDE-2746-7143-8A2D-039D66AC9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8" name="Oval 54">
              <a:extLst>
                <a:ext uri="{FF2B5EF4-FFF2-40B4-BE49-F238E27FC236}">
                  <a16:creationId xmlns:a16="http://schemas.microsoft.com/office/drawing/2014/main" id="{75FB1217-FD79-8CEB-D832-7167C2BAB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9" name="Oval 53">
              <a:extLst>
                <a:ext uri="{FF2B5EF4-FFF2-40B4-BE49-F238E27FC236}">
                  <a16:creationId xmlns:a16="http://schemas.microsoft.com/office/drawing/2014/main" id="{3E1D8EC1-9759-6EEB-A4A8-9B314BBBE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0" name="Oval 52">
              <a:extLst>
                <a:ext uri="{FF2B5EF4-FFF2-40B4-BE49-F238E27FC236}">
                  <a16:creationId xmlns:a16="http://schemas.microsoft.com/office/drawing/2014/main" id="{98F70F0B-5A83-8D5E-867A-98276CB9F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1" name="Oval 51">
              <a:extLst>
                <a:ext uri="{FF2B5EF4-FFF2-40B4-BE49-F238E27FC236}">
                  <a16:creationId xmlns:a16="http://schemas.microsoft.com/office/drawing/2014/main" id="{91BFD0BE-DFEE-C5E8-34E7-26DEF651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2" name="Oval 50">
              <a:extLst>
                <a:ext uri="{FF2B5EF4-FFF2-40B4-BE49-F238E27FC236}">
                  <a16:creationId xmlns:a16="http://schemas.microsoft.com/office/drawing/2014/main" id="{197582D7-7E58-4D96-E713-12C5A6A0C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" y="923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3" name="Oval 49">
              <a:extLst>
                <a:ext uri="{FF2B5EF4-FFF2-40B4-BE49-F238E27FC236}">
                  <a16:creationId xmlns:a16="http://schemas.microsoft.com/office/drawing/2014/main" id="{AD28CB16-0104-2448-8F8D-56FA304AC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1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4" name="Oval 48">
              <a:extLst>
                <a:ext uri="{FF2B5EF4-FFF2-40B4-BE49-F238E27FC236}">
                  <a16:creationId xmlns:a16="http://schemas.microsoft.com/office/drawing/2014/main" id="{393B8F7F-2B81-413D-E4D4-E57A70D13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5" name="Oval 47">
              <a:extLst>
                <a:ext uri="{FF2B5EF4-FFF2-40B4-BE49-F238E27FC236}">
                  <a16:creationId xmlns:a16="http://schemas.microsoft.com/office/drawing/2014/main" id="{DF546DBD-BB2F-64D4-2A5E-F3F41BE7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6" name="Oval 46">
              <a:extLst>
                <a:ext uri="{FF2B5EF4-FFF2-40B4-BE49-F238E27FC236}">
                  <a16:creationId xmlns:a16="http://schemas.microsoft.com/office/drawing/2014/main" id="{268E269E-0D0F-95C4-2A0D-DFF9CC971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6" y="1010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7" name="Oval 45">
              <a:extLst>
                <a:ext uri="{FF2B5EF4-FFF2-40B4-BE49-F238E27FC236}">
                  <a16:creationId xmlns:a16="http://schemas.microsoft.com/office/drawing/2014/main" id="{691642AE-3DE4-C6C5-7CD3-C79B9B56F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" y="923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8" name="Oval 44">
              <a:extLst>
                <a:ext uri="{FF2B5EF4-FFF2-40B4-BE49-F238E27FC236}">
                  <a16:creationId xmlns:a16="http://schemas.microsoft.com/office/drawing/2014/main" id="{AF7CEEAB-13F1-09F0-CD79-62ABCCEEC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" y="9237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9" name="Oval 43">
              <a:extLst>
                <a:ext uri="{FF2B5EF4-FFF2-40B4-BE49-F238E27FC236}">
                  <a16:creationId xmlns:a16="http://schemas.microsoft.com/office/drawing/2014/main" id="{A492D091-B3ED-6567-0C38-6B731F38A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4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0" name="Oval 42">
              <a:extLst>
                <a:ext uri="{FF2B5EF4-FFF2-40B4-BE49-F238E27FC236}">
                  <a16:creationId xmlns:a16="http://schemas.microsoft.com/office/drawing/2014/main" id="{B6E42CF6-F50C-9C7D-84CF-C4620798B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1" name="Oval 41">
              <a:extLst>
                <a:ext uri="{FF2B5EF4-FFF2-40B4-BE49-F238E27FC236}">
                  <a16:creationId xmlns:a16="http://schemas.microsoft.com/office/drawing/2014/main" id="{E52C031B-84C3-51A9-4080-4BF993767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2" name="Oval 40">
              <a:extLst>
                <a:ext uri="{FF2B5EF4-FFF2-40B4-BE49-F238E27FC236}">
                  <a16:creationId xmlns:a16="http://schemas.microsoft.com/office/drawing/2014/main" id="{28489F18-280A-09E9-CBE9-1739BAEBB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5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3" name="Oval 39">
              <a:extLst>
                <a:ext uri="{FF2B5EF4-FFF2-40B4-BE49-F238E27FC236}">
                  <a16:creationId xmlns:a16="http://schemas.microsoft.com/office/drawing/2014/main" id="{A670CAF0-5484-231A-A1E2-9FA727716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113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4" name="Oval 38">
              <a:extLst>
                <a:ext uri="{FF2B5EF4-FFF2-40B4-BE49-F238E27FC236}">
                  <a16:creationId xmlns:a16="http://schemas.microsoft.com/office/drawing/2014/main" id="{2251D7ED-7892-0DBA-0500-439342E05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1322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5" name="Oval 37">
              <a:extLst>
                <a:ext uri="{FF2B5EF4-FFF2-40B4-BE49-F238E27FC236}">
                  <a16:creationId xmlns:a16="http://schemas.microsoft.com/office/drawing/2014/main" id="{423DC5E7-93BD-8E1E-59F9-EE77194B8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" y="1322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6" name="Oval 36">
              <a:extLst>
                <a:ext uri="{FF2B5EF4-FFF2-40B4-BE49-F238E27FC236}">
                  <a16:creationId xmlns:a16="http://schemas.microsoft.com/office/drawing/2014/main" id="{D4004C1D-2A48-0825-8372-38D08B51B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4" y="113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7" name="Oval 35">
              <a:extLst>
                <a:ext uri="{FF2B5EF4-FFF2-40B4-BE49-F238E27FC236}">
                  <a16:creationId xmlns:a16="http://schemas.microsoft.com/office/drawing/2014/main" id="{B401167C-938B-FF59-BD3E-B12323C9C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9" y="113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8" name="Oval 34">
              <a:extLst>
                <a:ext uri="{FF2B5EF4-FFF2-40B4-BE49-F238E27FC236}">
                  <a16:creationId xmlns:a16="http://schemas.microsoft.com/office/drawing/2014/main" id="{830667A5-B1B1-4100-CEDC-2EB0B4438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7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9" name="Oval 33">
              <a:extLst>
                <a:ext uri="{FF2B5EF4-FFF2-40B4-BE49-F238E27FC236}">
                  <a16:creationId xmlns:a16="http://schemas.microsoft.com/office/drawing/2014/main" id="{01CA3B98-055F-BF2D-553D-E2EE5D85A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6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0" name="Oval 32">
              <a:extLst>
                <a:ext uri="{FF2B5EF4-FFF2-40B4-BE49-F238E27FC236}">
                  <a16:creationId xmlns:a16="http://schemas.microsoft.com/office/drawing/2014/main" id="{64904D80-FC66-72BE-96D3-63FF1F2B1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" y="12263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7211" name="AutoShape 31">
              <a:extLst>
                <a:ext uri="{FF2B5EF4-FFF2-40B4-BE49-F238E27FC236}">
                  <a16:creationId xmlns:a16="http://schemas.microsoft.com/office/drawing/2014/main" id="{15846D5E-070B-FCD7-C481-8A0064ED84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6" y="8380"/>
              <a:ext cx="44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2" name="AutoShape 30">
              <a:extLst>
                <a:ext uri="{FF2B5EF4-FFF2-40B4-BE49-F238E27FC236}">
                  <a16:creationId xmlns:a16="http://schemas.microsoft.com/office/drawing/2014/main" id="{BA7F917F-68B1-691F-77D0-9C9CD1495F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21" y="8381"/>
              <a:ext cx="46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3" name="AutoShape 29">
              <a:extLst>
                <a:ext uri="{FF2B5EF4-FFF2-40B4-BE49-F238E27FC236}">
                  <a16:creationId xmlns:a16="http://schemas.microsoft.com/office/drawing/2014/main" id="{CC429725-322B-E366-3CBC-A1B956E2C1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14" y="8381"/>
              <a:ext cx="49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4" name="AutoShape 28">
              <a:extLst>
                <a:ext uri="{FF2B5EF4-FFF2-40B4-BE49-F238E27FC236}">
                  <a16:creationId xmlns:a16="http://schemas.microsoft.com/office/drawing/2014/main" id="{5C473C13-5F21-B40D-840E-5E18073A83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34" y="8381"/>
              <a:ext cx="477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5" name="AutoShape 27">
              <a:extLst>
                <a:ext uri="{FF2B5EF4-FFF2-40B4-BE49-F238E27FC236}">
                  <a16:creationId xmlns:a16="http://schemas.microsoft.com/office/drawing/2014/main" id="{F52F2126-757C-4A93-23E0-ACAAA93F58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40" y="8383"/>
              <a:ext cx="46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6" name="AutoShape 26">
              <a:extLst>
                <a:ext uri="{FF2B5EF4-FFF2-40B4-BE49-F238E27FC236}">
                  <a16:creationId xmlns:a16="http://schemas.microsoft.com/office/drawing/2014/main" id="{7045855A-91BD-006A-C7EE-7AFB807FA0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80" y="8383"/>
              <a:ext cx="56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7" name="AutoShape 25">
              <a:extLst>
                <a:ext uri="{FF2B5EF4-FFF2-40B4-BE49-F238E27FC236}">
                  <a16:creationId xmlns:a16="http://schemas.microsoft.com/office/drawing/2014/main" id="{B38B08B2-E066-F984-1125-766E958188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75" y="8384"/>
              <a:ext cx="56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8" name="AutoShape 24">
              <a:extLst>
                <a:ext uri="{FF2B5EF4-FFF2-40B4-BE49-F238E27FC236}">
                  <a16:creationId xmlns:a16="http://schemas.microsoft.com/office/drawing/2014/main" id="{EB49A712-6A7F-C588-E62A-70137EB3B7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70" y="8380"/>
              <a:ext cx="461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9" name="AutoShape 23">
              <a:extLst>
                <a:ext uri="{FF2B5EF4-FFF2-40B4-BE49-F238E27FC236}">
                  <a16:creationId xmlns:a16="http://schemas.microsoft.com/office/drawing/2014/main" id="{AFDD0930-BB31-EF24-6BE8-A44F667FBF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60" y="8380"/>
              <a:ext cx="416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0" name="AutoShape 22">
              <a:extLst>
                <a:ext uri="{FF2B5EF4-FFF2-40B4-BE49-F238E27FC236}">
                  <a16:creationId xmlns:a16="http://schemas.microsoft.com/office/drawing/2014/main" id="{F3C80E07-F188-0DAA-45CF-792A679828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245" y="7736"/>
              <a:ext cx="1" cy="5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1" name="AutoShape 21">
              <a:extLst>
                <a:ext uri="{FF2B5EF4-FFF2-40B4-BE49-F238E27FC236}">
                  <a16:creationId xmlns:a16="http://schemas.microsoft.com/office/drawing/2014/main" id="{5BEE20E7-0B4F-2A5F-8324-B605131D7D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05" y="10223"/>
              <a:ext cx="56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2" name="AutoShape 20">
              <a:extLst>
                <a:ext uri="{FF2B5EF4-FFF2-40B4-BE49-F238E27FC236}">
                  <a16:creationId xmlns:a16="http://schemas.microsoft.com/office/drawing/2014/main" id="{E26806AF-A16B-FE1D-CAF3-1C3D40D4DC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00" y="10223"/>
              <a:ext cx="4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3" name="AutoShape 19">
              <a:extLst>
                <a:ext uri="{FF2B5EF4-FFF2-40B4-BE49-F238E27FC236}">
                  <a16:creationId xmlns:a16="http://schemas.microsoft.com/office/drawing/2014/main" id="{F5DC1CF7-A123-BFD9-6C50-C7E95B03A5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05" y="10223"/>
              <a:ext cx="4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4" name="AutoShape 18">
              <a:extLst>
                <a:ext uri="{FF2B5EF4-FFF2-40B4-BE49-F238E27FC236}">
                  <a16:creationId xmlns:a16="http://schemas.microsoft.com/office/drawing/2014/main" id="{010D7618-64F4-67EF-3F5A-D437233E41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10" y="10223"/>
              <a:ext cx="4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5" name="AutoShape 17">
              <a:extLst>
                <a:ext uri="{FF2B5EF4-FFF2-40B4-BE49-F238E27FC236}">
                  <a16:creationId xmlns:a16="http://schemas.microsoft.com/office/drawing/2014/main" id="{3D0D1740-1C17-B25F-D5C2-2ABC6B2AA2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191" y="9468"/>
              <a:ext cx="1" cy="6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6" name="AutoShape 16">
              <a:extLst>
                <a:ext uri="{FF2B5EF4-FFF2-40B4-BE49-F238E27FC236}">
                  <a16:creationId xmlns:a16="http://schemas.microsoft.com/office/drawing/2014/main" id="{BBF47AE7-274D-D21D-181E-98E879AA13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25" y="10223"/>
              <a:ext cx="67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7" name="AutoShape 15">
              <a:extLst>
                <a:ext uri="{FF2B5EF4-FFF2-40B4-BE49-F238E27FC236}">
                  <a16:creationId xmlns:a16="http://schemas.microsoft.com/office/drawing/2014/main" id="{6B621A99-9C20-263A-0490-3BAEC2EF9A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25" y="10223"/>
              <a:ext cx="56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8" name="AutoShape 14">
              <a:extLst>
                <a:ext uri="{FF2B5EF4-FFF2-40B4-BE49-F238E27FC236}">
                  <a16:creationId xmlns:a16="http://schemas.microsoft.com/office/drawing/2014/main" id="{D70CACA5-C883-EBA2-3B66-018ACE0021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20" y="10223"/>
              <a:ext cx="46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9" name="AutoShape 13">
              <a:extLst>
                <a:ext uri="{FF2B5EF4-FFF2-40B4-BE49-F238E27FC236}">
                  <a16:creationId xmlns:a16="http://schemas.microsoft.com/office/drawing/2014/main" id="{C6D13E2C-12F4-CB49-70A8-D3510B669B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11" y="9468"/>
              <a:ext cx="1" cy="6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0" name="AutoShape 12">
              <a:extLst>
                <a:ext uri="{FF2B5EF4-FFF2-40B4-BE49-F238E27FC236}">
                  <a16:creationId xmlns:a16="http://schemas.microsoft.com/office/drawing/2014/main" id="{BFEA41CA-B58A-0941-4D35-87929DB9F8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20" y="11594"/>
              <a:ext cx="4" cy="6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1" name="AutoShape 11">
              <a:extLst>
                <a:ext uri="{FF2B5EF4-FFF2-40B4-BE49-F238E27FC236}">
                  <a16:creationId xmlns:a16="http://schemas.microsoft.com/office/drawing/2014/main" id="{90994AC7-4CC7-C1D6-970F-A7D313C0DE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06" y="9468"/>
              <a:ext cx="1" cy="6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2" name="AutoShape 10">
              <a:extLst>
                <a:ext uri="{FF2B5EF4-FFF2-40B4-BE49-F238E27FC236}">
                  <a16:creationId xmlns:a16="http://schemas.microsoft.com/office/drawing/2014/main" id="{0EF4358E-F4B2-DEB9-0247-D8C680F6EE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93" y="12379"/>
              <a:ext cx="56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3" name="AutoShape 9">
              <a:extLst>
                <a:ext uri="{FF2B5EF4-FFF2-40B4-BE49-F238E27FC236}">
                  <a16:creationId xmlns:a16="http://schemas.microsoft.com/office/drawing/2014/main" id="{D33A4885-817D-EF24-BE4C-D1BC9AF478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88" y="12379"/>
              <a:ext cx="5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4" name="AutoShape 8">
              <a:extLst>
                <a:ext uri="{FF2B5EF4-FFF2-40B4-BE49-F238E27FC236}">
                  <a16:creationId xmlns:a16="http://schemas.microsoft.com/office/drawing/2014/main" id="{0D5DE189-442D-40DA-1577-0D09157CB1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38" y="12379"/>
              <a:ext cx="51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5" name="AutoShape 7">
              <a:extLst>
                <a:ext uri="{FF2B5EF4-FFF2-40B4-BE49-F238E27FC236}">
                  <a16:creationId xmlns:a16="http://schemas.microsoft.com/office/drawing/2014/main" id="{C5CD86D8-E9C0-64D3-D555-71DA32DD01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24" y="12494"/>
              <a:ext cx="1" cy="7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6" name="AutoShape 6">
              <a:extLst>
                <a:ext uri="{FF2B5EF4-FFF2-40B4-BE49-F238E27FC236}">
                  <a16:creationId xmlns:a16="http://schemas.microsoft.com/office/drawing/2014/main" id="{BFC37AAB-DE1F-6973-D6C2-6E3FB49AE4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9" y="12379"/>
              <a:ext cx="84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7" name="AutoShape 5">
              <a:extLst>
                <a:ext uri="{FF2B5EF4-FFF2-40B4-BE49-F238E27FC236}">
                  <a16:creationId xmlns:a16="http://schemas.microsoft.com/office/drawing/2014/main" id="{3592666D-3B88-A5D0-CAFF-623FB912D2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75" y="12379"/>
              <a:ext cx="77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8" name="AutoShape 4">
              <a:extLst>
                <a:ext uri="{FF2B5EF4-FFF2-40B4-BE49-F238E27FC236}">
                  <a16:creationId xmlns:a16="http://schemas.microsoft.com/office/drawing/2014/main" id="{6A959482-C0C6-4CDA-FBCF-442CA98628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94" y="11560"/>
              <a:ext cx="467" cy="7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9" name="AutoShape 3">
              <a:extLst>
                <a:ext uri="{FF2B5EF4-FFF2-40B4-BE49-F238E27FC236}">
                  <a16:creationId xmlns:a16="http://schemas.microsoft.com/office/drawing/2014/main" id="{314CBDE4-0C6D-68C6-4329-0F3651DE7F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61" y="11594"/>
              <a:ext cx="428" cy="6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40" name="AutoShape 2">
              <a:extLst>
                <a:ext uri="{FF2B5EF4-FFF2-40B4-BE49-F238E27FC236}">
                  <a16:creationId xmlns:a16="http://schemas.microsoft.com/office/drawing/2014/main" id="{262CE923-A17F-CA1D-86B5-CDEFCEC0B1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50" y="12494"/>
              <a:ext cx="11" cy="7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FE6299F7-5A5D-16EB-FC56-A7DCF246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8.3.1 </a:t>
            </a:r>
            <a:r>
              <a:rPr lang="zh-CN" altLang="en-US" b="1"/>
              <a:t>树的概念</a:t>
            </a:r>
            <a:r>
              <a:rPr lang="zh-CN" altLang="en-US"/>
              <a:t> 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166B9A5D-765B-5E35-2DC9-10C4729CF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84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8.3.2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同构</a:t>
            </a:r>
            <a:r>
              <a:rPr lang="zh-CN" altLang="en-US"/>
              <a:t>否？</a:t>
            </a:r>
          </a:p>
        </p:txBody>
      </p:sp>
      <p:sp>
        <p:nvSpPr>
          <p:cNvPr id="8196" name="Rectangle 37">
            <a:extLst>
              <a:ext uri="{FF2B5EF4-FFF2-40B4-BE49-F238E27FC236}">
                <a16:creationId xmlns:a16="http://schemas.microsoft.com/office/drawing/2014/main" id="{095BF70E-A6F9-2F4F-A234-3F43F533C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197" name="Group 1">
            <a:extLst>
              <a:ext uri="{FF2B5EF4-FFF2-40B4-BE49-F238E27FC236}">
                <a16:creationId xmlns:a16="http://schemas.microsoft.com/office/drawing/2014/main" id="{0B6535CD-42C1-88E8-D435-7CEE6EF35B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9625" y="3284538"/>
            <a:ext cx="7866063" cy="2552700"/>
            <a:chOff x="2858" y="3080"/>
            <a:chExt cx="6961" cy="2258"/>
          </a:xfrm>
        </p:grpSpPr>
        <p:sp>
          <p:nvSpPr>
            <p:cNvPr id="8198" name="AutoShape 36">
              <a:extLst>
                <a:ext uri="{FF2B5EF4-FFF2-40B4-BE49-F238E27FC236}">
                  <a16:creationId xmlns:a16="http://schemas.microsoft.com/office/drawing/2014/main" id="{ABEDE00F-8011-02DF-BDDF-1FA09DE8776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58" y="3080"/>
              <a:ext cx="6961" cy="2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" name="Oval 35">
              <a:extLst>
                <a:ext uri="{FF2B5EF4-FFF2-40B4-BE49-F238E27FC236}">
                  <a16:creationId xmlns:a16="http://schemas.microsoft.com/office/drawing/2014/main" id="{92A969FE-B22E-C814-C8ED-E60A7E28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4139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0" name="Oval 34">
              <a:extLst>
                <a:ext uri="{FF2B5EF4-FFF2-40B4-BE49-F238E27FC236}">
                  <a16:creationId xmlns:a16="http://schemas.microsoft.com/office/drawing/2014/main" id="{F940A6F2-A55C-7D0A-73BC-FDED79839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8" y="4140"/>
              <a:ext cx="228" cy="2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1" name="Oval 33">
              <a:extLst>
                <a:ext uri="{FF2B5EF4-FFF2-40B4-BE49-F238E27FC236}">
                  <a16:creationId xmlns:a16="http://schemas.microsoft.com/office/drawing/2014/main" id="{93E64CD4-BAD6-EF49-CBE5-BBAC3A7D9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" y="4141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2" name="Oval 32">
              <a:extLst>
                <a:ext uri="{FF2B5EF4-FFF2-40B4-BE49-F238E27FC236}">
                  <a16:creationId xmlns:a16="http://schemas.microsoft.com/office/drawing/2014/main" id="{5CED9854-3748-1FD5-AB87-EDD07534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" y="4141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3" name="Oval 31">
              <a:extLst>
                <a:ext uri="{FF2B5EF4-FFF2-40B4-BE49-F238E27FC236}">
                  <a16:creationId xmlns:a16="http://schemas.microsoft.com/office/drawing/2014/main" id="{83C68251-3E17-510B-C700-C23F5C563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3089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4" name="Oval 30">
              <a:extLst>
                <a:ext uri="{FF2B5EF4-FFF2-40B4-BE49-F238E27FC236}">
                  <a16:creationId xmlns:a16="http://schemas.microsoft.com/office/drawing/2014/main" id="{E0942179-B050-A087-36CD-87E3462ED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5099"/>
              <a:ext cx="228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5" name="Oval 29">
              <a:extLst>
                <a:ext uri="{FF2B5EF4-FFF2-40B4-BE49-F238E27FC236}">
                  <a16:creationId xmlns:a16="http://schemas.microsoft.com/office/drawing/2014/main" id="{ACA2C466-44EA-E5D2-4ABE-7D587B6D0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" y="3089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6" name="Oval 28">
              <a:extLst>
                <a:ext uri="{FF2B5EF4-FFF2-40B4-BE49-F238E27FC236}">
                  <a16:creationId xmlns:a16="http://schemas.microsoft.com/office/drawing/2014/main" id="{76B3832E-8313-DF61-C0B2-F98636140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509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7" name="Oval 27">
              <a:extLst>
                <a:ext uri="{FF2B5EF4-FFF2-40B4-BE49-F238E27FC236}">
                  <a16:creationId xmlns:a16="http://schemas.microsoft.com/office/drawing/2014/main" id="{FB303DE1-1E83-AAC0-E287-E5A6311F1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8" name="Oval 26">
              <a:extLst>
                <a:ext uri="{FF2B5EF4-FFF2-40B4-BE49-F238E27FC236}">
                  <a16:creationId xmlns:a16="http://schemas.microsoft.com/office/drawing/2014/main" id="{296D99EB-FFC1-7119-2656-F4847CADF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09" name="Oval 25">
              <a:extLst>
                <a:ext uri="{FF2B5EF4-FFF2-40B4-BE49-F238E27FC236}">
                  <a16:creationId xmlns:a16="http://schemas.microsoft.com/office/drawing/2014/main" id="{54603DFE-1518-CBA0-DD39-1B5FFBD35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0" name="Oval 24">
              <a:extLst>
                <a:ext uri="{FF2B5EF4-FFF2-40B4-BE49-F238E27FC236}">
                  <a16:creationId xmlns:a16="http://schemas.microsoft.com/office/drawing/2014/main" id="{97E50F83-93C0-DC80-BF37-933FA0DC6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1" name="Oval 23">
              <a:extLst>
                <a:ext uri="{FF2B5EF4-FFF2-40B4-BE49-F238E27FC236}">
                  <a16:creationId xmlns:a16="http://schemas.microsoft.com/office/drawing/2014/main" id="{C7F718EE-BE83-50E6-43C2-9D1459CFE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2" name="Oval 22">
              <a:extLst>
                <a:ext uri="{FF2B5EF4-FFF2-40B4-BE49-F238E27FC236}">
                  <a16:creationId xmlns:a16="http://schemas.microsoft.com/office/drawing/2014/main" id="{473EC653-9653-9AF9-F0AF-961649AE5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3" name="Oval 21">
              <a:extLst>
                <a:ext uri="{FF2B5EF4-FFF2-40B4-BE49-F238E27FC236}">
                  <a16:creationId xmlns:a16="http://schemas.microsoft.com/office/drawing/2014/main" id="{3B614062-26A6-3D20-088A-6499B3F1B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4" name="Oval 20">
              <a:extLst>
                <a:ext uri="{FF2B5EF4-FFF2-40B4-BE49-F238E27FC236}">
                  <a16:creationId xmlns:a16="http://schemas.microsoft.com/office/drawing/2014/main" id="{C2789E71-6F56-27AC-B50D-EC4F03D97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5" name="Oval 19">
              <a:extLst>
                <a:ext uri="{FF2B5EF4-FFF2-40B4-BE49-F238E27FC236}">
                  <a16:creationId xmlns:a16="http://schemas.microsoft.com/office/drawing/2014/main" id="{7D728048-836C-80B3-A4F0-BB2E73BB4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6" name="Oval 18">
              <a:extLst>
                <a:ext uri="{FF2B5EF4-FFF2-40B4-BE49-F238E27FC236}">
                  <a16:creationId xmlns:a16="http://schemas.microsoft.com/office/drawing/2014/main" id="{962DAB94-3C06-3F98-3363-B020CDBFF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8217" name="AutoShape 17">
              <a:extLst>
                <a:ext uri="{FF2B5EF4-FFF2-40B4-BE49-F238E27FC236}">
                  <a16:creationId xmlns:a16="http://schemas.microsoft.com/office/drawing/2014/main" id="{3923242E-4F5D-4D74-0DEB-B86545AC36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5" y="4254"/>
              <a:ext cx="733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8" name="AutoShape 16">
              <a:extLst>
                <a:ext uri="{FF2B5EF4-FFF2-40B4-BE49-F238E27FC236}">
                  <a16:creationId xmlns:a16="http://schemas.microsoft.com/office/drawing/2014/main" id="{6282FD10-4E51-3386-DF2F-FCB73DEDA6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56" y="4256"/>
              <a:ext cx="73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9" name="AutoShape 15">
              <a:extLst>
                <a:ext uri="{FF2B5EF4-FFF2-40B4-BE49-F238E27FC236}">
                  <a16:creationId xmlns:a16="http://schemas.microsoft.com/office/drawing/2014/main" id="{E2A4FECF-5F9B-E7D4-BC0D-589674ABD0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21" y="4256"/>
              <a:ext cx="6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0" name="AutoShape 14">
              <a:extLst>
                <a:ext uri="{FF2B5EF4-FFF2-40B4-BE49-F238E27FC236}">
                  <a16:creationId xmlns:a16="http://schemas.microsoft.com/office/drawing/2014/main" id="{541DA2A5-C66A-AFE0-2F03-62652BB0D4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07" y="3319"/>
              <a:ext cx="11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1" name="AutoShape 13">
              <a:extLst>
                <a:ext uri="{FF2B5EF4-FFF2-40B4-BE49-F238E27FC236}">
                  <a16:creationId xmlns:a16="http://schemas.microsoft.com/office/drawing/2014/main" id="{9DFBFA1A-C73C-61A3-9D16-7EF224F3EF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42" y="3319"/>
              <a:ext cx="16" cy="8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2" name="AutoShape 12">
              <a:extLst>
                <a:ext uri="{FF2B5EF4-FFF2-40B4-BE49-F238E27FC236}">
                  <a16:creationId xmlns:a16="http://schemas.microsoft.com/office/drawing/2014/main" id="{046A291E-A84C-833B-724C-E81B9F4AA8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28" y="4371"/>
              <a:ext cx="14" cy="7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3" name="AutoShape 11">
              <a:extLst>
                <a:ext uri="{FF2B5EF4-FFF2-40B4-BE49-F238E27FC236}">
                  <a16:creationId xmlns:a16="http://schemas.microsoft.com/office/drawing/2014/main" id="{9C30AC31-93E7-1E2D-9404-42BC46678E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81" y="3319"/>
              <a:ext cx="1" cy="8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4" name="AutoShape 10">
              <a:extLst>
                <a:ext uri="{FF2B5EF4-FFF2-40B4-BE49-F238E27FC236}">
                  <a16:creationId xmlns:a16="http://schemas.microsoft.com/office/drawing/2014/main" id="{1E258B64-63DC-488D-4DCF-4B3F6DFBBE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81" y="4369"/>
              <a:ext cx="1" cy="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5" name="AutoShape 9">
              <a:extLst>
                <a:ext uri="{FF2B5EF4-FFF2-40B4-BE49-F238E27FC236}">
                  <a16:creationId xmlns:a16="http://schemas.microsoft.com/office/drawing/2014/main" id="{8D8238AE-12DD-B675-D71F-B6A279A7CF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6" name="AutoShape 8">
              <a:extLst>
                <a:ext uri="{FF2B5EF4-FFF2-40B4-BE49-F238E27FC236}">
                  <a16:creationId xmlns:a16="http://schemas.microsoft.com/office/drawing/2014/main" id="{75840DFE-2000-4F5C-24AB-EE771094B3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7" name="AutoShape 7">
              <a:extLst>
                <a:ext uri="{FF2B5EF4-FFF2-40B4-BE49-F238E27FC236}">
                  <a16:creationId xmlns:a16="http://schemas.microsoft.com/office/drawing/2014/main" id="{D09B1EFC-DAAC-13D5-CB37-9B1B974AC1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8" name="AutoShape 6">
              <a:extLst>
                <a:ext uri="{FF2B5EF4-FFF2-40B4-BE49-F238E27FC236}">
                  <a16:creationId xmlns:a16="http://schemas.microsoft.com/office/drawing/2014/main" id="{A595EF5F-52EB-1B7F-CCA5-C3A3CAED05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9" name="AutoShape 5">
              <a:extLst>
                <a:ext uri="{FF2B5EF4-FFF2-40B4-BE49-F238E27FC236}">
                  <a16:creationId xmlns:a16="http://schemas.microsoft.com/office/drawing/2014/main" id="{A529337C-CA4C-6ECA-4016-1C4E8502CD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30" name="AutoShape 4">
              <a:extLst>
                <a:ext uri="{FF2B5EF4-FFF2-40B4-BE49-F238E27FC236}">
                  <a16:creationId xmlns:a16="http://schemas.microsoft.com/office/drawing/2014/main" id="{5D2B18C9-299E-639E-EB03-125F321B6E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31" name="AutoShape 3">
              <a:extLst>
                <a:ext uri="{FF2B5EF4-FFF2-40B4-BE49-F238E27FC236}">
                  <a16:creationId xmlns:a16="http://schemas.microsoft.com/office/drawing/2014/main" id="{4AECD84F-F75D-8409-0333-C31571378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32" name="AutoShape 2">
              <a:extLst>
                <a:ext uri="{FF2B5EF4-FFF2-40B4-BE49-F238E27FC236}">
                  <a16:creationId xmlns:a16="http://schemas.microsoft.com/office/drawing/2014/main" id="{ED95C44F-B7FF-07C6-6B15-BBD3236FF6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91" y="4247"/>
              <a:ext cx="73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9B93A710-3CF0-10B2-5B65-4943ABD2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152C1D42-E600-1F37-CA42-EADDA7648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35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</a:rPr>
              <a:t>8.3.2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设有向图</a:t>
            </a:r>
            <a:r>
              <a:rPr lang="en-US" altLang="zh-CN" dirty="0"/>
              <a:t>T </a:t>
            </a:r>
            <a:r>
              <a:rPr lang="zh-CN" altLang="zh-CN" dirty="0"/>
              <a:t>，若</a:t>
            </a:r>
            <a:r>
              <a:rPr lang="en-US" altLang="zh-CN" dirty="0"/>
              <a:t>T</a:t>
            </a:r>
            <a:r>
              <a:rPr lang="zh-CN" altLang="zh-CN" dirty="0"/>
              <a:t>的基础图是树，称</a:t>
            </a:r>
            <a:r>
              <a:rPr lang="en-US" altLang="zh-CN" dirty="0"/>
              <a:t>T</a:t>
            </a:r>
            <a:r>
              <a:rPr lang="zh-CN" altLang="zh-CN" dirty="0"/>
              <a:t>是</a:t>
            </a:r>
            <a:r>
              <a:rPr lang="zh-CN" altLang="zh-CN" b="1" dirty="0">
                <a:solidFill>
                  <a:srgbClr val="00B050"/>
                </a:solidFill>
              </a:rPr>
              <a:t>有向树</a:t>
            </a:r>
            <a:r>
              <a:rPr lang="en-US" altLang="zh-CN" dirty="0"/>
              <a:t>(directed tree)</a:t>
            </a:r>
            <a:r>
              <a:rPr lang="zh-CN" altLang="zh-CN" dirty="0"/>
              <a:t>。</a:t>
            </a:r>
          </a:p>
          <a:p>
            <a:pPr>
              <a:lnSpc>
                <a:spcPct val="135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</a:rPr>
              <a:t>8.3.3 </a:t>
            </a:r>
            <a:r>
              <a:rPr lang="zh-CN" altLang="zh-CN" dirty="0"/>
              <a:t>仅一结点的入度为</a:t>
            </a:r>
            <a:r>
              <a:rPr lang="en-US" altLang="zh-CN" dirty="0"/>
              <a:t>0</a:t>
            </a:r>
            <a:r>
              <a:rPr lang="zh-CN" altLang="zh-CN" dirty="0"/>
              <a:t>，其余所有结点的入度都为</a:t>
            </a:r>
            <a:r>
              <a:rPr lang="en-US" altLang="zh-CN" dirty="0"/>
              <a:t>1</a:t>
            </a:r>
            <a:r>
              <a:rPr lang="zh-CN" altLang="zh-CN" dirty="0"/>
              <a:t>的有向树称为</a:t>
            </a:r>
            <a:r>
              <a:rPr lang="zh-CN" altLang="zh-CN" b="1" dirty="0">
                <a:solidFill>
                  <a:srgbClr val="00B050"/>
                </a:solidFill>
              </a:rPr>
              <a:t>根树</a:t>
            </a:r>
            <a:r>
              <a:rPr lang="en-US" altLang="zh-CN" dirty="0"/>
              <a:t>(rooted tree)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lnSpc>
                <a:spcPct val="135000"/>
              </a:lnSpc>
            </a:pPr>
            <a:r>
              <a:rPr lang="zh-CN" altLang="zh-CN" b="1" dirty="0">
                <a:solidFill>
                  <a:srgbClr val="FF00FF"/>
                </a:solidFill>
              </a:rPr>
              <a:t>叶</a:t>
            </a:r>
            <a:r>
              <a:rPr lang="zh-CN" altLang="zh-CN" dirty="0"/>
              <a:t>；</a:t>
            </a:r>
            <a:r>
              <a:rPr lang="zh-CN" altLang="zh-CN" b="1" dirty="0">
                <a:solidFill>
                  <a:srgbClr val="FF0000"/>
                </a:solidFill>
              </a:rPr>
              <a:t>分枝点</a:t>
            </a:r>
            <a:r>
              <a:rPr lang="zh-CN" altLang="zh-CN" dirty="0"/>
              <a:t>或</a:t>
            </a:r>
            <a:r>
              <a:rPr lang="zh-CN" altLang="zh-CN" b="1" dirty="0">
                <a:solidFill>
                  <a:srgbClr val="FF0000"/>
                </a:solidFill>
              </a:rPr>
              <a:t>内点</a:t>
            </a:r>
            <a:r>
              <a:rPr lang="zh-CN" altLang="en-US" dirty="0"/>
              <a:t>；</a:t>
            </a:r>
            <a:r>
              <a:rPr lang="zh-CN" altLang="en-US" b="1" dirty="0">
                <a:solidFill>
                  <a:srgbClr val="FF00FF"/>
                </a:solidFill>
              </a:rPr>
              <a:t>根</a:t>
            </a:r>
            <a:endParaRPr lang="zh-CN" altLang="zh-CN" dirty="0">
              <a:solidFill>
                <a:srgbClr val="FF00FF"/>
              </a:solidFill>
            </a:endParaRPr>
          </a:p>
          <a:p>
            <a:pPr>
              <a:lnSpc>
                <a:spcPct val="135000"/>
              </a:lnSpc>
            </a:pPr>
            <a:r>
              <a:rPr lang="zh-CN" altLang="zh-CN" dirty="0"/>
              <a:t>顶点</a:t>
            </a:r>
            <a:r>
              <a:rPr lang="en-US" altLang="zh-CN" dirty="0"/>
              <a:t>v</a:t>
            </a:r>
            <a:r>
              <a:rPr lang="zh-CN" altLang="zh-CN" dirty="0"/>
              <a:t>的</a:t>
            </a:r>
            <a:r>
              <a:rPr lang="zh-CN" altLang="zh-CN" b="1" dirty="0">
                <a:solidFill>
                  <a:srgbClr val="339933"/>
                </a:solidFill>
              </a:rPr>
              <a:t>层数</a:t>
            </a:r>
            <a:r>
              <a:rPr lang="en-US" altLang="zh-CN" b="1" dirty="0">
                <a:solidFill>
                  <a:srgbClr val="339933"/>
                </a:solidFill>
              </a:rPr>
              <a:t>   </a:t>
            </a:r>
            <a:r>
              <a:rPr lang="zh-CN" altLang="zh-CN" dirty="0"/>
              <a:t>以</a:t>
            </a:r>
            <a:r>
              <a:rPr lang="en-US" altLang="zh-CN" dirty="0"/>
              <a:t>a</a:t>
            </a:r>
            <a:r>
              <a:rPr lang="zh-CN" altLang="zh-CN" dirty="0"/>
              <a:t>为根的</a:t>
            </a:r>
            <a:r>
              <a:rPr lang="zh-CN" altLang="zh-CN" b="1" dirty="0">
                <a:solidFill>
                  <a:srgbClr val="339933"/>
                </a:solidFill>
              </a:rPr>
              <a:t>子树</a:t>
            </a:r>
            <a:endParaRPr lang="en-US" altLang="zh-CN" b="1" dirty="0">
              <a:solidFill>
                <a:srgbClr val="339933"/>
              </a:solidFill>
            </a:endParaRPr>
          </a:p>
          <a:p>
            <a:pPr>
              <a:lnSpc>
                <a:spcPct val="135000"/>
              </a:lnSpc>
            </a:pPr>
            <a:r>
              <a:rPr lang="zh-CN" altLang="zh-CN" dirty="0"/>
              <a:t>根树的</a:t>
            </a:r>
            <a:r>
              <a:rPr lang="zh-CN" altLang="zh-CN" b="1" dirty="0">
                <a:solidFill>
                  <a:srgbClr val="FF0000"/>
                </a:solidFill>
              </a:rPr>
              <a:t>高度</a:t>
            </a:r>
            <a:r>
              <a:rPr lang="en-US" altLang="zh-CN" dirty="0"/>
              <a:t>    </a:t>
            </a:r>
            <a:r>
              <a:rPr lang="zh-CN" altLang="zh-CN" dirty="0"/>
              <a:t>顶点层数的最大值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B756EEE5-B889-A387-2A90-0FC27F65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8.3.1 </a:t>
            </a:r>
            <a:r>
              <a:rPr lang="zh-CN" altLang="en-US" sz="5400">
                <a:solidFill>
                  <a:srgbClr val="333399"/>
                </a:solidFill>
              </a:rPr>
              <a:t>树的概念 </a:t>
            </a:r>
            <a:endParaRPr lang="zh-CN" altLang="en-US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260D49CA-3F7D-6A6A-5D0F-3D10B24DD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3" y="1844675"/>
            <a:ext cx="8878887" cy="48974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有向树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 有向图 基础图是树</a:t>
            </a:r>
          </a:p>
        </p:txBody>
      </p:sp>
      <p:sp>
        <p:nvSpPr>
          <p:cNvPr id="10244" name="Rectangle 34">
            <a:extLst>
              <a:ext uri="{FF2B5EF4-FFF2-40B4-BE49-F238E27FC236}">
                <a16:creationId xmlns:a16="http://schemas.microsoft.com/office/drawing/2014/main" id="{0CFCA6EA-5754-880C-4701-E71AFA7E6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245" name="Group 1">
            <a:extLst>
              <a:ext uri="{FF2B5EF4-FFF2-40B4-BE49-F238E27FC236}">
                <a16:creationId xmlns:a16="http://schemas.microsoft.com/office/drawing/2014/main" id="{062781DA-A248-3D9A-6943-4DF3DA5E676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2688" y="3108325"/>
            <a:ext cx="6773862" cy="2552700"/>
            <a:chOff x="2287" y="10475"/>
            <a:chExt cx="6274" cy="2366"/>
          </a:xfrm>
        </p:grpSpPr>
        <p:sp>
          <p:nvSpPr>
            <p:cNvPr id="10259" name="AutoShape 33">
              <a:extLst>
                <a:ext uri="{FF2B5EF4-FFF2-40B4-BE49-F238E27FC236}">
                  <a16:creationId xmlns:a16="http://schemas.microsoft.com/office/drawing/2014/main" id="{9676BA62-3A9D-0F85-8E8D-01BFE93937F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87" y="10475"/>
              <a:ext cx="6274" cy="2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Oval 32">
              <a:extLst>
                <a:ext uri="{FF2B5EF4-FFF2-40B4-BE49-F238E27FC236}">
                  <a16:creationId xmlns:a16="http://schemas.microsoft.com/office/drawing/2014/main" id="{23B941D7-9186-3D10-3073-B3A5B31F9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148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1" name="Oval 31">
              <a:extLst>
                <a:ext uri="{FF2B5EF4-FFF2-40B4-BE49-F238E27FC236}">
                  <a16:creationId xmlns:a16="http://schemas.microsoft.com/office/drawing/2014/main" id="{FDA31580-8FE3-58B8-9878-935163D0C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" y="104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2" name="Oval 30">
              <a:extLst>
                <a:ext uri="{FF2B5EF4-FFF2-40B4-BE49-F238E27FC236}">
                  <a16:creationId xmlns:a16="http://schemas.microsoft.com/office/drawing/2014/main" id="{AF1A587B-11DB-F3DE-1663-D485F76E2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1471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3" name="Oval 29">
              <a:extLst>
                <a:ext uri="{FF2B5EF4-FFF2-40B4-BE49-F238E27FC236}">
                  <a16:creationId xmlns:a16="http://schemas.microsoft.com/office/drawing/2014/main" id="{87D3B443-4A30-DC8B-DBDA-6B884CBA2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0483"/>
              <a:ext cx="222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4" name="Oval 28">
              <a:extLst>
                <a:ext uri="{FF2B5EF4-FFF2-40B4-BE49-F238E27FC236}">
                  <a16:creationId xmlns:a16="http://schemas.microsoft.com/office/drawing/2014/main" id="{853F422E-A890-39F2-B096-728B95A95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1146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5" name="Oval 27">
              <a:extLst>
                <a:ext uri="{FF2B5EF4-FFF2-40B4-BE49-F238E27FC236}">
                  <a16:creationId xmlns:a16="http://schemas.microsoft.com/office/drawing/2014/main" id="{695B1696-D518-3690-FD7A-2D1D90F5D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1469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6" name="Oval 26">
              <a:extLst>
                <a:ext uri="{FF2B5EF4-FFF2-40B4-BE49-F238E27FC236}">
                  <a16:creationId xmlns:a16="http://schemas.microsoft.com/office/drawing/2014/main" id="{1EC31892-924D-9F49-0350-00AF0EF05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200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7" name="Oval 25">
              <a:extLst>
                <a:ext uri="{FF2B5EF4-FFF2-40B4-BE49-F238E27FC236}">
                  <a16:creationId xmlns:a16="http://schemas.microsoft.com/office/drawing/2014/main" id="{6D6001E4-C803-D9BE-CF5A-5E419A065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8" name="Oval 24">
              <a:extLst>
                <a:ext uri="{FF2B5EF4-FFF2-40B4-BE49-F238E27FC236}">
                  <a16:creationId xmlns:a16="http://schemas.microsoft.com/office/drawing/2014/main" id="{4244CACB-1AC6-BA2B-056F-17C7F82FD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9" name="Oval 23">
              <a:extLst>
                <a:ext uri="{FF2B5EF4-FFF2-40B4-BE49-F238E27FC236}">
                  <a16:creationId xmlns:a16="http://schemas.microsoft.com/office/drawing/2014/main" id="{4EA6070F-2FC2-5629-2101-FB2819DDB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2036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0" name="Oval 22">
              <a:extLst>
                <a:ext uri="{FF2B5EF4-FFF2-40B4-BE49-F238E27FC236}">
                  <a16:creationId xmlns:a16="http://schemas.microsoft.com/office/drawing/2014/main" id="{62CA0626-4E3B-A7C3-ACBA-45A1AAFFC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2611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1" name="Oval 21">
              <a:extLst>
                <a:ext uri="{FF2B5EF4-FFF2-40B4-BE49-F238E27FC236}">
                  <a16:creationId xmlns:a16="http://schemas.microsoft.com/office/drawing/2014/main" id="{199261F2-CE18-A143-0061-181F37B10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2" name="Oval 20">
              <a:extLst>
                <a:ext uri="{FF2B5EF4-FFF2-40B4-BE49-F238E27FC236}">
                  <a16:creationId xmlns:a16="http://schemas.microsoft.com/office/drawing/2014/main" id="{75E9E868-1910-BEE8-A673-47CCB03B8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2611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3" name="Oval 19">
              <a:extLst>
                <a:ext uri="{FF2B5EF4-FFF2-40B4-BE49-F238E27FC236}">
                  <a16:creationId xmlns:a16="http://schemas.microsoft.com/office/drawing/2014/main" id="{EA0C3598-2F80-A506-E276-617085644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2033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C89B927-453E-112D-3F77-06BFD34A5670}"/>
              </a:ext>
            </a:extLst>
          </p:cNvPr>
          <p:cNvCxnSpPr>
            <a:endCxn id="10261" idx="2"/>
          </p:cNvCxnSpPr>
          <p:nvPr/>
        </p:nvCxnSpPr>
        <p:spPr>
          <a:xfrm>
            <a:off x="3702050" y="3236913"/>
            <a:ext cx="755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FB4CCC2-5538-E60A-D077-DA536DF5506B}"/>
              </a:ext>
            </a:extLst>
          </p:cNvPr>
          <p:cNvCxnSpPr>
            <a:stCxn id="10261" idx="4"/>
            <a:endCxn id="10262" idx="0"/>
          </p:cNvCxnSpPr>
          <p:nvPr/>
        </p:nvCxnSpPr>
        <p:spPr>
          <a:xfrm>
            <a:off x="4576763" y="3355975"/>
            <a:ext cx="15875" cy="827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F8577F2-81BC-E217-525B-BC75D332C2EA}"/>
              </a:ext>
            </a:extLst>
          </p:cNvPr>
          <p:cNvCxnSpPr/>
          <p:nvPr/>
        </p:nvCxnSpPr>
        <p:spPr>
          <a:xfrm flipV="1">
            <a:off x="3700463" y="4300538"/>
            <a:ext cx="757237" cy="158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70988CF-70FE-FC9F-B287-31AF6F302D69}"/>
              </a:ext>
            </a:extLst>
          </p:cNvPr>
          <p:cNvCxnSpPr/>
          <p:nvPr/>
        </p:nvCxnSpPr>
        <p:spPr>
          <a:xfrm flipH="1" flipV="1">
            <a:off x="2516188" y="4302125"/>
            <a:ext cx="909637" cy="142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03E1CD7-A1F9-A2DD-51D0-3D8140E3F9D5}"/>
              </a:ext>
            </a:extLst>
          </p:cNvPr>
          <p:cNvCxnSpPr>
            <a:stCxn id="10264" idx="2"/>
            <a:endCxn id="10265" idx="6"/>
          </p:cNvCxnSpPr>
          <p:nvPr/>
        </p:nvCxnSpPr>
        <p:spPr>
          <a:xfrm flipH="1">
            <a:off x="1430338" y="4300538"/>
            <a:ext cx="84613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97927A3-215B-F9B3-1735-22D31262E27D}"/>
              </a:ext>
            </a:extLst>
          </p:cNvPr>
          <p:cNvCxnSpPr>
            <a:stCxn id="10272" idx="0"/>
            <a:endCxn id="10260" idx="3"/>
          </p:cNvCxnSpPr>
          <p:nvPr/>
        </p:nvCxnSpPr>
        <p:spPr>
          <a:xfrm flipV="1">
            <a:off x="2906713" y="4402138"/>
            <a:ext cx="554037" cy="10112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77FCA19-31D5-9333-CC79-B9E8204977B5}"/>
              </a:ext>
            </a:extLst>
          </p:cNvPr>
          <p:cNvCxnSpPr/>
          <p:nvPr/>
        </p:nvCxnSpPr>
        <p:spPr>
          <a:xfrm>
            <a:off x="3544888" y="4437063"/>
            <a:ext cx="36512" cy="976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64CB083-1A5B-9BD9-2712-B6052AF441A7}"/>
              </a:ext>
            </a:extLst>
          </p:cNvPr>
          <p:cNvCxnSpPr/>
          <p:nvPr/>
        </p:nvCxnSpPr>
        <p:spPr>
          <a:xfrm>
            <a:off x="3702050" y="5532438"/>
            <a:ext cx="755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6BD1A07-9E25-B747-7DF6-6B31ABE87319}"/>
              </a:ext>
            </a:extLst>
          </p:cNvPr>
          <p:cNvCxnSpPr>
            <a:stCxn id="10267" idx="3"/>
            <a:endCxn id="10262" idx="7"/>
          </p:cNvCxnSpPr>
          <p:nvPr/>
        </p:nvCxnSpPr>
        <p:spPr>
          <a:xfrm flipH="1">
            <a:off x="4676775" y="3659188"/>
            <a:ext cx="768350" cy="558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BC96B86-6FA9-FE6E-F82E-5C27C41FC1C4}"/>
              </a:ext>
            </a:extLst>
          </p:cNvPr>
          <p:cNvCxnSpPr>
            <a:stCxn id="10267" idx="6"/>
          </p:cNvCxnSpPr>
          <p:nvPr/>
        </p:nvCxnSpPr>
        <p:spPr>
          <a:xfrm>
            <a:off x="5648325" y="3575050"/>
            <a:ext cx="9588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4066504-2F58-D2F1-BD26-3494646BDC49}"/>
              </a:ext>
            </a:extLst>
          </p:cNvPr>
          <p:cNvCxnSpPr/>
          <p:nvPr/>
        </p:nvCxnSpPr>
        <p:spPr>
          <a:xfrm>
            <a:off x="6727825" y="3694113"/>
            <a:ext cx="0" cy="10683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0949CEF-4955-3D2A-AA0B-B741735D31C7}"/>
              </a:ext>
            </a:extLst>
          </p:cNvPr>
          <p:cNvCxnSpPr>
            <a:stCxn id="10266" idx="6"/>
          </p:cNvCxnSpPr>
          <p:nvPr/>
        </p:nvCxnSpPr>
        <p:spPr>
          <a:xfrm>
            <a:off x="6846888" y="4881563"/>
            <a:ext cx="862012" cy="25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3994243-CDD7-D208-84C9-32E941395531}"/>
              </a:ext>
            </a:extLst>
          </p:cNvPr>
          <p:cNvCxnSpPr/>
          <p:nvPr/>
        </p:nvCxnSpPr>
        <p:spPr>
          <a:xfrm flipV="1">
            <a:off x="5648325" y="4906963"/>
            <a:ext cx="958850" cy="17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908FF3FA-0E19-DFC5-DAE5-26BFC75BC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8A337D43-2E53-450F-CC6E-ADF8B755C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8.3.3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268" name="Rectangle 38">
            <a:extLst>
              <a:ext uri="{FF2B5EF4-FFF2-40B4-BE49-F238E27FC236}">
                <a16:creationId xmlns:a16="http://schemas.microsoft.com/office/drawing/2014/main" id="{8CC70944-D58F-7F07-140B-0FD6EFDB5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269" name="Group 1">
            <a:extLst>
              <a:ext uri="{FF2B5EF4-FFF2-40B4-BE49-F238E27FC236}">
                <a16:creationId xmlns:a16="http://schemas.microsoft.com/office/drawing/2014/main" id="{7FE27837-6223-6737-C18A-9F07B57A05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1050" y="1974850"/>
            <a:ext cx="6769100" cy="4983163"/>
            <a:chOff x="3225" y="2993"/>
            <a:chExt cx="5987" cy="4407"/>
          </a:xfrm>
        </p:grpSpPr>
        <p:sp>
          <p:nvSpPr>
            <p:cNvPr id="11270" name="AutoShape 37">
              <a:extLst>
                <a:ext uri="{FF2B5EF4-FFF2-40B4-BE49-F238E27FC236}">
                  <a16:creationId xmlns:a16="http://schemas.microsoft.com/office/drawing/2014/main" id="{8A61497A-E432-27CE-5EE3-DD41C80FCF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25" y="2993"/>
              <a:ext cx="5909" cy="4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1" name="Text Box 36">
              <a:extLst>
                <a:ext uri="{FF2B5EF4-FFF2-40B4-BE49-F238E27FC236}">
                  <a16:creationId xmlns:a16="http://schemas.microsoft.com/office/drawing/2014/main" id="{2C35D2BB-4C01-9915-84D5-6D0106E1E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644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3200"/>
            </a:p>
          </p:txBody>
        </p:sp>
        <p:sp>
          <p:nvSpPr>
            <p:cNvPr id="11272" name="Text Box 35">
              <a:extLst>
                <a:ext uri="{FF2B5EF4-FFF2-40B4-BE49-F238E27FC236}">
                  <a16:creationId xmlns:a16="http://schemas.microsoft.com/office/drawing/2014/main" id="{C74185E9-226D-30DD-86B4-DEAB642B7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8" y="650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altLang="zh-CN" sz="3200"/>
            </a:p>
          </p:txBody>
        </p:sp>
        <p:sp>
          <p:nvSpPr>
            <p:cNvPr id="11273" name="Text Box 34">
              <a:extLst>
                <a:ext uri="{FF2B5EF4-FFF2-40B4-BE49-F238E27FC236}">
                  <a16:creationId xmlns:a16="http://schemas.microsoft.com/office/drawing/2014/main" id="{6A0B673F-58D3-60C1-D12D-CCC127E19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6" y="647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3200"/>
            </a:p>
          </p:txBody>
        </p:sp>
        <p:sp>
          <p:nvSpPr>
            <p:cNvPr id="11274" name="Text Box 33">
              <a:extLst>
                <a:ext uri="{FF2B5EF4-FFF2-40B4-BE49-F238E27FC236}">
                  <a16:creationId xmlns:a16="http://schemas.microsoft.com/office/drawing/2014/main" id="{BB3DFDAB-4A64-0A8D-10AF-2DD54BF0A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5" y="539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/>
            </a:p>
          </p:txBody>
        </p:sp>
        <p:sp>
          <p:nvSpPr>
            <p:cNvPr id="11275" name="Text Box 32">
              <a:extLst>
                <a:ext uri="{FF2B5EF4-FFF2-40B4-BE49-F238E27FC236}">
                  <a16:creationId xmlns:a16="http://schemas.microsoft.com/office/drawing/2014/main" id="{C3F6D9EF-6754-4338-FAA9-0967B968A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536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11276" name="Text Box 31">
              <a:extLst>
                <a:ext uri="{FF2B5EF4-FFF2-40B4-BE49-F238E27FC236}">
                  <a16:creationId xmlns:a16="http://schemas.microsoft.com/office/drawing/2014/main" id="{82CEB56C-F312-FCF0-AC42-C20F60391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539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3200"/>
            </a:p>
          </p:txBody>
        </p:sp>
        <p:sp>
          <p:nvSpPr>
            <p:cNvPr id="11277" name="Text Box 30">
              <a:extLst>
                <a:ext uri="{FF2B5EF4-FFF2-40B4-BE49-F238E27FC236}">
                  <a16:creationId xmlns:a16="http://schemas.microsoft.com/office/drawing/2014/main" id="{0940EEF8-5C9B-91B7-91B1-6AD4CA649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4" y="529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3200"/>
            </a:p>
          </p:txBody>
        </p:sp>
        <p:sp>
          <p:nvSpPr>
            <p:cNvPr id="11278" name="Text Box 29">
              <a:extLst>
                <a:ext uri="{FF2B5EF4-FFF2-40B4-BE49-F238E27FC236}">
                  <a16:creationId xmlns:a16="http://schemas.microsoft.com/office/drawing/2014/main" id="{0EBDF10C-776B-02C4-DF89-A6148314F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2" y="533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altLang="zh-CN" sz="3200"/>
            </a:p>
          </p:txBody>
        </p:sp>
        <p:sp>
          <p:nvSpPr>
            <p:cNvPr id="11279" name="Text Box 28">
              <a:extLst>
                <a:ext uri="{FF2B5EF4-FFF2-40B4-BE49-F238E27FC236}">
                  <a16:creationId xmlns:a16="http://schemas.microsoft.com/office/drawing/2014/main" id="{9FF4FE6B-3A77-C53F-210F-9261A6C9B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0" y="529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3200"/>
            </a:p>
          </p:txBody>
        </p:sp>
        <p:sp>
          <p:nvSpPr>
            <p:cNvPr id="11280" name="Text Box 27">
              <a:extLst>
                <a:ext uri="{FF2B5EF4-FFF2-40B4-BE49-F238E27FC236}">
                  <a16:creationId xmlns:a16="http://schemas.microsoft.com/office/drawing/2014/main" id="{C25797BB-BE92-94CD-E328-AC9222360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9" y="412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/>
            </a:p>
          </p:txBody>
        </p:sp>
        <p:sp>
          <p:nvSpPr>
            <p:cNvPr id="11281" name="Text Box 26">
              <a:extLst>
                <a:ext uri="{FF2B5EF4-FFF2-40B4-BE49-F238E27FC236}">
                  <a16:creationId xmlns:a16="http://schemas.microsoft.com/office/drawing/2014/main" id="{AC29FEDC-9EBA-EBFB-B09D-54031942F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9" y="418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/>
            </a:p>
          </p:txBody>
        </p:sp>
        <p:sp>
          <p:nvSpPr>
            <p:cNvPr id="11282" name="Text Box 25">
              <a:extLst>
                <a:ext uri="{FF2B5EF4-FFF2-40B4-BE49-F238E27FC236}">
                  <a16:creationId xmlns:a16="http://schemas.microsoft.com/office/drawing/2014/main" id="{D947EC38-7B42-90FC-39F8-91118E18B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0" y="300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/>
            </a:p>
          </p:txBody>
        </p:sp>
        <p:sp>
          <p:nvSpPr>
            <p:cNvPr id="11283" name="Oval 24">
              <a:extLst>
                <a:ext uri="{FF2B5EF4-FFF2-40B4-BE49-F238E27FC236}">
                  <a16:creationId xmlns:a16="http://schemas.microsoft.com/office/drawing/2014/main" id="{9406547B-002E-A40A-3C90-F7A3F8D1F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4304"/>
              <a:ext cx="258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4" name="Oval 23">
              <a:extLst>
                <a:ext uri="{FF2B5EF4-FFF2-40B4-BE49-F238E27FC236}">
                  <a16:creationId xmlns:a16="http://schemas.microsoft.com/office/drawing/2014/main" id="{2895FC2E-8763-CEE0-ADE8-3EDDF466F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1" y="6555"/>
              <a:ext cx="253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5" name="Oval 22">
              <a:extLst>
                <a:ext uri="{FF2B5EF4-FFF2-40B4-BE49-F238E27FC236}">
                  <a16:creationId xmlns:a16="http://schemas.microsoft.com/office/drawing/2014/main" id="{B2022AD9-FD37-7A90-2D79-E7B3F843B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5" y="6555"/>
              <a:ext cx="254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6" name="Oval 21">
              <a:extLst>
                <a:ext uri="{FF2B5EF4-FFF2-40B4-BE49-F238E27FC236}">
                  <a16:creationId xmlns:a16="http://schemas.microsoft.com/office/drawing/2014/main" id="{7687F17E-294F-4F97-5376-EB47B93EF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0" y="6555"/>
              <a:ext cx="254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7" name="Oval 20">
              <a:extLst>
                <a:ext uri="{FF2B5EF4-FFF2-40B4-BE49-F238E27FC236}">
                  <a16:creationId xmlns:a16="http://schemas.microsoft.com/office/drawing/2014/main" id="{02C36B8E-E9C8-C386-5CD1-5A43024B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5520"/>
              <a:ext cx="255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8" name="Oval 19">
              <a:extLst>
                <a:ext uri="{FF2B5EF4-FFF2-40B4-BE49-F238E27FC236}">
                  <a16:creationId xmlns:a16="http://schemas.microsoft.com/office/drawing/2014/main" id="{FD197066-3B09-52C2-8FEE-3A68AE71A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9" y="5475"/>
              <a:ext cx="255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9" name="Oval 18">
              <a:extLst>
                <a:ext uri="{FF2B5EF4-FFF2-40B4-BE49-F238E27FC236}">
                  <a16:creationId xmlns:a16="http://schemas.microsoft.com/office/drawing/2014/main" id="{E6821792-197E-9FE2-03F1-455DE602D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0" y="5520"/>
              <a:ext cx="254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0" name="Oval 17">
              <a:extLst>
                <a:ext uri="{FF2B5EF4-FFF2-40B4-BE49-F238E27FC236}">
                  <a16:creationId xmlns:a16="http://schemas.microsoft.com/office/drawing/2014/main" id="{4C992DA5-AD6F-4C12-1F6F-2C10F8AE4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5" y="5505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1" name="Oval 16">
              <a:extLst>
                <a:ext uri="{FF2B5EF4-FFF2-40B4-BE49-F238E27FC236}">
                  <a16:creationId xmlns:a16="http://schemas.microsoft.com/office/drawing/2014/main" id="{F96F87B5-6E85-5B84-BBBF-ED4138798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5520"/>
              <a:ext cx="254" cy="256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2" name="Oval 15">
              <a:extLst>
                <a:ext uri="{FF2B5EF4-FFF2-40B4-BE49-F238E27FC236}">
                  <a16:creationId xmlns:a16="http://schemas.microsoft.com/office/drawing/2014/main" id="{E92A003C-9D57-C45E-F037-7DEDC814F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" y="5520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3" name="Oval 14">
              <a:extLst>
                <a:ext uri="{FF2B5EF4-FFF2-40B4-BE49-F238E27FC236}">
                  <a16:creationId xmlns:a16="http://schemas.microsoft.com/office/drawing/2014/main" id="{4E592EA0-790B-0400-C62A-AD521A27B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1" y="4395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4" name="Oval 13">
              <a:extLst>
                <a:ext uri="{FF2B5EF4-FFF2-40B4-BE49-F238E27FC236}">
                  <a16:creationId xmlns:a16="http://schemas.microsoft.com/office/drawing/2014/main" id="{BC8C1A28-11E6-94BF-BD7C-44268C2C7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6" y="3344"/>
              <a:ext cx="254" cy="25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1295" name="AutoShape 12">
              <a:extLst>
                <a:ext uri="{FF2B5EF4-FFF2-40B4-BE49-F238E27FC236}">
                  <a16:creationId xmlns:a16="http://schemas.microsoft.com/office/drawing/2014/main" id="{ACE7F954-A860-046C-6C9E-614AE32D90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03" y="3563"/>
              <a:ext cx="1170" cy="7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6" name="AutoShape 11">
              <a:extLst>
                <a:ext uri="{FF2B5EF4-FFF2-40B4-BE49-F238E27FC236}">
                  <a16:creationId xmlns:a16="http://schemas.microsoft.com/office/drawing/2014/main" id="{65EDDB73-8C05-1CC6-0D4C-1A61A334E6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53" y="3563"/>
              <a:ext cx="1305" cy="8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7" name="AutoShape 10">
              <a:extLst>
                <a:ext uri="{FF2B5EF4-FFF2-40B4-BE49-F238E27FC236}">
                  <a16:creationId xmlns:a16="http://schemas.microsoft.com/office/drawing/2014/main" id="{517442E5-22A3-72FE-A018-AE5B3C6E13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33" y="4560"/>
              <a:ext cx="779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8" name="AutoShape 9">
              <a:extLst>
                <a:ext uri="{FF2B5EF4-FFF2-40B4-BE49-F238E27FC236}">
                  <a16:creationId xmlns:a16="http://schemas.microsoft.com/office/drawing/2014/main" id="{230E52E0-BE11-CDBF-B82B-3D47AF0E46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12" y="4560"/>
              <a:ext cx="105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9" name="AutoShape 8">
              <a:extLst>
                <a:ext uri="{FF2B5EF4-FFF2-40B4-BE49-F238E27FC236}">
                  <a16:creationId xmlns:a16="http://schemas.microsoft.com/office/drawing/2014/main" id="{48457805-9CC3-B20E-3739-50E152F967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12" y="4560"/>
              <a:ext cx="1048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0" name="AutoShape 7">
              <a:extLst>
                <a:ext uri="{FF2B5EF4-FFF2-40B4-BE49-F238E27FC236}">
                  <a16:creationId xmlns:a16="http://schemas.microsoft.com/office/drawing/2014/main" id="{34ED86FE-DCC2-901A-E0A2-4CBBF9C902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27" y="4651"/>
              <a:ext cx="721" cy="8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1" name="AutoShape 6">
              <a:extLst>
                <a:ext uri="{FF2B5EF4-FFF2-40B4-BE49-F238E27FC236}">
                  <a16:creationId xmlns:a16="http://schemas.microsoft.com/office/drawing/2014/main" id="{B7B829B6-6BEB-5F10-F81C-FD9122F553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48" y="4651"/>
              <a:ext cx="104" cy="8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2" name="AutoShape 5">
              <a:extLst>
                <a:ext uri="{FF2B5EF4-FFF2-40B4-BE49-F238E27FC236}">
                  <a16:creationId xmlns:a16="http://schemas.microsoft.com/office/drawing/2014/main" id="{753E942C-7E28-826D-DDD7-F01A77B066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48" y="4651"/>
              <a:ext cx="808" cy="8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3" name="AutoShape 4">
              <a:extLst>
                <a:ext uri="{FF2B5EF4-FFF2-40B4-BE49-F238E27FC236}">
                  <a16:creationId xmlns:a16="http://schemas.microsoft.com/office/drawing/2014/main" id="{AB9F98AA-902A-EB48-2197-66BAF5E5B5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7" y="5776"/>
              <a:ext cx="1" cy="7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4" name="AutoShape 3">
              <a:extLst>
                <a:ext uri="{FF2B5EF4-FFF2-40B4-BE49-F238E27FC236}">
                  <a16:creationId xmlns:a16="http://schemas.microsoft.com/office/drawing/2014/main" id="{18B1F5F6-F79F-176B-D4B5-F5DC6DFC61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77" y="5761"/>
              <a:ext cx="375" cy="7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5" name="AutoShape 2">
              <a:extLst>
                <a:ext uri="{FF2B5EF4-FFF2-40B4-BE49-F238E27FC236}">
                  <a16:creationId xmlns:a16="http://schemas.microsoft.com/office/drawing/2014/main" id="{66A01E06-6F75-E14B-A272-D3C523E691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52" y="5761"/>
              <a:ext cx="540" cy="7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5AE8D94D-CEE7-60AB-9D8A-14C50E67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B1158453-7647-2A42-4778-D81F03D5C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8.3.4 </a:t>
            </a:r>
            <a:r>
              <a:rPr lang="zh-CN" altLang="en-US"/>
              <a:t>若</a:t>
            </a:r>
            <a:r>
              <a:rPr lang="zh-CN" altLang="zh-CN"/>
              <a:t>在根树中规定了每一层上顶点的次序，</a:t>
            </a:r>
            <a:r>
              <a:rPr lang="zh-CN" altLang="en-US"/>
              <a:t>则该</a:t>
            </a:r>
            <a:r>
              <a:rPr lang="zh-CN" altLang="zh-CN"/>
              <a:t>根树称为</a:t>
            </a:r>
            <a:r>
              <a:rPr lang="zh-CN" altLang="zh-CN" b="1">
                <a:solidFill>
                  <a:srgbClr val="FF0000"/>
                </a:solidFill>
              </a:rPr>
              <a:t>有序树</a:t>
            </a:r>
            <a:r>
              <a:rPr lang="en-US" altLang="zh-CN"/>
              <a:t>(ordered tree)</a:t>
            </a:r>
            <a:r>
              <a:rPr lang="zh-CN" altLang="zh-CN"/>
              <a:t>。</a:t>
            </a:r>
            <a:endParaRPr lang="zh-CN" altLang="en-US"/>
          </a:p>
        </p:txBody>
      </p:sp>
      <p:sp>
        <p:nvSpPr>
          <p:cNvPr id="12292" name="Rectangle 43">
            <a:extLst>
              <a:ext uri="{FF2B5EF4-FFF2-40B4-BE49-F238E27FC236}">
                <a16:creationId xmlns:a16="http://schemas.microsoft.com/office/drawing/2014/main" id="{716938D3-7931-38D1-EB7A-509AA64EB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2293" name="Group 1">
            <a:extLst>
              <a:ext uri="{FF2B5EF4-FFF2-40B4-BE49-F238E27FC236}">
                <a16:creationId xmlns:a16="http://schemas.microsoft.com/office/drawing/2014/main" id="{A484C727-2340-2ED0-D48F-46587559D4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1213" y="3213100"/>
            <a:ext cx="7577137" cy="3851275"/>
            <a:chOff x="3026" y="2993"/>
            <a:chExt cx="8648" cy="4395"/>
          </a:xfrm>
        </p:grpSpPr>
        <p:sp>
          <p:nvSpPr>
            <p:cNvPr id="12294" name="AutoShape 42">
              <a:extLst>
                <a:ext uri="{FF2B5EF4-FFF2-40B4-BE49-F238E27FC236}">
                  <a16:creationId xmlns:a16="http://schemas.microsoft.com/office/drawing/2014/main" id="{EFEDF622-24F4-B290-8176-C3D4271732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6" y="2993"/>
              <a:ext cx="8648" cy="4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95" name="Text Box 41">
              <a:extLst>
                <a:ext uri="{FF2B5EF4-FFF2-40B4-BE49-F238E27FC236}">
                  <a16:creationId xmlns:a16="http://schemas.microsoft.com/office/drawing/2014/main" id="{BC10EC3F-8770-8D89-7217-9F78F66BD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533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/>
            </a:p>
          </p:txBody>
        </p:sp>
        <p:sp>
          <p:nvSpPr>
            <p:cNvPr id="12296" name="Text Box 40">
              <a:extLst>
                <a:ext uri="{FF2B5EF4-FFF2-40B4-BE49-F238E27FC236}">
                  <a16:creationId xmlns:a16="http://schemas.microsoft.com/office/drawing/2014/main" id="{7A83171D-F410-2D17-6FFE-F34613A50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7" y="632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3200"/>
            </a:p>
          </p:txBody>
        </p:sp>
        <p:sp>
          <p:nvSpPr>
            <p:cNvPr id="12297" name="Text Box 39">
              <a:extLst>
                <a:ext uri="{FF2B5EF4-FFF2-40B4-BE49-F238E27FC236}">
                  <a16:creationId xmlns:a16="http://schemas.microsoft.com/office/drawing/2014/main" id="{DA230923-1695-E385-0730-E5FA516D8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7" y="549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/>
            </a:p>
          </p:txBody>
        </p:sp>
        <p:sp>
          <p:nvSpPr>
            <p:cNvPr id="12298" name="Text Box 38">
              <a:extLst>
                <a:ext uri="{FF2B5EF4-FFF2-40B4-BE49-F238E27FC236}">
                  <a16:creationId xmlns:a16="http://schemas.microsoft.com/office/drawing/2014/main" id="{08AF7DEB-4F76-DBE6-8F0D-BBB57A0F2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8" y="426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/>
            </a:p>
          </p:txBody>
        </p:sp>
        <p:sp>
          <p:nvSpPr>
            <p:cNvPr id="12299" name="Text Box 37">
              <a:extLst>
                <a:ext uri="{FF2B5EF4-FFF2-40B4-BE49-F238E27FC236}">
                  <a16:creationId xmlns:a16="http://schemas.microsoft.com/office/drawing/2014/main" id="{C20F60FB-A556-FF6E-525F-875CEA63E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1" y="575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3200"/>
            </a:p>
          </p:txBody>
        </p:sp>
        <p:sp>
          <p:nvSpPr>
            <p:cNvPr id="12300" name="Text Box 36">
              <a:extLst>
                <a:ext uri="{FF2B5EF4-FFF2-40B4-BE49-F238E27FC236}">
                  <a16:creationId xmlns:a16="http://schemas.microsoft.com/office/drawing/2014/main" id="{63E854EB-50A0-0ACB-78B5-747EBF1A3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0" y="526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12301" name="Text Box 35">
              <a:extLst>
                <a:ext uri="{FF2B5EF4-FFF2-40B4-BE49-F238E27FC236}">
                  <a16:creationId xmlns:a16="http://schemas.microsoft.com/office/drawing/2014/main" id="{6D04D5B2-1E9F-A02F-BA12-13C9B6687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" y="493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/>
            </a:p>
          </p:txBody>
        </p:sp>
        <p:sp>
          <p:nvSpPr>
            <p:cNvPr id="12302" name="Text Box 34">
              <a:extLst>
                <a:ext uri="{FF2B5EF4-FFF2-40B4-BE49-F238E27FC236}">
                  <a16:creationId xmlns:a16="http://schemas.microsoft.com/office/drawing/2014/main" id="{24033E16-9D55-EB7A-65EC-8A829DA89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4" y="31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/>
            </a:p>
          </p:txBody>
        </p:sp>
        <p:sp>
          <p:nvSpPr>
            <p:cNvPr id="12303" name="Text Box 33">
              <a:extLst>
                <a:ext uri="{FF2B5EF4-FFF2-40B4-BE49-F238E27FC236}">
                  <a16:creationId xmlns:a16="http://schemas.microsoft.com/office/drawing/2014/main" id="{B3FF5D8D-CCD9-50D5-A1C8-96242CB1A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632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3200"/>
            </a:p>
          </p:txBody>
        </p:sp>
        <p:sp>
          <p:nvSpPr>
            <p:cNvPr id="12304" name="Text Box 32">
              <a:extLst>
                <a:ext uri="{FF2B5EF4-FFF2-40B4-BE49-F238E27FC236}">
                  <a16:creationId xmlns:a16="http://schemas.microsoft.com/office/drawing/2014/main" id="{FE694180-BDCB-E7D1-BD10-872AC190B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" y="525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12305" name="Text Box 31">
              <a:extLst>
                <a:ext uri="{FF2B5EF4-FFF2-40B4-BE49-F238E27FC236}">
                  <a16:creationId xmlns:a16="http://schemas.microsoft.com/office/drawing/2014/main" id="{81652851-3BD7-6D87-0E43-DB617D4D8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8" y="567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3200"/>
            </a:p>
          </p:txBody>
        </p:sp>
        <p:sp>
          <p:nvSpPr>
            <p:cNvPr id="12306" name="Text Box 30">
              <a:extLst>
                <a:ext uri="{FF2B5EF4-FFF2-40B4-BE49-F238E27FC236}">
                  <a16:creationId xmlns:a16="http://schemas.microsoft.com/office/drawing/2014/main" id="{A41DEA77-C546-03FA-6B59-27C20B57D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6" y="476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/>
            </a:p>
          </p:txBody>
        </p:sp>
        <p:sp>
          <p:nvSpPr>
            <p:cNvPr id="12307" name="Text Box 29">
              <a:extLst>
                <a:ext uri="{FF2B5EF4-FFF2-40B4-BE49-F238E27FC236}">
                  <a16:creationId xmlns:a16="http://schemas.microsoft.com/office/drawing/2014/main" id="{56E10EB3-9ADF-3C07-8270-DB586A356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432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/>
            </a:p>
          </p:txBody>
        </p:sp>
        <p:sp>
          <p:nvSpPr>
            <p:cNvPr id="12308" name="Text Box 28">
              <a:extLst>
                <a:ext uri="{FF2B5EF4-FFF2-40B4-BE49-F238E27FC236}">
                  <a16:creationId xmlns:a16="http://schemas.microsoft.com/office/drawing/2014/main" id="{B884A442-7B15-1CFE-B0F7-8C01B50D4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" y="300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/>
            </a:p>
          </p:txBody>
        </p:sp>
        <p:sp>
          <p:nvSpPr>
            <p:cNvPr id="12309" name="Oval 27">
              <a:extLst>
                <a:ext uri="{FF2B5EF4-FFF2-40B4-BE49-F238E27FC236}">
                  <a16:creationId xmlns:a16="http://schemas.microsoft.com/office/drawing/2014/main" id="{92D2E494-8373-BF18-21C9-57BB95D6F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4612"/>
              <a:ext cx="258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0" name="Oval 26">
              <a:extLst>
                <a:ext uri="{FF2B5EF4-FFF2-40B4-BE49-F238E27FC236}">
                  <a16:creationId xmlns:a16="http://schemas.microsoft.com/office/drawing/2014/main" id="{17B65825-24CE-E952-CBCE-256D2C39B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1" y="6555"/>
              <a:ext cx="253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1" name="Oval 25">
              <a:extLst>
                <a:ext uri="{FF2B5EF4-FFF2-40B4-BE49-F238E27FC236}">
                  <a16:creationId xmlns:a16="http://schemas.microsoft.com/office/drawing/2014/main" id="{BBF2C88E-EB26-C7AC-1E78-ED74A5F59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6" y="4649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2" name="Oval 24">
              <a:extLst>
                <a:ext uri="{FF2B5EF4-FFF2-40B4-BE49-F238E27FC236}">
                  <a16:creationId xmlns:a16="http://schemas.microsoft.com/office/drawing/2014/main" id="{8B51AB54-4B83-4DED-C83F-9238E4391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3" y="6555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3" name="Oval 23">
              <a:extLst>
                <a:ext uri="{FF2B5EF4-FFF2-40B4-BE49-F238E27FC236}">
                  <a16:creationId xmlns:a16="http://schemas.microsoft.com/office/drawing/2014/main" id="{4F63EF72-1E5D-D863-F1F2-F060BE05A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5520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4" name="Oval 22">
              <a:extLst>
                <a:ext uri="{FF2B5EF4-FFF2-40B4-BE49-F238E27FC236}">
                  <a16:creationId xmlns:a16="http://schemas.microsoft.com/office/drawing/2014/main" id="{06C8C30C-23A1-1637-2A0E-E7C36B49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" y="5506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5" name="Oval 21">
              <a:extLst>
                <a:ext uri="{FF2B5EF4-FFF2-40B4-BE49-F238E27FC236}">
                  <a16:creationId xmlns:a16="http://schemas.microsoft.com/office/drawing/2014/main" id="{C038FBAA-3A61-E57C-DDE9-5C8F508B3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5520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6" name="Oval 20">
              <a:extLst>
                <a:ext uri="{FF2B5EF4-FFF2-40B4-BE49-F238E27FC236}">
                  <a16:creationId xmlns:a16="http://schemas.microsoft.com/office/drawing/2014/main" id="{F380CC1C-7ECF-41E4-38CB-F04734977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" y="5520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7" name="Oval 19">
              <a:extLst>
                <a:ext uri="{FF2B5EF4-FFF2-40B4-BE49-F238E27FC236}">
                  <a16:creationId xmlns:a16="http://schemas.microsoft.com/office/drawing/2014/main" id="{0A5E8B04-4F68-0BA2-2AF3-8C5A9EDA2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0" y="4686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8" name="Oval 18">
              <a:extLst>
                <a:ext uri="{FF2B5EF4-FFF2-40B4-BE49-F238E27FC236}">
                  <a16:creationId xmlns:a16="http://schemas.microsoft.com/office/drawing/2014/main" id="{3066B45F-BD23-71C2-7D2B-99D1C1109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6" y="3344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2319" name="AutoShape 17">
              <a:extLst>
                <a:ext uri="{FF2B5EF4-FFF2-40B4-BE49-F238E27FC236}">
                  <a16:creationId xmlns:a16="http://schemas.microsoft.com/office/drawing/2014/main" id="{DF62722A-200D-63E7-0688-1563C5221B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61" y="3563"/>
              <a:ext cx="712" cy="1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0" name="AutoShape 16">
              <a:extLst>
                <a:ext uri="{FF2B5EF4-FFF2-40B4-BE49-F238E27FC236}">
                  <a16:creationId xmlns:a16="http://schemas.microsoft.com/office/drawing/2014/main" id="{2AB879AA-CDE7-6E26-FD63-589D8A498C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53" y="3563"/>
              <a:ext cx="584" cy="11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1" name="AutoShape 15">
              <a:extLst>
                <a:ext uri="{FF2B5EF4-FFF2-40B4-BE49-F238E27FC236}">
                  <a16:creationId xmlns:a16="http://schemas.microsoft.com/office/drawing/2014/main" id="{83ADDFA0-1F66-162E-5188-B43FD8D486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33" y="4868"/>
              <a:ext cx="1237" cy="6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2" name="AutoShape 14">
              <a:extLst>
                <a:ext uri="{FF2B5EF4-FFF2-40B4-BE49-F238E27FC236}">
                  <a16:creationId xmlns:a16="http://schemas.microsoft.com/office/drawing/2014/main" id="{5D18BC8E-8657-BF48-D68E-2C062936B1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17" y="4868"/>
              <a:ext cx="353" cy="6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3" name="AutoShape 13">
              <a:extLst>
                <a:ext uri="{FF2B5EF4-FFF2-40B4-BE49-F238E27FC236}">
                  <a16:creationId xmlns:a16="http://schemas.microsoft.com/office/drawing/2014/main" id="{82EE9D69-15DA-9571-7C66-8BDB894C04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70" y="4868"/>
              <a:ext cx="590" cy="6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4" name="AutoShape 12">
              <a:extLst>
                <a:ext uri="{FF2B5EF4-FFF2-40B4-BE49-F238E27FC236}">
                  <a16:creationId xmlns:a16="http://schemas.microsoft.com/office/drawing/2014/main" id="{E784F70A-2505-4931-96F7-E16FEC2018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7" y="5776"/>
              <a:ext cx="1" cy="7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5" name="Oval 11">
              <a:extLst>
                <a:ext uri="{FF2B5EF4-FFF2-40B4-BE49-F238E27FC236}">
                  <a16:creationId xmlns:a16="http://schemas.microsoft.com/office/drawing/2014/main" id="{2EAAF3CE-63DD-9D3F-3D5F-344380145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3" y="5505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6" name="Oval 10">
              <a:extLst>
                <a:ext uri="{FF2B5EF4-FFF2-40B4-BE49-F238E27FC236}">
                  <a16:creationId xmlns:a16="http://schemas.microsoft.com/office/drawing/2014/main" id="{8E44F6BC-D824-BC6B-8791-0F693D898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7" y="4575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7" name="Oval 9">
              <a:extLst>
                <a:ext uri="{FF2B5EF4-FFF2-40B4-BE49-F238E27FC236}">
                  <a16:creationId xmlns:a16="http://schemas.microsoft.com/office/drawing/2014/main" id="{2F5F8453-62F5-0970-F8DD-94C7CB1C4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3" y="3476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8" name="Oval 8">
              <a:extLst>
                <a:ext uri="{FF2B5EF4-FFF2-40B4-BE49-F238E27FC236}">
                  <a16:creationId xmlns:a16="http://schemas.microsoft.com/office/drawing/2014/main" id="{54D1B578-7973-9C28-51A2-0E06AD995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2" y="5505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2329" name="AutoShape 7">
              <a:extLst>
                <a:ext uri="{FF2B5EF4-FFF2-40B4-BE49-F238E27FC236}">
                  <a16:creationId xmlns:a16="http://schemas.microsoft.com/office/drawing/2014/main" id="{BA71E4C1-1F79-979D-01B5-CFE39B6A80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453" y="3732"/>
              <a:ext cx="578" cy="9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0" name="AutoShape 6">
              <a:extLst>
                <a:ext uri="{FF2B5EF4-FFF2-40B4-BE49-F238E27FC236}">
                  <a16:creationId xmlns:a16="http://schemas.microsoft.com/office/drawing/2014/main" id="{4906D485-AF48-421C-646C-ABF63C8E92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31" y="3732"/>
              <a:ext cx="853" cy="8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1" name="AutoShape 5">
              <a:extLst>
                <a:ext uri="{FF2B5EF4-FFF2-40B4-BE49-F238E27FC236}">
                  <a16:creationId xmlns:a16="http://schemas.microsoft.com/office/drawing/2014/main" id="{3185AA31-8856-DC03-0CDA-8C73963324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361" y="4831"/>
              <a:ext cx="614" cy="7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2" name="AutoShape 4">
              <a:extLst>
                <a:ext uri="{FF2B5EF4-FFF2-40B4-BE49-F238E27FC236}">
                  <a16:creationId xmlns:a16="http://schemas.microsoft.com/office/drawing/2014/main" id="{AECB2D5C-998B-981E-EB3A-C9DB221513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75" y="4831"/>
              <a:ext cx="75" cy="6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3" name="AutoShape 3">
              <a:extLst>
                <a:ext uri="{FF2B5EF4-FFF2-40B4-BE49-F238E27FC236}">
                  <a16:creationId xmlns:a16="http://schemas.microsoft.com/office/drawing/2014/main" id="{28610C55-F289-0F2A-A804-276EE80D97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75" y="4831"/>
              <a:ext cx="1111" cy="6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4" name="AutoShape 2">
              <a:extLst>
                <a:ext uri="{FF2B5EF4-FFF2-40B4-BE49-F238E27FC236}">
                  <a16:creationId xmlns:a16="http://schemas.microsoft.com/office/drawing/2014/main" id="{8D6CEBB6-9F7D-849C-B675-F8ABB1C5EC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50" y="5761"/>
              <a:ext cx="1" cy="7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56767DBC-9A83-6087-99F1-00B504C3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A8A44516-0D47-BAAC-3778-3414DD616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75" y="1798638"/>
            <a:ext cx="8959850" cy="50847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例如</a:t>
            </a:r>
            <a:r>
              <a:rPr lang="zh-CN" altLang="zh-CN"/>
              <a:t>，有序树表示代数式</a:t>
            </a:r>
            <a:r>
              <a:rPr lang="en-US" altLang="zh-CN"/>
              <a:t>a</a:t>
            </a:r>
            <a:r>
              <a:rPr lang="zh-CN" altLang="zh-CN"/>
              <a:t>×</a:t>
            </a:r>
            <a:r>
              <a:rPr lang="en-US" altLang="zh-CN"/>
              <a:t>b</a:t>
            </a:r>
            <a:r>
              <a:rPr lang="zh-CN" altLang="zh-CN"/>
              <a:t>＋</a:t>
            </a:r>
            <a:r>
              <a:rPr lang="en-US" altLang="zh-CN"/>
              <a:t>(d</a:t>
            </a:r>
            <a:r>
              <a:rPr lang="zh-CN" altLang="zh-CN"/>
              <a:t>＋</a:t>
            </a:r>
            <a:r>
              <a:rPr lang="en-US" altLang="zh-CN"/>
              <a:t>e/f)</a:t>
            </a:r>
            <a:r>
              <a:rPr lang="zh-CN" altLang="zh-CN"/>
              <a:t>×</a:t>
            </a:r>
            <a:r>
              <a:rPr lang="en-US" altLang="zh-CN"/>
              <a:t>c  </a:t>
            </a:r>
            <a:r>
              <a:rPr lang="zh-CN" altLang="zh-CN"/>
              <a:t>。</a:t>
            </a:r>
            <a:endParaRPr lang="zh-CN" altLang="en-US"/>
          </a:p>
        </p:txBody>
      </p:sp>
      <p:sp>
        <p:nvSpPr>
          <p:cNvPr id="13316" name="Rectangle 35">
            <a:extLst>
              <a:ext uri="{FF2B5EF4-FFF2-40B4-BE49-F238E27FC236}">
                <a16:creationId xmlns:a16="http://schemas.microsoft.com/office/drawing/2014/main" id="{C1226B72-04BD-59EB-186B-98095127D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317" name="Group 1">
            <a:extLst>
              <a:ext uri="{FF2B5EF4-FFF2-40B4-BE49-F238E27FC236}">
                <a16:creationId xmlns:a16="http://schemas.microsoft.com/office/drawing/2014/main" id="{5F60F587-E24E-5272-07E9-CEE54C79373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1413" y="2492375"/>
            <a:ext cx="4451350" cy="4505325"/>
            <a:chOff x="4096" y="3425"/>
            <a:chExt cx="4612" cy="4668"/>
          </a:xfrm>
        </p:grpSpPr>
        <p:sp>
          <p:nvSpPr>
            <p:cNvPr id="13318" name="AutoShape 34">
              <a:extLst>
                <a:ext uri="{FF2B5EF4-FFF2-40B4-BE49-F238E27FC236}">
                  <a16:creationId xmlns:a16="http://schemas.microsoft.com/office/drawing/2014/main" id="{C358ACDC-CCB2-1BE7-FA7E-F0DE838EEB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6" y="3425"/>
              <a:ext cx="4515" cy="4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19" name="Text Box 33">
              <a:extLst>
                <a:ext uri="{FF2B5EF4-FFF2-40B4-BE49-F238E27FC236}">
                  <a16:creationId xmlns:a16="http://schemas.microsoft.com/office/drawing/2014/main" id="{F8C23EFC-4CA0-135A-F7F3-D30ABC051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0" y="708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3320" name="Text Box 32">
              <a:extLst>
                <a:ext uri="{FF2B5EF4-FFF2-40B4-BE49-F238E27FC236}">
                  <a16:creationId xmlns:a16="http://schemas.microsoft.com/office/drawing/2014/main" id="{754A6382-1B37-AF5C-B555-A673547FE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" y="715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800"/>
            </a:p>
          </p:txBody>
        </p:sp>
        <p:sp>
          <p:nvSpPr>
            <p:cNvPr id="13321" name="Text Box 31">
              <a:extLst>
                <a:ext uri="{FF2B5EF4-FFF2-40B4-BE49-F238E27FC236}">
                  <a16:creationId xmlns:a16="http://schemas.microsoft.com/office/drawing/2014/main" id="{F94B7354-3F7A-91A3-D59C-DDBA562CB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7" y="609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3322" name="Text Box 30">
              <a:extLst>
                <a:ext uri="{FF2B5EF4-FFF2-40B4-BE49-F238E27FC236}">
                  <a16:creationId xmlns:a16="http://schemas.microsoft.com/office/drawing/2014/main" id="{CC4E860E-11FF-B1DB-7C1B-90C27EEBE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3" y="601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endParaRPr lang="en-US" altLang="zh-CN" sz="2800"/>
            </a:p>
          </p:txBody>
        </p:sp>
        <p:sp>
          <p:nvSpPr>
            <p:cNvPr id="13323" name="Text Box 29">
              <a:extLst>
                <a:ext uri="{FF2B5EF4-FFF2-40B4-BE49-F238E27FC236}">
                  <a16:creationId xmlns:a16="http://schemas.microsoft.com/office/drawing/2014/main" id="{A12D5BFC-B983-7352-D044-BF4CE4709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500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3324" name="Text Box 28">
              <a:extLst>
                <a:ext uri="{FF2B5EF4-FFF2-40B4-BE49-F238E27FC236}">
                  <a16:creationId xmlns:a16="http://schemas.microsoft.com/office/drawing/2014/main" id="{35A4A9C4-3C86-E7EA-A8D0-3200426D8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5" y="503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13325" name="Text Box 27">
              <a:extLst>
                <a:ext uri="{FF2B5EF4-FFF2-40B4-BE49-F238E27FC236}">
                  <a16:creationId xmlns:a16="http://schemas.microsoft.com/office/drawing/2014/main" id="{18D6FB54-52CF-CA98-8447-F850EDCB2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7" y="517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lang="zh-CN" altLang="zh-CN" sz="2800"/>
            </a:p>
          </p:txBody>
        </p:sp>
        <p:sp>
          <p:nvSpPr>
            <p:cNvPr id="13326" name="Text Box 26">
              <a:extLst>
                <a:ext uri="{FF2B5EF4-FFF2-40B4-BE49-F238E27FC236}">
                  <a16:creationId xmlns:a16="http://schemas.microsoft.com/office/drawing/2014/main" id="{3356631C-E056-A8D5-6BEC-173122707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1" y="508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3327" name="Text Box 25">
              <a:extLst>
                <a:ext uri="{FF2B5EF4-FFF2-40B4-BE49-F238E27FC236}">
                  <a16:creationId xmlns:a16="http://schemas.microsoft.com/office/drawing/2014/main" id="{2365B53A-0594-3B0E-5128-F7B9C1521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" y="422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endParaRPr lang="zh-CN" altLang="zh-CN" sz="2800"/>
            </a:p>
          </p:txBody>
        </p:sp>
        <p:sp>
          <p:nvSpPr>
            <p:cNvPr id="13328" name="Text Box 24">
              <a:extLst>
                <a:ext uri="{FF2B5EF4-FFF2-40B4-BE49-F238E27FC236}">
                  <a16:creationId xmlns:a16="http://schemas.microsoft.com/office/drawing/2014/main" id="{BFC4B1ED-C8BD-DE42-C3A9-B12644B69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2" y="422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endParaRPr lang="zh-CN" altLang="zh-CN" sz="2800"/>
            </a:p>
          </p:txBody>
        </p:sp>
        <p:sp>
          <p:nvSpPr>
            <p:cNvPr id="13329" name="Text Box 23">
              <a:extLst>
                <a:ext uri="{FF2B5EF4-FFF2-40B4-BE49-F238E27FC236}">
                  <a16:creationId xmlns:a16="http://schemas.microsoft.com/office/drawing/2014/main" id="{74028074-B8D7-B89D-C2E4-7F2454ECB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7" y="343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lang="zh-CN" altLang="zh-CN" sz="2800"/>
            </a:p>
          </p:txBody>
        </p:sp>
        <p:sp>
          <p:nvSpPr>
            <p:cNvPr id="13330" name="Oval 22">
              <a:extLst>
                <a:ext uri="{FF2B5EF4-FFF2-40B4-BE49-F238E27FC236}">
                  <a16:creationId xmlns:a16="http://schemas.microsoft.com/office/drawing/2014/main" id="{BE8FC014-4AC6-1206-6B59-1CB5BF8B9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" y="3572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1" name="Oval 21">
              <a:extLst>
                <a:ext uri="{FF2B5EF4-FFF2-40B4-BE49-F238E27FC236}">
                  <a16:creationId xmlns:a16="http://schemas.microsoft.com/office/drawing/2014/main" id="{070720FC-F884-AFD7-9F1F-F16F9B620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4394"/>
              <a:ext cx="252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2" name="Oval 20">
              <a:extLst>
                <a:ext uri="{FF2B5EF4-FFF2-40B4-BE49-F238E27FC236}">
                  <a16:creationId xmlns:a16="http://schemas.microsoft.com/office/drawing/2014/main" id="{12B07F66-1583-CCC8-9C86-C104DACC2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" y="5265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3" name="Oval 19">
              <a:extLst>
                <a:ext uri="{FF2B5EF4-FFF2-40B4-BE49-F238E27FC236}">
                  <a16:creationId xmlns:a16="http://schemas.microsoft.com/office/drawing/2014/main" id="{11826A01-64AA-48AA-6312-A73A6EBCF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7" y="5264"/>
              <a:ext cx="254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4" name="Oval 18">
              <a:extLst>
                <a:ext uri="{FF2B5EF4-FFF2-40B4-BE49-F238E27FC236}">
                  <a16:creationId xmlns:a16="http://schemas.microsoft.com/office/drawing/2014/main" id="{56FFDEDC-283A-25FD-EAEB-645F8C748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" y="4394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5" name="Oval 17">
              <a:extLst>
                <a:ext uri="{FF2B5EF4-FFF2-40B4-BE49-F238E27FC236}">
                  <a16:creationId xmlns:a16="http://schemas.microsoft.com/office/drawing/2014/main" id="{6DFD1189-0856-E4B4-FCF3-0DE05B31A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5" y="6259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6" name="Oval 16">
              <a:extLst>
                <a:ext uri="{FF2B5EF4-FFF2-40B4-BE49-F238E27FC236}">
                  <a16:creationId xmlns:a16="http://schemas.microsoft.com/office/drawing/2014/main" id="{70B28664-11FE-ED89-E691-2832C9A92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" y="5264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7" name="Oval 15">
              <a:extLst>
                <a:ext uri="{FF2B5EF4-FFF2-40B4-BE49-F238E27FC236}">
                  <a16:creationId xmlns:a16="http://schemas.microsoft.com/office/drawing/2014/main" id="{FA73EA52-7ECB-CC21-7939-879BB30F9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7" y="5265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8" name="Oval 14">
              <a:extLst>
                <a:ext uri="{FF2B5EF4-FFF2-40B4-BE49-F238E27FC236}">
                  <a16:creationId xmlns:a16="http://schemas.microsoft.com/office/drawing/2014/main" id="{B04EB86D-AA34-EDF9-77F4-33C53F81F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" y="6179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9" name="Oval 13">
              <a:extLst>
                <a:ext uri="{FF2B5EF4-FFF2-40B4-BE49-F238E27FC236}">
                  <a16:creationId xmlns:a16="http://schemas.microsoft.com/office/drawing/2014/main" id="{D4894421-BB98-534C-BEDB-607EC77A9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6" y="7276"/>
              <a:ext cx="254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0" name="Oval 12">
              <a:extLst>
                <a:ext uri="{FF2B5EF4-FFF2-40B4-BE49-F238E27FC236}">
                  <a16:creationId xmlns:a16="http://schemas.microsoft.com/office/drawing/2014/main" id="{E9A3F73C-C062-0594-699E-9BF5F5B92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" y="7276"/>
              <a:ext cx="254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341" name="AutoShape 11">
              <a:extLst>
                <a:ext uri="{FF2B5EF4-FFF2-40B4-BE49-F238E27FC236}">
                  <a16:creationId xmlns:a16="http://schemas.microsoft.com/office/drawing/2014/main" id="{871D1EA5-3E8C-D215-BFC2-F77EF6C904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28" y="3791"/>
              <a:ext cx="862" cy="6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2" name="AutoShape 10">
              <a:extLst>
                <a:ext uri="{FF2B5EF4-FFF2-40B4-BE49-F238E27FC236}">
                  <a16:creationId xmlns:a16="http://schemas.microsoft.com/office/drawing/2014/main" id="{B0921CFE-28C9-FC58-7F5F-8DBD1D55B2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80" y="3828"/>
              <a:ext cx="984" cy="6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3" name="AutoShape 9">
              <a:extLst>
                <a:ext uri="{FF2B5EF4-FFF2-40B4-BE49-F238E27FC236}">
                  <a16:creationId xmlns:a16="http://schemas.microsoft.com/office/drawing/2014/main" id="{364D755A-FD83-8805-9A3A-730CD4C63D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79" y="4612"/>
              <a:ext cx="271" cy="6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4" name="AutoShape 8">
              <a:extLst>
                <a:ext uri="{FF2B5EF4-FFF2-40B4-BE49-F238E27FC236}">
                  <a16:creationId xmlns:a16="http://schemas.microsoft.com/office/drawing/2014/main" id="{537389F0-31FE-C9BB-7855-03B0377D14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28" y="4612"/>
              <a:ext cx="376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5" name="AutoShape 7">
              <a:extLst>
                <a:ext uri="{FF2B5EF4-FFF2-40B4-BE49-F238E27FC236}">
                  <a16:creationId xmlns:a16="http://schemas.microsoft.com/office/drawing/2014/main" id="{57451582-2D8C-9498-307D-CF79ABB587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57" y="4649"/>
              <a:ext cx="498" cy="6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6" name="AutoShape 6">
              <a:extLst>
                <a:ext uri="{FF2B5EF4-FFF2-40B4-BE49-F238E27FC236}">
                  <a16:creationId xmlns:a16="http://schemas.microsoft.com/office/drawing/2014/main" id="{D53F08A6-4AA1-7938-754C-220606A04B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55" y="4649"/>
              <a:ext cx="479" cy="6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7" name="AutoShape 5">
              <a:extLst>
                <a:ext uri="{FF2B5EF4-FFF2-40B4-BE49-F238E27FC236}">
                  <a16:creationId xmlns:a16="http://schemas.microsoft.com/office/drawing/2014/main" id="{A02763F7-D81C-F332-7517-FC25C6E61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02" y="5520"/>
              <a:ext cx="465" cy="7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8" name="AutoShape 4">
              <a:extLst>
                <a:ext uri="{FF2B5EF4-FFF2-40B4-BE49-F238E27FC236}">
                  <a16:creationId xmlns:a16="http://schemas.microsoft.com/office/drawing/2014/main" id="{11A28373-2E70-A3C9-9EDA-D7BC47EDB4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67" y="5520"/>
              <a:ext cx="498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9" name="AutoShape 3">
              <a:extLst>
                <a:ext uri="{FF2B5EF4-FFF2-40B4-BE49-F238E27FC236}">
                  <a16:creationId xmlns:a16="http://schemas.microsoft.com/office/drawing/2014/main" id="{77085956-8D1A-C9DF-A13D-CAB78C515F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03" y="6435"/>
              <a:ext cx="452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0" name="AutoShape 2">
              <a:extLst>
                <a:ext uri="{FF2B5EF4-FFF2-40B4-BE49-F238E27FC236}">
                  <a16:creationId xmlns:a16="http://schemas.microsoft.com/office/drawing/2014/main" id="{FC034F8E-04A2-4F36-EB96-651CEE0D30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55" y="6435"/>
              <a:ext cx="554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366EBEFE-2143-1DE3-CA56-E6189E4C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619CBE-4712-5562-7408-0BDB8A75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00225"/>
            <a:ext cx="8964612" cy="5013325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</a:rPr>
              <a:t>8.3.5 </a:t>
            </a:r>
            <a:r>
              <a:rPr lang="zh-CN" altLang="zh-CN" dirty="0"/>
              <a:t>每个结点的出度不大于</a:t>
            </a:r>
            <a:r>
              <a:rPr lang="en-US" altLang="zh-CN" dirty="0"/>
              <a:t>m</a:t>
            </a:r>
            <a:r>
              <a:rPr lang="zh-CN" altLang="zh-CN" dirty="0"/>
              <a:t>的有序根树称为</a:t>
            </a:r>
            <a:r>
              <a:rPr lang="en-US" altLang="zh-CN" b="1" dirty="0">
                <a:solidFill>
                  <a:srgbClr val="00B050"/>
                </a:solidFill>
              </a:rPr>
              <a:t>m</a:t>
            </a:r>
            <a:r>
              <a:rPr lang="zh-CN" altLang="zh-CN" b="1" dirty="0">
                <a:solidFill>
                  <a:srgbClr val="00B050"/>
                </a:solidFill>
              </a:rPr>
              <a:t>叉树</a:t>
            </a:r>
            <a:r>
              <a:rPr lang="zh-CN" altLang="zh-CN" dirty="0"/>
              <a:t>。每个顶点的出度恰好为</a:t>
            </a:r>
            <a:r>
              <a:rPr lang="en-US" altLang="zh-CN" dirty="0"/>
              <a:t>m</a:t>
            </a:r>
            <a:r>
              <a:rPr lang="zh-CN" altLang="zh-CN" dirty="0"/>
              <a:t>或零的</a:t>
            </a:r>
            <a:r>
              <a:rPr lang="en-US" altLang="zh-CN" dirty="0"/>
              <a:t>m</a:t>
            </a:r>
            <a:r>
              <a:rPr lang="zh-CN" altLang="zh-CN" dirty="0"/>
              <a:t>叉树称为</a:t>
            </a:r>
            <a:r>
              <a:rPr lang="zh-CN" altLang="zh-CN" b="1" dirty="0">
                <a:solidFill>
                  <a:srgbClr val="FF00FF"/>
                </a:solidFill>
              </a:rPr>
              <a:t>完全</a:t>
            </a:r>
            <a:r>
              <a:rPr lang="en-US" altLang="zh-CN" b="1" dirty="0">
                <a:solidFill>
                  <a:srgbClr val="FF00FF"/>
                </a:solidFill>
              </a:rPr>
              <a:t>m</a:t>
            </a:r>
            <a:r>
              <a:rPr lang="zh-CN" altLang="zh-CN" b="1" dirty="0">
                <a:solidFill>
                  <a:srgbClr val="FF00FF"/>
                </a:solidFill>
              </a:rPr>
              <a:t>叉树</a:t>
            </a:r>
            <a:r>
              <a:rPr lang="zh-CN" altLang="zh-CN" dirty="0"/>
              <a:t>。所有树叶层次相同的完全</a:t>
            </a:r>
            <a:r>
              <a:rPr lang="en-US" altLang="zh-CN" dirty="0"/>
              <a:t>m</a:t>
            </a:r>
            <a:r>
              <a:rPr lang="zh-CN" altLang="zh-CN" dirty="0"/>
              <a:t>叉树称为</a:t>
            </a:r>
            <a:r>
              <a:rPr lang="zh-CN" altLang="zh-CN" b="1" dirty="0">
                <a:solidFill>
                  <a:srgbClr val="339933"/>
                </a:solidFill>
              </a:rPr>
              <a:t>正则</a:t>
            </a:r>
            <a:r>
              <a:rPr lang="en-US" altLang="zh-CN" b="1" dirty="0">
                <a:solidFill>
                  <a:srgbClr val="339933"/>
                </a:solidFill>
              </a:rPr>
              <a:t>m</a:t>
            </a:r>
            <a:r>
              <a:rPr lang="zh-CN" altLang="zh-CN" b="1" dirty="0">
                <a:solidFill>
                  <a:srgbClr val="339933"/>
                </a:solidFill>
              </a:rPr>
              <a:t>叉树</a:t>
            </a:r>
            <a:r>
              <a:rPr lang="zh-CN" altLang="zh-CN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5F1C96B5-FAF5-DC25-0488-F96351AE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2335ADED-2407-CACA-6D33-09A399F2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>
                <a:solidFill>
                  <a:srgbClr val="FF0000"/>
                </a:solidFill>
              </a:rPr>
              <a:t>完全三叉树</a:t>
            </a:r>
            <a:r>
              <a:rPr lang="zh-CN" altLang="en-US"/>
              <a:t>，</a:t>
            </a:r>
            <a:r>
              <a:rPr lang="zh-CN" altLang="zh-CN">
                <a:solidFill>
                  <a:srgbClr val="FF0000"/>
                </a:solidFill>
              </a:rPr>
              <a:t>正则三叉树</a:t>
            </a:r>
            <a:r>
              <a:rPr lang="zh-CN" altLang="en-US"/>
              <a:t>，</a:t>
            </a:r>
            <a:r>
              <a:rPr lang="zh-CN" altLang="zh-CN">
                <a:solidFill>
                  <a:srgbClr val="FF0000"/>
                </a:solidFill>
              </a:rPr>
              <a:t>三叉树</a:t>
            </a:r>
            <a:r>
              <a:rPr lang="zh-CN" altLang="en-US"/>
              <a:t>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364" name="Rectangle 64">
            <a:extLst>
              <a:ext uri="{FF2B5EF4-FFF2-40B4-BE49-F238E27FC236}">
                <a16:creationId xmlns:a16="http://schemas.microsoft.com/office/drawing/2014/main" id="{5FB45855-A842-0C69-6C69-25DFB1B5C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5365" name="Group 1">
            <a:extLst>
              <a:ext uri="{FF2B5EF4-FFF2-40B4-BE49-F238E27FC236}">
                <a16:creationId xmlns:a16="http://schemas.microsoft.com/office/drawing/2014/main" id="{A3298E3A-8197-27F0-4BBA-6752F622D7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6425" y="3111500"/>
            <a:ext cx="8286750" cy="2838450"/>
            <a:chOff x="2345" y="4042"/>
            <a:chExt cx="7768" cy="2661"/>
          </a:xfrm>
        </p:grpSpPr>
        <p:sp>
          <p:nvSpPr>
            <p:cNvPr id="15366" name="AutoShape 63">
              <a:extLst>
                <a:ext uri="{FF2B5EF4-FFF2-40B4-BE49-F238E27FC236}">
                  <a16:creationId xmlns:a16="http://schemas.microsoft.com/office/drawing/2014/main" id="{67DA21DE-C29F-2DB2-D0C2-1F2E16F333C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45" y="4042"/>
              <a:ext cx="7768" cy="2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Oval 62">
              <a:extLst>
                <a:ext uri="{FF2B5EF4-FFF2-40B4-BE49-F238E27FC236}">
                  <a16:creationId xmlns:a16="http://schemas.microsoft.com/office/drawing/2014/main" id="{9E9D42CF-8073-1BC4-F44D-378BAF072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0" y="4050"/>
              <a:ext cx="228" cy="23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8" name="Oval 61">
              <a:extLst>
                <a:ext uri="{FF2B5EF4-FFF2-40B4-BE49-F238E27FC236}">
                  <a16:creationId xmlns:a16="http://schemas.microsoft.com/office/drawing/2014/main" id="{27B4E753-CFEB-CA6A-1CEA-1AF3907DC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" y="4740"/>
              <a:ext cx="227" cy="23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9" name="Oval 60">
              <a:extLst>
                <a:ext uri="{FF2B5EF4-FFF2-40B4-BE49-F238E27FC236}">
                  <a16:creationId xmlns:a16="http://schemas.microsoft.com/office/drawing/2014/main" id="{07479122-B518-FD79-1C23-61D83E3B6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4" y="47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0" name="Oval 59">
              <a:extLst>
                <a:ext uri="{FF2B5EF4-FFF2-40B4-BE49-F238E27FC236}">
                  <a16:creationId xmlns:a16="http://schemas.microsoft.com/office/drawing/2014/main" id="{56795C63-37CC-D0A7-601D-0ADA5F6A0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5" y="5536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1" name="Oval 58">
              <a:extLst>
                <a:ext uri="{FF2B5EF4-FFF2-40B4-BE49-F238E27FC236}">
                  <a16:creationId xmlns:a16="http://schemas.microsoft.com/office/drawing/2014/main" id="{DD974BCC-E5EE-DA17-9DB7-4CBB68240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3" y="5535"/>
              <a:ext cx="228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2" name="Oval 57">
              <a:extLst>
                <a:ext uri="{FF2B5EF4-FFF2-40B4-BE49-F238E27FC236}">
                  <a16:creationId xmlns:a16="http://schemas.microsoft.com/office/drawing/2014/main" id="{626D97F2-3831-8CD3-4EB4-AA4C9A9B9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3" y="5536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3" name="Oval 56">
              <a:extLst>
                <a:ext uri="{FF2B5EF4-FFF2-40B4-BE49-F238E27FC236}">
                  <a16:creationId xmlns:a16="http://schemas.microsoft.com/office/drawing/2014/main" id="{4B51A447-700B-AB76-0D91-4AA952530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8" y="5544"/>
              <a:ext cx="227" cy="23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4" name="Oval 55">
              <a:extLst>
                <a:ext uri="{FF2B5EF4-FFF2-40B4-BE49-F238E27FC236}">
                  <a16:creationId xmlns:a16="http://schemas.microsoft.com/office/drawing/2014/main" id="{7A77059D-C6AF-230C-C21A-C5DD0C25E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405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5" name="Oval 54">
              <a:extLst>
                <a:ext uri="{FF2B5EF4-FFF2-40B4-BE49-F238E27FC236}">
                  <a16:creationId xmlns:a16="http://schemas.microsoft.com/office/drawing/2014/main" id="{4CDDE8A0-4552-594B-A399-A4D03A494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474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6" name="Oval 53">
              <a:extLst>
                <a:ext uri="{FF2B5EF4-FFF2-40B4-BE49-F238E27FC236}">
                  <a16:creationId xmlns:a16="http://schemas.microsoft.com/office/drawing/2014/main" id="{5A5E795F-86AD-3435-61A9-60C8B7C7C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474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7" name="Oval 52">
              <a:extLst>
                <a:ext uri="{FF2B5EF4-FFF2-40B4-BE49-F238E27FC236}">
                  <a16:creationId xmlns:a16="http://schemas.microsoft.com/office/drawing/2014/main" id="{7712CC99-5352-B9C2-8FA0-C62292351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3" y="5541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8" name="Oval 51">
              <a:extLst>
                <a:ext uri="{FF2B5EF4-FFF2-40B4-BE49-F238E27FC236}">
                  <a16:creationId xmlns:a16="http://schemas.microsoft.com/office/drawing/2014/main" id="{B5C489FE-8847-E792-F46B-61B63C6B1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5541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9" name="Oval 50">
              <a:extLst>
                <a:ext uri="{FF2B5EF4-FFF2-40B4-BE49-F238E27FC236}">
                  <a16:creationId xmlns:a16="http://schemas.microsoft.com/office/drawing/2014/main" id="{D662B94B-CF92-4EB4-4B86-B4F75C075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6432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0" name="Oval 49">
              <a:extLst>
                <a:ext uri="{FF2B5EF4-FFF2-40B4-BE49-F238E27FC236}">
                  <a16:creationId xmlns:a16="http://schemas.microsoft.com/office/drawing/2014/main" id="{9C3E3B28-866A-791C-7CC1-F9E9F6103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6462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1" name="Oval 48">
              <a:extLst>
                <a:ext uri="{FF2B5EF4-FFF2-40B4-BE49-F238E27FC236}">
                  <a16:creationId xmlns:a16="http://schemas.microsoft.com/office/drawing/2014/main" id="{7C953032-DED3-C775-4EEE-4BEA1568C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" y="4741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2" name="Oval 47">
              <a:extLst>
                <a:ext uri="{FF2B5EF4-FFF2-40B4-BE49-F238E27FC236}">
                  <a16:creationId xmlns:a16="http://schemas.microsoft.com/office/drawing/2014/main" id="{BD01A5D8-8310-5D3E-76AD-B00E64E75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7" y="5541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3" name="Oval 46">
              <a:extLst>
                <a:ext uri="{FF2B5EF4-FFF2-40B4-BE49-F238E27FC236}">
                  <a16:creationId xmlns:a16="http://schemas.microsoft.com/office/drawing/2014/main" id="{D2213C01-69E3-1CAF-1750-D9F551459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" y="5545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4" name="Oval 45">
              <a:extLst>
                <a:ext uri="{FF2B5EF4-FFF2-40B4-BE49-F238E27FC236}">
                  <a16:creationId xmlns:a16="http://schemas.microsoft.com/office/drawing/2014/main" id="{7CB66C9F-75EC-4870-2181-175DD6DE8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5534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5" name="Oval 44">
              <a:extLst>
                <a:ext uri="{FF2B5EF4-FFF2-40B4-BE49-F238E27FC236}">
                  <a16:creationId xmlns:a16="http://schemas.microsoft.com/office/drawing/2014/main" id="{D978E32B-EFCA-5554-5C2F-D2EE05B12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8" y="5536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6" name="Oval 43">
              <a:extLst>
                <a:ext uri="{FF2B5EF4-FFF2-40B4-BE49-F238E27FC236}">
                  <a16:creationId xmlns:a16="http://schemas.microsoft.com/office/drawing/2014/main" id="{9989E08A-4BF1-8545-BCB0-D8DE0B62F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8" y="5545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7" name="Oval 42">
              <a:extLst>
                <a:ext uri="{FF2B5EF4-FFF2-40B4-BE49-F238E27FC236}">
                  <a16:creationId xmlns:a16="http://schemas.microsoft.com/office/drawing/2014/main" id="{8DFCF337-D023-4BF3-9DF0-84CBC750C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6449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8" name="Oval 41">
              <a:extLst>
                <a:ext uri="{FF2B5EF4-FFF2-40B4-BE49-F238E27FC236}">
                  <a16:creationId xmlns:a16="http://schemas.microsoft.com/office/drawing/2014/main" id="{7A0375D4-FBF4-34B2-C832-EB4A891C8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4" y="5534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9" name="Oval 40">
              <a:extLst>
                <a:ext uri="{FF2B5EF4-FFF2-40B4-BE49-F238E27FC236}">
                  <a16:creationId xmlns:a16="http://schemas.microsoft.com/office/drawing/2014/main" id="{8126F3A9-6039-29D1-05F8-C6B329E8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" y="4741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0" name="Oval 39">
              <a:extLst>
                <a:ext uri="{FF2B5EF4-FFF2-40B4-BE49-F238E27FC236}">
                  <a16:creationId xmlns:a16="http://schemas.microsoft.com/office/drawing/2014/main" id="{6CAF2081-17D4-006D-9A8B-554A0D2FB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0" y="474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1" name="Oval 38">
              <a:extLst>
                <a:ext uri="{FF2B5EF4-FFF2-40B4-BE49-F238E27FC236}">
                  <a16:creationId xmlns:a16="http://schemas.microsoft.com/office/drawing/2014/main" id="{091E54AB-5ACB-C7E9-1537-FCB24F4E2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3" y="5545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2" name="Oval 37">
              <a:extLst>
                <a:ext uri="{FF2B5EF4-FFF2-40B4-BE49-F238E27FC236}">
                  <a16:creationId xmlns:a16="http://schemas.microsoft.com/office/drawing/2014/main" id="{89D76A09-E1AA-1E38-F1A8-7E71E89B9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0" y="474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3" name="Oval 36">
              <a:extLst>
                <a:ext uri="{FF2B5EF4-FFF2-40B4-BE49-F238E27FC236}">
                  <a16:creationId xmlns:a16="http://schemas.microsoft.com/office/drawing/2014/main" id="{BFF0B85F-B9CB-0168-991B-289637F32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" y="5541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4" name="Oval 35">
              <a:extLst>
                <a:ext uri="{FF2B5EF4-FFF2-40B4-BE49-F238E27FC236}">
                  <a16:creationId xmlns:a16="http://schemas.microsoft.com/office/drawing/2014/main" id="{B9A4FAA9-59F5-8AC0-D12E-52CD1880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" y="6464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5" name="Oval 34">
              <a:extLst>
                <a:ext uri="{FF2B5EF4-FFF2-40B4-BE49-F238E27FC236}">
                  <a16:creationId xmlns:a16="http://schemas.microsoft.com/office/drawing/2014/main" id="{0275BFBB-E237-85DD-E658-CDACA79DD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0" y="405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6" name="Oval 33">
              <a:extLst>
                <a:ext uri="{FF2B5EF4-FFF2-40B4-BE49-F238E27FC236}">
                  <a16:creationId xmlns:a16="http://schemas.microsoft.com/office/drawing/2014/main" id="{A314E20D-0013-E1E2-7443-DFB66B92A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0" y="4755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7" name="Oval 32">
              <a:extLst>
                <a:ext uri="{FF2B5EF4-FFF2-40B4-BE49-F238E27FC236}">
                  <a16:creationId xmlns:a16="http://schemas.microsoft.com/office/drawing/2014/main" id="{3845AC0B-02F2-2C78-BCAA-BA4E62BFD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7" y="6459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8" name="Oval 31">
              <a:extLst>
                <a:ext uri="{FF2B5EF4-FFF2-40B4-BE49-F238E27FC236}">
                  <a16:creationId xmlns:a16="http://schemas.microsoft.com/office/drawing/2014/main" id="{1EB29CC5-7F90-6813-783F-7B56BDE3C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" y="6460"/>
              <a:ext cx="228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5399" name="AutoShape 30">
              <a:extLst>
                <a:ext uri="{FF2B5EF4-FFF2-40B4-BE49-F238E27FC236}">
                  <a16:creationId xmlns:a16="http://schemas.microsoft.com/office/drawing/2014/main" id="{8B4A9ABB-5F39-079C-ABB2-A8CF9EF111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9" y="4281"/>
              <a:ext cx="9" cy="4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0" name="AutoShape 29">
              <a:extLst>
                <a:ext uri="{FF2B5EF4-FFF2-40B4-BE49-F238E27FC236}">
                  <a16:creationId xmlns:a16="http://schemas.microsoft.com/office/drawing/2014/main" id="{53B8747F-F1B8-225D-38C2-929C0DEE1E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33" y="4281"/>
              <a:ext cx="566" cy="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1" name="AutoShape 28">
              <a:extLst>
                <a:ext uri="{FF2B5EF4-FFF2-40B4-BE49-F238E27FC236}">
                  <a16:creationId xmlns:a16="http://schemas.microsoft.com/office/drawing/2014/main" id="{CBF04627-5789-7304-55F8-D1750B7774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9" y="4281"/>
              <a:ext cx="709" cy="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2" name="AutoShape 27">
              <a:extLst>
                <a:ext uri="{FF2B5EF4-FFF2-40B4-BE49-F238E27FC236}">
                  <a16:creationId xmlns:a16="http://schemas.microsoft.com/office/drawing/2014/main" id="{E10D679F-5133-4DBC-A739-B7D3BCC070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467" y="4971"/>
              <a:ext cx="466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3" name="AutoShape 26">
              <a:extLst>
                <a:ext uri="{FF2B5EF4-FFF2-40B4-BE49-F238E27FC236}">
                  <a16:creationId xmlns:a16="http://schemas.microsoft.com/office/drawing/2014/main" id="{B762CBC0-433E-9FB0-1CA3-8E797B2400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33" y="4971"/>
              <a:ext cx="5" cy="5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4" name="AutoShape 25">
              <a:extLst>
                <a:ext uri="{FF2B5EF4-FFF2-40B4-BE49-F238E27FC236}">
                  <a16:creationId xmlns:a16="http://schemas.microsoft.com/office/drawing/2014/main" id="{53FB6C3F-5BA0-70B0-36FF-387051D43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33" y="4971"/>
              <a:ext cx="526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5" name="AutoShape 24">
              <a:extLst>
                <a:ext uri="{FF2B5EF4-FFF2-40B4-BE49-F238E27FC236}">
                  <a16:creationId xmlns:a16="http://schemas.microsoft.com/office/drawing/2014/main" id="{97A9BAEE-A819-BE06-B3A6-55C65930B9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59" y="5772"/>
              <a:ext cx="1" cy="6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6" name="AutoShape 23">
              <a:extLst>
                <a:ext uri="{FF2B5EF4-FFF2-40B4-BE49-F238E27FC236}">
                  <a16:creationId xmlns:a16="http://schemas.microsoft.com/office/drawing/2014/main" id="{99514405-FDAC-A814-0D7C-E4496942FC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46" y="5772"/>
              <a:ext cx="413" cy="6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7" name="AutoShape 22">
              <a:extLst>
                <a:ext uri="{FF2B5EF4-FFF2-40B4-BE49-F238E27FC236}">
                  <a16:creationId xmlns:a16="http://schemas.microsoft.com/office/drawing/2014/main" id="{DAA6368E-A0D8-57D8-8810-772B13749B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59" y="5772"/>
              <a:ext cx="442" cy="6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8" name="AutoShape 21">
              <a:extLst>
                <a:ext uri="{FF2B5EF4-FFF2-40B4-BE49-F238E27FC236}">
                  <a16:creationId xmlns:a16="http://schemas.microsoft.com/office/drawing/2014/main" id="{80FD3B83-0133-746D-5EFC-3BDF8B54C8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04" y="4282"/>
              <a:ext cx="20" cy="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9" name="AutoShape 20">
              <a:extLst>
                <a:ext uri="{FF2B5EF4-FFF2-40B4-BE49-F238E27FC236}">
                  <a16:creationId xmlns:a16="http://schemas.microsoft.com/office/drawing/2014/main" id="{CD27D8B8-B81C-1804-38E6-E059CDF6FC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24" y="4972"/>
              <a:ext cx="43" cy="5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0" name="AutoShape 19">
              <a:extLst>
                <a:ext uri="{FF2B5EF4-FFF2-40B4-BE49-F238E27FC236}">
                  <a16:creationId xmlns:a16="http://schemas.microsoft.com/office/drawing/2014/main" id="{9459D085-1B14-7AB7-2F57-761A2B378E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74" y="4282"/>
              <a:ext cx="1030" cy="4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1" name="AutoShape 18">
              <a:extLst>
                <a:ext uri="{FF2B5EF4-FFF2-40B4-BE49-F238E27FC236}">
                  <a16:creationId xmlns:a16="http://schemas.microsoft.com/office/drawing/2014/main" id="{5488E83C-914B-0F21-F3FB-7290A64FE0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04" y="4282"/>
              <a:ext cx="1175" cy="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2" name="AutoShape 17">
              <a:extLst>
                <a:ext uri="{FF2B5EF4-FFF2-40B4-BE49-F238E27FC236}">
                  <a16:creationId xmlns:a16="http://schemas.microsoft.com/office/drawing/2014/main" id="{8CF1E83E-A31C-826F-461C-2F245B1BAF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74" y="4972"/>
              <a:ext cx="1" cy="5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3" name="AutoShape 16">
              <a:extLst>
                <a:ext uri="{FF2B5EF4-FFF2-40B4-BE49-F238E27FC236}">
                  <a16:creationId xmlns:a16="http://schemas.microsoft.com/office/drawing/2014/main" id="{4B6F19E2-F9D7-B868-6995-18494788DC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79" y="4972"/>
              <a:ext cx="43" cy="5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4" name="AutoShape 15">
              <a:extLst>
                <a:ext uri="{FF2B5EF4-FFF2-40B4-BE49-F238E27FC236}">
                  <a16:creationId xmlns:a16="http://schemas.microsoft.com/office/drawing/2014/main" id="{6200245A-14EC-68DB-AFD8-E10799C3D7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01" y="4972"/>
              <a:ext cx="378" cy="5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5" name="AutoShape 14">
              <a:extLst>
                <a:ext uri="{FF2B5EF4-FFF2-40B4-BE49-F238E27FC236}">
                  <a16:creationId xmlns:a16="http://schemas.microsoft.com/office/drawing/2014/main" id="{E3E70D71-B4D4-38FD-2DE8-8DF54978C9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79" y="4972"/>
              <a:ext cx="463" cy="5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6" name="AutoShape 13">
              <a:extLst>
                <a:ext uri="{FF2B5EF4-FFF2-40B4-BE49-F238E27FC236}">
                  <a16:creationId xmlns:a16="http://schemas.microsoft.com/office/drawing/2014/main" id="{E5D8C8AF-A954-F7C0-99F9-C27D70BC86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022" y="4972"/>
              <a:ext cx="302" cy="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7" name="AutoShape 12">
              <a:extLst>
                <a:ext uri="{FF2B5EF4-FFF2-40B4-BE49-F238E27FC236}">
                  <a16:creationId xmlns:a16="http://schemas.microsoft.com/office/drawing/2014/main" id="{9EEA8B48-835B-C9DE-5E0E-83FE2D7595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24" y="4972"/>
              <a:ext cx="403" cy="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8" name="AutoShape 11">
              <a:extLst>
                <a:ext uri="{FF2B5EF4-FFF2-40B4-BE49-F238E27FC236}">
                  <a16:creationId xmlns:a16="http://schemas.microsoft.com/office/drawing/2014/main" id="{9F232E3D-E480-E569-1176-C625604445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84" y="4972"/>
              <a:ext cx="390" cy="5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19" name="AutoShape 10">
              <a:extLst>
                <a:ext uri="{FF2B5EF4-FFF2-40B4-BE49-F238E27FC236}">
                  <a16:creationId xmlns:a16="http://schemas.microsoft.com/office/drawing/2014/main" id="{72BC3A93-3F7A-00D7-F2E6-A3609BE79B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74" y="4972"/>
              <a:ext cx="405" cy="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0" name="AutoShape 9">
              <a:extLst>
                <a:ext uri="{FF2B5EF4-FFF2-40B4-BE49-F238E27FC236}">
                  <a16:creationId xmlns:a16="http://schemas.microsoft.com/office/drawing/2014/main" id="{9DCE8E8C-ECD6-07C4-0508-BF6B56208A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54" y="4281"/>
              <a:ext cx="1" cy="4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1" name="AutoShape 8">
              <a:extLst>
                <a:ext uri="{FF2B5EF4-FFF2-40B4-BE49-F238E27FC236}">
                  <a16:creationId xmlns:a16="http://schemas.microsoft.com/office/drawing/2014/main" id="{820BC182-DAFA-AE9F-A4CC-68EBEE052A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514" y="4281"/>
              <a:ext cx="640" cy="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2" name="AutoShape 7">
              <a:extLst>
                <a:ext uri="{FF2B5EF4-FFF2-40B4-BE49-F238E27FC236}">
                  <a16:creationId xmlns:a16="http://schemas.microsoft.com/office/drawing/2014/main" id="{3F8D8A58-AE2E-C3F5-BECC-C478A77992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54" y="4281"/>
              <a:ext cx="620" cy="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3" name="AutoShape 6">
              <a:extLst>
                <a:ext uri="{FF2B5EF4-FFF2-40B4-BE49-F238E27FC236}">
                  <a16:creationId xmlns:a16="http://schemas.microsoft.com/office/drawing/2014/main" id="{6573CAE8-1B87-D1E6-BC80-2E6988052D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57" y="4986"/>
              <a:ext cx="297" cy="5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4" name="AutoShape 5">
              <a:extLst>
                <a:ext uri="{FF2B5EF4-FFF2-40B4-BE49-F238E27FC236}">
                  <a16:creationId xmlns:a16="http://schemas.microsoft.com/office/drawing/2014/main" id="{E15F245A-12B9-E165-1C31-D2A671DB6E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54" y="4986"/>
              <a:ext cx="329" cy="5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5" name="AutoShape 4">
              <a:extLst>
                <a:ext uri="{FF2B5EF4-FFF2-40B4-BE49-F238E27FC236}">
                  <a16:creationId xmlns:a16="http://schemas.microsoft.com/office/drawing/2014/main" id="{636A8DF7-C0AD-9063-0AEE-116DC80F20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83" y="5772"/>
              <a:ext cx="1" cy="6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6" name="AutoShape 3">
              <a:extLst>
                <a:ext uri="{FF2B5EF4-FFF2-40B4-BE49-F238E27FC236}">
                  <a16:creationId xmlns:a16="http://schemas.microsoft.com/office/drawing/2014/main" id="{6F08C20E-AD38-E2F6-7FC9-F65B112C34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007" y="5772"/>
              <a:ext cx="476" cy="6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27" name="AutoShape 2">
              <a:extLst>
                <a:ext uri="{FF2B5EF4-FFF2-40B4-BE49-F238E27FC236}">
                  <a16:creationId xmlns:a16="http://schemas.microsoft.com/office/drawing/2014/main" id="{58FF58DF-7E06-D353-3825-7C868D5A90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83" y="5772"/>
              <a:ext cx="508" cy="6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366EBEFE-2143-1DE3-CA56-E6189E4C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8.3.2 </a:t>
            </a:r>
            <a:r>
              <a:rPr lang="zh-CN" altLang="en-US" sz="5400"/>
              <a:t>根树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619CBE-4712-5562-7408-0BDB8A75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00225"/>
            <a:ext cx="8964612" cy="5013325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8.3.3 </a:t>
            </a:r>
            <a:r>
              <a:rPr lang="zh-CN" altLang="zh-CN" dirty="0"/>
              <a:t>设完全</a:t>
            </a:r>
            <a:r>
              <a:rPr lang="en-US" altLang="zh-CN" dirty="0"/>
              <a:t>m</a:t>
            </a:r>
            <a:r>
              <a:rPr lang="zh-CN" altLang="zh-CN" dirty="0"/>
              <a:t>叉树</a:t>
            </a:r>
            <a:r>
              <a:rPr lang="en-US" altLang="zh-CN" dirty="0"/>
              <a:t>T</a:t>
            </a:r>
            <a:r>
              <a:rPr lang="zh-CN" altLang="zh-CN" dirty="0"/>
              <a:t>，且</a:t>
            </a:r>
            <a:r>
              <a:rPr lang="en-US" altLang="zh-CN" dirty="0"/>
              <a:t>T</a:t>
            </a:r>
            <a:r>
              <a:rPr lang="zh-CN" altLang="zh-CN" dirty="0"/>
              <a:t>的叶数为</a:t>
            </a:r>
            <a:r>
              <a:rPr lang="en-US" altLang="zh-CN" dirty="0"/>
              <a:t>t</a:t>
            </a:r>
            <a:r>
              <a:rPr lang="zh-CN" altLang="zh-CN" dirty="0"/>
              <a:t>，分枝点数为</a:t>
            </a:r>
            <a:r>
              <a:rPr lang="en-US" altLang="zh-CN" dirty="0" err="1"/>
              <a:t>i</a:t>
            </a:r>
            <a:r>
              <a:rPr lang="zh-CN" altLang="zh-CN" dirty="0"/>
              <a:t>，则</a:t>
            </a:r>
            <a:r>
              <a:rPr lang="en-US" altLang="zh-CN" dirty="0"/>
              <a:t>(m</a:t>
            </a:r>
            <a:r>
              <a:rPr lang="zh-CN" altLang="zh-CN" dirty="0"/>
              <a:t>－</a:t>
            </a:r>
            <a:r>
              <a:rPr lang="en-US" altLang="zh-CN" dirty="0"/>
              <a:t>1)</a:t>
            </a:r>
            <a:r>
              <a:rPr lang="en-US" altLang="zh-CN" dirty="0" err="1"/>
              <a:t>i</a:t>
            </a:r>
            <a:r>
              <a:rPr lang="zh-CN" altLang="zh-CN" dirty="0"/>
              <a:t>＝</a:t>
            </a:r>
            <a:r>
              <a:rPr lang="en-US" altLang="zh-CN" dirty="0"/>
              <a:t>t</a:t>
            </a:r>
            <a:r>
              <a:rPr lang="zh-CN" altLang="zh-CN" dirty="0"/>
              <a:t>－</a:t>
            </a:r>
            <a:r>
              <a:rPr lang="en-US" altLang="zh-CN" dirty="0"/>
              <a:t>1</a:t>
            </a:r>
            <a:r>
              <a:rPr lang="zh-CN" altLang="zh-CN" dirty="0"/>
              <a:t>。</a:t>
            </a:r>
          </a:p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zh-CN" altLang="zh-CN" dirty="0"/>
              <a:t> </a:t>
            </a:r>
            <a:r>
              <a:rPr lang="en-US" altLang="zh-CN" dirty="0"/>
              <a:t>  2(</a:t>
            </a:r>
            <a:r>
              <a:rPr lang="en-US" altLang="zh-CN" dirty="0" err="1"/>
              <a:t>t+i</a:t>
            </a:r>
            <a:r>
              <a:rPr lang="zh-CN" altLang="zh-CN" dirty="0"/>
              <a:t>－</a:t>
            </a:r>
            <a:r>
              <a:rPr lang="en-US" altLang="zh-CN" dirty="0"/>
              <a:t>1)</a:t>
            </a:r>
            <a:r>
              <a:rPr lang="zh-CN" altLang="zh-CN" dirty="0"/>
              <a:t>＝</a:t>
            </a:r>
            <a:r>
              <a:rPr lang="en-US" altLang="zh-CN" dirty="0"/>
              <a:t>t</a:t>
            </a:r>
            <a:r>
              <a:rPr lang="zh-CN" altLang="zh-CN" dirty="0"/>
              <a:t>＋</a:t>
            </a:r>
            <a:r>
              <a:rPr lang="en-US" altLang="zh-CN" dirty="0"/>
              <a:t>m</a:t>
            </a:r>
            <a:r>
              <a:rPr lang="zh-CN" altLang="zh-CN" dirty="0"/>
              <a:t>＋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zh-CN" altLang="zh-CN" dirty="0"/>
              <a:t>－</a:t>
            </a:r>
            <a:r>
              <a:rPr lang="en-US" altLang="zh-CN" dirty="0"/>
              <a:t>1)(m</a:t>
            </a:r>
            <a:r>
              <a:rPr lang="zh-CN" altLang="zh-CN" dirty="0"/>
              <a:t>＋</a:t>
            </a:r>
            <a:r>
              <a:rPr lang="en-US" altLang="zh-CN" dirty="0"/>
              <a:t>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65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7359F850-D319-E72D-174B-97A8B179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8.3.3 </a:t>
            </a:r>
            <a:r>
              <a:rPr lang="zh-CN" altLang="en-US" sz="5400"/>
              <a:t>决策树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34CCCC20-4A1C-05F3-0F80-D57DE04F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773238"/>
            <a:ext cx="8893175" cy="50847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/>
              <a:t>每个</a:t>
            </a:r>
            <a:r>
              <a:rPr lang="zh-CN" altLang="zh-CN" dirty="0">
                <a:solidFill>
                  <a:srgbClr val="FF00FF"/>
                </a:solidFill>
              </a:rPr>
              <a:t>内点</a:t>
            </a:r>
            <a:r>
              <a:rPr lang="zh-CN" altLang="zh-CN" dirty="0"/>
              <a:t>都对应着一次</a:t>
            </a:r>
            <a:r>
              <a:rPr lang="zh-CN" altLang="zh-CN" dirty="0">
                <a:solidFill>
                  <a:srgbClr val="00B050"/>
                </a:solidFill>
              </a:rPr>
              <a:t>决策</a:t>
            </a:r>
            <a:r>
              <a:rPr lang="zh-CN" altLang="zh-CN" dirty="0"/>
              <a:t>，这些顶点的</a:t>
            </a:r>
            <a:r>
              <a:rPr lang="zh-CN" altLang="zh-CN" dirty="0">
                <a:solidFill>
                  <a:srgbClr val="FF00FF"/>
                </a:solidFill>
              </a:rPr>
              <a:t>子树</a:t>
            </a:r>
            <a:r>
              <a:rPr lang="zh-CN" altLang="zh-CN" dirty="0"/>
              <a:t>都对应着该决策的每种可能</a:t>
            </a:r>
            <a:r>
              <a:rPr lang="zh-CN" altLang="zh-CN" dirty="0">
                <a:solidFill>
                  <a:srgbClr val="00B050"/>
                </a:solidFill>
              </a:rPr>
              <a:t>结果</a:t>
            </a:r>
            <a:r>
              <a:rPr lang="zh-CN" altLang="zh-CN" dirty="0"/>
              <a:t>，这样的有序树称为</a:t>
            </a:r>
            <a:r>
              <a:rPr lang="zh-CN" altLang="zh-CN" b="1" dirty="0">
                <a:solidFill>
                  <a:srgbClr val="FF0000"/>
                </a:solidFill>
              </a:rPr>
              <a:t>决策树</a:t>
            </a:r>
            <a:r>
              <a:rPr lang="zh-CN" altLang="zh-CN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8.3.4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有</a:t>
            </a:r>
            <a:r>
              <a:rPr lang="en-US" altLang="zh-CN" dirty="0"/>
              <a:t>8</a:t>
            </a:r>
            <a:r>
              <a:rPr lang="zh-CN" altLang="zh-CN" dirty="0"/>
              <a:t>枚外观相同的硬币，其中有</a:t>
            </a:r>
            <a:r>
              <a:rPr lang="en-US" altLang="zh-CN" dirty="0"/>
              <a:t>7</a:t>
            </a:r>
            <a:r>
              <a:rPr lang="zh-CN" altLang="zh-CN" dirty="0"/>
              <a:t>枚重量相同，而剩余的一枚伪币的重量较轻。用一架天平以比较重量的方法去找出伪币。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278CFEC8-869A-3F5E-E000-9AD14559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8.3.3 </a:t>
            </a:r>
            <a:r>
              <a:rPr lang="zh-CN" altLang="en-US" sz="5400"/>
              <a:t>决策树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E5E03DF3-9258-4B8B-929B-EE760E27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852613"/>
            <a:ext cx="9036050" cy="500538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17412" name="Group 1">
            <a:extLst>
              <a:ext uri="{FF2B5EF4-FFF2-40B4-BE49-F238E27FC236}">
                <a16:creationId xmlns:a16="http://schemas.microsoft.com/office/drawing/2014/main" id="{00382D49-CFEB-93C6-E609-77EBD8F04ED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58888" y="2060575"/>
            <a:ext cx="7029450" cy="4733925"/>
            <a:chOff x="2392" y="641"/>
            <a:chExt cx="7381" cy="4969"/>
          </a:xfrm>
        </p:grpSpPr>
        <p:sp>
          <p:nvSpPr>
            <p:cNvPr id="17415" name="AutoShape 40">
              <a:extLst>
                <a:ext uri="{FF2B5EF4-FFF2-40B4-BE49-F238E27FC236}">
                  <a16:creationId xmlns:a16="http://schemas.microsoft.com/office/drawing/2014/main" id="{C1E36C56-FAB3-669E-4A84-FB5D4B1E19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92" y="641"/>
              <a:ext cx="7381" cy="4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16" name="Text Box 38">
              <a:extLst>
                <a:ext uri="{FF2B5EF4-FFF2-40B4-BE49-F238E27FC236}">
                  <a16:creationId xmlns:a16="http://schemas.microsoft.com/office/drawing/2014/main" id="{03A54B5B-35F3-B9B2-C1A7-697E20911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4872"/>
              <a:ext cx="7223" cy="7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1        2       3       4    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空集    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5      6       8       7</a:t>
              </a:r>
              <a:endParaRPr lang="en-US" altLang="zh-CN" sz="2800"/>
            </a:p>
          </p:txBody>
        </p:sp>
        <p:sp>
          <p:nvSpPr>
            <p:cNvPr id="17417" name="Text Box 37">
              <a:extLst>
                <a:ext uri="{FF2B5EF4-FFF2-40B4-BE49-F238E27FC236}">
                  <a16:creationId xmlns:a16="http://schemas.microsoft.com/office/drawing/2014/main" id="{8A0346F5-E9C9-6BD5-1524-F04CBC635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4" y="1639"/>
              <a:ext cx="189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左盘上翘</a:t>
              </a:r>
              <a:endParaRPr lang="zh-CN" altLang="zh-CN" sz="2800"/>
            </a:p>
          </p:txBody>
        </p:sp>
        <p:sp>
          <p:nvSpPr>
            <p:cNvPr id="17418" name="Text Box 36">
              <a:extLst>
                <a:ext uri="{FF2B5EF4-FFF2-40B4-BE49-F238E27FC236}">
                  <a16:creationId xmlns:a16="http://schemas.microsoft.com/office/drawing/2014/main" id="{1F6B5225-E1F0-72E8-73FA-44DEA15E4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2" y="1491"/>
              <a:ext cx="1725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右盘上翘</a:t>
              </a:r>
              <a:endParaRPr lang="zh-CN" altLang="zh-CN" sz="2800"/>
            </a:p>
          </p:txBody>
        </p:sp>
        <p:sp>
          <p:nvSpPr>
            <p:cNvPr id="17419" name="Text Box 35">
              <a:extLst>
                <a:ext uri="{FF2B5EF4-FFF2-40B4-BE49-F238E27FC236}">
                  <a16:creationId xmlns:a16="http://schemas.microsoft.com/office/drawing/2014/main" id="{75D6FE6F-916C-5675-96B4-8A4CB25E3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" y="2032"/>
              <a:ext cx="1794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两盘平衡</a:t>
              </a:r>
              <a:endParaRPr lang="zh-CN" altLang="zh-CN" sz="2800"/>
            </a:p>
          </p:txBody>
        </p:sp>
        <p:sp>
          <p:nvSpPr>
            <p:cNvPr id="17420" name="Text Box 34">
              <a:extLst>
                <a:ext uri="{FF2B5EF4-FFF2-40B4-BE49-F238E27FC236}">
                  <a16:creationId xmlns:a16="http://schemas.microsoft.com/office/drawing/2014/main" id="{1F8F6D72-D040-6D66-F2A4-0472F3C0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664"/>
              <a:ext cx="2016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1,2,3,</a:t>
              </a:r>
              <a:r>
                <a:rPr lang="en-US" altLang="zh-CN" sz="2800"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cs typeface="Times New Roman" panose="02020603050405020304" pitchFamily="18" charset="0"/>
                </a:rPr>
                <a:t>…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,8</a:t>
              </a:r>
              <a:endParaRPr lang="en-US" altLang="zh-CN" sz="2800"/>
            </a:p>
          </p:txBody>
        </p:sp>
        <p:sp>
          <p:nvSpPr>
            <p:cNvPr id="17421" name="Text Box 33">
              <a:extLst>
                <a:ext uri="{FF2B5EF4-FFF2-40B4-BE49-F238E27FC236}">
                  <a16:creationId xmlns:a16="http://schemas.microsoft.com/office/drawing/2014/main" id="{22CB1DBC-2884-CEFE-A43A-8BEA3B6A3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0" y="649"/>
              <a:ext cx="246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6,7,8</a:t>
              </a:r>
              <a:endParaRPr lang="en-US" altLang="zh-CN" sz="2800"/>
            </a:p>
          </p:txBody>
        </p:sp>
        <p:sp>
          <p:nvSpPr>
            <p:cNvPr id="17422" name="Text Box 32">
              <a:extLst>
                <a:ext uri="{FF2B5EF4-FFF2-40B4-BE49-F238E27FC236}">
                  <a16:creationId xmlns:a16="http://schemas.microsoft.com/office/drawing/2014/main" id="{CD64D3CD-73EC-DC9B-56E2-93C9E3F94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3157"/>
              <a:ext cx="1048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endParaRPr lang="en-US" altLang="zh-CN" sz="2800"/>
            </a:p>
          </p:txBody>
        </p:sp>
        <p:sp>
          <p:nvSpPr>
            <p:cNvPr id="17423" name="Text Box 31">
              <a:extLst>
                <a:ext uri="{FF2B5EF4-FFF2-40B4-BE49-F238E27FC236}">
                  <a16:creationId xmlns:a16="http://schemas.microsoft.com/office/drawing/2014/main" id="{36883D25-B576-DF62-DF7A-AB733D54D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" y="3163"/>
              <a:ext cx="1224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7424" name="Text Box 30">
              <a:extLst>
                <a:ext uri="{FF2B5EF4-FFF2-40B4-BE49-F238E27FC236}">
                  <a16:creationId xmlns:a16="http://schemas.microsoft.com/office/drawing/2014/main" id="{DED704F0-24E4-F1C4-36A3-A8FCE05F3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8" y="3066"/>
              <a:ext cx="80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4,5</a:t>
              </a:r>
              <a:endParaRPr lang="en-US" altLang="zh-CN" sz="2800"/>
            </a:p>
          </p:txBody>
        </p:sp>
        <p:sp>
          <p:nvSpPr>
            <p:cNvPr id="17425" name="Text Box 29">
              <a:extLst>
                <a:ext uri="{FF2B5EF4-FFF2-40B4-BE49-F238E27FC236}">
                  <a16:creationId xmlns:a16="http://schemas.microsoft.com/office/drawing/2014/main" id="{7A34D0A0-EBB6-1DAC-D8FC-B05C3990F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" y="3034"/>
              <a:ext cx="1138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7426" name="Text Box 28">
              <a:extLst>
                <a:ext uri="{FF2B5EF4-FFF2-40B4-BE49-F238E27FC236}">
                  <a16:creationId xmlns:a16="http://schemas.microsoft.com/office/drawing/2014/main" id="{E3127C48-01F8-808F-29D5-2964C844E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2" y="3096"/>
              <a:ext cx="106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6,7,8</a:t>
              </a:r>
              <a:endParaRPr lang="en-US" altLang="zh-CN" sz="2800"/>
            </a:p>
          </p:txBody>
        </p:sp>
        <p:sp>
          <p:nvSpPr>
            <p:cNvPr id="17427" name="Text Box 27">
              <a:extLst>
                <a:ext uri="{FF2B5EF4-FFF2-40B4-BE49-F238E27FC236}">
                  <a16:creationId xmlns:a16="http://schemas.microsoft.com/office/drawing/2014/main" id="{C81774FB-F076-A41C-2B72-BA2F61731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8" y="3121"/>
              <a:ext cx="113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7428" name="Oval 26">
              <a:extLst>
                <a:ext uri="{FF2B5EF4-FFF2-40B4-BE49-F238E27FC236}">
                  <a16:creationId xmlns:a16="http://schemas.microsoft.com/office/drawing/2014/main" id="{C1B0C298-AFC8-CCD3-8C32-6FA5600C0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0" y="920"/>
              <a:ext cx="257" cy="25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29" name="Oval 25">
              <a:extLst>
                <a:ext uri="{FF2B5EF4-FFF2-40B4-BE49-F238E27FC236}">
                  <a16:creationId xmlns:a16="http://schemas.microsoft.com/office/drawing/2014/main" id="{43A5D95F-DACC-1847-931E-6A7988BE4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331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0" name="Oval 24">
              <a:extLst>
                <a:ext uri="{FF2B5EF4-FFF2-40B4-BE49-F238E27FC236}">
                  <a16:creationId xmlns:a16="http://schemas.microsoft.com/office/drawing/2014/main" id="{7F336E97-0176-E0E4-83F1-A6696479B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" y="3314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1" name="Oval 23">
              <a:extLst>
                <a:ext uri="{FF2B5EF4-FFF2-40B4-BE49-F238E27FC236}">
                  <a16:creationId xmlns:a16="http://schemas.microsoft.com/office/drawing/2014/main" id="{3F0AF352-D4E8-86F1-C527-1B8FAE53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1" y="3314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2" name="Oval 22">
              <a:extLst>
                <a:ext uri="{FF2B5EF4-FFF2-40B4-BE49-F238E27FC236}">
                  <a16:creationId xmlns:a16="http://schemas.microsoft.com/office/drawing/2014/main" id="{190B4F6C-3F03-1D0A-CBB1-88C735A0D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0" y="4752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3" name="Oval 21">
              <a:extLst>
                <a:ext uri="{FF2B5EF4-FFF2-40B4-BE49-F238E27FC236}">
                  <a16:creationId xmlns:a16="http://schemas.microsoft.com/office/drawing/2014/main" id="{FACAEA41-A1EF-5E2F-38FD-78BED3D2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5" y="4738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4" name="Oval 20">
              <a:extLst>
                <a:ext uri="{FF2B5EF4-FFF2-40B4-BE49-F238E27FC236}">
                  <a16:creationId xmlns:a16="http://schemas.microsoft.com/office/drawing/2014/main" id="{B6C7E477-3904-803B-237E-31433E96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" y="4738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5" name="Oval 19">
              <a:extLst>
                <a:ext uri="{FF2B5EF4-FFF2-40B4-BE49-F238E27FC236}">
                  <a16:creationId xmlns:a16="http://schemas.microsoft.com/office/drawing/2014/main" id="{D04EE2BA-63CF-07C7-BD19-9643F20A0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1" y="4736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6" name="Oval 18">
              <a:extLst>
                <a:ext uri="{FF2B5EF4-FFF2-40B4-BE49-F238E27FC236}">
                  <a16:creationId xmlns:a16="http://schemas.microsoft.com/office/drawing/2014/main" id="{8B025BF0-055C-DEFA-21C9-32CC12B1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4735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7" name="Oval 17">
              <a:extLst>
                <a:ext uri="{FF2B5EF4-FFF2-40B4-BE49-F238E27FC236}">
                  <a16:creationId xmlns:a16="http://schemas.microsoft.com/office/drawing/2014/main" id="{9CB9F876-70DA-09D8-2186-93A12C457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4736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8" name="Oval 16">
              <a:extLst>
                <a:ext uri="{FF2B5EF4-FFF2-40B4-BE49-F238E27FC236}">
                  <a16:creationId xmlns:a16="http://schemas.microsoft.com/office/drawing/2014/main" id="{5B9886B0-FB5A-DB8F-90CB-EB72145B2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1" y="4736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9" name="Oval 15">
              <a:extLst>
                <a:ext uri="{FF2B5EF4-FFF2-40B4-BE49-F238E27FC236}">
                  <a16:creationId xmlns:a16="http://schemas.microsoft.com/office/drawing/2014/main" id="{9D11831A-56DE-9BA9-824A-D227508D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6" y="4738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0" name="Oval 14">
              <a:extLst>
                <a:ext uri="{FF2B5EF4-FFF2-40B4-BE49-F238E27FC236}">
                  <a16:creationId xmlns:a16="http://schemas.microsoft.com/office/drawing/2014/main" id="{F4A46163-8515-F8CD-E991-DB7033117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5" y="4721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7441" name="AutoShape 13">
              <a:extLst>
                <a:ext uri="{FF2B5EF4-FFF2-40B4-BE49-F238E27FC236}">
                  <a16:creationId xmlns:a16="http://schemas.microsoft.com/office/drawing/2014/main" id="{258B5C63-E49F-0DE8-210B-257918646F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5" y="1140"/>
              <a:ext cx="2173" cy="22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2" name="AutoShape 12">
              <a:extLst>
                <a:ext uri="{FF2B5EF4-FFF2-40B4-BE49-F238E27FC236}">
                  <a16:creationId xmlns:a16="http://schemas.microsoft.com/office/drawing/2014/main" id="{A45E18C1-0203-067B-5E35-F9C3F5AC1C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19" y="1178"/>
              <a:ext cx="89" cy="21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3" name="AutoShape 11">
              <a:extLst>
                <a:ext uri="{FF2B5EF4-FFF2-40B4-BE49-F238E27FC236}">
                  <a16:creationId xmlns:a16="http://schemas.microsoft.com/office/drawing/2014/main" id="{4A4960F2-12E5-5BF3-528E-EC2D1AF44E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09" y="1140"/>
              <a:ext cx="2369" cy="22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4" name="AutoShape 10">
              <a:extLst>
                <a:ext uri="{FF2B5EF4-FFF2-40B4-BE49-F238E27FC236}">
                  <a16:creationId xmlns:a16="http://schemas.microsoft.com/office/drawing/2014/main" id="{B5B2BC8E-4E6D-275C-F88D-BE43BB54E0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08" y="3569"/>
              <a:ext cx="30" cy="11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5" name="AutoShape 9">
              <a:extLst>
                <a:ext uri="{FF2B5EF4-FFF2-40B4-BE49-F238E27FC236}">
                  <a16:creationId xmlns:a16="http://schemas.microsoft.com/office/drawing/2014/main" id="{D89AB6F1-3DAC-562A-1CAE-73232F27F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303" y="3569"/>
              <a:ext cx="705" cy="1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6" name="AutoShape 8">
              <a:extLst>
                <a:ext uri="{FF2B5EF4-FFF2-40B4-BE49-F238E27FC236}">
                  <a16:creationId xmlns:a16="http://schemas.microsoft.com/office/drawing/2014/main" id="{F3F9A3C3-65A9-2678-CAE9-97840787AA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19" y="3571"/>
              <a:ext cx="46" cy="11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7" name="AutoShape 7">
              <a:extLst>
                <a:ext uri="{FF2B5EF4-FFF2-40B4-BE49-F238E27FC236}">
                  <a16:creationId xmlns:a16="http://schemas.microsoft.com/office/drawing/2014/main" id="{66B25CD9-A7E5-85AA-7A15-448B401501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24" y="3571"/>
              <a:ext cx="841" cy="12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8" name="AutoShape 6">
              <a:extLst>
                <a:ext uri="{FF2B5EF4-FFF2-40B4-BE49-F238E27FC236}">
                  <a16:creationId xmlns:a16="http://schemas.microsoft.com/office/drawing/2014/main" id="{7E79FAB5-E39A-6B3F-030B-59DDCC1E68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65" y="3571"/>
              <a:ext cx="718" cy="12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9" name="AutoShape 5">
              <a:extLst>
                <a:ext uri="{FF2B5EF4-FFF2-40B4-BE49-F238E27FC236}">
                  <a16:creationId xmlns:a16="http://schemas.microsoft.com/office/drawing/2014/main" id="{510A6540-1F1E-43DF-1199-442DA285C1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08" y="3569"/>
              <a:ext cx="901" cy="11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0" name="AutoShape 4">
              <a:extLst>
                <a:ext uri="{FF2B5EF4-FFF2-40B4-BE49-F238E27FC236}">
                  <a16:creationId xmlns:a16="http://schemas.microsoft.com/office/drawing/2014/main" id="{BD11144C-DD14-7BF6-DC91-74448BB92C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69" y="3569"/>
              <a:ext cx="30" cy="11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1" name="AutoShape 3">
              <a:extLst>
                <a:ext uri="{FF2B5EF4-FFF2-40B4-BE49-F238E27FC236}">
                  <a16:creationId xmlns:a16="http://schemas.microsoft.com/office/drawing/2014/main" id="{51C3471F-9496-FDB4-4FCD-D2C1792858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74" y="3569"/>
              <a:ext cx="795" cy="11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2" name="AutoShape 2">
              <a:extLst>
                <a:ext uri="{FF2B5EF4-FFF2-40B4-BE49-F238E27FC236}">
                  <a16:creationId xmlns:a16="http://schemas.microsoft.com/office/drawing/2014/main" id="{C795156F-0A4D-273A-5978-FDE5593D14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69" y="3569"/>
              <a:ext cx="733" cy="11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7413" name="Rectangle 41">
            <a:extLst>
              <a:ext uri="{FF2B5EF4-FFF2-40B4-BE49-F238E27FC236}">
                <a16:creationId xmlns:a16="http://schemas.microsoft.com/office/drawing/2014/main" id="{26AB5A97-FE01-5EE4-C44E-96C03AA3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4" name="Rectangle 42">
            <a:extLst>
              <a:ext uri="{FF2B5EF4-FFF2-40B4-BE49-F238E27FC236}">
                <a16:creationId xmlns:a16="http://schemas.microsoft.com/office/drawing/2014/main" id="{2A63F626-50CF-80BA-2460-C6530B003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EFEEE971-3133-8553-5EA7-E9FA092F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91604-2AA5-3498-4C11-5EFEBEA00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zh-CN" dirty="0"/>
              <a:t>两个</a:t>
            </a:r>
            <a:r>
              <a:rPr lang="en-US" altLang="zh-CN" dirty="0"/>
              <a:t>n</a:t>
            </a:r>
            <a:r>
              <a:rPr lang="zh-CN" altLang="zh-CN" dirty="0"/>
              <a:t>位二进制序列的</a:t>
            </a:r>
            <a:r>
              <a:rPr lang="zh-CN" altLang="zh-CN" b="1" dirty="0">
                <a:solidFill>
                  <a:srgbClr val="FF0000"/>
                </a:solidFill>
              </a:rPr>
              <a:t>汉明距离</a:t>
            </a:r>
            <a:r>
              <a:rPr lang="zh-CN" altLang="zh-CN" dirty="0"/>
              <a:t>是指相应元素不同的位数。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>
                <a:solidFill>
                  <a:srgbClr val="339933"/>
                </a:solidFill>
              </a:rPr>
              <a:t>例如</a:t>
            </a:r>
            <a:r>
              <a:rPr lang="zh-CN" altLang="zh-CN" dirty="0"/>
              <a:t>，二进制序列</a:t>
            </a:r>
            <a:r>
              <a:rPr lang="en-US" altLang="zh-CN" dirty="0"/>
              <a:t>0100110</a:t>
            </a:r>
            <a:r>
              <a:rPr lang="zh-CN" altLang="zh-CN" dirty="0"/>
              <a:t>和</a:t>
            </a:r>
            <a:r>
              <a:rPr lang="en-US" altLang="zh-CN" dirty="0"/>
              <a:t>1001010</a:t>
            </a:r>
            <a:r>
              <a:rPr lang="zh-CN" altLang="zh-CN" dirty="0"/>
              <a:t>的汉明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距离是</a:t>
            </a:r>
            <a:r>
              <a:rPr lang="en-US" altLang="zh-CN" dirty="0"/>
              <a:t>4</a:t>
            </a:r>
            <a:r>
              <a:rPr lang="zh-CN" altLang="zh-CN" dirty="0"/>
              <a:t>。</a:t>
            </a:r>
            <a:r>
              <a:rPr lang="en-US" altLang="zh-CN" dirty="0"/>
              <a:t>  </a:t>
            </a:r>
            <a:r>
              <a:rPr lang="zh-CN" altLang="zh-CN" b="1" dirty="0">
                <a:solidFill>
                  <a:srgbClr val="FF0000"/>
                </a:solidFill>
              </a:rPr>
              <a:t>纠错码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zh-CN" dirty="0"/>
              <a:t>结点在图中的距离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339933"/>
                </a:solidFill>
              </a:rPr>
              <a:t>等于</a:t>
            </a:r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zh-CN" altLang="zh-CN" dirty="0"/>
              <a:t>结点标记的汉明距离这种标记方法叫做</a:t>
            </a:r>
            <a:r>
              <a:rPr lang="zh-CN" altLang="zh-CN" b="1" dirty="0">
                <a:solidFill>
                  <a:srgbClr val="FF0000"/>
                </a:solidFill>
              </a:rPr>
              <a:t>二进制编址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lnSpc>
                <a:spcPct val="130000"/>
              </a:lnSpc>
              <a:defRPr/>
            </a:pPr>
            <a:r>
              <a:rPr lang="zh-CN" altLang="zh-CN" dirty="0"/>
              <a:t>能二进制编址的图称作</a:t>
            </a:r>
            <a:r>
              <a:rPr lang="zh-CN" altLang="zh-CN" b="1" dirty="0">
                <a:solidFill>
                  <a:srgbClr val="FF00FF"/>
                </a:solidFill>
              </a:rPr>
              <a:t>二进制汉明图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86122D26-7C07-CB91-F5AB-AFFFCD35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427A2FA9-20FE-87B4-ECA2-1799C11D2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>
                <a:solidFill>
                  <a:srgbClr val="FF0000"/>
                </a:solidFill>
              </a:rPr>
              <a:t>四维超立方体</a:t>
            </a:r>
            <a:r>
              <a:rPr lang="en-US" altLang="zh-CN"/>
              <a:t>Q</a:t>
            </a:r>
            <a:r>
              <a:rPr lang="en-US" altLang="zh-CN" baseline="-25000"/>
              <a:t>4</a:t>
            </a:r>
            <a:r>
              <a:rPr lang="zh-CN" altLang="zh-CN"/>
              <a:t>的一个</a:t>
            </a:r>
            <a:r>
              <a:rPr lang="en-US" altLang="zh-CN"/>
              <a:t>4</a:t>
            </a:r>
            <a:r>
              <a:rPr lang="zh-CN" altLang="zh-CN"/>
              <a:t>位二进制编址</a:t>
            </a:r>
            <a:endParaRPr lang="zh-CN" altLang="en-US"/>
          </a:p>
        </p:txBody>
      </p:sp>
      <p:sp>
        <p:nvSpPr>
          <p:cNvPr id="21508" name="Rectangle 67">
            <a:extLst>
              <a:ext uri="{FF2B5EF4-FFF2-40B4-BE49-F238E27FC236}">
                <a16:creationId xmlns:a16="http://schemas.microsoft.com/office/drawing/2014/main" id="{C0B3FDFA-23C3-D1DD-3C7C-68B6A3245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1509" name="Group 1">
            <a:extLst>
              <a:ext uri="{FF2B5EF4-FFF2-40B4-BE49-F238E27FC236}">
                <a16:creationId xmlns:a16="http://schemas.microsoft.com/office/drawing/2014/main" id="{B5634245-800E-FFB0-C572-69DD433D8F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1188" y="2924175"/>
            <a:ext cx="7993062" cy="3717925"/>
            <a:chOff x="2388" y="1289"/>
            <a:chExt cx="7493" cy="3485"/>
          </a:xfrm>
        </p:grpSpPr>
        <p:sp>
          <p:nvSpPr>
            <p:cNvPr id="21510" name="AutoShape 66">
              <a:extLst>
                <a:ext uri="{FF2B5EF4-FFF2-40B4-BE49-F238E27FC236}">
                  <a16:creationId xmlns:a16="http://schemas.microsoft.com/office/drawing/2014/main" id="{803886B0-7F38-6F85-C4DE-EC3D0446D84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88" y="1289"/>
              <a:ext cx="7466" cy="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1" name="Text Box 65">
              <a:extLst>
                <a:ext uri="{FF2B5EF4-FFF2-40B4-BE49-F238E27FC236}">
                  <a16:creationId xmlns:a16="http://schemas.microsoft.com/office/drawing/2014/main" id="{643C6B25-79E0-E7ED-A18C-0E1CAD36B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" y="2301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1101</a:t>
              </a:r>
              <a:endParaRPr lang="en-US" altLang="zh-CN" sz="2800"/>
            </a:p>
          </p:txBody>
        </p:sp>
        <p:sp>
          <p:nvSpPr>
            <p:cNvPr id="21512" name="Text Box 64">
              <a:extLst>
                <a:ext uri="{FF2B5EF4-FFF2-40B4-BE49-F238E27FC236}">
                  <a16:creationId xmlns:a16="http://schemas.microsoft.com/office/drawing/2014/main" id="{6EFF40A7-2E93-7FBA-AAF4-F20CDF98F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1" y="385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sz="2800"/>
            </a:p>
          </p:txBody>
        </p:sp>
        <p:sp>
          <p:nvSpPr>
            <p:cNvPr id="21513" name="Text Box 63">
              <a:extLst>
                <a:ext uri="{FF2B5EF4-FFF2-40B4-BE49-F238E27FC236}">
                  <a16:creationId xmlns:a16="http://schemas.microsoft.com/office/drawing/2014/main" id="{27884A4D-A1B1-6588-3EA0-EAB099C78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9" y="385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sz="2800"/>
            </a:p>
          </p:txBody>
        </p:sp>
        <p:sp>
          <p:nvSpPr>
            <p:cNvPr id="21514" name="Text Box 62">
              <a:extLst>
                <a:ext uri="{FF2B5EF4-FFF2-40B4-BE49-F238E27FC236}">
                  <a16:creationId xmlns:a16="http://schemas.microsoft.com/office/drawing/2014/main" id="{78031E26-995E-089D-E341-370F4795E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3" y="3147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sz="2800"/>
            </a:p>
          </p:txBody>
        </p:sp>
        <p:sp>
          <p:nvSpPr>
            <p:cNvPr id="21515" name="Text Box 61">
              <a:extLst>
                <a:ext uri="{FF2B5EF4-FFF2-40B4-BE49-F238E27FC236}">
                  <a16:creationId xmlns:a16="http://schemas.microsoft.com/office/drawing/2014/main" id="{DB3AE04D-460D-CD41-2614-852C1E4D1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1" y="3381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1011</a:t>
              </a:r>
              <a:endParaRPr lang="en-US" altLang="zh-CN" sz="2800"/>
            </a:p>
          </p:txBody>
        </p:sp>
        <p:sp>
          <p:nvSpPr>
            <p:cNvPr id="21516" name="Text Box 60">
              <a:extLst>
                <a:ext uri="{FF2B5EF4-FFF2-40B4-BE49-F238E27FC236}">
                  <a16:creationId xmlns:a16="http://schemas.microsoft.com/office/drawing/2014/main" id="{8C262FE9-3366-590F-5846-68873CB62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6" y="223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1100</a:t>
              </a:r>
              <a:endParaRPr lang="en-US" altLang="zh-CN" sz="2800"/>
            </a:p>
          </p:txBody>
        </p:sp>
        <p:sp>
          <p:nvSpPr>
            <p:cNvPr id="21517" name="Text Box 59">
              <a:extLst>
                <a:ext uri="{FF2B5EF4-FFF2-40B4-BE49-F238E27FC236}">
                  <a16:creationId xmlns:a16="http://schemas.microsoft.com/office/drawing/2014/main" id="{68EAEFE6-D181-7144-4D00-C654FF6AA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4" y="1491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1111</a:t>
              </a:r>
              <a:endParaRPr lang="en-US" altLang="zh-CN" sz="2800"/>
            </a:p>
          </p:txBody>
        </p:sp>
        <p:sp>
          <p:nvSpPr>
            <p:cNvPr id="21518" name="Text Box 58">
              <a:extLst>
                <a:ext uri="{FF2B5EF4-FFF2-40B4-BE49-F238E27FC236}">
                  <a16:creationId xmlns:a16="http://schemas.microsoft.com/office/drawing/2014/main" id="{FABC5D4C-FC2E-1101-D9C6-ADD0139F9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1" y="142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1110</a:t>
              </a:r>
              <a:endParaRPr lang="en-US" altLang="zh-CN" sz="2800"/>
            </a:p>
          </p:txBody>
        </p:sp>
        <p:sp>
          <p:nvSpPr>
            <p:cNvPr id="21519" name="Text Box 57">
              <a:extLst>
                <a:ext uri="{FF2B5EF4-FFF2-40B4-BE49-F238E27FC236}">
                  <a16:creationId xmlns:a16="http://schemas.microsoft.com/office/drawing/2014/main" id="{EE675F18-EBEA-FA1D-9BB8-6229FF3E2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3870"/>
              <a:ext cx="1106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sz="2800"/>
            </a:p>
          </p:txBody>
        </p:sp>
        <p:sp>
          <p:nvSpPr>
            <p:cNvPr id="21520" name="Text Box 56">
              <a:extLst>
                <a:ext uri="{FF2B5EF4-FFF2-40B4-BE49-F238E27FC236}">
                  <a16:creationId xmlns:a16="http://schemas.microsoft.com/office/drawing/2014/main" id="{8B344FF4-980F-116D-9920-E2F611036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906"/>
              <a:ext cx="980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sz="2800"/>
            </a:p>
          </p:txBody>
        </p:sp>
        <p:sp>
          <p:nvSpPr>
            <p:cNvPr id="21521" name="Text Box 55">
              <a:extLst>
                <a:ext uri="{FF2B5EF4-FFF2-40B4-BE49-F238E27FC236}">
                  <a16:creationId xmlns:a16="http://schemas.microsoft.com/office/drawing/2014/main" id="{0878B9E1-E9C7-A28D-001B-FB046DB60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222"/>
              <a:ext cx="982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sz="2800"/>
            </a:p>
          </p:txBody>
        </p:sp>
        <p:sp>
          <p:nvSpPr>
            <p:cNvPr id="21522" name="Text Box 54">
              <a:extLst>
                <a:ext uri="{FF2B5EF4-FFF2-40B4-BE49-F238E27FC236}">
                  <a16:creationId xmlns:a16="http://schemas.microsoft.com/office/drawing/2014/main" id="{3DBA337C-0C77-2E2C-4DD8-4A199CAB5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" y="153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sz="2800"/>
            </a:p>
          </p:txBody>
        </p:sp>
        <p:sp>
          <p:nvSpPr>
            <p:cNvPr id="21523" name="Text Box 53">
              <a:extLst>
                <a:ext uri="{FF2B5EF4-FFF2-40B4-BE49-F238E27FC236}">
                  <a16:creationId xmlns:a16="http://schemas.microsoft.com/office/drawing/2014/main" id="{B1BC431B-EB67-CC08-3438-B71CBA146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" y="1450"/>
              <a:ext cx="1092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sz="2800"/>
            </a:p>
          </p:txBody>
        </p:sp>
        <p:sp>
          <p:nvSpPr>
            <p:cNvPr id="21524" name="Text Box 52">
              <a:extLst>
                <a:ext uri="{FF2B5EF4-FFF2-40B4-BE49-F238E27FC236}">
                  <a16:creationId xmlns:a16="http://schemas.microsoft.com/office/drawing/2014/main" id="{090E1C87-21DB-8CD1-590C-9BDF2540C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" y="3381"/>
              <a:ext cx="972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sz="2800"/>
            </a:p>
          </p:txBody>
        </p:sp>
        <p:sp>
          <p:nvSpPr>
            <p:cNvPr id="21525" name="Text Box 51">
              <a:extLst>
                <a:ext uri="{FF2B5EF4-FFF2-40B4-BE49-F238E27FC236}">
                  <a16:creationId xmlns:a16="http://schemas.microsoft.com/office/drawing/2014/main" id="{B159C7AE-81F7-B025-E083-50B5AEEE5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2369"/>
              <a:ext cx="1028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sz="2800"/>
            </a:p>
          </p:txBody>
        </p:sp>
        <p:sp>
          <p:nvSpPr>
            <p:cNvPr id="21526" name="Text Box 50">
              <a:extLst>
                <a:ext uri="{FF2B5EF4-FFF2-40B4-BE49-F238E27FC236}">
                  <a16:creationId xmlns:a16="http://schemas.microsoft.com/office/drawing/2014/main" id="{C13BA7C3-A7DC-6BA3-3E5D-7C3A28BA3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3" y="2166"/>
              <a:ext cx="1041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sz="2800"/>
            </a:p>
          </p:txBody>
        </p:sp>
        <p:sp>
          <p:nvSpPr>
            <p:cNvPr id="21527" name="Oval 49">
              <a:extLst>
                <a:ext uri="{FF2B5EF4-FFF2-40B4-BE49-F238E27FC236}">
                  <a16:creationId xmlns:a16="http://schemas.microsoft.com/office/drawing/2014/main" id="{C91BD248-254B-98A1-407A-1A11AC675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1602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8" name="Oval 48">
              <a:extLst>
                <a:ext uri="{FF2B5EF4-FFF2-40B4-BE49-F238E27FC236}">
                  <a16:creationId xmlns:a16="http://schemas.microsoft.com/office/drawing/2014/main" id="{0DEC0FD9-A034-64D0-6AE1-85C14448A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602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9" name="Oval 47">
              <a:extLst>
                <a:ext uri="{FF2B5EF4-FFF2-40B4-BE49-F238E27FC236}">
                  <a16:creationId xmlns:a16="http://schemas.microsoft.com/office/drawing/2014/main" id="{73E883AF-F909-2474-3CF7-422FA988A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2344"/>
              <a:ext cx="170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0" name="Oval 46">
              <a:extLst>
                <a:ext uri="{FF2B5EF4-FFF2-40B4-BE49-F238E27FC236}">
                  <a16:creationId xmlns:a16="http://schemas.microsoft.com/office/drawing/2014/main" id="{75C858B7-D99C-F89B-5DCA-B06E3AF74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1" name="Oval 45">
              <a:extLst>
                <a:ext uri="{FF2B5EF4-FFF2-40B4-BE49-F238E27FC236}">
                  <a16:creationId xmlns:a16="http://schemas.microsoft.com/office/drawing/2014/main" id="{FF9849B5-5149-7C9A-15A9-12633B3AA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3335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2" name="Oval 44">
              <a:extLst>
                <a:ext uri="{FF2B5EF4-FFF2-40B4-BE49-F238E27FC236}">
                  <a16:creationId xmlns:a16="http://schemas.microsoft.com/office/drawing/2014/main" id="{4397C0A0-A7AD-1CCB-4254-42B54752A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3" name="Oval 43">
              <a:extLst>
                <a:ext uri="{FF2B5EF4-FFF2-40B4-BE49-F238E27FC236}">
                  <a16:creationId xmlns:a16="http://schemas.microsoft.com/office/drawing/2014/main" id="{FA6E0A9F-1A96-5555-1740-4E35378FF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4" name="Oval 42">
              <a:extLst>
                <a:ext uri="{FF2B5EF4-FFF2-40B4-BE49-F238E27FC236}">
                  <a16:creationId xmlns:a16="http://schemas.microsoft.com/office/drawing/2014/main" id="{181152F9-6181-52FE-FF20-C4B6FF313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" y="3272"/>
              <a:ext cx="169" cy="1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1535" name="AutoShape 41">
              <a:extLst>
                <a:ext uri="{FF2B5EF4-FFF2-40B4-BE49-F238E27FC236}">
                  <a16:creationId xmlns:a16="http://schemas.microsoft.com/office/drawing/2014/main" id="{B4196991-C3F0-C683-9D96-4E94B0E71F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05" y="1687"/>
              <a:ext cx="9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6" name="AutoShape 40">
              <a:extLst>
                <a:ext uri="{FF2B5EF4-FFF2-40B4-BE49-F238E27FC236}">
                  <a16:creationId xmlns:a16="http://schemas.microsoft.com/office/drawing/2014/main" id="{B8F3B230-0EE7-044E-28EB-0CAE730991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95" y="1746"/>
              <a:ext cx="366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7" name="AutoShape 39">
              <a:extLst>
                <a:ext uri="{FF2B5EF4-FFF2-40B4-BE49-F238E27FC236}">
                  <a16:creationId xmlns:a16="http://schemas.microsoft.com/office/drawing/2014/main" id="{AEEED04D-4C90-5EC4-F036-D34AFA056C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80" y="2429"/>
              <a:ext cx="91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8" name="AutoShape 38">
              <a:extLst>
                <a:ext uri="{FF2B5EF4-FFF2-40B4-BE49-F238E27FC236}">
                  <a16:creationId xmlns:a16="http://schemas.microsoft.com/office/drawing/2014/main" id="{866580C9-2B85-DEEC-D522-32C0696A2C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34" y="1771"/>
              <a:ext cx="441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9" name="AutoShape 37">
              <a:extLst>
                <a:ext uri="{FF2B5EF4-FFF2-40B4-BE49-F238E27FC236}">
                  <a16:creationId xmlns:a16="http://schemas.microsoft.com/office/drawing/2014/main" id="{2C2BAC1B-F03D-3487-F965-F2F7F59758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21" y="1771"/>
              <a:ext cx="1" cy="1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0" name="AutoShape 36">
              <a:extLst>
                <a:ext uri="{FF2B5EF4-FFF2-40B4-BE49-F238E27FC236}">
                  <a16:creationId xmlns:a16="http://schemas.microsoft.com/office/drawing/2014/main" id="{87A0D9C2-9689-520F-4085-6928F285FF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72" y="1771"/>
              <a:ext cx="3" cy="1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1" name="AutoShape 35">
              <a:extLst>
                <a:ext uri="{FF2B5EF4-FFF2-40B4-BE49-F238E27FC236}">
                  <a16:creationId xmlns:a16="http://schemas.microsoft.com/office/drawing/2014/main" id="{30C7662C-071C-5E59-938D-FB387B47F0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95" y="2513"/>
              <a:ext cx="53" cy="1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2" name="AutoShape 34">
              <a:extLst>
                <a:ext uri="{FF2B5EF4-FFF2-40B4-BE49-F238E27FC236}">
                  <a16:creationId xmlns:a16="http://schemas.microsoft.com/office/drawing/2014/main" id="{878C9568-22ED-D9DF-DFF4-0084928E8A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5" y="2513"/>
              <a:ext cx="62" cy="14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3" name="AutoShape 33">
              <a:extLst>
                <a:ext uri="{FF2B5EF4-FFF2-40B4-BE49-F238E27FC236}">
                  <a16:creationId xmlns:a16="http://schemas.microsoft.com/office/drawing/2014/main" id="{0B57A0F5-8D9E-A34A-E0CD-BC82C1D2D6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05" y="3415"/>
              <a:ext cx="1067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4" name="AutoShape 32">
              <a:extLst>
                <a:ext uri="{FF2B5EF4-FFF2-40B4-BE49-F238E27FC236}">
                  <a16:creationId xmlns:a16="http://schemas.microsoft.com/office/drawing/2014/main" id="{8041FD4F-D697-B776-FAB5-E3484364B9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55" y="3440"/>
              <a:ext cx="377" cy="5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5" name="AutoShape 31">
              <a:extLst>
                <a:ext uri="{FF2B5EF4-FFF2-40B4-BE49-F238E27FC236}">
                  <a16:creationId xmlns:a16="http://schemas.microsoft.com/office/drawing/2014/main" id="{56C1422B-B9FD-FA89-C666-14C5CB4346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07" y="3504"/>
              <a:ext cx="314" cy="5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6" name="AutoShape 30">
              <a:extLst>
                <a:ext uri="{FF2B5EF4-FFF2-40B4-BE49-F238E27FC236}">
                  <a16:creationId xmlns:a16="http://schemas.microsoft.com/office/drawing/2014/main" id="{BD0FA910-8EC0-77EB-7693-06F3A73B92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32" y="4067"/>
              <a:ext cx="9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47" name="Oval 29">
              <a:extLst>
                <a:ext uri="{FF2B5EF4-FFF2-40B4-BE49-F238E27FC236}">
                  <a16:creationId xmlns:a16="http://schemas.microsoft.com/office/drawing/2014/main" id="{33B8D74B-6694-4129-E51B-3A808DD52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1" y="400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8" name="Oval 28">
              <a:extLst>
                <a:ext uri="{FF2B5EF4-FFF2-40B4-BE49-F238E27FC236}">
                  <a16:creationId xmlns:a16="http://schemas.microsoft.com/office/drawing/2014/main" id="{B30D3250-45B9-B058-CCCE-CA7443C96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8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9" name="Oval 27">
              <a:extLst>
                <a:ext uri="{FF2B5EF4-FFF2-40B4-BE49-F238E27FC236}">
                  <a16:creationId xmlns:a16="http://schemas.microsoft.com/office/drawing/2014/main" id="{D81ACDCB-DDC4-0FCF-C439-A4D73141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" y="329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0" name="Oval 26">
              <a:extLst>
                <a:ext uri="{FF2B5EF4-FFF2-40B4-BE49-F238E27FC236}">
                  <a16:creationId xmlns:a16="http://schemas.microsoft.com/office/drawing/2014/main" id="{A8883776-7563-A648-D039-DA66EB6A1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" y="329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1" name="Oval 25">
              <a:extLst>
                <a:ext uri="{FF2B5EF4-FFF2-40B4-BE49-F238E27FC236}">
                  <a16:creationId xmlns:a16="http://schemas.microsoft.com/office/drawing/2014/main" id="{0101B3D6-F8D1-BD35-FB84-78755C7D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2" name="Oval 24">
              <a:extLst>
                <a:ext uri="{FF2B5EF4-FFF2-40B4-BE49-F238E27FC236}">
                  <a16:creationId xmlns:a16="http://schemas.microsoft.com/office/drawing/2014/main" id="{41F26AFA-D850-4992-764F-BA9E09E08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8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3" name="Oval 23">
              <a:extLst>
                <a:ext uri="{FF2B5EF4-FFF2-40B4-BE49-F238E27FC236}">
                  <a16:creationId xmlns:a16="http://schemas.microsoft.com/office/drawing/2014/main" id="{F033CD19-96E9-42AF-D3EF-442EF0C57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" y="157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4" name="Oval 22">
              <a:extLst>
                <a:ext uri="{FF2B5EF4-FFF2-40B4-BE49-F238E27FC236}">
                  <a16:creationId xmlns:a16="http://schemas.microsoft.com/office/drawing/2014/main" id="{C6504A77-B020-C8E5-8AAB-9404EF2CB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" y="160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1555" name="AutoShape 21">
              <a:extLst>
                <a:ext uri="{FF2B5EF4-FFF2-40B4-BE49-F238E27FC236}">
                  <a16:creationId xmlns:a16="http://schemas.microsoft.com/office/drawing/2014/main" id="{4A30460A-51C7-7099-2F55-480E8A06B4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48" y="1687"/>
              <a:ext cx="98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6" name="AutoShape 20">
              <a:extLst>
                <a:ext uri="{FF2B5EF4-FFF2-40B4-BE49-F238E27FC236}">
                  <a16:creationId xmlns:a16="http://schemas.microsoft.com/office/drawing/2014/main" id="{9FAFE2D2-8A75-BB95-791F-D4FBB10A78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72" y="1746"/>
              <a:ext cx="441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7" name="AutoShape 19">
              <a:extLst>
                <a:ext uri="{FF2B5EF4-FFF2-40B4-BE49-F238E27FC236}">
                  <a16:creationId xmlns:a16="http://schemas.microsoft.com/office/drawing/2014/main" id="{CC8D1D92-90BC-34E8-230D-C551BC32AB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75" y="1771"/>
              <a:ext cx="366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8" name="AutoShape 18">
              <a:extLst>
                <a:ext uri="{FF2B5EF4-FFF2-40B4-BE49-F238E27FC236}">
                  <a16:creationId xmlns:a16="http://schemas.microsoft.com/office/drawing/2014/main" id="{7B5A0954-3D85-4566-116A-0FDC3FDB18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26" y="1771"/>
              <a:ext cx="60" cy="1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9" name="AutoShape 17">
              <a:extLst>
                <a:ext uri="{FF2B5EF4-FFF2-40B4-BE49-F238E27FC236}">
                  <a16:creationId xmlns:a16="http://schemas.microsoft.com/office/drawing/2014/main" id="{6AEE5CB8-0387-B0C8-4ECE-6480CEA0FF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723" y="1746"/>
              <a:ext cx="103" cy="15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0" name="AutoShape 16">
              <a:extLst>
                <a:ext uri="{FF2B5EF4-FFF2-40B4-BE49-F238E27FC236}">
                  <a16:creationId xmlns:a16="http://schemas.microsoft.com/office/drawing/2014/main" id="{6902E189-AD89-2011-6977-C0C940FF65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31" y="2458"/>
              <a:ext cx="98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1" name="AutoShape 15">
              <a:extLst>
                <a:ext uri="{FF2B5EF4-FFF2-40B4-BE49-F238E27FC236}">
                  <a16:creationId xmlns:a16="http://schemas.microsoft.com/office/drawing/2014/main" id="{470E46BD-5D06-E2C5-B3D4-8D8F9B115F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02" y="2513"/>
              <a:ext cx="70" cy="1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2" name="AutoShape 14">
              <a:extLst>
                <a:ext uri="{FF2B5EF4-FFF2-40B4-BE49-F238E27FC236}">
                  <a16:creationId xmlns:a16="http://schemas.microsoft.com/office/drawing/2014/main" id="{DB86395A-017A-183C-03FB-1C82AB9BDD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25" y="2513"/>
              <a:ext cx="51" cy="14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3" name="AutoShape 13">
              <a:extLst>
                <a:ext uri="{FF2B5EF4-FFF2-40B4-BE49-F238E27FC236}">
                  <a16:creationId xmlns:a16="http://schemas.microsoft.com/office/drawing/2014/main" id="{48C19813-0B6E-25AF-6309-C933429F77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10" y="3382"/>
              <a:ext cx="92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4" name="AutoShape 12">
              <a:extLst>
                <a:ext uri="{FF2B5EF4-FFF2-40B4-BE49-F238E27FC236}">
                  <a16:creationId xmlns:a16="http://schemas.microsoft.com/office/drawing/2014/main" id="{C6F80394-584E-7834-1209-FF21EC6320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84" y="3466"/>
              <a:ext cx="339" cy="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5" name="AutoShape 11">
              <a:extLst>
                <a:ext uri="{FF2B5EF4-FFF2-40B4-BE49-F238E27FC236}">
                  <a16:creationId xmlns:a16="http://schemas.microsoft.com/office/drawing/2014/main" id="{7A08F3CD-69AD-302F-0E1A-AEFB0394C5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61" y="3441"/>
              <a:ext cx="306" cy="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6" name="AutoShape 10">
              <a:extLst>
                <a:ext uri="{FF2B5EF4-FFF2-40B4-BE49-F238E27FC236}">
                  <a16:creationId xmlns:a16="http://schemas.microsoft.com/office/drawing/2014/main" id="{2E1F4F80-B69F-CA41-BA16-5E9AAEF3C8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86" y="4067"/>
              <a:ext cx="955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7" name="Freeform 9">
              <a:extLst>
                <a:ext uri="{FF2B5EF4-FFF2-40B4-BE49-F238E27FC236}">
                  <a16:creationId xmlns:a16="http://schemas.microsoft.com/office/drawing/2014/main" id="{34364AE8-8446-29C8-8235-02E3C94F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1440"/>
              <a:ext cx="2655" cy="180"/>
            </a:xfrm>
            <a:custGeom>
              <a:avLst/>
              <a:gdLst>
                <a:gd name="T0" fmla="*/ 0 w 2655"/>
                <a:gd name="T1" fmla="*/ 180 h 180"/>
                <a:gd name="T2" fmla="*/ 300 w 2655"/>
                <a:gd name="T3" fmla="*/ 105 h 180"/>
                <a:gd name="T4" fmla="*/ 525 w 2655"/>
                <a:gd name="T5" fmla="*/ 75 h 180"/>
                <a:gd name="T6" fmla="*/ 675 w 2655"/>
                <a:gd name="T7" fmla="*/ 30 h 180"/>
                <a:gd name="T8" fmla="*/ 855 w 2655"/>
                <a:gd name="T9" fmla="*/ 0 h 180"/>
                <a:gd name="T10" fmla="*/ 2355 w 2655"/>
                <a:gd name="T11" fmla="*/ 60 h 180"/>
                <a:gd name="T12" fmla="*/ 2535 w 2655"/>
                <a:gd name="T13" fmla="*/ 105 h 180"/>
                <a:gd name="T14" fmla="*/ 2580 w 2655"/>
                <a:gd name="T15" fmla="*/ 120 h 180"/>
                <a:gd name="T16" fmla="*/ 2625 w 2655"/>
                <a:gd name="T17" fmla="*/ 135 h 180"/>
                <a:gd name="T18" fmla="*/ 2655 w 2655"/>
                <a:gd name="T19" fmla="*/ 180 h 1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55" h="180">
                  <a:moveTo>
                    <a:pt x="0" y="180"/>
                  </a:moveTo>
                  <a:cubicBezTo>
                    <a:pt x="105" y="165"/>
                    <a:pt x="197" y="126"/>
                    <a:pt x="300" y="105"/>
                  </a:cubicBezTo>
                  <a:cubicBezTo>
                    <a:pt x="367" y="92"/>
                    <a:pt x="459" y="86"/>
                    <a:pt x="525" y="75"/>
                  </a:cubicBezTo>
                  <a:cubicBezTo>
                    <a:pt x="576" y="66"/>
                    <a:pt x="623" y="37"/>
                    <a:pt x="675" y="30"/>
                  </a:cubicBezTo>
                  <a:cubicBezTo>
                    <a:pt x="805" y="11"/>
                    <a:pt x="745" y="22"/>
                    <a:pt x="855" y="0"/>
                  </a:cubicBezTo>
                  <a:cubicBezTo>
                    <a:pt x="1355" y="22"/>
                    <a:pt x="1855" y="41"/>
                    <a:pt x="2355" y="60"/>
                  </a:cubicBezTo>
                  <a:cubicBezTo>
                    <a:pt x="2476" y="80"/>
                    <a:pt x="2416" y="65"/>
                    <a:pt x="2535" y="105"/>
                  </a:cubicBezTo>
                  <a:cubicBezTo>
                    <a:pt x="2550" y="110"/>
                    <a:pt x="2565" y="115"/>
                    <a:pt x="2580" y="120"/>
                  </a:cubicBezTo>
                  <a:cubicBezTo>
                    <a:pt x="2595" y="125"/>
                    <a:pt x="2625" y="135"/>
                    <a:pt x="2625" y="135"/>
                  </a:cubicBezTo>
                  <a:cubicBezTo>
                    <a:pt x="2635" y="150"/>
                    <a:pt x="2655" y="180"/>
                    <a:pt x="2655" y="1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8" name="Freeform 8">
              <a:extLst>
                <a:ext uri="{FF2B5EF4-FFF2-40B4-BE49-F238E27FC236}">
                  <a16:creationId xmlns:a16="http://schemas.microsoft.com/office/drawing/2014/main" id="{ED8550CB-E717-0AB7-446D-41A5EB093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305"/>
              <a:ext cx="4890" cy="330"/>
            </a:xfrm>
            <a:custGeom>
              <a:avLst/>
              <a:gdLst>
                <a:gd name="T0" fmla="*/ 0 w 4890"/>
                <a:gd name="T1" fmla="*/ 330 h 330"/>
                <a:gd name="T2" fmla="*/ 90 w 4890"/>
                <a:gd name="T3" fmla="*/ 285 h 330"/>
                <a:gd name="T4" fmla="*/ 105 w 4890"/>
                <a:gd name="T5" fmla="*/ 240 h 330"/>
                <a:gd name="T6" fmla="*/ 195 w 4890"/>
                <a:gd name="T7" fmla="*/ 210 h 330"/>
                <a:gd name="T8" fmla="*/ 510 w 4890"/>
                <a:gd name="T9" fmla="*/ 150 h 330"/>
                <a:gd name="T10" fmla="*/ 1440 w 4890"/>
                <a:gd name="T11" fmla="*/ 45 h 330"/>
                <a:gd name="T12" fmla="*/ 1545 w 4890"/>
                <a:gd name="T13" fmla="*/ 30 h 330"/>
                <a:gd name="T14" fmla="*/ 1830 w 4890"/>
                <a:gd name="T15" fmla="*/ 0 h 330"/>
                <a:gd name="T16" fmla="*/ 3030 w 4890"/>
                <a:gd name="T17" fmla="*/ 45 h 330"/>
                <a:gd name="T18" fmla="*/ 3990 w 4890"/>
                <a:gd name="T19" fmla="*/ 75 h 330"/>
                <a:gd name="T20" fmla="*/ 4425 w 4890"/>
                <a:gd name="T21" fmla="*/ 180 h 330"/>
                <a:gd name="T22" fmla="*/ 4845 w 4890"/>
                <a:gd name="T23" fmla="*/ 270 h 330"/>
                <a:gd name="T24" fmla="*/ 4890 w 4890"/>
                <a:gd name="T25" fmla="*/ 285 h 3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90" h="330">
                  <a:moveTo>
                    <a:pt x="0" y="330"/>
                  </a:moveTo>
                  <a:cubicBezTo>
                    <a:pt x="30" y="320"/>
                    <a:pt x="69" y="311"/>
                    <a:pt x="90" y="285"/>
                  </a:cubicBezTo>
                  <a:cubicBezTo>
                    <a:pt x="100" y="273"/>
                    <a:pt x="92" y="249"/>
                    <a:pt x="105" y="240"/>
                  </a:cubicBezTo>
                  <a:cubicBezTo>
                    <a:pt x="131" y="222"/>
                    <a:pt x="165" y="220"/>
                    <a:pt x="195" y="210"/>
                  </a:cubicBezTo>
                  <a:cubicBezTo>
                    <a:pt x="302" y="174"/>
                    <a:pt x="394" y="162"/>
                    <a:pt x="510" y="150"/>
                  </a:cubicBezTo>
                  <a:cubicBezTo>
                    <a:pt x="805" y="52"/>
                    <a:pt x="1136" y="55"/>
                    <a:pt x="1440" y="45"/>
                  </a:cubicBezTo>
                  <a:cubicBezTo>
                    <a:pt x="1475" y="40"/>
                    <a:pt x="1510" y="34"/>
                    <a:pt x="1545" y="30"/>
                  </a:cubicBezTo>
                  <a:cubicBezTo>
                    <a:pt x="1640" y="19"/>
                    <a:pt x="1830" y="0"/>
                    <a:pt x="1830" y="0"/>
                  </a:cubicBezTo>
                  <a:cubicBezTo>
                    <a:pt x="2237" y="8"/>
                    <a:pt x="2629" y="5"/>
                    <a:pt x="3030" y="45"/>
                  </a:cubicBezTo>
                  <a:cubicBezTo>
                    <a:pt x="3385" y="134"/>
                    <a:pt x="3010" y="45"/>
                    <a:pt x="3990" y="75"/>
                  </a:cubicBezTo>
                  <a:cubicBezTo>
                    <a:pt x="4145" y="80"/>
                    <a:pt x="4279" y="144"/>
                    <a:pt x="4425" y="180"/>
                  </a:cubicBezTo>
                  <a:cubicBezTo>
                    <a:pt x="4564" y="215"/>
                    <a:pt x="4703" y="252"/>
                    <a:pt x="4845" y="270"/>
                  </a:cubicBezTo>
                  <a:cubicBezTo>
                    <a:pt x="4860" y="275"/>
                    <a:pt x="4890" y="285"/>
                    <a:pt x="4890" y="2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9" name="Freeform 7">
              <a:extLst>
                <a:ext uri="{FF2B5EF4-FFF2-40B4-BE49-F238E27FC236}">
                  <a16:creationId xmlns:a16="http://schemas.microsoft.com/office/drawing/2014/main" id="{74FB60A2-83A4-B4D6-3E2F-24A167D65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2278"/>
              <a:ext cx="2645" cy="137"/>
            </a:xfrm>
            <a:custGeom>
              <a:avLst/>
              <a:gdLst>
                <a:gd name="T0" fmla="*/ 2645 w 2645"/>
                <a:gd name="T1" fmla="*/ 137 h 137"/>
                <a:gd name="T2" fmla="*/ 2450 w 2645"/>
                <a:gd name="T3" fmla="*/ 62 h 137"/>
                <a:gd name="T4" fmla="*/ 2150 w 2645"/>
                <a:gd name="T5" fmla="*/ 17 h 137"/>
                <a:gd name="T6" fmla="*/ 410 w 2645"/>
                <a:gd name="T7" fmla="*/ 32 h 137"/>
                <a:gd name="T8" fmla="*/ 200 w 2645"/>
                <a:gd name="T9" fmla="*/ 62 h 137"/>
                <a:gd name="T10" fmla="*/ 95 w 2645"/>
                <a:gd name="T11" fmla="*/ 77 h 137"/>
                <a:gd name="T12" fmla="*/ 5 w 2645"/>
                <a:gd name="T13" fmla="*/ 122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45" h="137">
                  <a:moveTo>
                    <a:pt x="2645" y="137"/>
                  </a:moveTo>
                  <a:cubicBezTo>
                    <a:pt x="2526" y="57"/>
                    <a:pt x="2591" y="82"/>
                    <a:pt x="2450" y="62"/>
                  </a:cubicBezTo>
                  <a:cubicBezTo>
                    <a:pt x="2344" y="27"/>
                    <a:pt x="2271" y="26"/>
                    <a:pt x="2150" y="17"/>
                  </a:cubicBezTo>
                  <a:cubicBezTo>
                    <a:pt x="1665" y="114"/>
                    <a:pt x="908" y="41"/>
                    <a:pt x="410" y="32"/>
                  </a:cubicBezTo>
                  <a:cubicBezTo>
                    <a:pt x="315" y="0"/>
                    <a:pt x="291" y="49"/>
                    <a:pt x="200" y="62"/>
                  </a:cubicBezTo>
                  <a:cubicBezTo>
                    <a:pt x="165" y="67"/>
                    <a:pt x="130" y="72"/>
                    <a:pt x="95" y="77"/>
                  </a:cubicBezTo>
                  <a:cubicBezTo>
                    <a:pt x="0" y="109"/>
                    <a:pt x="5" y="75"/>
                    <a:pt x="5" y="12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0" name="Freeform 6">
              <a:extLst>
                <a:ext uri="{FF2B5EF4-FFF2-40B4-BE49-F238E27FC236}">
                  <a16:creationId xmlns:a16="http://schemas.microsoft.com/office/drawing/2014/main" id="{A5D79A61-884B-EF94-FAB1-3753C6157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105"/>
              <a:ext cx="4905" cy="280"/>
            </a:xfrm>
            <a:custGeom>
              <a:avLst/>
              <a:gdLst>
                <a:gd name="T0" fmla="*/ 4905 w 4905"/>
                <a:gd name="T1" fmla="*/ 280 h 280"/>
                <a:gd name="T2" fmla="*/ 4575 w 4905"/>
                <a:gd name="T3" fmla="*/ 235 h 280"/>
                <a:gd name="T4" fmla="*/ 4335 w 4905"/>
                <a:gd name="T5" fmla="*/ 160 h 280"/>
                <a:gd name="T6" fmla="*/ 3960 w 4905"/>
                <a:gd name="T7" fmla="*/ 85 h 280"/>
                <a:gd name="T8" fmla="*/ 3690 w 4905"/>
                <a:gd name="T9" fmla="*/ 25 h 280"/>
                <a:gd name="T10" fmla="*/ 3450 w 4905"/>
                <a:gd name="T11" fmla="*/ 10 h 280"/>
                <a:gd name="T12" fmla="*/ 1365 w 4905"/>
                <a:gd name="T13" fmla="*/ 55 h 280"/>
                <a:gd name="T14" fmla="*/ 900 w 4905"/>
                <a:gd name="T15" fmla="*/ 115 h 280"/>
                <a:gd name="T16" fmla="*/ 435 w 4905"/>
                <a:gd name="T17" fmla="*/ 175 h 280"/>
                <a:gd name="T18" fmla="*/ 105 w 4905"/>
                <a:gd name="T19" fmla="*/ 235 h 280"/>
                <a:gd name="T20" fmla="*/ 0 w 4905"/>
                <a:gd name="T21" fmla="*/ 280 h 2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05" h="280">
                  <a:moveTo>
                    <a:pt x="4905" y="280"/>
                  </a:moveTo>
                  <a:cubicBezTo>
                    <a:pt x="4790" y="261"/>
                    <a:pt x="4695" y="245"/>
                    <a:pt x="4575" y="235"/>
                  </a:cubicBezTo>
                  <a:cubicBezTo>
                    <a:pt x="4493" y="215"/>
                    <a:pt x="4415" y="187"/>
                    <a:pt x="4335" y="160"/>
                  </a:cubicBezTo>
                  <a:cubicBezTo>
                    <a:pt x="4213" y="119"/>
                    <a:pt x="4086" y="105"/>
                    <a:pt x="3960" y="85"/>
                  </a:cubicBezTo>
                  <a:cubicBezTo>
                    <a:pt x="3759" y="53"/>
                    <a:pt x="3832" y="72"/>
                    <a:pt x="3690" y="25"/>
                  </a:cubicBezTo>
                  <a:cubicBezTo>
                    <a:pt x="3614" y="0"/>
                    <a:pt x="3530" y="15"/>
                    <a:pt x="3450" y="10"/>
                  </a:cubicBezTo>
                  <a:cubicBezTo>
                    <a:pt x="2455" y="19"/>
                    <a:pt x="2108" y="9"/>
                    <a:pt x="1365" y="55"/>
                  </a:cubicBezTo>
                  <a:cubicBezTo>
                    <a:pt x="1214" y="93"/>
                    <a:pt x="1055" y="93"/>
                    <a:pt x="900" y="115"/>
                  </a:cubicBezTo>
                  <a:cubicBezTo>
                    <a:pt x="754" y="164"/>
                    <a:pt x="587" y="153"/>
                    <a:pt x="435" y="175"/>
                  </a:cubicBezTo>
                  <a:cubicBezTo>
                    <a:pt x="329" y="210"/>
                    <a:pt x="214" y="204"/>
                    <a:pt x="105" y="235"/>
                  </a:cubicBezTo>
                  <a:cubicBezTo>
                    <a:pt x="81" y="242"/>
                    <a:pt x="0" y="246"/>
                    <a:pt x="0" y="2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1" name="Freeform 5">
              <a:extLst>
                <a:ext uri="{FF2B5EF4-FFF2-40B4-BE49-F238E27FC236}">
                  <a16:creationId xmlns:a16="http://schemas.microsoft.com/office/drawing/2014/main" id="{3B705B92-2508-6252-0F33-7222AB708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5" y="3225"/>
              <a:ext cx="2460" cy="165"/>
            </a:xfrm>
            <a:custGeom>
              <a:avLst/>
              <a:gdLst>
                <a:gd name="T0" fmla="*/ 2460 w 2460"/>
                <a:gd name="T1" fmla="*/ 165 h 165"/>
                <a:gd name="T2" fmla="*/ 2145 w 2460"/>
                <a:gd name="T3" fmla="*/ 60 h 165"/>
                <a:gd name="T4" fmla="*/ 1950 w 2460"/>
                <a:gd name="T5" fmla="*/ 90 h 165"/>
                <a:gd name="T6" fmla="*/ 1155 w 2460"/>
                <a:gd name="T7" fmla="*/ 60 h 165"/>
                <a:gd name="T8" fmla="*/ 840 w 2460"/>
                <a:gd name="T9" fmla="*/ 0 h 165"/>
                <a:gd name="T10" fmla="*/ 180 w 2460"/>
                <a:gd name="T11" fmla="*/ 45 h 165"/>
                <a:gd name="T12" fmla="*/ 0 w 2460"/>
                <a:gd name="T13" fmla="*/ 60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60" h="165">
                  <a:moveTo>
                    <a:pt x="2460" y="165"/>
                  </a:moveTo>
                  <a:cubicBezTo>
                    <a:pt x="2360" y="115"/>
                    <a:pt x="2251" y="95"/>
                    <a:pt x="2145" y="60"/>
                  </a:cubicBezTo>
                  <a:cubicBezTo>
                    <a:pt x="2080" y="67"/>
                    <a:pt x="2016" y="90"/>
                    <a:pt x="1950" y="90"/>
                  </a:cubicBezTo>
                  <a:cubicBezTo>
                    <a:pt x="1685" y="90"/>
                    <a:pt x="1420" y="68"/>
                    <a:pt x="1155" y="60"/>
                  </a:cubicBezTo>
                  <a:cubicBezTo>
                    <a:pt x="1049" y="39"/>
                    <a:pt x="945" y="26"/>
                    <a:pt x="840" y="0"/>
                  </a:cubicBezTo>
                  <a:cubicBezTo>
                    <a:pt x="612" y="16"/>
                    <a:pt x="414" y="36"/>
                    <a:pt x="180" y="45"/>
                  </a:cubicBezTo>
                  <a:cubicBezTo>
                    <a:pt x="60" y="65"/>
                    <a:pt x="120" y="60"/>
                    <a:pt x="0" y="6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2" name="Freeform 4">
              <a:extLst>
                <a:ext uri="{FF2B5EF4-FFF2-40B4-BE49-F238E27FC236}">
                  <a16:creationId xmlns:a16="http://schemas.microsoft.com/office/drawing/2014/main" id="{A19BD259-3EB7-BAAC-6BC9-B9E71CFE5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3030"/>
              <a:ext cx="4830" cy="345"/>
            </a:xfrm>
            <a:custGeom>
              <a:avLst/>
              <a:gdLst>
                <a:gd name="T0" fmla="*/ 4830 w 4830"/>
                <a:gd name="T1" fmla="*/ 300 h 345"/>
                <a:gd name="T2" fmla="*/ 3930 w 4830"/>
                <a:gd name="T3" fmla="*/ 105 h 345"/>
                <a:gd name="T4" fmla="*/ 2925 w 4830"/>
                <a:gd name="T5" fmla="*/ 60 h 345"/>
                <a:gd name="T6" fmla="*/ 2190 w 4830"/>
                <a:gd name="T7" fmla="*/ 60 h 345"/>
                <a:gd name="T8" fmla="*/ 1395 w 4830"/>
                <a:gd name="T9" fmla="*/ 45 h 345"/>
                <a:gd name="T10" fmla="*/ 1200 w 4830"/>
                <a:gd name="T11" fmla="*/ 60 h 345"/>
                <a:gd name="T12" fmla="*/ 885 w 4830"/>
                <a:gd name="T13" fmla="*/ 150 h 345"/>
                <a:gd name="T14" fmla="*/ 735 w 4830"/>
                <a:gd name="T15" fmla="*/ 165 h 345"/>
                <a:gd name="T16" fmla="*/ 270 w 4830"/>
                <a:gd name="T17" fmla="*/ 255 h 345"/>
                <a:gd name="T18" fmla="*/ 135 w 4830"/>
                <a:gd name="T19" fmla="*/ 300 h 345"/>
                <a:gd name="T20" fmla="*/ 0 w 4830"/>
                <a:gd name="T21" fmla="*/ 345 h 3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30" h="345">
                  <a:moveTo>
                    <a:pt x="4830" y="300"/>
                  </a:moveTo>
                  <a:cubicBezTo>
                    <a:pt x="4538" y="203"/>
                    <a:pt x="4236" y="136"/>
                    <a:pt x="3930" y="105"/>
                  </a:cubicBezTo>
                  <a:cubicBezTo>
                    <a:pt x="3726" y="37"/>
                    <a:pt x="3047" y="63"/>
                    <a:pt x="2925" y="60"/>
                  </a:cubicBezTo>
                  <a:cubicBezTo>
                    <a:pt x="2625" y="0"/>
                    <a:pt x="2953" y="60"/>
                    <a:pt x="2190" y="60"/>
                  </a:cubicBezTo>
                  <a:cubicBezTo>
                    <a:pt x="1925" y="60"/>
                    <a:pt x="1660" y="50"/>
                    <a:pt x="1395" y="45"/>
                  </a:cubicBezTo>
                  <a:cubicBezTo>
                    <a:pt x="1330" y="50"/>
                    <a:pt x="1265" y="52"/>
                    <a:pt x="1200" y="60"/>
                  </a:cubicBezTo>
                  <a:cubicBezTo>
                    <a:pt x="1096" y="73"/>
                    <a:pt x="984" y="117"/>
                    <a:pt x="885" y="150"/>
                  </a:cubicBezTo>
                  <a:cubicBezTo>
                    <a:pt x="837" y="166"/>
                    <a:pt x="785" y="160"/>
                    <a:pt x="735" y="165"/>
                  </a:cubicBezTo>
                  <a:cubicBezTo>
                    <a:pt x="576" y="218"/>
                    <a:pt x="441" y="242"/>
                    <a:pt x="270" y="255"/>
                  </a:cubicBezTo>
                  <a:cubicBezTo>
                    <a:pt x="103" y="283"/>
                    <a:pt x="240" y="247"/>
                    <a:pt x="135" y="300"/>
                  </a:cubicBezTo>
                  <a:cubicBezTo>
                    <a:pt x="92" y="321"/>
                    <a:pt x="43" y="323"/>
                    <a:pt x="0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3" name="Freeform 3">
              <a:extLst>
                <a:ext uri="{FF2B5EF4-FFF2-40B4-BE49-F238E27FC236}">
                  <a16:creationId xmlns:a16="http://schemas.microsoft.com/office/drawing/2014/main" id="{BC368C86-E959-F2F0-BC48-E0BA5496F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4155"/>
              <a:ext cx="2610" cy="330"/>
            </a:xfrm>
            <a:custGeom>
              <a:avLst/>
              <a:gdLst>
                <a:gd name="T0" fmla="*/ 2610 w 2610"/>
                <a:gd name="T1" fmla="*/ 0 h 330"/>
                <a:gd name="T2" fmla="*/ 2580 w 2610"/>
                <a:gd name="T3" fmla="*/ 90 h 330"/>
                <a:gd name="T4" fmla="*/ 2355 w 2610"/>
                <a:gd name="T5" fmla="*/ 240 h 330"/>
                <a:gd name="T6" fmla="*/ 1995 w 2610"/>
                <a:gd name="T7" fmla="*/ 330 h 330"/>
                <a:gd name="T8" fmla="*/ 495 w 2610"/>
                <a:gd name="T9" fmla="*/ 285 h 330"/>
                <a:gd name="T10" fmla="*/ 180 w 2610"/>
                <a:gd name="T11" fmla="*/ 225 h 330"/>
                <a:gd name="T12" fmla="*/ 135 w 2610"/>
                <a:gd name="T13" fmla="*/ 195 h 330"/>
                <a:gd name="T14" fmla="*/ 90 w 2610"/>
                <a:gd name="T15" fmla="*/ 180 h 330"/>
                <a:gd name="T16" fmla="*/ 45 w 2610"/>
                <a:gd name="T17" fmla="*/ 90 h 330"/>
                <a:gd name="T18" fmla="*/ 0 w 2610"/>
                <a:gd name="T19" fmla="*/ 15 h 3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10" h="330">
                  <a:moveTo>
                    <a:pt x="2610" y="0"/>
                  </a:moveTo>
                  <a:cubicBezTo>
                    <a:pt x="2600" y="30"/>
                    <a:pt x="2606" y="72"/>
                    <a:pt x="2580" y="90"/>
                  </a:cubicBezTo>
                  <a:cubicBezTo>
                    <a:pt x="2505" y="140"/>
                    <a:pt x="2430" y="190"/>
                    <a:pt x="2355" y="240"/>
                  </a:cubicBezTo>
                  <a:cubicBezTo>
                    <a:pt x="2276" y="293"/>
                    <a:pt x="2093" y="297"/>
                    <a:pt x="1995" y="330"/>
                  </a:cubicBezTo>
                  <a:cubicBezTo>
                    <a:pt x="1500" y="280"/>
                    <a:pt x="989" y="293"/>
                    <a:pt x="495" y="285"/>
                  </a:cubicBezTo>
                  <a:cubicBezTo>
                    <a:pt x="394" y="251"/>
                    <a:pt x="284" y="251"/>
                    <a:pt x="180" y="225"/>
                  </a:cubicBezTo>
                  <a:cubicBezTo>
                    <a:pt x="165" y="215"/>
                    <a:pt x="151" y="203"/>
                    <a:pt x="135" y="195"/>
                  </a:cubicBezTo>
                  <a:cubicBezTo>
                    <a:pt x="121" y="188"/>
                    <a:pt x="102" y="190"/>
                    <a:pt x="90" y="180"/>
                  </a:cubicBezTo>
                  <a:cubicBezTo>
                    <a:pt x="54" y="151"/>
                    <a:pt x="63" y="126"/>
                    <a:pt x="45" y="90"/>
                  </a:cubicBezTo>
                  <a:cubicBezTo>
                    <a:pt x="32" y="64"/>
                    <a:pt x="13" y="41"/>
                    <a:pt x="0" y="1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4" name="Freeform 2">
              <a:extLst>
                <a:ext uri="{FF2B5EF4-FFF2-40B4-BE49-F238E27FC236}">
                  <a16:creationId xmlns:a16="http://schemas.microsoft.com/office/drawing/2014/main" id="{30822E3A-CB3D-336B-7AC1-F372C3C8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4140"/>
              <a:ext cx="4935" cy="626"/>
            </a:xfrm>
            <a:custGeom>
              <a:avLst/>
              <a:gdLst>
                <a:gd name="T0" fmla="*/ 4935 w 4935"/>
                <a:gd name="T1" fmla="*/ 0 h 626"/>
                <a:gd name="T2" fmla="*/ 4905 w 4935"/>
                <a:gd name="T3" fmla="*/ 45 h 626"/>
                <a:gd name="T4" fmla="*/ 4860 w 4935"/>
                <a:gd name="T5" fmla="*/ 75 h 626"/>
                <a:gd name="T6" fmla="*/ 4800 w 4935"/>
                <a:gd name="T7" fmla="*/ 150 h 626"/>
                <a:gd name="T8" fmla="*/ 4245 w 4935"/>
                <a:gd name="T9" fmla="*/ 375 h 626"/>
                <a:gd name="T10" fmla="*/ 3960 w 4935"/>
                <a:gd name="T11" fmla="*/ 465 h 626"/>
                <a:gd name="T12" fmla="*/ 3795 w 4935"/>
                <a:gd name="T13" fmla="*/ 495 h 626"/>
                <a:gd name="T14" fmla="*/ 3540 w 4935"/>
                <a:gd name="T15" fmla="*/ 555 h 626"/>
                <a:gd name="T16" fmla="*/ 3285 w 4935"/>
                <a:gd name="T17" fmla="*/ 570 h 626"/>
                <a:gd name="T18" fmla="*/ 2100 w 4935"/>
                <a:gd name="T19" fmla="*/ 555 h 626"/>
                <a:gd name="T20" fmla="*/ 1455 w 4935"/>
                <a:gd name="T21" fmla="*/ 510 h 626"/>
                <a:gd name="T22" fmla="*/ 1065 w 4935"/>
                <a:gd name="T23" fmla="*/ 465 h 626"/>
                <a:gd name="T24" fmla="*/ 795 w 4935"/>
                <a:gd name="T25" fmla="*/ 375 h 626"/>
                <a:gd name="T26" fmla="*/ 660 w 4935"/>
                <a:gd name="T27" fmla="*/ 300 h 626"/>
                <a:gd name="T28" fmla="*/ 405 w 4935"/>
                <a:gd name="T29" fmla="*/ 180 h 626"/>
                <a:gd name="T30" fmla="*/ 315 w 4935"/>
                <a:gd name="T31" fmla="*/ 120 h 626"/>
                <a:gd name="T32" fmla="*/ 0 w 4935"/>
                <a:gd name="T33" fmla="*/ 0 h 62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935" h="626">
                  <a:moveTo>
                    <a:pt x="4935" y="0"/>
                  </a:moveTo>
                  <a:cubicBezTo>
                    <a:pt x="4925" y="15"/>
                    <a:pt x="4918" y="32"/>
                    <a:pt x="4905" y="45"/>
                  </a:cubicBezTo>
                  <a:cubicBezTo>
                    <a:pt x="4892" y="58"/>
                    <a:pt x="4871" y="61"/>
                    <a:pt x="4860" y="75"/>
                  </a:cubicBezTo>
                  <a:cubicBezTo>
                    <a:pt x="4777" y="179"/>
                    <a:pt x="4929" y="64"/>
                    <a:pt x="4800" y="150"/>
                  </a:cubicBezTo>
                  <a:cubicBezTo>
                    <a:pt x="4677" y="334"/>
                    <a:pt x="4437" y="327"/>
                    <a:pt x="4245" y="375"/>
                  </a:cubicBezTo>
                  <a:cubicBezTo>
                    <a:pt x="4152" y="398"/>
                    <a:pt x="4051" y="435"/>
                    <a:pt x="3960" y="465"/>
                  </a:cubicBezTo>
                  <a:cubicBezTo>
                    <a:pt x="3907" y="483"/>
                    <a:pt x="3849" y="482"/>
                    <a:pt x="3795" y="495"/>
                  </a:cubicBezTo>
                  <a:cubicBezTo>
                    <a:pt x="3721" y="512"/>
                    <a:pt x="3616" y="547"/>
                    <a:pt x="3540" y="555"/>
                  </a:cubicBezTo>
                  <a:cubicBezTo>
                    <a:pt x="3455" y="563"/>
                    <a:pt x="3370" y="565"/>
                    <a:pt x="3285" y="570"/>
                  </a:cubicBezTo>
                  <a:cubicBezTo>
                    <a:pt x="2895" y="626"/>
                    <a:pt x="2490" y="611"/>
                    <a:pt x="2100" y="555"/>
                  </a:cubicBezTo>
                  <a:cubicBezTo>
                    <a:pt x="1917" y="494"/>
                    <a:pt x="1602" y="515"/>
                    <a:pt x="1455" y="510"/>
                  </a:cubicBezTo>
                  <a:cubicBezTo>
                    <a:pt x="1184" y="491"/>
                    <a:pt x="1314" y="507"/>
                    <a:pt x="1065" y="465"/>
                  </a:cubicBezTo>
                  <a:cubicBezTo>
                    <a:pt x="977" y="450"/>
                    <a:pt x="881" y="404"/>
                    <a:pt x="795" y="375"/>
                  </a:cubicBezTo>
                  <a:cubicBezTo>
                    <a:pt x="766" y="365"/>
                    <a:pt x="689" y="316"/>
                    <a:pt x="660" y="300"/>
                  </a:cubicBezTo>
                  <a:cubicBezTo>
                    <a:pt x="579" y="254"/>
                    <a:pt x="486" y="225"/>
                    <a:pt x="405" y="180"/>
                  </a:cubicBezTo>
                  <a:cubicBezTo>
                    <a:pt x="373" y="162"/>
                    <a:pt x="349" y="131"/>
                    <a:pt x="315" y="120"/>
                  </a:cubicBezTo>
                  <a:cubicBezTo>
                    <a:pt x="226" y="90"/>
                    <a:pt x="63" y="63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AFEF8F46-7EEF-FE28-896E-D31CA370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0EBDCEDE-5687-FEA0-A14F-3F269C264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例如</a:t>
            </a:r>
            <a:r>
              <a:rPr lang="zh-CN" altLang="en-US"/>
              <a:t>，    </a:t>
            </a:r>
            <a:r>
              <a:rPr lang="zh-CN" altLang="zh-CN"/>
              <a:t>的一个</a:t>
            </a:r>
            <a:r>
              <a:rPr lang="en-US" altLang="zh-CN"/>
              <a:t>4</a:t>
            </a:r>
            <a:r>
              <a:rPr lang="zh-CN" altLang="zh-CN"/>
              <a:t>位二进制编址</a:t>
            </a:r>
            <a:endParaRPr lang="zh-CN" altLang="en-US"/>
          </a:p>
        </p:txBody>
      </p:sp>
      <p:sp>
        <p:nvSpPr>
          <p:cNvPr id="22532" name="Rectangle 17">
            <a:extLst>
              <a:ext uri="{FF2B5EF4-FFF2-40B4-BE49-F238E27FC236}">
                <a16:creationId xmlns:a16="http://schemas.microsoft.com/office/drawing/2014/main" id="{8C85CD6C-0911-0170-9D73-E9FE5B3DC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2533" name="Group 1">
            <a:extLst>
              <a:ext uri="{FF2B5EF4-FFF2-40B4-BE49-F238E27FC236}">
                <a16:creationId xmlns:a16="http://schemas.microsoft.com/office/drawing/2014/main" id="{EF81316A-DA32-A5B6-A56B-0FD1E342B64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1050" y="3063875"/>
            <a:ext cx="5011738" cy="3678238"/>
            <a:chOff x="4517" y="2127"/>
            <a:chExt cx="4697" cy="3448"/>
          </a:xfrm>
        </p:grpSpPr>
        <p:sp>
          <p:nvSpPr>
            <p:cNvPr id="22536" name="AutoShape 16">
              <a:extLst>
                <a:ext uri="{FF2B5EF4-FFF2-40B4-BE49-F238E27FC236}">
                  <a16:creationId xmlns:a16="http://schemas.microsoft.com/office/drawing/2014/main" id="{0C5C8F4C-07B0-1C26-CA74-E7CA1394B6F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52" y="2127"/>
              <a:ext cx="4562" cy="3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Text Box 15">
              <a:extLst>
                <a:ext uri="{FF2B5EF4-FFF2-40B4-BE49-F238E27FC236}">
                  <a16:creationId xmlns:a16="http://schemas.microsoft.com/office/drawing/2014/main" id="{928F8B0E-6285-F9BE-6074-C956EC1B9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9" y="3531"/>
              <a:ext cx="120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sz="2800"/>
            </a:p>
          </p:txBody>
        </p:sp>
        <p:sp>
          <p:nvSpPr>
            <p:cNvPr id="22538" name="Text Box 14">
              <a:extLst>
                <a:ext uri="{FF2B5EF4-FFF2-40B4-BE49-F238E27FC236}">
                  <a16:creationId xmlns:a16="http://schemas.microsoft.com/office/drawing/2014/main" id="{9E8D0B76-5F4A-0745-FEDB-44F5D0906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1" y="4917"/>
              <a:ext cx="1138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sz="2800"/>
            </a:p>
          </p:txBody>
        </p:sp>
        <p:sp>
          <p:nvSpPr>
            <p:cNvPr id="22539" name="Text Box 13">
              <a:extLst>
                <a:ext uri="{FF2B5EF4-FFF2-40B4-BE49-F238E27FC236}">
                  <a16:creationId xmlns:a16="http://schemas.microsoft.com/office/drawing/2014/main" id="{4F9366D7-B165-6FDD-B756-424E426B4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" y="2135"/>
              <a:ext cx="111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sz="2800"/>
            </a:p>
          </p:txBody>
        </p:sp>
        <p:sp>
          <p:nvSpPr>
            <p:cNvPr id="22540" name="Text Box 12">
              <a:extLst>
                <a:ext uri="{FF2B5EF4-FFF2-40B4-BE49-F238E27FC236}">
                  <a16:creationId xmlns:a16="http://schemas.microsoft.com/office/drawing/2014/main" id="{4B74EC22-C9FF-0579-2D29-B8E21F6A2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7" y="3536"/>
              <a:ext cx="105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sz="2800"/>
            </a:p>
          </p:txBody>
        </p:sp>
        <p:sp>
          <p:nvSpPr>
            <p:cNvPr id="22541" name="Text Box 11">
              <a:extLst>
                <a:ext uri="{FF2B5EF4-FFF2-40B4-BE49-F238E27FC236}">
                  <a16:creationId xmlns:a16="http://schemas.microsoft.com/office/drawing/2014/main" id="{449094E0-D49C-CE2A-B3D5-39A67DFFE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" y="3275"/>
              <a:ext cx="114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sz="2800"/>
            </a:p>
          </p:txBody>
        </p:sp>
        <p:sp>
          <p:nvSpPr>
            <p:cNvPr id="22542" name="Oval 10">
              <a:extLst>
                <a:ext uri="{FF2B5EF4-FFF2-40B4-BE49-F238E27FC236}">
                  <a16:creationId xmlns:a16="http://schemas.microsoft.com/office/drawing/2014/main" id="{4244F43D-89B5-D0B9-A6C1-81D5BA6E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2" y="2511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3" name="Oval 9">
              <a:extLst>
                <a:ext uri="{FF2B5EF4-FFF2-40B4-BE49-F238E27FC236}">
                  <a16:creationId xmlns:a16="http://schemas.microsoft.com/office/drawing/2014/main" id="{E8BCC381-ACA7-49E9-B6B4-B4D436899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" y="365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4" name="Oval 8">
              <a:extLst>
                <a:ext uri="{FF2B5EF4-FFF2-40B4-BE49-F238E27FC236}">
                  <a16:creationId xmlns:a16="http://schemas.microsoft.com/office/drawing/2014/main" id="{51ED0027-BA34-27DE-7717-FBFB16B5B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" y="3650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5" name="Oval 7">
              <a:extLst>
                <a:ext uri="{FF2B5EF4-FFF2-40B4-BE49-F238E27FC236}">
                  <a16:creationId xmlns:a16="http://schemas.microsoft.com/office/drawing/2014/main" id="{C952A841-EFD5-1365-7EB0-52A4084E3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" y="477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6" name="Oval 6">
              <a:extLst>
                <a:ext uri="{FF2B5EF4-FFF2-40B4-BE49-F238E27FC236}">
                  <a16:creationId xmlns:a16="http://schemas.microsoft.com/office/drawing/2014/main" id="{5D0C898A-F618-CDE3-448B-D197EC8A4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1" y="3650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2547" name="AutoShape 5">
              <a:extLst>
                <a:ext uri="{FF2B5EF4-FFF2-40B4-BE49-F238E27FC236}">
                  <a16:creationId xmlns:a16="http://schemas.microsoft.com/office/drawing/2014/main" id="{E74E12E8-0425-D8E0-AAF2-B835C0E30D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63" y="2732"/>
              <a:ext cx="4" cy="9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AutoShape 4">
              <a:extLst>
                <a:ext uri="{FF2B5EF4-FFF2-40B4-BE49-F238E27FC236}">
                  <a16:creationId xmlns:a16="http://schemas.microsoft.com/office/drawing/2014/main" id="{6C6EE8BE-F036-B8C4-462C-D76E745148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67" y="3872"/>
              <a:ext cx="1" cy="9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AutoShape 3">
              <a:extLst>
                <a:ext uri="{FF2B5EF4-FFF2-40B4-BE49-F238E27FC236}">
                  <a16:creationId xmlns:a16="http://schemas.microsoft.com/office/drawing/2014/main" id="{EDD52ADE-6C00-5893-CE6B-3BA744C825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77" y="3761"/>
              <a:ext cx="108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0" name="AutoShape 2">
              <a:extLst>
                <a:ext uri="{FF2B5EF4-FFF2-40B4-BE49-F238E27FC236}">
                  <a16:creationId xmlns:a16="http://schemas.microsoft.com/office/drawing/2014/main" id="{0881E4CB-7F7B-CF10-2DB3-1CCE3D4F97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12" y="3760"/>
              <a:ext cx="104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4" name="Rectangle 26">
            <a:extLst>
              <a:ext uri="{FF2B5EF4-FFF2-40B4-BE49-F238E27FC236}">
                <a16:creationId xmlns:a16="http://schemas.microsoft.com/office/drawing/2014/main" id="{864D7BC0-4571-58EF-D99D-EFFDBC6AA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5" name="对象 23">
            <a:extLst>
              <a:ext uri="{FF2B5EF4-FFF2-40B4-BE49-F238E27FC236}">
                <a16:creationId xmlns:a16="http://schemas.microsoft.com/office/drawing/2014/main" id="{DE78846E-2B21-F72B-89B3-D9F465E8D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775" y="2108200"/>
          <a:ext cx="584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228501" progId="Equation.DSMT4">
                  <p:embed/>
                </p:oleObj>
              </mc:Choice>
              <mc:Fallback>
                <p:oleObj name="Equation" r:id="rId2" imgW="291973" imgH="228501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2108200"/>
                        <a:ext cx="584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38E6CFB5-84E8-082C-97CF-0320D887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BF50FF1C-3799-242B-2D26-1D354A159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44675"/>
            <a:ext cx="8964613" cy="5013325"/>
          </a:xfrm>
        </p:spPr>
        <p:txBody>
          <a:bodyPr/>
          <a:lstStyle/>
          <a:p>
            <a:pPr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8.3.4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若</a:t>
            </a:r>
            <a:r>
              <a:rPr lang="en-US" altLang="zh-CN" dirty="0"/>
              <a:t>T</a:t>
            </a:r>
            <a:r>
              <a:rPr lang="zh-CN" altLang="zh-CN" dirty="0"/>
              <a:t>为</a:t>
            </a:r>
            <a:r>
              <a:rPr lang="en-US" altLang="zh-CN" dirty="0"/>
              <a:t>n</a:t>
            </a:r>
            <a:r>
              <a:rPr lang="zh-CN" altLang="zh-CN" dirty="0"/>
              <a:t>阶非平凡树，则可以用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1</a:t>
            </a:r>
            <a:r>
              <a:rPr lang="zh-CN" altLang="zh-CN" dirty="0"/>
              <a:t>位二进制序列对其结点进行二进制编址。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en-US" altLang="zh-CN" b="1" dirty="0"/>
              <a:t> </a:t>
            </a:r>
            <a:r>
              <a:rPr lang="zh-CN" altLang="zh-CN" dirty="0"/>
              <a:t>当</a:t>
            </a:r>
            <a:r>
              <a:rPr lang="en-US" altLang="zh-CN" dirty="0"/>
              <a:t>n</a:t>
            </a:r>
            <a:r>
              <a:rPr lang="zh-CN" altLang="zh-CN" dirty="0"/>
              <a:t>＝</a:t>
            </a:r>
            <a:r>
              <a:rPr lang="en-US" altLang="zh-CN" dirty="0"/>
              <a:t>2</a:t>
            </a:r>
            <a:r>
              <a:rPr lang="zh-CN" altLang="zh-CN" dirty="0"/>
              <a:t>时，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假设</a:t>
            </a:r>
            <a:r>
              <a:rPr lang="en-US" altLang="zh-CN" dirty="0"/>
              <a:t>n</a:t>
            </a:r>
            <a:r>
              <a:rPr lang="zh-CN" altLang="zh-CN" dirty="0"/>
              <a:t>＝</a:t>
            </a:r>
            <a:r>
              <a:rPr lang="en-US" altLang="zh-CN" dirty="0"/>
              <a:t>k</a:t>
            </a:r>
            <a:r>
              <a:rPr lang="zh-CN" altLang="zh-CN" dirty="0"/>
              <a:t>时成立。令</a:t>
            </a:r>
            <a:r>
              <a:rPr lang="en-US" altLang="zh-CN" dirty="0"/>
              <a:t>T</a:t>
            </a:r>
            <a:r>
              <a:rPr lang="zh-CN" altLang="zh-CN" dirty="0"/>
              <a:t>是</a:t>
            </a:r>
            <a:r>
              <a:rPr lang="en-US" altLang="zh-CN" dirty="0"/>
              <a:t>k</a:t>
            </a:r>
            <a:r>
              <a:rPr lang="zh-CN" altLang="zh-CN" dirty="0"/>
              <a:t>＋</a:t>
            </a:r>
            <a:r>
              <a:rPr lang="en-US" altLang="zh-CN" dirty="0"/>
              <a:t>1</a:t>
            </a:r>
            <a:r>
              <a:rPr lang="zh-CN" altLang="zh-CN" dirty="0"/>
              <a:t>个结点的树，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23556" name="Rectangle 17">
            <a:extLst>
              <a:ext uri="{FF2B5EF4-FFF2-40B4-BE49-F238E27FC236}">
                <a16:creationId xmlns:a16="http://schemas.microsoft.com/office/drawing/2014/main" id="{C96CDC49-ADD9-DACA-495B-97768A236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7" name="Rectangle 26">
            <a:extLst>
              <a:ext uri="{FF2B5EF4-FFF2-40B4-BE49-F238E27FC236}">
                <a16:creationId xmlns:a16="http://schemas.microsoft.com/office/drawing/2014/main" id="{EF6DAFD4-21CD-8C86-98A0-8682534FF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8" name="Oval 8">
            <a:extLst>
              <a:ext uri="{FF2B5EF4-FFF2-40B4-BE49-F238E27FC236}">
                <a16:creationId xmlns:a16="http://schemas.microsoft.com/office/drawing/2014/main" id="{B67467AA-0BED-92A3-E2D9-DF11BB0E3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4572000"/>
            <a:ext cx="234950" cy="2333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9" name="Oval 8">
            <a:extLst>
              <a:ext uri="{FF2B5EF4-FFF2-40B4-BE49-F238E27FC236}">
                <a16:creationId xmlns:a16="http://schemas.microsoft.com/office/drawing/2014/main" id="{F159A738-FDEB-72C2-D654-23FA50115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5449888"/>
            <a:ext cx="234950" cy="234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0" name="Oval 8">
            <a:extLst>
              <a:ext uri="{FF2B5EF4-FFF2-40B4-BE49-F238E27FC236}">
                <a16:creationId xmlns:a16="http://schemas.microsoft.com/office/drawing/2014/main" id="{E92A8796-3DD0-D08C-D94B-DF569EE2F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572000"/>
            <a:ext cx="234950" cy="234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1" name="Oval 8">
            <a:extLst>
              <a:ext uri="{FF2B5EF4-FFF2-40B4-BE49-F238E27FC236}">
                <a16:creationId xmlns:a16="http://schemas.microsoft.com/office/drawing/2014/main" id="{D1E5C354-3B9E-48DF-B6A9-AE65196C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449888"/>
            <a:ext cx="234950" cy="234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2" name="Oval 8">
            <a:extLst>
              <a:ext uri="{FF2B5EF4-FFF2-40B4-BE49-F238E27FC236}">
                <a16:creationId xmlns:a16="http://schemas.microsoft.com/office/drawing/2014/main" id="{7A2D52AD-D960-77F1-DE62-9B4918CB9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213100"/>
            <a:ext cx="234950" cy="234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3" name="Oval 8">
            <a:extLst>
              <a:ext uri="{FF2B5EF4-FFF2-40B4-BE49-F238E27FC236}">
                <a16:creationId xmlns:a16="http://schemas.microsoft.com/office/drawing/2014/main" id="{572A5885-C1AB-5A7A-EC13-093F1626D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738" y="3213100"/>
            <a:ext cx="234950" cy="234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4" name="Oval 8">
            <a:extLst>
              <a:ext uri="{FF2B5EF4-FFF2-40B4-BE49-F238E27FC236}">
                <a16:creationId xmlns:a16="http://schemas.microsoft.com/office/drawing/2014/main" id="{6C6A3ED2-4E23-E998-0968-6A2DEE9E7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6291263"/>
            <a:ext cx="234950" cy="2333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5" name="Oval 8">
            <a:extLst>
              <a:ext uri="{FF2B5EF4-FFF2-40B4-BE49-F238E27FC236}">
                <a16:creationId xmlns:a16="http://schemas.microsoft.com/office/drawing/2014/main" id="{38D85EE4-CA21-BED7-FE4D-5836764BE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6291263"/>
            <a:ext cx="234950" cy="234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E25E2B4-2443-113D-307E-3C75459B8A0C}"/>
              </a:ext>
            </a:extLst>
          </p:cNvPr>
          <p:cNvCxnSpPr>
            <a:stCxn id="23558" idx="4"/>
            <a:endCxn id="23559" idx="0"/>
          </p:cNvCxnSpPr>
          <p:nvPr/>
        </p:nvCxnSpPr>
        <p:spPr>
          <a:xfrm>
            <a:off x="2366963" y="4805363"/>
            <a:ext cx="0" cy="644525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D895450-404C-93F7-8655-724B08357D63}"/>
              </a:ext>
            </a:extLst>
          </p:cNvPr>
          <p:cNvCxnSpPr>
            <a:endCxn id="23564" idx="0"/>
          </p:cNvCxnSpPr>
          <p:nvPr/>
        </p:nvCxnSpPr>
        <p:spPr>
          <a:xfrm>
            <a:off x="2366963" y="5684838"/>
            <a:ext cx="0" cy="60642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ED19554-9C74-DCD5-3677-9D38186AA5B8}"/>
              </a:ext>
            </a:extLst>
          </p:cNvPr>
          <p:cNvCxnSpPr>
            <a:stCxn id="23560" idx="4"/>
            <a:endCxn id="23561" idx="0"/>
          </p:cNvCxnSpPr>
          <p:nvPr/>
        </p:nvCxnSpPr>
        <p:spPr>
          <a:xfrm>
            <a:off x="5121275" y="4806950"/>
            <a:ext cx="0" cy="642938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EE638BB-B40A-5ECB-5654-98D54CF47097}"/>
              </a:ext>
            </a:extLst>
          </p:cNvPr>
          <p:cNvCxnSpPr>
            <a:stCxn id="23561" idx="4"/>
            <a:endCxn id="23565" idx="0"/>
          </p:cNvCxnSpPr>
          <p:nvPr/>
        </p:nvCxnSpPr>
        <p:spPr>
          <a:xfrm>
            <a:off x="5121275" y="5684838"/>
            <a:ext cx="0" cy="60642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70" name="Text Box 12">
            <a:extLst>
              <a:ext uri="{FF2B5EF4-FFF2-40B4-BE49-F238E27FC236}">
                <a16:creationId xmlns:a16="http://schemas.microsoft.com/office/drawing/2014/main" id="{29350DA6-632C-9717-C1CE-6A9061ABD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365625"/>
            <a:ext cx="1625600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x</a:t>
            </a:r>
            <a:r>
              <a:rPr lang="en-US" altLang="zh-CN" sz="2800" baseline="-25000"/>
              <a:t>1</a:t>
            </a:r>
            <a:r>
              <a:rPr lang="en-US" altLang="zh-CN" sz="2800"/>
              <a:t>x</a:t>
            </a:r>
            <a:r>
              <a:rPr lang="en-US" altLang="zh-CN" sz="2800" baseline="-25000"/>
              <a:t>2</a:t>
            </a:r>
            <a:r>
              <a:rPr lang="zh-CN" altLang="zh-CN" sz="2800"/>
              <a:t>…</a:t>
            </a:r>
            <a:r>
              <a:rPr lang="en-US" altLang="zh-CN" sz="2800"/>
              <a:t>x</a:t>
            </a:r>
            <a:r>
              <a:rPr lang="en-US" altLang="zh-CN" sz="2800" baseline="-25000"/>
              <a:t>k-1</a:t>
            </a:r>
            <a:endParaRPr lang="en-US" altLang="zh-CN" sz="2800"/>
          </a:p>
        </p:txBody>
      </p:sp>
      <p:sp>
        <p:nvSpPr>
          <p:cNvPr id="23571" name="Text Box 12">
            <a:extLst>
              <a:ext uri="{FF2B5EF4-FFF2-40B4-BE49-F238E27FC236}">
                <a16:creationId xmlns:a16="http://schemas.microsoft.com/office/drawing/2014/main" id="{BC2BC3C6-FA5C-6C59-57A3-88B7819F2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183188"/>
            <a:ext cx="1716087" cy="693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u</a:t>
            </a:r>
            <a:r>
              <a:rPr lang="en-US" altLang="zh-CN" sz="2800" baseline="-25000"/>
              <a:t>1</a:t>
            </a:r>
            <a:r>
              <a:rPr lang="en-US" altLang="zh-CN" sz="2800"/>
              <a:t>u</a:t>
            </a:r>
            <a:r>
              <a:rPr lang="en-US" altLang="zh-CN" sz="2800" baseline="-25000"/>
              <a:t>2</a:t>
            </a:r>
            <a:r>
              <a:rPr lang="zh-CN" altLang="zh-CN" sz="2800"/>
              <a:t>…</a:t>
            </a:r>
            <a:r>
              <a:rPr lang="en-US" altLang="zh-CN" sz="2800"/>
              <a:t>u</a:t>
            </a:r>
            <a:r>
              <a:rPr lang="en-US" altLang="zh-CN" sz="2800" baseline="-25000"/>
              <a:t>k-1</a:t>
            </a:r>
            <a:endParaRPr lang="en-US" altLang="zh-CN" sz="2800"/>
          </a:p>
        </p:txBody>
      </p:sp>
      <p:sp>
        <p:nvSpPr>
          <p:cNvPr id="23572" name="Text Box 12">
            <a:extLst>
              <a:ext uri="{FF2B5EF4-FFF2-40B4-BE49-F238E27FC236}">
                <a16:creationId xmlns:a16="http://schemas.microsoft.com/office/drawing/2014/main" id="{5DD1C0FD-810D-D45D-D77F-1A00C58B4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38" y="6094413"/>
            <a:ext cx="423862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2800"/>
          </a:p>
        </p:txBody>
      </p:sp>
      <p:sp>
        <p:nvSpPr>
          <p:cNvPr id="23573" name="Text Box 12">
            <a:extLst>
              <a:ext uri="{FF2B5EF4-FFF2-40B4-BE49-F238E27FC236}">
                <a16:creationId xmlns:a16="http://schemas.microsoft.com/office/drawing/2014/main" id="{A9BDDFEE-8737-79D3-3FC5-1E67FCD95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6140450"/>
            <a:ext cx="2114550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1u</a:t>
            </a:r>
            <a:r>
              <a:rPr lang="en-US" altLang="zh-CN" sz="2800" baseline="-25000"/>
              <a:t>1</a:t>
            </a:r>
            <a:r>
              <a:rPr lang="en-US" altLang="zh-CN" sz="2800"/>
              <a:t>u</a:t>
            </a:r>
            <a:r>
              <a:rPr lang="en-US" altLang="zh-CN" sz="2800" baseline="-25000"/>
              <a:t>2</a:t>
            </a:r>
            <a:r>
              <a:rPr lang="zh-CN" altLang="zh-CN" sz="2800"/>
              <a:t>…</a:t>
            </a:r>
            <a:r>
              <a:rPr lang="en-US" altLang="zh-CN" sz="2800"/>
              <a:t>u</a:t>
            </a:r>
            <a:r>
              <a:rPr lang="en-US" altLang="zh-CN" sz="2800" baseline="-25000"/>
              <a:t>k-1</a:t>
            </a:r>
            <a:endParaRPr lang="en-US" altLang="zh-CN" sz="2800"/>
          </a:p>
        </p:txBody>
      </p:sp>
      <p:sp>
        <p:nvSpPr>
          <p:cNvPr id="23574" name="Text Box 12">
            <a:extLst>
              <a:ext uri="{FF2B5EF4-FFF2-40B4-BE49-F238E27FC236}">
                <a16:creationId xmlns:a16="http://schemas.microsoft.com/office/drawing/2014/main" id="{489C0B6B-779B-D66B-2725-ED1CE40A4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5286375"/>
            <a:ext cx="1982787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0u</a:t>
            </a:r>
            <a:r>
              <a:rPr lang="en-US" altLang="zh-CN" sz="2800" baseline="-25000"/>
              <a:t>1</a:t>
            </a:r>
            <a:r>
              <a:rPr lang="en-US" altLang="zh-CN" sz="2800"/>
              <a:t>u</a:t>
            </a:r>
            <a:r>
              <a:rPr lang="en-US" altLang="zh-CN" sz="2800" baseline="-25000"/>
              <a:t>2</a:t>
            </a:r>
            <a:r>
              <a:rPr lang="zh-CN" altLang="zh-CN" sz="2800"/>
              <a:t>…</a:t>
            </a:r>
            <a:r>
              <a:rPr lang="en-US" altLang="zh-CN" sz="2800"/>
              <a:t>u</a:t>
            </a:r>
            <a:r>
              <a:rPr lang="en-US" altLang="zh-CN" sz="2800" baseline="-25000"/>
              <a:t>k-1</a:t>
            </a:r>
            <a:endParaRPr lang="en-US" altLang="zh-CN" sz="2800"/>
          </a:p>
        </p:txBody>
      </p:sp>
      <p:sp>
        <p:nvSpPr>
          <p:cNvPr id="23575" name="Text Box 12">
            <a:extLst>
              <a:ext uri="{FF2B5EF4-FFF2-40B4-BE49-F238E27FC236}">
                <a16:creationId xmlns:a16="http://schemas.microsoft.com/office/drawing/2014/main" id="{F8C7B0ED-CC95-EF91-00FF-4B1A90A92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963" y="4413250"/>
            <a:ext cx="1947862" cy="6937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0x</a:t>
            </a:r>
            <a:r>
              <a:rPr lang="en-US" altLang="zh-CN" sz="2800" baseline="-25000"/>
              <a:t>1</a:t>
            </a:r>
            <a:r>
              <a:rPr lang="en-US" altLang="zh-CN" sz="2800"/>
              <a:t>x</a:t>
            </a:r>
            <a:r>
              <a:rPr lang="en-US" altLang="zh-CN" sz="2800" baseline="-25000"/>
              <a:t>2</a:t>
            </a:r>
            <a:r>
              <a:rPr lang="zh-CN" altLang="zh-CN" sz="2800"/>
              <a:t>…</a:t>
            </a:r>
            <a:r>
              <a:rPr lang="en-US" altLang="zh-CN" sz="2800"/>
              <a:t>x</a:t>
            </a:r>
            <a:r>
              <a:rPr lang="en-US" altLang="zh-CN" sz="2800" baseline="-25000"/>
              <a:t>k-1</a:t>
            </a:r>
            <a:endParaRPr lang="en-US" altLang="zh-CN" sz="2800"/>
          </a:p>
        </p:txBody>
      </p:sp>
      <p:sp>
        <p:nvSpPr>
          <p:cNvPr id="23576" name="Text Box 12">
            <a:extLst>
              <a:ext uri="{FF2B5EF4-FFF2-40B4-BE49-F238E27FC236}">
                <a16:creationId xmlns:a16="http://schemas.microsoft.com/office/drawing/2014/main" id="{7BE02C41-452E-9382-B618-DCD6F7B3C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5303838"/>
            <a:ext cx="423862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altLang="zh-CN" sz="2800"/>
          </a:p>
        </p:txBody>
      </p:sp>
      <p:sp>
        <p:nvSpPr>
          <p:cNvPr id="23577" name="Text Box 12">
            <a:extLst>
              <a:ext uri="{FF2B5EF4-FFF2-40B4-BE49-F238E27FC236}">
                <a16:creationId xmlns:a16="http://schemas.microsoft.com/office/drawing/2014/main" id="{53743E25-51F0-3671-B1C0-3F764606D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4400550"/>
            <a:ext cx="423862" cy="5762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800"/>
          </a:p>
        </p:txBody>
      </p:sp>
      <p:sp>
        <p:nvSpPr>
          <p:cNvPr id="23578" name="Text Box 12">
            <a:extLst>
              <a:ext uri="{FF2B5EF4-FFF2-40B4-BE49-F238E27FC236}">
                <a16:creationId xmlns:a16="http://schemas.microsoft.com/office/drawing/2014/main" id="{F940CB60-B151-98B7-BC00-7E72A5A2D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6132513"/>
            <a:ext cx="423863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2800"/>
          </a:p>
        </p:txBody>
      </p:sp>
      <p:sp>
        <p:nvSpPr>
          <p:cNvPr id="23579" name="Text Box 12">
            <a:extLst>
              <a:ext uri="{FF2B5EF4-FFF2-40B4-BE49-F238E27FC236}">
                <a16:creationId xmlns:a16="http://schemas.microsoft.com/office/drawing/2014/main" id="{9CAB9DEC-FA86-ADB9-8715-792D1D99A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00663"/>
            <a:ext cx="423863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altLang="zh-CN" sz="2800"/>
          </a:p>
        </p:txBody>
      </p:sp>
      <p:sp>
        <p:nvSpPr>
          <p:cNvPr id="23580" name="Text Box 12">
            <a:extLst>
              <a:ext uri="{FF2B5EF4-FFF2-40B4-BE49-F238E27FC236}">
                <a16:creationId xmlns:a16="http://schemas.microsoft.com/office/drawing/2014/main" id="{8921761E-2EC1-4BE7-4C1D-B779E8229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4413250"/>
            <a:ext cx="423863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800"/>
          </a:p>
        </p:txBody>
      </p:sp>
      <p:sp>
        <p:nvSpPr>
          <p:cNvPr id="23581" name="Text Box 12">
            <a:extLst>
              <a:ext uri="{FF2B5EF4-FFF2-40B4-BE49-F238E27FC236}">
                <a16:creationId xmlns:a16="http://schemas.microsoft.com/office/drawing/2014/main" id="{BBC986C8-03FF-0D3B-E32D-9E9DA557B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38" y="3078163"/>
            <a:ext cx="423862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800">
              <a:solidFill>
                <a:srgbClr val="FF00FF"/>
              </a:solidFill>
            </a:endParaRPr>
          </a:p>
        </p:txBody>
      </p:sp>
      <p:sp>
        <p:nvSpPr>
          <p:cNvPr id="23582" name="Text Box 12">
            <a:extLst>
              <a:ext uri="{FF2B5EF4-FFF2-40B4-BE49-F238E27FC236}">
                <a16:creationId xmlns:a16="http://schemas.microsoft.com/office/drawing/2014/main" id="{5488704A-C321-27CF-2C4D-11BEBFBAD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300" y="3068638"/>
            <a:ext cx="423863" cy="574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800">
              <a:solidFill>
                <a:srgbClr val="FF00FF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8FBF3B-EBEE-2A18-1804-A70FA5AB9272}"/>
              </a:ext>
            </a:extLst>
          </p:cNvPr>
          <p:cNvCxnSpPr>
            <a:stCxn id="23563" idx="6"/>
            <a:endCxn id="23562" idx="2"/>
          </p:cNvCxnSpPr>
          <p:nvPr/>
        </p:nvCxnSpPr>
        <p:spPr>
          <a:xfrm>
            <a:off x="4611688" y="3330575"/>
            <a:ext cx="823912" cy="0"/>
          </a:xfrm>
          <a:prstGeom prst="line">
            <a:avLst/>
          </a:prstGeom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右箭头 11">
            <a:extLst>
              <a:ext uri="{FF2B5EF4-FFF2-40B4-BE49-F238E27FC236}">
                <a16:creationId xmlns:a16="http://schemas.microsoft.com/office/drawing/2014/main" id="{264558B7-6F2B-B57C-BF70-898716315389}"/>
              </a:ext>
            </a:extLst>
          </p:cNvPr>
          <p:cNvSpPr/>
          <p:nvPr/>
        </p:nvSpPr>
        <p:spPr>
          <a:xfrm>
            <a:off x="3416300" y="5403850"/>
            <a:ext cx="723900" cy="328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93939F2D-C3B8-AAA8-B3DF-20DB55A2D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BF608902-BF4E-A507-AF10-AE28788C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1844675"/>
            <a:ext cx="8959850" cy="5013325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zh-CN" sz="2800" b="1" dirty="0">
                <a:solidFill>
                  <a:srgbClr val="FF0000"/>
                </a:solidFill>
              </a:rPr>
              <a:t>算法</a:t>
            </a:r>
            <a:r>
              <a:rPr lang="en-US" altLang="zh-CN" sz="2800" b="1" dirty="0">
                <a:solidFill>
                  <a:srgbClr val="FF0000"/>
                </a:solidFill>
              </a:rPr>
              <a:t>8.3.1 </a:t>
            </a:r>
            <a:r>
              <a:rPr lang="zh-CN" altLang="zh-CN" sz="2800" b="1" dirty="0"/>
              <a:t>非平凡树的二进制编址</a:t>
            </a:r>
            <a:endParaRPr lang="zh-CN" altLang="zh-CN" sz="2800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(1)</a:t>
            </a:r>
            <a:r>
              <a:rPr lang="zh-CN" altLang="zh-CN" sz="2800" dirty="0"/>
              <a:t>以树</a:t>
            </a:r>
            <a:r>
              <a:rPr lang="en-US" altLang="zh-CN" sz="2800" dirty="0"/>
              <a:t>T</a:t>
            </a:r>
            <a:r>
              <a:rPr lang="zh-CN" altLang="zh-CN" sz="2800" dirty="0"/>
              <a:t>的任意边</a:t>
            </a:r>
            <a:r>
              <a:rPr lang="en-US" altLang="zh-CN" sz="2800" dirty="0"/>
              <a:t>(</a:t>
            </a:r>
            <a:r>
              <a:rPr lang="en-US" altLang="zh-CN" sz="2800" dirty="0" err="1"/>
              <a:t>u,v</a:t>
            </a:r>
            <a:r>
              <a:rPr lang="en-US" altLang="zh-CN" sz="2800" dirty="0"/>
              <a:t>)</a:t>
            </a:r>
            <a:r>
              <a:rPr lang="zh-CN" altLang="zh-CN" sz="2800" dirty="0"/>
              <a:t>开始，将结点</a:t>
            </a:r>
            <a:r>
              <a:rPr lang="en-US" altLang="zh-CN" sz="2800" dirty="0"/>
              <a:t>u</a:t>
            </a:r>
            <a:r>
              <a:rPr lang="zh-CN" altLang="zh-CN" sz="2800" dirty="0"/>
              <a:t>标记为</a:t>
            </a:r>
            <a:r>
              <a:rPr lang="en-US" altLang="zh-CN" sz="2800" dirty="0"/>
              <a:t>0</a:t>
            </a:r>
            <a:r>
              <a:rPr lang="zh-CN" altLang="zh-CN" sz="2800" dirty="0"/>
              <a:t>，结点</a:t>
            </a:r>
            <a:r>
              <a:rPr lang="en-US" altLang="zh-CN" sz="2800" dirty="0"/>
              <a:t>v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</a:t>
            </a:r>
            <a:r>
              <a:rPr lang="zh-CN" altLang="zh-CN" sz="2800" dirty="0"/>
              <a:t>标记为</a:t>
            </a:r>
            <a:r>
              <a:rPr lang="en-US" altLang="zh-CN" sz="2800" dirty="0"/>
              <a:t>1</a:t>
            </a:r>
            <a:r>
              <a:rPr lang="zh-CN" altLang="zh-CN" sz="2800" dirty="0"/>
              <a:t>，得到树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，令</a:t>
            </a:r>
            <a:r>
              <a:rPr lang="en-US" altLang="zh-CN" sz="2800" dirty="0"/>
              <a:t>k</a:t>
            </a:r>
            <a:r>
              <a:rPr lang="zh-CN" altLang="zh-CN" sz="2800" dirty="0"/>
              <a:t>＝</a:t>
            </a:r>
            <a:r>
              <a:rPr lang="en-US" altLang="zh-CN" sz="2800" dirty="0"/>
              <a:t>1</a:t>
            </a:r>
            <a:r>
              <a:rPr lang="zh-CN" altLang="zh-CN" sz="2800" dirty="0"/>
              <a:t>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(2)</a:t>
            </a:r>
            <a:r>
              <a:rPr lang="zh-CN" altLang="zh-CN" sz="2800" dirty="0"/>
              <a:t>若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＝</a:t>
            </a:r>
            <a:r>
              <a:rPr lang="en-US" altLang="zh-CN" sz="2800" dirty="0"/>
              <a:t>T</a:t>
            </a:r>
            <a:r>
              <a:rPr lang="zh-CN" altLang="zh-CN" sz="2800" dirty="0"/>
              <a:t>则停止。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(3)</a:t>
            </a:r>
            <a:r>
              <a:rPr lang="zh-CN" altLang="zh-CN" sz="2800" dirty="0"/>
              <a:t>若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≠</a:t>
            </a:r>
            <a:r>
              <a:rPr lang="en-US" altLang="zh-CN" sz="2800" dirty="0"/>
              <a:t>T</a:t>
            </a:r>
            <a:r>
              <a:rPr lang="zh-CN" altLang="zh-CN" sz="2800" dirty="0"/>
              <a:t>，令边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</a:t>
            </a:r>
            <a:r>
              <a:rPr lang="zh-CN" altLang="zh-CN" sz="2800" dirty="0"/>
              <a:t>为与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相交但不包含在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中，且</a:t>
            </a:r>
            <a:endParaRPr lang="en-US" altLang="zh-CN" sz="2800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中结点</a:t>
            </a:r>
            <a:r>
              <a:rPr lang="en-US" altLang="zh-CN" sz="2800" dirty="0"/>
              <a:t>x</a:t>
            </a:r>
            <a:r>
              <a:rPr lang="zh-CN" altLang="zh-CN" sz="2800" dirty="0"/>
              <a:t>的当前编址为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…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。将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的所有结点</a:t>
            </a:r>
            <a:endParaRPr lang="en-US" altLang="zh-CN" sz="2800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w(w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w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…</a:t>
            </a:r>
            <a:r>
              <a:rPr lang="en-US" altLang="zh-CN" sz="2800" dirty="0" err="1"/>
              <a:t>w</a:t>
            </a:r>
            <a:r>
              <a:rPr lang="en-US" altLang="zh-CN" sz="2800" baseline="-25000" dirty="0" err="1"/>
              <a:t>k</a:t>
            </a:r>
            <a:r>
              <a:rPr lang="en-US" altLang="zh-CN" sz="2800" dirty="0"/>
              <a:t>)</a:t>
            </a:r>
            <a:r>
              <a:rPr lang="zh-CN" altLang="zh-CN" sz="2800" dirty="0"/>
              <a:t>赋予新的编址</a:t>
            </a:r>
            <a:r>
              <a:rPr lang="en-US" altLang="zh-CN" sz="2800" dirty="0"/>
              <a:t>(0w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w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…</a:t>
            </a:r>
            <a:r>
              <a:rPr lang="en-US" altLang="zh-CN" sz="2800" dirty="0" err="1"/>
              <a:t>w</a:t>
            </a:r>
            <a:r>
              <a:rPr lang="en-US" altLang="zh-CN" sz="2800" baseline="-25000" dirty="0" err="1"/>
              <a:t>k</a:t>
            </a:r>
            <a:r>
              <a:rPr lang="en-US" altLang="zh-CN" sz="2800" dirty="0"/>
              <a:t>)</a:t>
            </a:r>
            <a:r>
              <a:rPr lang="zh-CN" altLang="zh-CN" sz="2800" dirty="0"/>
              <a:t>，赋予结点</a:t>
            </a:r>
            <a:r>
              <a:rPr lang="en-US" altLang="zh-CN" sz="2800" dirty="0"/>
              <a:t>    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y</a:t>
            </a:r>
            <a:r>
              <a:rPr lang="zh-CN" altLang="zh-CN" sz="2800" dirty="0"/>
              <a:t>的编址为</a:t>
            </a:r>
            <a:r>
              <a:rPr lang="en-US" altLang="zh-CN" sz="2800" dirty="0"/>
              <a:t>1x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…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k</a:t>
            </a:r>
            <a:r>
              <a:rPr lang="zh-CN" altLang="zh-CN" sz="2800" dirty="0"/>
              <a:t>。令</a:t>
            </a:r>
            <a:r>
              <a:rPr lang="en-US" altLang="zh-CN" sz="2800" dirty="0"/>
              <a:t>k</a:t>
            </a:r>
            <a:r>
              <a:rPr lang="zh-CN" altLang="zh-CN" sz="2800" dirty="0"/>
              <a:t>＝</a:t>
            </a:r>
            <a:r>
              <a:rPr lang="en-US" altLang="zh-CN" sz="2800" dirty="0"/>
              <a:t>k</a:t>
            </a:r>
            <a:r>
              <a:rPr lang="zh-CN" altLang="zh-CN" sz="2800" dirty="0"/>
              <a:t>＋</a:t>
            </a:r>
            <a:r>
              <a:rPr lang="en-US" altLang="zh-CN" sz="2800" dirty="0"/>
              <a:t>1</a:t>
            </a:r>
            <a:r>
              <a:rPr lang="zh-CN" altLang="zh-CN" sz="2800" dirty="0"/>
              <a:t>。转步骤</a:t>
            </a:r>
            <a:r>
              <a:rPr lang="en-US" altLang="zh-CN" sz="2800" dirty="0"/>
              <a:t>(2)</a:t>
            </a:r>
            <a:r>
              <a:rPr lang="zh-CN" altLang="zh-CN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7B8C1514-8051-0458-6889-2782DD75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70831B1E-402B-D8D5-5412-39548EAA9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8.3.6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求</a:t>
            </a:r>
            <a:r>
              <a:rPr lang="zh-CN" altLang="en-US"/>
              <a:t>下</a:t>
            </a:r>
            <a:r>
              <a:rPr lang="zh-CN" altLang="zh-CN"/>
              <a:t>图所示树</a:t>
            </a:r>
            <a:r>
              <a:rPr lang="en-US" altLang="zh-CN"/>
              <a:t>T</a:t>
            </a:r>
            <a:r>
              <a:rPr lang="zh-CN" altLang="zh-CN"/>
              <a:t>的二进制编址。</a:t>
            </a:r>
            <a:endParaRPr lang="zh-CN" altLang="en-US"/>
          </a:p>
        </p:txBody>
      </p:sp>
      <p:sp>
        <p:nvSpPr>
          <p:cNvPr id="25604" name="Rectangle 21">
            <a:extLst>
              <a:ext uri="{FF2B5EF4-FFF2-40B4-BE49-F238E27FC236}">
                <a16:creationId xmlns:a16="http://schemas.microsoft.com/office/drawing/2014/main" id="{6B1CAE31-0DC9-1775-C446-C69B7A3FC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5605" name="Group 4">
            <a:extLst>
              <a:ext uri="{FF2B5EF4-FFF2-40B4-BE49-F238E27FC236}">
                <a16:creationId xmlns:a16="http://schemas.microsoft.com/office/drawing/2014/main" id="{FA51DDB8-0A5D-2505-79CF-2DE6A15631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11438" y="3435350"/>
            <a:ext cx="3328987" cy="2408238"/>
            <a:chOff x="6700" y="3080"/>
            <a:chExt cx="3119" cy="2257"/>
          </a:xfrm>
        </p:grpSpPr>
        <p:sp>
          <p:nvSpPr>
            <p:cNvPr id="25607" name="AutoShape 20">
              <a:extLst>
                <a:ext uri="{FF2B5EF4-FFF2-40B4-BE49-F238E27FC236}">
                  <a16:creationId xmlns:a16="http://schemas.microsoft.com/office/drawing/2014/main" id="{8C5423A2-3011-D353-A33E-FA2DB1B0E72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700" y="3080"/>
              <a:ext cx="3119" cy="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Oval 19">
              <a:extLst>
                <a:ext uri="{FF2B5EF4-FFF2-40B4-BE49-F238E27FC236}">
                  <a16:creationId xmlns:a16="http://schemas.microsoft.com/office/drawing/2014/main" id="{B97C39E8-2797-7D13-543E-326892531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09" name="Oval 18">
              <a:extLst>
                <a:ext uri="{FF2B5EF4-FFF2-40B4-BE49-F238E27FC236}">
                  <a16:creationId xmlns:a16="http://schemas.microsoft.com/office/drawing/2014/main" id="{95C39A9D-5C49-8CCA-DB58-F3C2B6538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0" name="Oval 17">
              <a:extLst>
                <a:ext uri="{FF2B5EF4-FFF2-40B4-BE49-F238E27FC236}">
                  <a16:creationId xmlns:a16="http://schemas.microsoft.com/office/drawing/2014/main" id="{DA29DE3F-09A9-830A-98C9-C2F496BD5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1" name="Oval 16">
              <a:extLst>
                <a:ext uri="{FF2B5EF4-FFF2-40B4-BE49-F238E27FC236}">
                  <a16:creationId xmlns:a16="http://schemas.microsoft.com/office/drawing/2014/main" id="{E73F2D0D-68E1-676F-AABE-D9DA61BA1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2" name="Oval 15">
              <a:extLst>
                <a:ext uri="{FF2B5EF4-FFF2-40B4-BE49-F238E27FC236}">
                  <a16:creationId xmlns:a16="http://schemas.microsoft.com/office/drawing/2014/main" id="{2D8438AC-9521-0DF6-1B56-73397921C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3" name="Oval 14">
              <a:extLst>
                <a:ext uri="{FF2B5EF4-FFF2-40B4-BE49-F238E27FC236}">
                  <a16:creationId xmlns:a16="http://schemas.microsoft.com/office/drawing/2014/main" id="{10294ED2-6C8C-EBE1-6178-6809A0024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4" name="Oval 13">
              <a:extLst>
                <a:ext uri="{FF2B5EF4-FFF2-40B4-BE49-F238E27FC236}">
                  <a16:creationId xmlns:a16="http://schemas.microsoft.com/office/drawing/2014/main" id="{6CC949A0-E910-4BED-E735-D24A863EF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5" name="Oval 12">
              <a:extLst>
                <a:ext uri="{FF2B5EF4-FFF2-40B4-BE49-F238E27FC236}">
                  <a16:creationId xmlns:a16="http://schemas.microsoft.com/office/drawing/2014/main" id="{F6554713-44EE-75A5-EDE3-79958E19D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5616" name="AutoShape 11">
              <a:extLst>
                <a:ext uri="{FF2B5EF4-FFF2-40B4-BE49-F238E27FC236}">
                  <a16:creationId xmlns:a16="http://schemas.microsoft.com/office/drawing/2014/main" id="{CFAC0386-651F-7028-0710-588986C36C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7" name="AutoShape 10">
              <a:extLst>
                <a:ext uri="{FF2B5EF4-FFF2-40B4-BE49-F238E27FC236}">
                  <a16:creationId xmlns:a16="http://schemas.microsoft.com/office/drawing/2014/main" id="{9F918A13-56FA-E1F7-56DD-1A4D2CD920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8" name="AutoShape 9">
              <a:extLst>
                <a:ext uri="{FF2B5EF4-FFF2-40B4-BE49-F238E27FC236}">
                  <a16:creationId xmlns:a16="http://schemas.microsoft.com/office/drawing/2014/main" id="{CA46B364-D2BD-538F-9BDD-564F11C086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9" name="AutoShape 8">
              <a:extLst>
                <a:ext uri="{FF2B5EF4-FFF2-40B4-BE49-F238E27FC236}">
                  <a16:creationId xmlns:a16="http://schemas.microsoft.com/office/drawing/2014/main" id="{B77354FD-A02B-D8A6-7375-535C0BA807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20" name="AutoShape 7">
              <a:extLst>
                <a:ext uri="{FF2B5EF4-FFF2-40B4-BE49-F238E27FC236}">
                  <a16:creationId xmlns:a16="http://schemas.microsoft.com/office/drawing/2014/main" id="{D09884A4-0F24-F9B0-BDED-67D751A995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21" name="AutoShape 6">
              <a:extLst>
                <a:ext uri="{FF2B5EF4-FFF2-40B4-BE49-F238E27FC236}">
                  <a16:creationId xmlns:a16="http://schemas.microsoft.com/office/drawing/2014/main" id="{D03631EF-3DED-540D-DF5B-D1ACA31889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22" name="AutoShape 5">
              <a:extLst>
                <a:ext uri="{FF2B5EF4-FFF2-40B4-BE49-F238E27FC236}">
                  <a16:creationId xmlns:a16="http://schemas.microsoft.com/office/drawing/2014/main" id="{45473E0B-8365-DEF0-71D3-DB3D3B9EBC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06" name="Rectangle 47">
            <a:extLst>
              <a:ext uri="{FF2B5EF4-FFF2-40B4-BE49-F238E27FC236}">
                <a16:creationId xmlns:a16="http://schemas.microsoft.com/office/drawing/2014/main" id="{5212165C-B348-3A96-3344-E99116B52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938B1CAA-316E-C70B-4836-DA4F7E83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1938DA15-5E74-F967-0B90-47DEE2343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03400"/>
            <a:ext cx="8893175" cy="50546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>
                <a:solidFill>
                  <a:srgbClr val="FF0000"/>
                </a:solidFill>
              </a:rPr>
              <a:t>解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—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26628" name="Rectangle 23">
            <a:extLst>
              <a:ext uri="{FF2B5EF4-FFF2-40B4-BE49-F238E27FC236}">
                <a16:creationId xmlns:a16="http://schemas.microsoft.com/office/drawing/2014/main" id="{56A8B6B2-2336-5AFB-A48E-5B15563AA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6629" name="Group 4">
            <a:extLst>
              <a:ext uri="{FF2B5EF4-FFF2-40B4-BE49-F238E27FC236}">
                <a16:creationId xmlns:a16="http://schemas.microsoft.com/office/drawing/2014/main" id="{E762482F-54CC-0962-CF5C-E54E18EF1A7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213" y="3141663"/>
            <a:ext cx="3429000" cy="2879725"/>
            <a:chOff x="6605" y="2636"/>
            <a:chExt cx="3214" cy="2701"/>
          </a:xfrm>
        </p:grpSpPr>
        <p:sp>
          <p:nvSpPr>
            <p:cNvPr id="26651" name="AutoShape 22">
              <a:extLst>
                <a:ext uri="{FF2B5EF4-FFF2-40B4-BE49-F238E27FC236}">
                  <a16:creationId xmlns:a16="http://schemas.microsoft.com/office/drawing/2014/main" id="{83D23FB3-1108-F263-4837-D118E2327FC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605" y="2736"/>
              <a:ext cx="3214" cy="2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Text Box 21">
              <a:extLst>
                <a:ext uri="{FF2B5EF4-FFF2-40B4-BE49-F238E27FC236}">
                  <a16:creationId xmlns:a16="http://schemas.microsoft.com/office/drawing/2014/main" id="{62A55E4B-91EF-4378-1047-DAACF1F55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7" y="2636"/>
              <a:ext cx="700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26653" name="Text Box 20">
              <a:extLst>
                <a:ext uri="{FF2B5EF4-FFF2-40B4-BE49-F238E27FC236}">
                  <a16:creationId xmlns:a16="http://schemas.microsoft.com/office/drawing/2014/main" id="{BF3706DF-E5A8-EFB0-D20E-CB6AB0F4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0" y="2636"/>
              <a:ext cx="76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26654" name="Oval 19">
              <a:extLst>
                <a:ext uri="{FF2B5EF4-FFF2-40B4-BE49-F238E27FC236}">
                  <a16:creationId xmlns:a16="http://schemas.microsoft.com/office/drawing/2014/main" id="{C0D40151-DFD8-3C0F-11E8-B373ABEE5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5" name="Oval 18">
              <a:extLst>
                <a:ext uri="{FF2B5EF4-FFF2-40B4-BE49-F238E27FC236}">
                  <a16:creationId xmlns:a16="http://schemas.microsoft.com/office/drawing/2014/main" id="{B8A51210-58DE-F4EB-EFF7-D19C90C1F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6" name="Oval 17">
              <a:extLst>
                <a:ext uri="{FF2B5EF4-FFF2-40B4-BE49-F238E27FC236}">
                  <a16:creationId xmlns:a16="http://schemas.microsoft.com/office/drawing/2014/main" id="{32F73F9B-D06B-7565-C4E5-F50141242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7" name="Oval 16">
              <a:extLst>
                <a:ext uri="{FF2B5EF4-FFF2-40B4-BE49-F238E27FC236}">
                  <a16:creationId xmlns:a16="http://schemas.microsoft.com/office/drawing/2014/main" id="{C1E7B2E6-19F2-27D9-2FE2-0BF265FAD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8" name="Oval 15">
              <a:extLst>
                <a:ext uri="{FF2B5EF4-FFF2-40B4-BE49-F238E27FC236}">
                  <a16:creationId xmlns:a16="http://schemas.microsoft.com/office/drawing/2014/main" id="{DCE7AC91-AECF-C661-F250-90AFE45ED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9" name="Oval 14">
              <a:extLst>
                <a:ext uri="{FF2B5EF4-FFF2-40B4-BE49-F238E27FC236}">
                  <a16:creationId xmlns:a16="http://schemas.microsoft.com/office/drawing/2014/main" id="{05021E3A-7F36-3473-13DF-22510D8C0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60" name="Oval 13">
              <a:extLst>
                <a:ext uri="{FF2B5EF4-FFF2-40B4-BE49-F238E27FC236}">
                  <a16:creationId xmlns:a16="http://schemas.microsoft.com/office/drawing/2014/main" id="{7FD85C48-52CC-BCF8-8D64-FEB3A06E8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61" name="Oval 12">
              <a:extLst>
                <a:ext uri="{FF2B5EF4-FFF2-40B4-BE49-F238E27FC236}">
                  <a16:creationId xmlns:a16="http://schemas.microsoft.com/office/drawing/2014/main" id="{EA4B5C54-C09D-6621-61B3-4A2A17480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6662" name="AutoShape 11">
              <a:extLst>
                <a:ext uri="{FF2B5EF4-FFF2-40B4-BE49-F238E27FC236}">
                  <a16:creationId xmlns:a16="http://schemas.microsoft.com/office/drawing/2014/main" id="{465E10B2-CB17-FB43-C816-F6FF55E086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3" name="AutoShape 10">
              <a:extLst>
                <a:ext uri="{FF2B5EF4-FFF2-40B4-BE49-F238E27FC236}">
                  <a16:creationId xmlns:a16="http://schemas.microsoft.com/office/drawing/2014/main" id="{A3D22710-1BDF-2139-4B81-AEE529FC67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4" name="AutoShape 9">
              <a:extLst>
                <a:ext uri="{FF2B5EF4-FFF2-40B4-BE49-F238E27FC236}">
                  <a16:creationId xmlns:a16="http://schemas.microsoft.com/office/drawing/2014/main" id="{0A46C051-BFB7-29B1-852C-3097658904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5" name="AutoShape 8">
              <a:extLst>
                <a:ext uri="{FF2B5EF4-FFF2-40B4-BE49-F238E27FC236}">
                  <a16:creationId xmlns:a16="http://schemas.microsoft.com/office/drawing/2014/main" id="{9B31D871-8D21-2BC4-FD27-2F4C07A9B3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6" name="AutoShape 7">
              <a:extLst>
                <a:ext uri="{FF2B5EF4-FFF2-40B4-BE49-F238E27FC236}">
                  <a16:creationId xmlns:a16="http://schemas.microsoft.com/office/drawing/2014/main" id="{085A7639-940D-F627-3156-A285B035F4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7" name="AutoShape 6">
              <a:extLst>
                <a:ext uri="{FF2B5EF4-FFF2-40B4-BE49-F238E27FC236}">
                  <a16:creationId xmlns:a16="http://schemas.microsoft.com/office/drawing/2014/main" id="{C7A62DBE-5BD5-EA0B-0FFB-C0EC115D19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8" name="AutoShape 5">
              <a:extLst>
                <a:ext uri="{FF2B5EF4-FFF2-40B4-BE49-F238E27FC236}">
                  <a16:creationId xmlns:a16="http://schemas.microsoft.com/office/drawing/2014/main" id="{BF3F19D0-5DBB-6AF1-16C5-56ADEF4ED2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630" name="Rectangle 46">
            <a:extLst>
              <a:ext uri="{FF2B5EF4-FFF2-40B4-BE49-F238E27FC236}">
                <a16:creationId xmlns:a16="http://schemas.microsoft.com/office/drawing/2014/main" id="{243BAD28-36AB-3702-9CA0-937C4A4B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6631" name="Group 26">
            <a:extLst>
              <a:ext uri="{FF2B5EF4-FFF2-40B4-BE49-F238E27FC236}">
                <a16:creationId xmlns:a16="http://schemas.microsoft.com/office/drawing/2014/main" id="{B7A9EECA-52F8-FD2C-4ED9-F230EEC0773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3488" y="3141663"/>
            <a:ext cx="3489325" cy="2879725"/>
            <a:chOff x="6550" y="2636"/>
            <a:chExt cx="3269" cy="2701"/>
          </a:xfrm>
        </p:grpSpPr>
        <p:sp>
          <p:nvSpPr>
            <p:cNvPr id="26632" name="AutoShape 45">
              <a:extLst>
                <a:ext uri="{FF2B5EF4-FFF2-40B4-BE49-F238E27FC236}">
                  <a16:creationId xmlns:a16="http://schemas.microsoft.com/office/drawing/2014/main" id="{AC509F1E-6804-7380-DD7C-D10042A7C2F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550" y="2746"/>
              <a:ext cx="3269" cy="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Text Box 44">
              <a:extLst>
                <a:ext uri="{FF2B5EF4-FFF2-40B4-BE49-F238E27FC236}">
                  <a16:creationId xmlns:a16="http://schemas.microsoft.com/office/drawing/2014/main" id="{4F86A85D-FDEF-6E1D-669C-7896B3C99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6" y="4259"/>
              <a:ext cx="70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32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26634" name="Text Box 43">
              <a:extLst>
                <a:ext uri="{FF2B5EF4-FFF2-40B4-BE49-F238E27FC236}">
                  <a16:creationId xmlns:a16="http://schemas.microsoft.com/office/drawing/2014/main" id="{E3A076FF-68C0-19B4-2534-E02DC65C6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8" y="2636"/>
              <a:ext cx="751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26635" name="Text Box 42">
              <a:extLst>
                <a:ext uri="{FF2B5EF4-FFF2-40B4-BE49-F238E27FC236}">
                  <a16:creationId xmlns:a16="http://schemas.microsoft.com/office/drawing/2014/main" id="{3D6E8D8B-0D6C-FAAF-84CF-18CC0DB96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2" y="2636"/>
              <a:ext cx="75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26636" name="Oval 41">
              <a:extLst>
                <a:ext uri="{FF2B5EF4-FFF2-40B4-BE49-F238E27FC236}">
                  <a16:creationId xmlns:a16="http://schemas.microsoft.com/office/drawing/2014/main" id="{F957F124-3339-1F77-F230-6FA2ABDF9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37" name="Oval 40">
              <a:extLst>
                <a:ext uri="{FF2B5EF4-FFF2-40B4-BE49-F238E27FC236}">
                  <a16:creationId xmlns:a16="http://schemas.microsoft.com/office/drawing/2014/main" id="{CD11D559-6F0A-AFFB-6D7E-14143649C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38" name="Oval 39">
              <a:extLst>
                <a:ext uri="{FF2B5EF4-FFF2-40B4-BE49-F238E27FC236}">
                  <a16:creationId xmlns:a16="http://schemas.microsoft.com/office/drawing/2014/main" id="{9AECED12-1AFE-8C01-97AD-CF3CEEB2A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39" name="Oval 38">
              <a:extLst>
                <a:ext uri="{FF2B5EF4-FFF2-40B4-BE49-F238E27FC236}">
                  <a16:creationId xmlns:a16="http://schemas.microsoft.com/office/drawing/2014/main" id="{A42B8A60-05E2-AEB3-93E5-98999826D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0" name="Oval 37">
              <a:extLst>
                <a:ext uri="{FF2B5EF4-FFF2-40B4-BE49-F238E27FC236}">
                  <a16:creationId xmlns:a16="http://schemas.microsoft.com/office/drawing/2014/main" id="{3190E416-1AF3-FE9A-E0D5-AF1669545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1" name="Oval 36">
              <a:extLst>
                <a:ext uri="{FF2B5EF4-FFF2-40B4-BE49-F238E27FC236}">
                  <a16:creationId xmlns:a16="http://schemas.microsoft.com/office/drawing/2014/main" id="{FB2C6EEA-A752-1E64-78AD-746C0536F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2" name="Oval 35">
              <a:extLst>
                <a:ext uri="{FF2B5EF4-FFF2-40B4-BE49-F238E27FC236}">
                  <a16:creationId xmlns:a16="http://schemas.microsoft.com/office/drawing/2014/main" id="{DAF6F6E0-A505-B001-A044-2A0D885C8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3" name="Oval 34">
              <a:extLst>
                <a:ext uri="{FF2B5EF4-FFF2-40B4-BE49-F238E27FC236}">
                  <a16:creationId xmlns:a16="http://schemas.microsoft.com/office/drawing/2014/main" id="{D00E216C-D19E-308B-7C48-797B26DD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6644" name="AutoShape 33">
              <a:extLst>
                <a:ext uri="{FF2B5EF4-FFF2-40B4-BE49-F238E27FC236}">
                  <a16:creationId xmlns:a16="http://schemas.microsoft.com/office/drawing/2014/main" id="{F5EC160A-E68C-C563-078E-2C38874B31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5" name="AutoShape 32">
              <a:extLst>
                <a:ext uri="{FF2B5EF4-FFF2-40B4-BE49-F238E27FC236}">
                  <a16:creationId xmlns:a16="http://schemas.microsoft.com/office/drawing/2014/main" id="{C84C78B6-0C71-BE3D-4461-EEF27C211A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6" name="AutoShape 31">
              <a:extLst>
                <a:ext uri="{FF2B5EF4-FFF2-40B4-BE49-F238E27FC236}">
                  <a16:creationId xmlns:a16="http://schemas.microsoft.com/office/drawing/2014/main" id="{FEB86DEE-0E60-C745-403C-C8D6CD94A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7" name="AutoShape 30">
              <a:extLst>
                <a:ext uri="{FF2B5EF4-FFF2-40B4-BE49-F238E27FC236}">
                  <a16:creationId xmlns:a16="http://schemas.microsoft.com/office/drawing/2014/main" id="{A9B15E38-FB2B-5D95-10CD-AAB854B6CC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8" name="AutoShape 29">
              <a:extLst>
                <a:ext uri="{FF2B5EF4-FFF2-40B4-BE49-F238E27FC236}">
                  <a16:creationId xmlns:a16="http://schemas.microsoft.com/office/drawing/2014/main" id="{8F9813D6-CF2C-2D24-3D7B-FCF2E190EA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9" name="AutoShape 28">
              <a:extLst>
                <a:ext uri="{FF2B5EF4-FFF2-40B4-BE49-F238E27FC236}">
                  <a16:creationId xmlns:a16="http://schemas.microsoft.com/office/drawing/2014/main" id="{B7AA67D8-0365-4F1F-D019-C6A6EBD619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50" name="AutoShape 27">
              <a:extLst>
                <a:ext uri="{FF2B5EF4-FFF2-40B4-BE49-F238E27FC236}">
                  <a16:creationId xmlns:a16="http://schemas.microsoft.com/office/drawing/2014/main" id="{60D5CC48-74C7-5F38-15A7-D05B13FEE2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DAE0A815-C34C-3612-0AD2-DAB50BFC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82B6736A-DA7F-9E3C-3760-FD9A6B022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806575"/>
            <a:ext cx="8928100" cy="50514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r>
              <a:rPr lang="en-US" altLang="zh-CN">
                <a:solidFill>
                  <a:srgbClr val="FF0000"/>
                </a:solidFill>
              </a:rPr>
              <a:t>—</a:t>
            </a:r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4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27652" name="Rectangle 25">
            <a:extLst>
              <a:ext uri="{FF2B5EF4-FFF2-40B4-BE49-F238E27FC236}">
                <a16:creationId xmlns:a16="http://schemas.microsoft.com/office/drawing/2014/main" id="{1DCA1A3C-4BCD-B781-9931-48AD5BA9F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7653" name="Group 4">
            <a:extLst>
              <a:ext uri="{FF2B5EF4-FFF2-40B4-BE49-F238E27FC236}">
                <a16:creationId xmlns:a16="http://schemas.microsoft.com/office/drawing/2014/main" id="{616AA23D-5B92-1EB0-33C5-8BBB8956E2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88" y="3213100"/>
            <a:ext cx="3560762" cy="2879725"/>
            <a:chOff x="6483" y="2637"/>
            <a:chExt cx="3336" cy="2700"/>
          </a:xfrm>
        </p:grpSpPr>
        <p:sp>
          <p:nvSpPr>
            <p:cNvPr id="27677" name="AutoShape 24">
              <a:extLst>
                <a:ext uri="{FF2B5EF4-FFF2-40B4-BE49-F238E27FC236}">
                  <a16:creationId xmlns:a16="http://schemas.microsoft.com/office/drawing/2014/main" id="{BBD72F5E-6C47-7AD8-D88C-ACF22F53288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550" y="2737"/>
              <a:ext cx="3269" cy="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Text Box 23">
              <a:extLst>
                <a:ext uri="{FF2B5EF4-FFF2-40B4-BE49-F238E27FC236}">
                  <a16:creationId xmlns:a16="http://schemas.microsoft.com/office/drawing/2014/main" id="{24AB5568-D0E9-5FC8-8696-7196ABCD3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9" y="2637"/>
              <a:ext cx="751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32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en-US" altLang="zh-CN" sz="3200"/>
            </a:p>
          </p:txBody>
        </p:sp>
        <p:sp>
          <p:nvSpPr>
            <p:cNvPr id="27679" name="Text Box 22">
              <a:extLst>
                <a:ext uri="{FF2B5EF4-FFF2-40B4-BE49-F238E27FC236}">
                  <a16:creationId xmlns:a16="http://schemas.microsoft.com/office/drawing/2014/main" id="{442F5957-0474-585C-784A-3D70AFBD1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" y="4259"/>
              <a:ext cx="821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3200"/>
            </a:p>
          </p:txBody>
        </p:sp>
        <p:sp>
          <p:nvSpPr>
            <p:cNvPr id="27680" name="Text Box 21">
              <a:extLst>
                <a:ext uri="{FF2B5EF4-FFF2-40B4-BE49-F238E27FC236}">
                  <a16:creationId xmlns:a16="http://schemas.microsoft.com/office/drawing/2014/main" id="{6198CD38-9462-A08A-F6C9-0F477BF82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" y="2637"/>
              <a:ext cx="751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  <a:endParaRPr lang="en-US" altLang="zh-CN" sz="3200"/>
            </a:p>
          </p:txBody>
        </p:sp>
        <p:sp>
          <p:nvSpPr>
            <p:cNvPr id="27681" name="Text Box 20">
              <a:extLst>
                <a:ext uri="{FF2B5EF4-FFF2-40B4-BE49-F238E27FC236}">
                  <a16:creationId xmlns:a16="http://schemas.microsoft.com/office/drawing/2014/main" id="{0671C110-272C-2285-1C37-E086A8520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5" y="2637"/>
              <a:ext cx="75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en-US" altLang="zh-CN" sz="3200"/>
            </a:p>
          </p:txBody>
        </p:sp>
        <p:sp>
          <p:nvSpPr>
            <p:cNvPr id="27682" name="Oval 19">
              <a:extLst>
                <a:ext uri="{FF2B5EF4-FFF2-40B4-BE49-F238E27FC236}">
                  <a16:creationId xmlns:a16="http://schemas.microsoft.com/office/drawing/2014/main" id="{9B66E276-DA26-47DA-C477-DB3DB1274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3" name="Oval 18">
              <a:extLst>
                <a:ext uri="{FF2B5EF4-FFF2-40B4-BE49-F238E27FC236}">
                  <a16:creationId xmlns:a16="http://schemas.microsoft.com/office/drawing/2014/main" id="{08F2A03C-A0DE-3C9A-EF17-276AAE493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4" name="Oval 17">
              <a:extLst>
                <a:ext uri="{FF2B5EF4-FFF2-40B4-BE49-F238E27FC236}">
                  <a16:creationId xmlns:a16="http://schemas.microsoft.com/office/drawing/2014/main" id="{33CE1495-BD30-1C6C-69E6-FDA67C195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5" name="Oval 16">
              <a:extLst>
                <a:ext uri="{FF2B5EF4-FFF2-40B4-BE49-F238E27FC236}">
                  <a16:creationId xmlns:a16="http://schemas.microsoft.com/office/drawing/2014/main" id="{0B3846DB-1492-2B84-EECC-CB03010ED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6" name="Oval 15">
              <a:extLst>
                <a:ext uri="{FF2B5EF4-FFF2-40B4-BE49-F238E27FC236}">
                  <a16:creationId xmlns:a16="http://schemas.microsoft.com/office/drawing/2014/main" id="{5652985E-EF8D-B0DD-4DD1-1CAA34F1D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7" name="Oval 14">
              <a:extLst>
                <a:ext uri="{FF2B5EF4-FFF2-40B4-BE49-F238E27FC236}">
                  <a16:creationId xmlns:a16="http://schemas.microsoft.com/office/drawing/2014/main" id="{ECE2AE0B-F101-1CB5-9E73-8FFB659DD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8" name="Oval 13">
              <a:extLst>
                <a:ext uri="{FF2B5EF4-FFF2-40B4-BE49-F238E27FC236}">
                  <a16:creationId xmlns:a16="http://schemas.microsoft.com/office/drawing/2014/main" id="{2D075894-0F4B-D7CC-39B3-00B8D80FE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9" name="Oval 12">
              <a:extLst>
                <a:ext uri="{FF2B5EF4-FFF2-40B4-BE49-F238E27FC236}">
                  <a16:creationId xmlns:a16="http://schemas.microsoft.com/office/drawing/2014/main" id="{5BED952C-D10E-C1F0-CA17-F1F22F68E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7690" name="AutoShape 11">
              <a:extLst>
                <a:ext uri="{FF2B5EF4-FFF2-40B4-BE49-F238E27FC236}">
                  <a16:creationId xmlns:a16="http://schemas.microsoft.com/office/drawing/2014/main" id="{98A8E6CD-DD03-2B6A-F25D-709740DAE8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1" name="AutoShape 10">
              <a:extLst>
                <a:ext uri="{FF2B5EF4-FFF2-40B4-BE49-F238E27FC236}">
                  <a16:creationId xmlns:a16="http://schemas.microsoft.com/office/drawing/2014/main" id="{4E1D0D36-E9BE-A4A3-D1C0-F24E518452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2" name="AutoShape 9">
              <a:extLst>
                <a:ext uri="{FF2B5EF4-FFF2-40B4-BE49-F238E27FC236}">
                  <a16:creationId xmlns:a16="http://schemas.microsoft.com/office/drawing/2014/main" id="{224AD2B0-490B-97B6-05EF-0D03E0AA1B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3" name="AutoShape 8">
              <a:extLst>
                <a:ext uri="{FF2B5EF4-FFF2-40B4-BE49-F238E27FC236}">
                  <a16:creationId xmlns:a16="http://schemas.microsoft.com/office/drawing/2014/main" id="{21CE195D-4878-F728-D591-B92D888C52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4" name="AutoShape 7">
              <a:extLst>
                <a:ext uri="{FF2B5EF4-FFF2-40B4-BE49-F238E27FC236}">
                  <a16:creationId xmlns:a16="http://schemas.microsoft.com/office/drawing/2014/main" id="{97EB703A-87DB-04D3-5B29-A743285342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5" name="AutoShape 6">
              <a:extLst>
                <a:ext uri="{FF2B5EF4-FFF2-40B4-BE49-F238E27FC236}">
                  <a16:creationId xmlns:a16="http://schemas.microsoft.com/office/drawing/2014/main" id="{DBA597A5-4303-DF2A-58B3-4DFBCE31CF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6" name="AutoShape 5">
              <a:extLst>
                <a:ext uri="{FF2B5EF4-FFF2-40B4-BE49-F238E27FC236}">
                  <a16:creationId xmlns:a16="http://schemas.microsoft.com/office/drawing/2014/main" id="{49AC5DEF-358D-6018-7301-7BDA09FD79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54" name="Rectangle 52">
            <a:extLst>
              <a:ext uri="{FF2B5EF4-FFF2-40B4-BE49-F238E27FC236}">
                <a16:creationId xmlns:a16="http://schemas.microsoft.com/office/drawing/2014/main" id="{139A2248-EF55-661C-DE32-0F6AF128A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7655" name="Group 30">
            <a:extLst>
              <a:ext uri="{FF2B5EF4-FFF2-40B4-BE49-F238E27FC236}">
                <a16:creationId xmlns:a16="http://schemas.microsoft.com/office/drawing/2014/main" id="{46C9B498-FFEA-9665-D408-BB9AFC56D4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97413" y="3170238"/>
            <a:ext cx="4122737" cy="2851150"/>
            <a:chOff x="6363" y="2663"/>
            <a:chExt cx="3865" cy="2674"/>
          </a:xfrm>
        </p:grpSpPr>
        <p:sp>
          <p:nvSpPr>
            <p:cNvPr id="27656" name="AutoShape 51">
              <a:extLst>
                <a:ext uri="{FF2B5EF4-FFF2-40B4-BE49-F238E27FC236}">
                  <a16:creationId xmlns:a16="http://schemas.microsoft.com/office/drawing/2014/main" id="{E7FEF876-5D5F-8DD6-A5B5-46B9BBC6568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460" y="2731"/>
              <a:ext cx="3633" cy="2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7" name="Text Box 50">
              <a:extLst>
                <a:ext uri="{FF2B5EF4-FFF2-40B4-BE49-F238E27FC236}">
                  <a16:creationId xmlns:a16="http://schemas.microsoft.com/office/drawing/2014/main" id="{B9D7D634-5725-7015-79EB-0D122E432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4" y="2663"/>
              <a:ext cx="97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32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101</a:t>
              </a:r>
              <a:endParaRPr lang="en-US" altLang="zh-CN" sz="3200"/>
            </a:p>
          </p:txBody>
        </p:sp>
        <p:sp>
          <p:nvSpPr>
            <p:cNvPr id="27658" name="Text Box 49">
              <a:extLst>
                <a:ext uri="{FF2B5EF4-FFF2-40B4-BE49-F238E27FC236}">
                  <a16:creationId xmlns:a16="http://schemas.microsoft.com/office/drawing/2014/main" id="{62909296-16D9-DC8B-E032-90651D54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8" y="2663"/>
              <a:ext cx="100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101</a:t>
              </a:r>
              <a:endParaRPr lang="en-US" altLang="zh-CN" sz="3200"/>
            </a:p>
          </p:txBody>
        </p:sp>
        <p:sp>
          <p:nvSpPr>
            <p:cNvPr id="27659" name="Text Box 48">
              <a:extLst>
                <a:ext uri="{FF2B5EF4-FFF2-40B4-BE49-F238E27FC236}">
                  <a16:creationId xmlns:a16="http://schemas.microsoft.com/office/drawing/2014/main" id="{63AE1404-14AB-30C2-3A60-28B43DD3E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2" y="4284"/>
              <a:ext cx="1048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</a:t>
              </a:r>
              <a:endParaRPr lang="en-US" altLang="zh-CN" sz="3200" dirty="0"/>
            </a:p>
          </p:txBody>
        </p:sp>
        <p:sp>
          <p:nvSpPr>
            <p:cNvPr id="27660" name="Text Box 47">
              <a:extLst>
                <a:ext uri="{FF2B5EF4-FFF2-40B4-BE49-F238E27FC236}">
                  <a16:creationId xmlns:a16="http://schemas.microsoft.com/office/drawing/2014/main" id="{D0A1D9B6-58AC-F559-3F05-5A11CA7A3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3" y="2663"/>
              <a:ext cx="99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endParaRPr lang="en-US" altLang="zh-CN" sz="3200"/>
            </a:p>
          </p:txBody>
        </p:sp>
        <p:sp>
          <p:nvSpPr>
            <p:cNvPr id="27661" name="Text Box 46">
              <a:extLst>
                <a:ext uri="{FF2B5EF4-FFF2-40B4-BE49-F238E27FC236}">
                  <a16:creationId xmlns:a16="http://schemas.microsoft.com/office/drawing/2014/main" id="{627C1048-0460-5033-B87F-0E8EC1125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1" y="2663"/>
              <a:ext cx="99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</a:t>
              </a:r>
              <a:endParaRPr lang="en-US" altLang="zh-CN" sz="3200"/>
            </a:p>
          </p:txBody>
        </p:sp>
        <p:sp>
          <p:nvSpPr>
            <p:cNvPr id="27662" name="Oval 45">
              <a:extLst>
                <a:ext uri="{FF2B5EF4-FFF2-40B4-BE49-F238E27FC236}">
                  <a16:creationId xmlns:a16="http://schemas.microsoft.com/office/drawing/2014/main" id="{C08D7296-063C-D8F6-A4DD-B56EDF22B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3" name="Oval 44">
              <a:extLst>
                <a:ext uri="{FF2B5EF4-FFF2-40B4-BE49-F238E27FC236}">
                  <a16:creationId xmlns:a16="http://schemas.microsoft.com/office/drawing/2014/main" id="{EB4C475B-1404-C8FA-36D2-4F363DC18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4" name="Oval 43">
              <a:extLst>
                <a:ext uri="{FF2B5EF4-FFF2-40B4-BE49-F238E27FC236}">
                  <a16:creationId xmlns:a16="http://schemas.microsoft.com/office/drawing/2014/main" id="{7C6230AE-11B4-0229-775C-90CF31AB0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5" name="Oval 42">
              <a:extLst>
                <a:ext uri="{FF2B5EF4-FFF2-40B4-BE49-F238E27FC236}">
                  <a16:creationId xmlns:a16="http://schemas.microsoft.com/office/drawing/2014/main" id="{D286D9CB-C2A9-6DDF-8EC4-DDAE3D8D7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6" name="Oval 41">
              <a:extLst>
                <a:ext uri="{FF2B5EF4-FFF2-40B4-BE49-F238E27FC236}">
                  <a16:creationId xmlns:a16="http://schemas.microsoft.com/office/drawing/2014/main" id="{CE99E1BB-CB6F-5C0C-45BE-09BCE9E6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7" name="Oval 40">
              <a:extLst>
                <a:ext uri="{FF2B5EF4-FFF2-40B4-BE49-F238E27FC236}">
                  <a16:creationId xmlns:a16="http://schemas.microsoft.com/office/drawing/2014/main" id="{4D4A8E64-79E3-6DF5-93AE-F2400DD24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8" name="Oval 39">
              <a:extLst>
                <a:ext uri="{FF2B5EF4-FFF2-40B4-BE49-F238E27FC236}">
                  <a16:creationId xmlns:a16="http://schemas.microsoft.com/office/drawing/2014/main" id="{4CC3E92D-4F2B-CF7A-70CE-6774FA185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9" name="Oval 38">
              <a:extLst>
                <a:ext uri="{FF2B5EF4-FFF2-40B4-BE49-F238E27FC236}">
                  <a16:creationId xmlns:a16="http://schemas.microsoft.com/office/drawing/2014/main" id="{CD71E13C-1EF8-CFFB-A92D-CD2FE417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7670" name="AutoShape 37">
              <a:extLst>
                <a:ext uri="{FF2B5EF4-FFF2-40B4-BE49-F238E27FC236}">
                  <a16:creationId xmlns:a16="http://schemas.microsoft.com/office/drawing/2014/main" id="{FBB71D29-2192-4682-B50B-6FB79931C8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1" name="AutoShape 36">
              <a:extLst>
                <a:ext uri="{FF2B5EF4-FFF2-40B4-BE49-F238E27FC236}">
                  <a16:creationId xmlns:a16="http://schemas.microsoft.com/office/drawing/2014/main" id="{1ACB8E87-4BFD-BE26-37EA-D6328190AD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2" name="AutoShape 35">
              <a:extLst>
                <a:ext uri="{FF2B5EF4-FFF2-40B4-BE49-F238E27FC236}">
                  <a16:creationId xmlns:a16="http://schemas.microsoft.com/office/drawing/2014/main" id="{9DD887B8-79D0-6A31-393D-B87C934D8E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3" name="AutoShape 34">
              <a:extLst>
                <a:ext uri="{FF2B5EF4-FFF2-40B4-BE49-F238E27FC236}">
                  <a16:creationId xmlns:a16="http://schemas.microsoft.com/office/drawing/2014/main" id="{3360CB3C-4F27-4D4D-3A82-EDDB3AD824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4" name="AutoShape 33">
              <a:extLst>
                <a:ext uri="{FF2B5EF4-FFF2-40B4-BE49-F238E27FC236}">
                  <a16:creationId xmlns:a16="http://schemas.microsoft.com/office/drawing/2014/main" id="{80C36D1B-879A-7A4A-5E83-2DFC6FD5D4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5" name="AutoShape 32">
              <a:extLst>
                <a:ext uri="{FF2B5EF4-FFF2-40B4-BE49-F238E27FC236}">
                  <a16:creationId xmlns:a16="http://schemas.microsoft.com/office/drawing/2014/main" id="{482180AD-2655-AEA5-9ADD-DC05D85295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6" name="AutoShape 31">
              <a:extLst>
                <a:ext uri="{FF2B5EF4-FFF2-40B4-BE49-F238E27FC236}">
                  <a16:creationId xmlns:a16="http://schemas.microsoft.com/office/drawing/2014/main" id="{9CB0AC71-37A3-A3C1-F83A-C32BA7CE6F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CB36B46F-CA09-9213-C729-C98C39B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8.3.4  </a:t>
            </a:r>
            <a:r>
              <a:rPr lang="zh-CN" altLang="zh-CN" sz="5400"/>
              <a:t>二进制编址</a:t>
            </a:r>
            <a:endParaRPr lang="zh-CN" altLang="en-US" sz="5400"/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3DDDAD26-1A50-E5D4-CD76-F48E6CDF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7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  <p:grpSp>
        <p:nvGrpSpPr>
          <p:cNvPr id="28676" name="Group 22">
            <a:extLst>
              <a:ext uri="{FF2B5EF4-FFF2-40B4-BE49-F238E27FC236}">
                <a16:creationId xmlns:a16="http://schemas.microsoft.com/office/drawing/2014/main" id="{AA5116BB-2E0B-2323-ECAF-32889149DA0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24075" y="2997200"/>
            <a:ext cx="4464050" cy="3114675"/>
            <a:chOff x="6240" y="2731"/>
            <a:chExt cx="4186" cy="2920"/>
          </a:xfrm>
        </p:grpSpPr>
        <p:sp>
          <p:nvSpPr>
            <p:cNvPr id="28677" name="AutoShape 46">
              <a:extLst>
                <a:ext uri="{FF2B5EF4-FFF2-40B4-BE49-F238E27FC236}">
                  <a16:creationId xmlns:a16="http://schemas.microsoft.com/office/drawing/2014/main" id="{4801088B-BBFD-6B90-BE7F-4F4C1773896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285" y="2731"/>
              <a:ext cx="4141" cy="2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8" name="Text Box 45">
              <a:extLst>
                <a:ext uri="{FF2B5EF4-FFF2-40B4-BE49-F238E27FC236}">
                  <a16:creationId xmlns:a16="http://schemas.microsoft.com/office/drawing/2014/main" id="{2C07F0F4-54DD-277D-0BF1-B9930AAAD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6" y="4281"/>
              <a:ext cx="120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010101</a:t>
              </a:r>
              <a:endParaRPr lang="en-US" altLang="zh-CN" sz="2400"/>
            </a:p>
          </p:txBody>
        </p:sp>
        <p:sp>
          <p:nvSpPr>
            <p:cNvPr id="28679" name="Text Box 44">
              <a:extLst>
                <a:ext uri="{FF2B5EF4-FFF2-40B4-BE49-F238E27FC236}">
                  <a16:creationId xmlns:a16="http://schemas.microsoft.com/office/drawing/2014/main" id="{A616F16C-5879-B8AF-B9C5-174BA6C07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8" y="4993"/>
              <a:ext cx="120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0110101</a:t>
              </a:r>
              <a:endParaRPr lang="en-US" altLang="zh-CN" sz="2400"/>
            </a:p>
          </p:txBody>
        </p:sp>
        <p:sp>
          <p:nvSpPr>
            <p:cNvPr id="28680" name="Text Box 43">
              <a:extLst>
                <a:ext uri="{FF2B5EF4-FFF2-40B4-BE49-F238E27FC236}">
                  <a16:creationId xmlns:a16="http://schemas.microsoft.com/office/drawing/2014/main" id="{F7A33407-6BDF-EEA5-03BB-8AD22A33E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8" y="4056"/>
              <a:ext cx="120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010101</a:t>
              </a:r>
              <a:endParaRPr lang="en-US" altLang="zh-CN" sz="2400"/>
            </a:p>
          </p:txBody>
        </p:sp>
        <p:sp>
          <p:nvSpPr>
            <p:cNvPr id="28681" name="Text Box 42">
              <a:extLst>
                <a:ext uri="{FF2B5EF4-FFF2-40B4-BE49-F238E27FC236}">
                  <a16:creationId xmlns:a16="http://schemas.microsoft.com/office/drawing/2014/main" id="{8A2C58EF-A703-8689-8536-E9C5EAB8C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1" y="3314"/>
              <a:ext cx="117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0001101</a:t>
              </a:r>
              <a:endParaRPr lang="en-US" altLang="zh-CN" sz="2400"/>
            </a:p>
          </p:txBody>
        </p:sp>
        <p:sp>
          <p:nvSpPr>
            <p:cNvPr id="28682" name="Text Box 41">
              <a:extLst>
                <a:ext uri="{FF2B5EF4-FFF2-40B4-BE49-F238E27FC236}">
                  <a16:creationId xmlns:a16="http://schemas.microsoft.com/office/drawing/2014/main" id="{A3667E7C-60F4-5603-8339-0F94EAD70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8" y="2745"/>
              <a:ext cx="126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0000101</a:t>
              </a:r>
              <a:endParaRPr lang="en-US" altLang="zh-CN" sz="2400"/>
            </a:p>
          </p:txBody>
        </p:sp>
        <p:sp>
          <p:nvSpPr>
            <p:cNvPr id="28683" name="Text Box 40">
              <a:extLst>
                <a:ext uri="{FF2B5EF4-FFF2-40B4-BE49-F238E27FC236}">
                  <a16:creationId xmlns:a16="http://schemas.microsoft.com/office/drawing/2014/main" id="{288A688D-1097-327F-1594-0C7B5F919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0" y="4302"/>
              <a:ext cx="122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0000011</a:t>
              </a:r>
              <a:endParaRPr lang="en-US" altLang="zh-CN" sz="2400" dirty="0"/>
            </a:p>
          </p:txBody>
        </p:sp>
        <p:sp>
          <p:nvSpPr>
            <p:cNvPr id="28684" name="Text Box 39">
              <a:extLst>
                <a:ext uri="{FF2B5EF4-FFF2-40B4-BE49-F238E27FC236}">
                  <a16:creationId xmlns:a16="http://schemas.microsoft.com/office/drawing/2014/main" id="{139F25EB-D0A8-5BC5-A842-974C47E24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0" y="2741"/>
              <a:ext cx="1305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0000000</a:t>
              </a:r>
              <a:endParaRPr lang="en-US" altLang="zh-CN" sz="2400"/>
            </a:p>
          </p:txBody>
        </p:sp>
        <p:sp>
          <p:nvSpPr>
            <p:cNvPr id="28685" name="Text Box 38">
              <a:extLst>
                <a:ext uri="{FF2B5EF4-FFF2-40B4-BE49-F238E27FC236}">
                  <a16:creationId xmlns:a16="http://schemas.microsoft.com/office/drawing/2014/main" id="{BD6F60BA-5C11-5372-9CF1-E80345901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3" y="3246"/>
              <a:ext cx="1281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0000001</a:t>
              </a:r>
              <a:endParaRPr lang="en-US" altLang="zh-CN" sz="2400"/>
            </a:p>
          </p:txBody>
        </p:sp>
        <p:sp>
          <p:nvSpPr>
            <p:cNvPr id="28686" name="Oval 37">
              <a:extLst>
                <a:ext uri="{FF2B5EF4-FFF2-40B4-BE49-F238E27FC236}">
                  <a16:creationId xmlns:a16="http://schemas.microsoft.com/office/drawing/2014/main" id="{C67D9E14-1B0C-2498-CB24-96A7CD704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7" name="Oval 36">
              <a:extLst>
                <a:ext uri="{FF2B5EF4-FFF2-40B4-BE49-F238E27FC236}">
                  <a16:creationId xmlns:a16="http://schemas.microsoft.com/office/drawing/2014/main" id="{D88952E8-1AB8-7855-8892-16B9D8EA7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8" name="Oval 35">
              <a:extLst>
                <a:ext uri="{FF2B5EF4-FFF2-40B4-BE49-F238E27FC236}">
                  <a16:creationId xmlns:a16="http://schemas.microsoft.com/office/drawing/2014/main" id="{EEC3AE63-72B2-E74D-81A6-8A2C1B6B3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" y="3089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9" name="Oval 34">
              <a:extLst>
                <a:ext uri="{FF2B5EF4-FFF2-40B4-BE49-F238E27FC236}">
                  <a16:creationId xmlns:a16="http://schemas.microsoft.com/office/drawing/2014/main" id="{D1C026E3-51E3-51D9-F283-891B8B2BC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2" y="308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0" name="Oval 33">
              <a:extLst>
                <a:ext uri="{FF2B5EF4-FFF2-40B4-BE49-F238E27FC236}">
                  <a16:creationId xmlns:a16="http://schemas.microsoft.com/office/drawing/2014/main" id="{84A2E8CD-87F8-31DF-111D-C57B422B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2" y="414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1" name="Oval 32">
              <a:extLst>
                <a:ext uri="{FF2B5EF4-FFF2-40B4-BE49-F238E27FC236}">
                  <a16:creationId xmlns:a16="http://schemas.microsoft.com/office/drawing/2014/main" id="{9E0F967E-8D59-6467-96AD-6EA76214E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" y="5098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2" name="Oval 31">
              <a:extLst>
                <a:ext uri="{FF2B5EF4-FFF2-40B4-BE49-F238E27FC236}">
                  <a16:creationId xmlns:a16="http://schemas.microsoft.com/office/drawing/2014/main" id="{2B701DE5-9641-0F98-9EDA-E0711F5FA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3" name="Oval 30">
              <a:extLst>
                <a:ext uri="{FF2B5EF4-FFF2-40B4-BE49-F238E27FC236}">
                  <a16:creationId xmlns:a16="http://schemas.microsoft.com/office/drawing/2014/main" id="{31F37072-0C94-7654-7ABD-20A33212C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" y="4131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8694" name="AutoShape 29">
              <a:extLst>
                <a:ext uri="{FF2B5EF4-FFF2-40B4-BE49-F238E27FC236}">
                  <a16:creationId xmlns:a16="http://schemas.microsoft.com/office/drawing/2014/main" id="{E1693561-0435-062A-10F1-C311B34F2C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7" y="3205"/>
              <a:ext cx="80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5" name="AutoShape 28">
              <a:extLst>
                <a:ext uri="{FF2B5EF4-FFF2-40B4-BE49-F238E27FC236}">
                  <a16:creationId xmlns:a16="http://schemas.microsoft.com/office/drawing/2014/main" id="{088B07A5-8FB2-3F00-F2E7-C5C53A7933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6" y="3205"/>
              <a:ext cx="73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6" name="AutoShape 27">
              <a:extLst>
                <a:ext uri="{FF2B5EF4-FFF2-40B4-BE49-F238E27FC236}">
                  <a16:creationId xmlns:a16="http://schemas.microsoft.com/office/drawing/2014/main" id="{FEDB3CCF-E918-80C7-6819-556BEB5E10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926" y="3204"/>
              <a:ext cx="65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7" name="AutoShape 26">
              <a:extLst>
                <a:ext uri="{FF2B5EF4-FFF2-40B4-BE49-F238E27FC236}">
                  <a16:creationId xmlns:a16="http://schemas.microsoft.com/office/drawing/2014/main" id="{77DC59B4-86E9-90F3-7F6F-B14D9D5BC6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7" y="3205"/>
              <a:ext cx="800" cy="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8" name="AutoShape 25">
              <a:extLst>
                <a:ext uri="{FF2B5EF4-FFF2-40B4-BE49-F238E27FC236}">
                  <a16:creationId xmlns:a16="http://schemas.microsoft.com/office/drawing/2014/main" id="{6BCA0DAA-9F56-81D4-DD37-AEC5D9EEE7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3320"/>
              <a:ext cx="25" cy="8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9" name="AutoShape 24">
              <a:extLst>
                <a:ext uri="{FF2B5EF4-FFF2-40B4-BE49-F238E27FC236}">
                  <a16:creationId xmlns:a16="http://schemas.microsoft.com/office/drawing/2014/main" id="{BF006F01-1C95-95C2-F661-6F033880D9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33" y="4362"/>
              <a:ext cx="4" cy="7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0" name="AutoShape 23">
              <a:extLst>
                <a:ext uri="{FF2B5EF4-FFF2-40B4-BE49-F238E27FC236}">
                  <a16:creationId xmlns:a16="http://schemas.microsoft.com/office/drawing/2014/main" id="{C4BCC10B-9D7E-F86E-6CCF-6738BD9E44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1" y="4247"/>
              <a:ext cx="611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3A55C4B1-7A78-2BA4-15D5-AB9586F7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8.3.5  </a:t>
            </a:r>
            <a:r>
              <a:rPr lang="zh-CN" altLang="en-US" sz="5400"/>
              <a:t>最优</a:t>
            </a:r>
            <a:r>
              <a:rPr lang="zh-CN" altLang="zh-CN" sz="5400"/>
              <a:t>二</a:t>
            </a:r>
            <a:r>
              <a:rPr lang="zh-CN" altLang="en-US" sz="5400"/>
              <a:t>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F6A8E1-003C-F6B5-D795-A187FE399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加权二叉树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每</a:t>
            </a:r>
            <a:r>
              <a:rPr lang="zh-CN" altLang="zh-CN" dirty="0"/>
              <a:t>片叶分别带有权</a:t>
            </a:r>
            <a:endParaRPr lang="en-US" altLang="zh-CN" dirty="0"/>
          </a:p>
          <a:p>
            <a:pPr>
              <a:lnSpc>
                <a:spcPct val="110000"/>
              </a:lnSpc>
              <a:defRPr/>
            </a:pPr>
            <a:r>
              <a:rPr lang="zh-CN" altLang="en-US" dirty="0"/>
              <a:t>二叉树的</a:t>
            </a:r>
            <a:r>
              <a:rPr lang="zh-CN" altLang="en-US" b="1" dirty="0">
                <a:solidFill>
                  <a:srgbClr val="FF0000"/>
                </a:solidFill>
              </a:rPr>
              <a:t>权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W(T)</a:t>
            </a:r>
            <a:r>
              <a:rPr lang="zh-CN" altLang="zh-CN" dirty="0"/>
              <a:t>＝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h</a:t>
            </a:r>
            <a:r>
              <a:rPr lang="en-US" altLang="zh-CN" baseline="-25000" dirty="0"/>
              <a:t>i</a:t>
            </a:r>
            <a:r>
              <a:rPr lang="zh-CN" altLang="zh-CN" dirty="0"/>
              <a:t>为带权ω</a:t>
            </a:r>
            <a:r>
              <a:rPr lang="en-US" altLang="zh-CN" baseline="-25000" dirty="0" err="1"/>
              <a:t>i</a:t>
            </a:r>
            <a:r>
              <a:rPr lang="zh-CN" altLang="zh-CN" dirty="0"/>
              <a:t>叶</a:t>
            </a:r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zh-CN" altLang="zh-CN" dirty="0"/>
              <a:t>的</a:t>
            </a:r>
            <a:endParaRPr lang="en-US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b="1" dirty="0">
                <a:solidFill>
                  <a:srgbClr val="00B050"/>
                </a:solidFill>
              </a:rPr>
              <a:t>层数</a:t>
            </a:r>
            <a:endParaRPr lang="en-US" altLang="zh-CN" b="1" dirty="0">
              <a:solidFill>
                <a:srgbClr val="00B050"/>
              </a:solidFill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最优二叉树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带权最小的二叉树</a:t>
            </a:r>
            <a:endParaRPr lang="zh-CN" altLang="en-US" dirty="0"/>
          </a:p>
        </p:txBody>
      </p:sp>
      <p:sp>
        <p:nvSpPr>
          <p:cNvPr id="29700" name="Rectangle 43">
            <a:extLst>
              <a:ext uri="{FF2B5EF4-FFF2-40B4-BE49-F238E27FC236}">
                <a16:creationId xmlns:a16="http://schemas.microsoft.com/office/drawing/2014/main" id="{BBF57686-80D4-9196-21A1-775342FEE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9701" name="Group 1">
            <a:extLst>
              <a:ext uri="{FF2B5EF4-FFF2-40B4-BE49-F238E27FC236}">
                <a16:creationId xmlns:a16="http://schemas.microsoft.com/office/drawing/2014/main" id="{6BBAA70B-BB0A-4CF8-8881-9719F5F0259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35425" y="1989138"/>
            <a:ext cx="5073650" cy="4832350"/>
            <a:chOff x="3935" y="3675"/>
            <a:chExt cx="4756" cy="4529"/>
          </a:xfrm>
        </p:grpSpPr>
        <p:sp>
          <p:nvSpPr>
            <p:cNvPr id="29703" name="AutoShape 42">
              <a:extLst>
                <a:ext uri="{FF2B5EF4-FFF2-40B4-BE49-F238E27FC236}">
                  <a16:creationId xmlns:a16="http://schemas.microsoft.com/office/drawing/2014/main" id="{A01FA4B8-6767-2CA1-D2A4-D941282D0A0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935" y="3675"/>
              <a:ext cx="4756" cy="4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Text Box 41">
              <a:extLst>
                <a:ext uri="{FF2B5EF4-FFF2-40B4-BE49-F238E27FC236}">
                  <a16:creationId xmlns:a16="http://schemas.microsoft.com/office/drawing/2014/main" id="{E6CC6EC1-D05F-CF18-7900-AB0A2DA9F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9" y="7473"/>
              <a:ext cx="824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/>
            </a:p>
          </p:txBody>
        </p:sp>
        <p:sp>
          <p:nvSpPr>
            <p:cNvPr id="29705" name="Text Box 40">
              <a:extLst>
                <a:ext uri="{FF2B5EF4-FFF2-40B4-BE49-F238E27FC236}">
                  <a16:creationId xmlns:a16="http://schemas.microsoft.com/office/drawing/2014/main" id="{3F1722DD-FF33-4642-7F19-9C125C152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" y="7473"/>
              <a:ext cx="818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/>
            </a:p>
          </p:txBody>
        </p:sp>
        <p:sp>
          <p:nvSpPr>
            <p:cNvPr id="29706" name="Text Box 39">
              <a:extLst>
                <a:ext uri="{FF2B5EF4-FFF2-40B4-BE49-F238E27FC236}">
                  <a16:creationId xmlns:a16="http://schemas.microsoft.com/office/drawing/2014/main" id="{FC908DC2-4A79-DAF4-4548-54B68058F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6" y="5640"/>
              <a:ext cx="709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29707" name="Text Box 38">
              <a:extLst>
                <a:ext uri="{FF2B5EF4-FFF2-40B4-BE49-F238E27FC236}">
                  <a16:creationId xmlns:a16="http://schemas.microsoft.com/office/drawing/2014/main" id="{D03BB09E-B4E7-A088-3256-840B0AE42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2" y="6529"/>
              <a:ext cx="906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/>
            </a:p>
          </p:txBody>
        </p:sp>
        <p:sp>
          <p:nvSpPr>
            <p:cNvPr id="29708" name="Text Box 37">
              <a:extLst>
                <a:ext uri="{FF2B5EF4-FFF2-40B4-BE49-F238E27FC236}">
                  <a16:creationId xmlns:a16="http://schemas.microsoft.com/office/drawing/2014/main" id="{B095FC50-D85E-C009-D51E-FF84E4E25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4" y="6517"/>
              <a:ext cx="87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/>
            </a:p>
          </p:txBody>
        </p:sp>
        <p:sp>
          <p:nvSpPr>
            <p:cNvPr id="29709" name="Text Box 36">
              <a:extLst>
                <a:ext uri="{FF2B5EF4-FFF2-40B4-BE49-F238E27FC236}">
                  <a16:creationId xmlns:a16="http://schemas.microsoft.com/office/drawing/2014/main" id="{C17F98B8-D4D2-B535-7506-2CDA751E3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5" y="5651"/>
              <a:ext cx="765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710" name="Oval 24">
              <a:extLst>
                <a:ext uri="{FF2B5EF4-FFF2-40B4-BE49-F238E27FC236}">
                  <a16:creationId xmlns:a16="http://schemas.microsoft.com/office/drawing/2014/main" id="{0227619E-140A-41B8-63D9-438632799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452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1" name="Oval 23">
              <a:extLst>
                <a:ext uri="{FF2B5EF4-FFF2-40B4-BE49-F238E27FC236}">
                  <a16:creationId xmlns:a16="http://schemas.microsoft.com/office/drawing/2014/main" id="{5250AFC1-A60D-AAE6-7422-93FA30814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" y="464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2" name="Oval 22">
              <a:extLst>
                <a:ext uri="{FF2B5EF4-FFF2-40B4-BE49-F238E27FC236}">
                  <a16:creationId xmlns:a16="http://schemas.microsoft.com/office/drawing/2014/main" id="{DB0F14F9-7349-F23B-92DA-8412334EC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" y="547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3" name="Oval 21">
              <a:extLst>
                <a:ext uri="{FF2B5EF4-FFF2-40B4-BE49-F238E27FC236}">
                  <a16:creationId xmlns:a16="http://schemas.microsoft.com/office/drawing/2014/main" id="{ADB19BE5-BDFD-8C8F-CB52-F0238C685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5" y="548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4" name="Oval 20">
              <a:extLst>
                <a:ext uri="{FF2B5EF4-FFF2-40B4-BE49-F238E27FC236}">
                  <a16:creationId xmlns:a16="http://schemas.microsoft.com/office/drawing/2014/main" id="{60946BE5-4E81-5011-14EC-3D1FBF672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" y="5498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5" name="Oval 19">
              <a:extLst>
                <a:ext uri="{FF2B5EF4-FFF2-40B4-BE49-F238E27FC236}">
                  <a16:creationId xmlns:a16="http://schemas.microsoft.com/office/drawing/2014/main" id="{7BD87F5D-759A-1068-7693-3C0986C33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" y="5520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6" name="Oval 18">
              <a:extLst>
                <a:ext uri="{FF2B5EF4-FFF2-40B4-BE49-F238E27FC236}">
                  <a16:creationId xmlns:a16="http://schemas.microsoft.com/office/drawing/2014/main" id="{882FBBEB-5FC8-F9BD-089E-A27AC5708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6398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7" name="Oval 17">
              <a:extLst>
                <a:ext uri="{FF2B5EF4-FFF2-40B4-BE49-F238E27FC236}">
                  <a16:creationId xmlns:a16="http://schemas.microsoft.com/office/drawing/2014/main" id="{C76C864F-3A8D-0D05-A949-C3F61D321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2" y="6398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8" name="Oval 16">
              <a:extLst>
                <a:ext uri="{FF2B5EF4-FFF2-40B4-BE49-F238E27FC236}">
                  <a16:creationId xmlns:a16="http://schemas.microsoft.com/office/drawing/2014/main" id="{A2791CC8-6EDF-23E5-5D61-2338EF429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7297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9" name="Oval 15">
              <a:extLst>
                <a:ext uri="{FF2B5EF4-FFF2-40B4-BE49-F238E27FC236}">
                  <a16:creationId xmlns:a16="http://schemas.microsoft.com/office/drawing/2014/main" id="{93BCEC7A-86EE-E295-3A17-FF8A8FD8D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6" y="7297"/>
              <a:ext cx="253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20" name="Oval 14">
              <a:extLst>
                <a:ext uri="{FF2B5EF4-FFF2-40B4-BE49-F238E27FC236}">
                  <a16:creationId xmlns:a16="http://schemas.microsoft.com/office/drawing/2014/main" id="{48A23459-15B4-A8ED-BE1C-9B7744886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1" y="6398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21" name="Oval 13">
              <a:extLst>
                <a:ext uri="{FF2B5EF4-FFF2-40B4-BE49-F238E27FC236}">
                  <a16:creationId xmlns:a16="http://schemas.microsoft.com/office/drawing/2014/main" id="{1BDCB04F-D3F9-9FD6-23C9-7CDE1C915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1" y="3698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9722" name="AutoShape 12">
              <a:extLst>
                <a:ext uri="{FF2B5EF4-FFF2-40B4-BE49-F238E27FC236}">
                  <a16:creationId xmlns:a16="http://schemas.microsoft.com/office/drawing/2014/main" id="{BE80C14F-D705-B8C0-F71A-0A51C31EAB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67" y="4899"/>
              <a:ext cx="49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3" name="AutoShape 11">
              <a:extLst>
                <a:ext uri="{FF2B5EF4-FFF2-40B4-BE49-F238E27FC236}">
                  <a16:creationId xmlns:a16="http://schemas.microsoft.com/office/drawing/2014/main" id="{F0F6A07D-F913-61A3-49CD-96DE29922B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57" y="4899"/>
              <a:ext cx="500" cy="6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4" name="AutoShape 10">
              <a:extLst>
                <a:ext uri="{FF2B5EF4-FFF2-40B4-BE49-F238E27FC236}">
                  <a16:creationId xmlns:a16="http://schemas.microsoft.com/office/drawing/2014/main" id="{81DF3D51-48FC-EB08-8456-4D95669956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053" y="5739"/>
              <a:ext cx="339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5" name="AutoShape 9">
              <a:extLst>
                <a:ext uri="{FF2B5EF4-FFF2-40B4-BE49-F238E27FC236}">
                  <a16:creationId xmlns:a16="http://schemas.microsoft.com/office/drawing/2014/main" id="{4FAAEB15-7CB6-A644-DB98-220096344F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92" y="5739"/>
              <a:ext cx="427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8">
              <a:extLst>
                <a:ext uri="{FF2B5EF4-FFF2-40B4-BE49-F238E27FC236}">
                  <a16:creationId xmlns:a16="http://schemas.microsoft.com/office/drawing/2014/main" id="{BE82B93A-28BD-9AED-BE17-FAE25A884A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38" y="5739"/>
              <a:ext cx="361" cy="6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7" name="AutoShape 7">
              <a:extLst>
                <a:ext uri="{FF2B5EF4-FFF2-40B4-BE49-F238E27FC236}">
                  <a16:creationId xmlns:a16="http://schemas.microsoft.com/office/drawing/2014/main" id="{CA6D5D66-862C-5D85-39A9-98FF6B3785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63" y="6654"/>
              <a:ext cx="430" cy="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8" name="AutoShape 6">
              <a:extLst>
                <a:ext uri="{FF2B5EF4-FFF2-40B4-BE49-F238E27FC236}">
                  <a16:creationId xmlns:a16="http://schemas.microsoft.com/office/drawing/2014/main" id="{9464C1FD-32C8-78C3-0F2D-9AF2F557B3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25" y="6654"/>
              <a:ext cx="438" cy="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9" name="AutoShape 5">
              <a:extLst>
                <a:ext uri="{FF2B5EF4-FFF2-40B4-BE49-F238E27FC236}">
                  <a16:creationId xmlns:a16="http://schemas.microsoft.com/office/drawing/2014/main" id="{7C1D820F-DF7E-A82B-F4AF-36A7C55319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73" y="4779"/>
              <a:ext cx="519" cy="7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0" name="AutoShape 4">
              <a:extLst>
                <a:ext uri="{FF2B5EF4-FFF2-40B4-BE49-F238E27FC236}">
                  <a16:creationId xmlns:a16="http://schemas.microsoft.com/office/drawing/2014/main" id="{D3B0D6BD-21A7-AC15-8352-95645F5FD7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00" y="4779"/>
              <a:ext cx="573" cy="6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1" name="AutoShape 3">
              <a:extLst>
                <a:ext uri="{FF2B5EF4-FFF2-40B4-BE49-F238E27FC236}">
                  <a16:creationId xmlns:a16="http://schemas.microsoft.com/office/drawing/2014/main" id="{287E705F-8FBF-2CE8-2FA2-965C61A75E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09" y="3954"/>
              <a:ext cx="1148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2" name="AutoShape 2">
              <a:extLst>
                <a:ext uri="{FF2B5EF4-FFF2-40B4-BE49-F238E27FC236}">
                  <a16:creationId xmlns:a16="http://schemas.microsoft.com/office/drawing/2014/main" id="{10F176D9-5794-C70B-6534-5BEB10E3D9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73" y="3954"/>
              <a:ext cx="1036" cy="5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9702" name="对象 51">
            <a:extLst>
              <a:ext uri="{FF2B5EF4-FFF2-40B4-BE49-F238E27FC236}">
                <a16:creationId xmlns:a16="http://schemas.microsoft.com/office/drawing/2014/main" id="{848D9EA4-9940-C727-4582-59E8508D8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3573463"/>
          <a:ext cx="1143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431613" progId="Equation.DSMT4">
                  <p:embed/>
                </p:oleObj>
              </mc:Choice>
              <mc:Fallback>
                <p:oleObj name="Equation" r:id="rId2" imgW="571252" imgH="431613" progId="Equation.DSMT4">
                  <p:embed/>
                  <p:pic>
                    <p:nvPicPr>
                      <p:cNvPr id="0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73463"/>
                        <a:ext cx="1143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E8D309C1-6562-BADE-05D2-D6D5A29E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8.3.5  </a:t>
            </a:r>
            <a:r>
              <a:rPr lang="zh-CN" altLang="en-US"/>
              <a:t>最优</a:t>
            </a:r>
            <a:r>
              <a:rPr lang="zh-CN" altLang="zh-CN"/>
              <a:t>二</a:t>
            </a:r>
            <a:r>
              <a:rPr lang="zh-CN" altLang="en-US"/>
              <a:t>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25638-3833-727A-B12E-B73DC1810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1844675"/>
            <a:ext cx="8959850" cy="501332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zh-CN" sz="2800" dirty="0"/>
              <a:t>1952</a:t>
            </a:r>
            <a:r>
              <a:rPr lang="zh-CN" altLang="zh-CN" sz="2800" dirty="0"/>
              <a:t>年</a:t>
            </a:r>
            <a:r>
              <a:rPr lang="en-US" altLang="zh-CN" sz="2800" dirty="0"/>
              <a:t>  </a:t>
            </a:r>
            <a:r>
              <a:rPr lang="zh-CN" altLang="zh-CN" sz="2800" b="1" dirty="0">
                <a:solidFill>
                  <a:srgbClr val="FF0000"/>
                </a:solidFill>
              </a:rPr>
              <a:t>哈夫曼</a:t>
            </a:r>
            <a:r>
              <a:rPr lang="en-US" altLang="zh-CN" sz="2800" dirty="0"/>
              <a:t>(Huffman)(</a:t>
            </a:r>
            <a:r>
              <a:rPr lang="zh-CN" altLang="zh-CN" sz="2800" dirty="0"/>
              <a:t>最优二叉树</a:t>
            </a:r>
            <a:r>
              <a:rPr lang="en-US" altLang="zh-CN" sz="2800" dirty="0"/>
              <a:t>)</a:t>
            </a:r>
            <a:r>
              <a:rPr lang="zh-CN" altLang="zh-CN" sz="2800" b="1" dirty="0">
                <a:solidFill>
                  <a:srgbClr val="FF0000"/>
                </a:solidFill>
              </a:rPr>
              <a:t>算法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zh-CN" altLang="zh-CN" sz="2800" dirty="0"/>
              <a:t>给定实数ω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zh-CN" altLang="zh-CN" sz="2800" dirty="0"/>
              <a:t>ω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zh-CN" altLang="zh-CN" sz="2800" dirty="0"/>
              <a:t>…</a:t>
            </a:r>
            <a:r>
              <a:rPr lang="en-US" altLang="zh-CN" sz="2800" dirty="0"/>
              <a:t>,</a:t>
            </a:r>
            <a:r>
              <a:rPr lang="zh-CN" altLang="zh-CN" sz="2800" dirty="0"/>
              <a:t>ω</a:t>
            </a:r>
            <a:r>
              <a:rPr lang="en-US" altLang="zh-CN" sz="2800" baseline="-25000" dirty="0"/>
              <a:t>t</a:t>
            </a:r>
            <a:r>
              <a:rPr lang="zh-CN" altLang="zh-CN" sz="2800" dirty="0"/>
              <a:t>且ω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≤ω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≤…≤ω</a:t>
            </a:r>
            <a:r>
              <a:rPr lang="en-US" altLang="zh-CN" sz="2800" baseline="-25000" dirty="0"/>
              <a:t>t</a:t>
            </a:r>
            <a:r>
              <a:rPr lang="zh-CN" altLang="zh-CN" sz="2800" dirty="0"/>
              <a:t>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1)</a:t>
            </a:r>
            <a:r>
              <a:rPr lang="zh-CN" altLang="zh-CN" sz="2800" dirty="0"/>
              <a:t>连接ω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zh-CN" altLang="zh-CN" sz="2800" dirty="0"/>
              <a:t>ω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为权的两片叶，得一分枝点，其权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</a:t>
            </a:r>
            <a:r>
              <a:rPr lang="zh-CN" altLang="zh-CN" sz="2800" dirty="0"/>
              <a:t>为ω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＋ω</a:t>
            </a:r>
            <a:r>
              <a:rPr lang="en-US" altLang="zh-CN" sz="2800" baseline="-25000" dirty="0"/>
              <a:t>2</a:t>
            </a:r>
            <a:r>
              <a:rPr lang="zh-CN" altLang="zh-CN" sz="2800" dirty="0"/>
              <a:t>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2)</a:t>
            </a:r>
            <a:r>
              <a:rPr lang="zh-CN" altLang="zh-CN" sz="2800" dirty="0"/>
              <a:t>在ω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＋ω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zh-CN" altLang="zh-CN" sz="2800" dirty="0"/>
              <a:t>ω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</a:t>
            </a:r>
            <a:r>
              <a:rPr lang="zh-CN" altLang="zh-CN" sz="2800" dirty="0"/>
              <a:t>…</a:t>
            </a:r>
            <a:r>
              <a:rPr lang="en-US" altLang="zh-CN" sz="2800" dirty="0"/>
              <a:t>,</a:t>
            </a:r>
            <a:r>
              <a:rPr lang="zh-CN" altLang="zh-CN" sz="2800" dirty="0"/>
              <a:t>ω</a:t>
            </a:r>
            <a:r>
              <a:rPr lang="en-US" altLang="zh-CN" sz="2800" baseline="-25000" dirty="0"/>
              <a:t>t</a:t>
            </a:r>
            <a:r>
              <a:rPr lang="zh-CN" altLang="zh-CN" sz="2800" dirty="0"/>
              <a:t>中选出两个最小的权，连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</a:t>
            </a:r>
            <a:r>
              <a:rPr lang="zh-CN" altLang="zh-CN" sz="2800" dirty="0"/>
              <a:t>接它们对应的顶点</a:t>
            </a:r>
            <a:r>
              <a:rPr lang="en-US" altLang="zh-CN" sz="2800" dirty="0"/>
              <a:t>(</a:t>
            </a:r>
            <a:r>
              <a:rPr lang="zh-CN" altLang="zh-CN" sz="2800" dirty="0"/>
              <a:t>不一定都是树叶</a:t>
            </a:r>
            <a:r>
              <a:rPr lang="en-US" altLang="zh-CN" sz="2800" dirty="0"/>
              <a:t>)</a:t>
            </a:r>
            <a:r>
              <a:rPr lang="zh-CN" altLang="zh-CN" sz="2800" dirty="0"/>
              <a:t>得分枝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</a:t>
            </a:r>
            <a:r>
              <a:rPr lang="zh-CN" altLang="zh-CN" sz="2800" dirty="0"/>
              <a:t>点及所带的权。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3)</a:t>
            </a:r>
            <a:r>
              <a:rPr lang="zh-CN" altLang="zh-CN" sz="2800" dirty="0"/>
              <a:t>重复步骤</a:t>
            </a:r>
            <a:r>
              <a:rPr lang="en-US" altLang="zh-CN" sz="2800" dirty="0"/>
              <a:t>(2)</a:t>
            </a:r>
            <a:r>
              <a:rPr lang="zh-CN" altLang="zh-CN" sz="2800" dirty="0"/>
              <a:t>，直到形成</a:t>
            </a:r>
            <a:r>
              <a:rPr lang="en-US" altLang="zh-CN" sz="2800" dirty="0"/>
              <a:t>t</a:t>
            </a:r>
            <a:r>
              <a:rPr lang="zh-CN" altLang="zh-CN" sz="2800" dirty="0"/>
              <a:t>－</a:t>
            </a:r>
            <a:r>
              <a:rPr lang="en-US" altLang="zh-CN" sz="2800" dirty="0"/>
              <a:t>1</a:t>
            </a:r>
            <a:r>
              <a:rPr lang="zh-CN" altLang="zh-CN" sz="2800" dirty="0"/>
              <a:t>个分枝点，</a:t>
            </a:r>
            <a:r>
              <a:rPr lang="en-US" altLang="zh-CN" sz="2800" dirty="0"/>
              <a:t>t</a:t>
            </a:r>
            <a:r>
              <a:rPr lang="zh-CN" altLang="zh-CN" sz="2800" dirty="0"/>
              <a:t>片叶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</a:t>
            </a:r>
            <a:r>
              <a:rPr lang="zh-CN" altLang="zh-CN" sz="2800" dirty="0"/>
              <a:t>为止。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74A20E10-EE51-FFF4-2B8E-88669303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8.3.5  </a:t>
            </a:r>
            <a:r>
              <a:rPr lang="zh-CN" altLang="en-US" sz="5400"/>
              <a:t>最优</a:t>
            </a:r>
            <a:r>
              <a:rPr lang="zh-CN" altLang="zh-CN" sz="5400"/>
              <a:t>二</a:t>
            </a:r>
            <a:r>
              <a:rPr lang="zh-CN" altLang="en-US" sz="5400"/>
              <a:t>叉树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A485588F-73A7-6247-91DC-4998F0B39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8.3.7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求带权</a:t>
            </a:r>
            <a:r>
              <a:rPr lang="en-US" altLang="zh-CN"/>
              <a:t>1,3,5,7,8,11,13</a:t>
            </a:r>
            <a:r>
              <a:rPr lang="zh-CN" altLang="zh-CN"/>
              <a:t>的最优二叉树。</a:t>
            </a:r>
          </a:p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解</a:t>
            </a:r>
            <a:r>
              <a:rPr lang="zh-CN" altLang="zh-CN"/>
              <a:t> </a:t>
            </a:r>
            <a:r>
              <a:rPr lang="en-US" altLang="zh-CN"/>
              <a:t> (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/>
              <a:t>)</a:t>
            </a:r>
            <a:r>
              <a:rPr lang="zh-CN" altLang="zh-CN"/>
              <a:t>—</a:t>
            </a:r>
            <a:r>
              <a:rPr lang="en-US" altLang="zh-CN"/>
              <a:t>(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)</a:t>
            </a:r>
            <a:r>
              <a:rPr lang="zh-CN" altLang="en-US"/>
              <a:t>所示</a:t>
            </a:r>
            <a:r>
              <a:rPr lang="zh-CN" altLang="zh-CN"/>
              <a:t>，且</a:t>
            </a:r>
            <a:r>
              <a:rPr lang="en-US" altLang="zh-CN"/>
              <a:t>W(T)</a:t>
            </a:r>
            <a:r>
              <a:rPr lang="zh-CN" altLang="zh-CN"/>
              <a:t>＝</a:t>
            </a:r>
            <a:r>
              <a:rPr lang="en-US" altLang="zh-CN"/>
              <a:t>124</a:t>
            </a:r>
            <a:r>
              <a:rPr lang="zh-CN" altLang="zh-CN"/>
              <a:t>。</a:t>
            </a:r>
            <a:endParaRPr lang="zh-CN" altLang="en-US"/>
          </a:p>
        </p:txBody>
      </p:sp>
      <p:sp>
        <p:nvSpPr>
          <p:cNvPr id="31748" name="Rectangle 47">
            <a:extLst>
              <a:ext uri="{FF2B5EF4-FFF2-40B4-BE49-F238E27FC236}">
                <a16:creationId xmlns:a16="http://schemas.microsoft.com/office/drawing/2014/main" id="{3DD403A1-559E-13F9-6B2F-461B24011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0" name="AutoShape 46">
            <a:extLst>
              <a:ext uri="{FF2B5EF4-FFF2-40B4-BE49-F238E27FC236}">
                <a16:creationId xmlns:a16="http://schemas.microsoft.com/office/drawing/2014/main" id="{2654F593-6AC1-AD3B-2E18-59E3AF5267C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669925" y="3429000"/>
            <a:ext cx="8294638" cy="326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1" name="Text Box 45">
            <a:extLst>
              <a:ext uri="{FF2B5EF4-FFF2-40B4-BE49-F238E27FC236}">
                <a16:creationId xmlns:a16="http://schemas.microsoft.com/office/drawing/2014/main" id="{19846F03-E06C-91E7-3BFC-572800C13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189" y="6033813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3200"/>
          </a:p>
        </p:txBody>
      </p:sp>
      <p:sp>
        <p:nvSpPr>
          <p:cNvPr id="31752" name="Text Box 44">
            <a:extLst>
              <a:ext uri="{FF2B5EF4-FFF2-40B4-BE49-F238E27FC236}">
                <a16:creationId xmlns:a16="http://schemas.microsoft.com/office/drawing/2014/main" id="{6179E9E7-BCE2-96B4-6E7B-8CBBE8FCD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417" y="4954341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3200"/>
          </a:p>
        </p:txBody>
      </p:sp>
      <p:sp>
        <p:nvSpPr>
          <p:cNvPr id="31758" name="Text Box 38">
            <a:extLst>
              <a:ext uri="{FF2B5EF4-FFF2-40B4-BE49-F238E27FC236}">
                <a16:creationId xmlns:a16="http://schemas.microsoft.com/office/drawing/2014/main" id="{F560E940-566E-365E-81BB-544076632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683" y="4954341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3200"/>
          </a:p>
        </p:txBody>
      </p:sp>
      <p:sp>
        <p:nvSpPr>
          <p:cNvPr id="31759" name="Text Box 37">
            <a:extLst>
              <a:ext uri="{FF2B5EF4-FFF2-40B4-BE49-F238E27FC236}">
                <a16:creationId xmlns:a16="http://schemas.microsoft.com/office/drawing/2014/main" id="{4360584A-C12F-F7E1-91DF-E7CA3CE67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698" y="3453533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3200"/>
          </a:p>
        </p:txBody>
      </p:sp>
      <p:sp>
        <p:nvSpPr>
          <p:cNvPr id="31760" name="Text Box 36">
            <a:extLst>
              <a:ext uri="{FF2B5EF4-FFF2-40B4-BE49-F238E27FC236}">
                <a16:creationId xmlns:a16="http://schemas.microsoft.com/office/drawing/2014/main" id="{31CDDF24-589A-BDD3-2908-F7248448E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942" y="6033813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3200"/>
          </a:p>
        </p:txBody>
      </p:sp>
      <p:sp>
        <p:nvSpPr>
          <p:cNvPr id="31761" name="Text Box 35">
            <a:extLst>
              <a:ext uri="{FF2B5EF4-FFF2-40B4-BE49-F238E27FC236}">
                <a16:creationId xmlns:a16="http://schemas.microsoft.com/office/drawing/2014/main" id="{54DA7395-D947-36E4-A72D-308D7AFF7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312" y="4941541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3200"/>
          </a:p>
        </p:txBody>
      </p:sp>
      <p:sp>
        <p:nvSpPr>
          <p:cNvPr id="31762" name="Text Box 34">
            <a:extLst>
              <a:ext uri="{FF2B5EF4-FFF2-40B4-BE49-F238E27FC236}">
                <a16:creationId xmlns:a16="http://schemas.microsoft.com/office/drawing/2014/main" id="{2EAB434B-8873-F405-E936-919E77725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821" y="4585272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3200"/>
          </a:p>
        </p:txBody>
      </p:sp>
      <p:sp>
        <p:nvSpPr>
          <p:cNvPr id="31763" name="Text Box 33">
            <a:extLst>
              <a:ext uri="{FF2B5EF4-FFF2-40B4-BE49-F238E27FC236}">
                <a16:creationId xmlns:a16="http://schemas.microsoft.com/office/drawing/2014/main" id="{A1A71631-7F05-7EAF-8CA5-8C8F9F97B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755" y="3437533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3200"/>
          </a:p>
        </p:txBody>
      </p:sp>
      <p:sp>
        <p:nvSpPr>
          <p:cNvPr id="31764" name="Text Box 32">
            <a:extLst>
              <a:ext uri="{FF2B5EF4-FFF2-40B4-BE49-F238E27FC236}">
                <a16:creationId xmlns:a16="http://schemas.microsoft.com/office/drawing/2014/main" id="{F8C8FB27-D7ED-95AB-EB1E-8C7AB6C1C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084" y="6033813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3200"/>
          </a:p>
        </p:txBody>
      </p:sp>
      <p:sp>
        <p:nvSpPr>
          <p:cNvPr id="31765" name="Text Box 31">
            <a:extLst>
              <a:ext uri="{FF2B5EF4-FFF2-40B4-BE49-F238E27FC236}">
                <a16:creationId xmlns:a16="http://schemas.microsoft.com/office/drawing/2014/main" id="{4DF24416-EE62-434C-44B4-7AD4A082E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283" y="6033813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3200"/>
          </a:p>
        </p:txBody>
      </p:sp>
      <p:sp>
        <p:nvSpPr>
          <p:cNvPr id="31766" name="Text Box 30">
            <a:extLst>
              <a:ext uri="{FF2B5EF4-FFF2-40B4-BE49-F238E27FC236}">
                <a16:creationId xmlns:a16="http://schemas.microsoft.com/office/drawing/2014/main" id="{141A609C-5144-B47F-ED43-DA5741FEA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06" y="4305804"/>
            <a:ext cx="791693" cy="7797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3200"/>
          </a:p>
        </p:txBody>
      </p:sp>
      <p:sp>
        <p:nvSpPr>
          <p:cNvPr id="31767" name="Oval 29">
            <a:extLst>
              <a:ext uri="{FF2B5EF4-FFF2-40B4-BE49-F238E27FC236}">
                <a16:creationId xmlns:a16="http://schemas.microsoft.com/office/drawing/2014/main" id="{D8C03297-CC05-FF0C-E5B5-4265D23715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7265" y="4046603"/>
            <a:ext cx="218729" cy="2186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8" name="Oval 28">
            <a:extLst>
              <a:ext uri="{FF2B5EF4-FFF2-40B4-BE49-F238E27FC236}">
                <a16:creationId xmlns:a16="http://schemas.microsoft.com/office/drawing/2014/main" id="{6B292069-0203-1FAA-F043-9C906CD765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11271" y="4865807"/>
            <a:ext cx="216595" cy="2165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9" name="Oval 27">
            <a:extLst>
              <a:ext uri="{FF2B5EF4-FFF2-40B4-BE49-F238E27FC236}">
                <a16:creationId xmlns:a16="http://schemas.microsoft.com/office/drawing/2014/main" id="{0689F797-2616-C696-11FA-2922CD76FA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8741" y="4865807"/>
            <a:ext cx="213394" cy="2165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70" name="Oval 26">
            <a:extLst>
              <a:ext uri="{FF2B5EF4-FFF2-40B4-BE49-F238E27FC236}">
                <a16:creationId xmlns:a16="http://schemas.microsoft.com/office/drawing/2014/main" id="{9D5FB7C2-A672-25B8-E833-1F52FE25C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3835" y="5904746"/>
            <a:ext cx="215528" cy="2165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72" name="Oval 24">
            <a:extLst>
              <a:ext uri="{FF2B5EF4-FFF2-40B4-BE49-F238E27FC236}">
                <a16:creationId xmlns:a16="http://schemas.microsoft.com/office/drawing/2014/main" id="{CB308074-6525-EDA7-966F-87FE1024B4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86635" y="4863674"/>
            <a:ext cx="215528" cy="2186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73" name="Oval 23">
            <a:extLst>
              <a:ext uri="{FF2B5EF4-FFF2-40B4-BE49-F238E27FC236}">
                <a16:creationId xmlns:a16="http://schemas.microsoft.com/office/drawing/2014/main" id="{5D72B82A-30AC-C2F2-7304-2937B579D1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8507" y="5904746"/>
            <a:ext cx="215528" cy="2186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74" name="Oval 22">
            <a:extLst>
              <a:ext uri="{FF2B5EF4-FFF2-40B4-BE49-F238E27FC236}">
                <a16:creationId xmlns:a16="http://schemas.microsoft.com/office/drawing/2014/main" id="{C0E657DD-0F76-968B-DAD3-D3D18A83F3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82776" y="5904746"/>
            <a:ext cx="215528" cy="2186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75" name="Oval 21">
            <a:extLst>
              <a:ext uri="{FF2B5EF4-FFF2-40B4-BE49-F238E27FC236}">
                <a16:creationId xmlns:a16="http://schemas.microsoft.com/office/drawing/2014/main" id="{88FD1217-CA93-DD81-978E-4D4C4B4A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6345" y="5905812"/>
            <a:ext cx="217662" cy="217601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80" name="Oval 16">
            <a:extLst>
              <a:ext uri="{FF2B5EF4-FFF2-40B4-BE49-F238E27FC236}">
                <a16:creationId xmlns:a16="http://schemas.microsoft.com/office/drawing/2014/main" id="{505597B8-400B-824B-4EFC-1007D2848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49234" y="4865807"/>
            <a:ext cx="215528" cy="2186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81" name="Oval 15">
            <a:extLst>
              <a:ext uri="{FF2B5EF4-FFF2-40B4-BE49-F238E27FC236}">
                <a16:creationId xmlns:a16="http://schemas.microsoft.com/office/drawing/2014/main" id="{A0CA1B39-78F6-E152-1594-E2371F0F6E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3637" y="4046603"/>
            <a:ext cx="215528" cy="217601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82" name="Oval 14">
            <a:extLst>
              <a:ext uri="{FF2B5EF4-FFF2-40B4-BE49-F238E27FC236}">
                <a16:creationId xmlns:a16="http://schemas.microsoft.com/office/drawing/2014/main" id="{7092798E-77B5-F35E-9F08-9903240F60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83920" y="4866874"/>
            <a:ext cx="215528" cy="217601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1783" name="AutoShape 13">
            <a:extLst>
              <a:ext uri="{FF2B5EF4-FFF2-40B4-BE49-F238E27FC236}">
                <a16:creationId xmlns:a16="http://schemas.microsoft.com/office/drawing/2014/main" id="{88EB0C46-E07A-E6EF-6642-E5809916B4B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46271" y="5082341"/>
            <a:ext cx="448128" cy="82240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4" name="AutoShape 12">
            <a:extLst>
              <a:ext uri="{FF2B5EF4-FFF2-40B4-BE49-F238E27FC236}">
                <a16:creationId xmlns:a16="http://schemas.microsoft.com/office/drawing/2014/main" id="{CB1BAB4C-E8AC-FBAA-610B-91DF2D2DFB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94399" y="5082341"/>
            <a:ext cx="496142" cy="82240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5" name="AutoShape 11">
            <a:extLst>
              <a:ext uri="{FF2B5EF4-FFF2-40B4-BE49-F238E27FC236}">
                <a16:creationId xmlns:a16="http://schemas.microsoft.com/office/drawing/2014/main" id="{275C45AA-872A-EBF7-5850-A4CADEE5E9F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61599" y="5082341"/>
            <a:ext cx="358502" cy="82240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6" name="AutoShape 10">
            <a:extLst>
              <a:ext uri="{FF2B5EF4-FFF2-40B4-BE49-F238E27FC236}">
                <a16:creationId xmlns:a16="http://schemas.microsoft.com/office/drawing/2014/main" id="{F8CE8650-CF06-27B3-8724-A13BCF041A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20102" y="5082341"/>
            <a:ext cx="495075" cy="8234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7" name="AutoShape 9">
            <a:extLst>
              <a:ext uri="{FF2B5EF4-FFF2-40B4-BE49-F238E27FC236}">
                <a16:creationId xmlns:a16="http://schemas.microsoft.com/office/drawing/2014/main" id="{0D62E80E-7F74-2F9B-8B8B-41DAF880EF3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620102" y="4265271"/>
            <a:ext cx="447061" cy="60053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8" name="AutoShape 8">
            <a:extLst>
              <a:ext uri="{FF2B5EF4-FFF2-40B4-BE49-F238E27FC236}">
                <a16:creationId xmlns:a16="http://schemas.microsoft.com/office/drawing/2014/main" id="{839AA307-0336-E584-4531-578FDBE08C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67163" y="4265271"/>
            <a:ext cx="498276" cy="60053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AutoShape 3">
            <a:extLst>
              <a:ext uri="{FF2B5EF4-FFF2-40B4-BE49-F238E27FC236}">
                <a16:creationId xmlns:a16="http://schemas.microsoft.com/office/drawing/2014/main" id="{A83E5FC2-581D-1E78-61BD-31795641978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91684" y="4264204"/>
            <a:ext cx="409717" cy="60267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4" name="AutoShape 2">
            <a:extLst>
              <a:ext uri="{FF2B5EF4-FFF2-40B4-BE49-F238E27FC236}">
                <a16:creationId xmlns:a16="http://schemas.microsoft.com/office/drawing/2014/main" id="{EB889D6B-767C-EAD2-7E7C-2C8C78C8CD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1402" y="4264204"/>
            <a:ext cx="455597" cy="60160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47244355-615E-0116-01FF-5AFEEEA2C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8.3.5  </a:t>
            </a:r>
            <a:r>
              <a:rPr lang="zh-CN" altLang="en-US" sz="5400"/>
              <a:t>最优</a:t>
            </a:r>
            <a:r>
              <a:rPr lang="zh-CN" altLang="zh-CN" sz="5400"/>
              <a:t>二</a:t>
            </a:r>
            <a:r>
              <a:rPr lang="zh-CN" altLang="en-US" sz="5400"/>
              <a:t>叉树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79576E1F-D73D-080A-85E2-924B40697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solidFill>
                  <a:srgbClr val="FF0000"/>
                </a:solidFill>
              </a:rPr>
              <a:t>(d)</a:t>
            </a:r>
            <a:r>
              <a:rPr lang="zh-CN" altLang="zh-CN">
                <a:solidFill>
                  <a:srgbClr val="FF0000"/>
                </a:solidFill>
              </a:rPr>
              <a:t>—</a:t>
            </a:r>
            <a:r>
              <a:rPr lang="en-US" altLang="zh-CN">
                <a:solidFill>
                  <a:srgbClr val="FF0000"/>
                </a:solidFill>
              </a:rPr>
              <a:t>(e)</a:t>
            </a:r>
            <a:r>
              <a:rPr lang="zh-CN" altLang="zh-CN"/>
              <a:t> </a:t>
            </a:r>
            <a:endParaRPr lang="zh-CN" altLang="en-US"/>
          </a:p>
        </p:txBody>
      </p:sp>
      <p:sp>
        <p:nvSpPr>
          <p:cNvPr id="32772" name="Rectangle 65">
            <a:extLst>
              <a:ext uri="{FF2B5EF4-FFF2-40B4-BE49-F238E27FC236}">
                <a16:creationId xmlns:a16="http://schemas.microsoft.com/office/drawing/2014/main" id="{762A1491-193F-57DE-710F-E643A2880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4" name="AutoShape 64">
            <a:extLst>
              <a:ext uri="{FF2B5EF4-FFF2-40B4-BE49-F238E27FC236}">
                <a16:creationId xmlns:a16="http://schemas.microsoft.com/office/drawing/2014/main" id="{79A84306-312E-1749-1F77-7C3259584D2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9750" y="2636838"/>
            <a:ext cx="8432298" cy="410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5" name="Text Box 63">
            <a:extLst>
              <a:ext uri="{FF2B5EF4-FFF2-40B4-BE49-F238E27FC236}">
                <a16:creationId xmlns:a16="http://schemas.microsoft.com/office/drawing/2014/main" id="{CA1D8142-B872-F2D0-747E-030785C92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930" y="6032748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3200"/>
          </a:p>
        </p:txBody>
      </p:sp>
      <p:sp>
        <p:nvSpPr>
          <p:cNvPr id="32779" name="Text Box 59">
            <a:extLst>
              <a:ext uri="{FF2B5EF4-FFF2-40B4-BE49-F238E27FC236}">
                <a16:creationId xmlns:a16="http://schemas.microsoft.com/office/drawing/2014/main" id="{165ACE7E-CE2A-8DC4-74D8-8D06B1D58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61" y="6079692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3200"/>
          </a:p>
        </p:txBody>
      </p:sp>
      <p:sp>
        <p:nvSpPr>
          <p:cNvPr id="32780" name="Text Box 58">
            <a:extLst>
              <a:ext uri="{FF2B5EF4-FFF2-40B4-BE49-F238E27FC236}">
                <a16:creationId xmlns:a16="http://schemas.microsoft.com/office/drawing/2014/main" id="{8B4AD949-F369-2AC5-1CC2-86ED30511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393" y="4232905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3200"/>
          </a:p>
        </p:txBody>
      </p:sp>
      <p:sp>
        <p:nvSpPr>
          <p:cNvPr id="32781" name="Text Box 57">
            <a:extLst>
              <a:ext uri="{FF2B5EF4-FFF2-40B4-BE49-F238E27FC236}">
                <a16:creationId xmlns:a16="http://schemas.microsoft.com/office/drawing/2014/main" id="{6ACD8029-9E61-45D2-7F40-A02730309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352" y="3716531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3200"/>
          </a:p>
        </p:txBody>
      </p:sp>
      <p:sp>
        <p:nvSpPr>
          <p:cNvPr id="32782" name="Text Box 56">
            <a:extLst>
              <a:ext uri="{FF2B5EF4-FFF2-40B4-BE49-F238E27FC236}">
                <a16:creationId xmlns:a16="http://schemas.microsoft.com/office/drawing/2014/main" id="{51D20911-FAEC-0950-FDF7-971B4F43E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2" y="5012802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3200"/>
          </a:p>
        </p:txBody>
      </p:sp>
      <p:sp>
        <p:nvSpPr>
          <p:cNvPr id="32783" name="Text Box 55">
            <a:extLst>
              <a:ext uri="{FF2B5EF4-FFF2-40B4-BE49-F238E27FC236}">
                <a16:creationId xmlns:a16="http://schemas.microsoft.com/office/drawing/2014/main" id="{943775B7-8298-8B82-1602-36F44EB71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37" y="4436681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3200"/>
          </a:p>
        </p:txBody>
      </p:sp>
      <p:sp>
        <p:nvSpPr>
          <p:cNvPr id="32784" name="Text Box 54">
            <a:extLst>
              <a:ext uri="{FF2B5EF4-FFF2-40B4-BE49-F238E27FC236}">
                <a16:creationId xmlns:a16="http://schemas.microsoft.com/office/drawing/2014/main" id="{719E7776-A1B7-BF78-8975-E156697E4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2" y="2721122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3200"/>
          </a:p>
        </p:txBody>
      </p:sp>
      <p:sp>
        <p:nvSpPr>
          <p:cNvPr id="32785" name="Text Box 53">
            <a:extLst>
              <a:ext uri="{FF2B5EF4-FFF2-40B4-BE49-F238E27FC236}">
                <a16:creationId xmlns:a16="http://schemas.microsoft.com/office/drawing/2014/main" id="{4853F1A1-7F33-508D-4092-1E40F79EA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489" y="5025604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3200"/>
          </a:p>
        </p:txBody>
      </p:sp>
      <p:sp>
        <p:nvSpPr>
          <p:cNvPr id="32786" name="Text Box 52">
            <a:extLst>
              <a:ext uri="{FF2B5EF4-FFF2-40B4-BE49-F238E27FC236}">
                <a16:creationId xmlns:a16="http://schemas.microsoft.com/office/drawing/2014/main" id="{F83AAEC8-DCD9-033F-6621-2898626BE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454" y="5025604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3200"/>
          </a:p>
        </p:txBody>
      </p:sp>
      <p:sp>
        <p:nvSpPr>
          <p:cNvPr id="32787" name="Text Box 51">
            <a:extLst>
              <a:ext uri="{FF2B5EF4-FFF2-40B4-BE49-F238E27FC236}">
                <a16:creationId xmlns:a16="http://schemas.microsoft.com/office/drawing/2014/main" id="{5188FCD0-522A-59E3-62B5-B2FC0D6DD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479" y="3873363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3200"/>
          </a:p>
        </p:txBody>
      </p:sp>
      <p:sp>
        <p:nvSpPr>
          <p:cNvPr id="32788" name="Text Box 50">
            <a:extLst>
              <a:ext uri="{FF2B5EF4-FFF2-40B4-BE49-F238E27FC236}">
                <a16:creationId xmlns:a16="http://schemas.microsoft.com/office/drawing/2014/main" id="{4C0039A3-FD51-3022-B6EE-D338283A2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903" y="4161424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altLang="zh-CN" sz="3200"/>
          </a:p>
        </p:txBody>
      </p:sp>
      <p:sp>
        <p:nvSpPr>
          <p:cNvPr id="32789" name="Text Box 49">
            <a:extLst>
              <a:ext uri="{FF2B5EF4-FFF2-40B4-BE49-F238E27FC236}">
                <a16:creationId xmlns:a16="http://schemas.microsoft.com/office/drawing/2014/main" id="{B8DF5753-8340-8C9C-0C7B-7B4680561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918" y="2754196"/>
            <a:ext cx="791495" cy="77989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US" altLang="zh-CN" sz="3200"/>
          </a:p>
        </p:txBody>
      </p:sp>
      <p:sp>
        <p:nvSpPr>
          <p:cNvPr id="32797" name="Oval 41">
            <a:extLst>
              <a:ext uri="{FF2B5EF4-FFF2-40B4-BE49-F238E27FC236}">
                <a16:creationId xmlns:a16="http://schemas.microsoft.com/office/drawing/2014/main" id="{1E949007-A727-703E-32E7-52FEDC1F5C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67029" y="4088875"/>
            <a:ext cx="218674" cy="2187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98" name="Oval 40">
            <a:extLst>
              <a:ext uri="{FF2B5EF4-FFF2-40B4-BE49-F238E27FC236}">
                <a16:creationId xmlns:a16="http://schemas.microsoft.com/office/drawing/2014/main" id="{DA279394-26EC-635A-BCDD-0BC5489913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21146" y="4908246"/>
            <a:ext cx="216541" cy="21657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99" name="Oval 39">
            <a:extLst>
              <a:ext uri="{FF2B5EF4-FFF2-40B4-BE49-F238E27FC236}">
                <a16:creationId xmlns:a16="http://schemas.microsoft.com/office/drawing/2014/main" id="{572EF505-AA45-52BB-A19E-4D71D40D2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8380" y="4908246"/>
            <a:ext cx="213341" cy="21657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0" name="Oval 38">
            <a:extLst>
              <a:ext uri="{FF2B5EF4-FFF2-40B4-BE49-F238E27FC236}">
                <a16:creationId xmlns:a16="http://schemas.microsoft.com/office/drawing/2014/main" id="{2D5578E9-0852-8B51-375A-D3C6D18386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3800" y="5947397"/>
            <a:ext cx="215474" cy="21657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5" name="Oval 33">
            <a:extLst>
              <a:ext uri="{FF2B5EF4-FFF2-40B4-BE49-F238E27FC236}">
                <a16:creationId xmlns:a16="http://schemas.microsoft.com/office/drawing/2014/main" id="{875BA0CC-48D1-A5E8-047E-B6C8F60D76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6097" y="5948464"/>
            <a:ext cx="217608" cy="21764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10" name="Oval 28">
            <a:extLst>
              <a:ext uri="{FF2B5EF4-FFF2-40B4-BE49-F238E27FC236}">
                <a16:creationId xmlns:a16="http://schemas.microsoft.com/office/drawing/2014/main" id="{D881AB4F-CEE6-9B81-23F8-6EA91C58A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0359" y="4908246"/>
            <a:ext cx="215474" cy="2187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11" name="Oval 27">
            <a:extLst>
              <a:ext uri="{FF2B5EF4-FFF2-40B4-BE49-F238E27FC236}">
                <a16:creationId xmlns:a16="http://schemas.microsoft.com/office/drawing/2014/main" id="{A6BB25FD-EA6E-C3DF-1B04-89099D6D0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6874" y="4088875"/>
            <a:ext cx="215474" cy="21764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12" name="Oval 26">
            <a:extLst>
              <a:ext uri="{FF2B5EF4-FFF2-40B4-BE49-F238E27FC236}">
                <a16:creationId xmlns:a16="http://schemas.microsoft.com/office/drawing/2014/main" id="{71C10EAC-14C8-8033-2832-73F3E87E2B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9258" y="4909313"/>
            <a:ext cx="215474" cy="21764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2813" name="AutoShape 25">
            <a:extLst>
              <a:ext uri="{FF2B5EF4-FFF2-40B4-BE49-F238E27FC236}">
                <a16:creationId xmlns:a16="http://schemas.microsoft.com/office/drawing/2014/main" id="{F70C5933-36B4-13AB-D3B4-E900B254D58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71537" y="5124825"/>
            <a:ext cx="358413" cy="82257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4" name="AutoShape 24">
            <a:extLst>
              <a:ext uri="{FF2B5EF4-FFF2-40B4-BE49-F238E27FC236}">
                <a16:creationId xmlns:a16="http://schemas.microsoft.com/office/drawing/2014/main" id="{C9268012-9FF5-5B11-0109-2B8D080665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29950" y="5124825"/>
            <a:ext cx="494951" cy="82363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5" name="AutoShape 23">
            <a:extLst>
              <a:ext uri="{FF2B5EF4-FFF2-40B4-BE49-F238E27FC236}">
                <a16:creationId xmlns:a16="http://schemas.microsoft.com/office/drawing/2014/main" id="{51A1B5A1-C6D7-B133-8A57-C8B2DE4E93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29950" y="4307587"/>
            <a:ext cx="446949" cy="60065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6" name="AutoShape 22">
            <a:extLst>
              <a:ext uri="{FF2B5EF4-FFF2-40B4-BE49-F238E27FC236}">
                <a16:creationId xmlns:a16="http://schemas.microsoft.com/office/drawing/2014/main" id="{A0E6208F-E92E-7DAF-F93A-76F283E235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76899" y="4307587"/>
            <a:ext cx="498151" cy="60065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1" name="AutoShape 17">
            <a:extLst>
              <a:ext uri="{FF2B5EF4-FFF2-40B4-BE49-F238E27FC236}">
                <a16:creationId xmlns:a16="http://schemas.microsoft.com/office/drawing/2014/main" id="{DC3FAC41-E9FD-4B16-2348-80967EE4D03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596995" y="4306521"/>
            <a:ext cx="457616" cy="60279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2" name="AutoShape 16">
            <a:extLst>
              <a:ext uri="{FF2B5EF4-FFF2-40B4-BE49-F238E27FC236}">
                <a16:creationId xmlns:a16="http://schemas.microsoft.com/office/drawing/2014/main" id="{22E11083-1480-D746-2259-E770DF0957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54611" y="4306521"/>
            <a:ext cx="503484" cy="60172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23" name="Oval 15">
            <a:extLst>
              <a:ext uri="{FF2B5EF4-FFF2-40B4-BE49-F238E27FC236}">
                <a16:creationId xmlns:a16="http://schemas.microsoft.com/office/drawing/2014/main" id="{9096B791-D3D6-D2A1-5F28-65E5CEB086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9466" y="4125149"/>
            <a:ext cx="215474" cy="2187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24" name="Oval 14">
            <a:extLst>
              <a:ext uri="{FF2B5EF4-FFF2-40B4-BE49-F238E27FC236}">
                <a16:creationId xmlns:a16="http://schemas.microsoft.com/office/drawing/2014/main" id="{2F109CFC-E5D4-176D-22F9-8E54D0BE2E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5447" y="3239631"/>
            <a:ext cx="215474" cy="2187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27" name="Oval 11">
            <a:extLst>
              <a:ext uri="{FF2B5EF4-FFF2-40B4-BE49-F238E27FC236}">
                <a16:creationId xmlns:a16="http://schemas.microsoft.com/office/drawing/2014/main" id="{11D9621A-F9A8-13E8-3041-DC3E9A3193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710" y="4087808"/>
            <a:ext cx="215474" cy="2187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28" name="Oval 10">
            <a:extLst>
              <a:ext uri="{FF2B5EF4-FFF2-40B4-BE49-F238E27FC236}">
                <a16:creationId xmlns:a16="http://schemas.microsoft.com/office/drawing/2014/main" id="{953F0BEA-0EED-DB75-0893-3B4E6C5D7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6725" y="3244965"/>
            <a:ext cx="215474" cy="2187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2829" name="AutoShape 9">
            <a:extLst>
              <a:ext uri="{FF2B5EF4-FFF2-40B4-BE49-F238E27FC236}">
                <a16:creationId xmlns:a16="http://schemas.microsoft.com/office/drawing/2014/main" id="{FA393060-FF1B-58FF-89DF-C28D09E7F64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876899" y="3458343"/>
            <a:ext cx="516285" cy="63053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30" name="AutoShape 8">
            <a:extLst>
              <a:ext uri="{FF2B5EF4-FFF2-40B4-BE49-F238E27FC236}">
                <a16:creationId xmlns:a16="http://schemas.microsoft.com/office/drawing/2014/main" id="{5C7B7D26-256C-74D9-5CB0-34008ABFCB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93184" y="3458343"/>
            <a:ext cx="544019" cy="66680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35" name="AutoShape 3">
            <a:extLst>
              <a:ext uri="{FF2B5EF4-FFF2-40B4-BE49-F238E27FC236}">
                <a16:creationId xmlns:a16="http://schemas.microsoft.com/office/drawing/2014/main" id="{A1C500E8-3782-DDCC-10E2-0324A2D3696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188447" y="3463678"/>
            <a:ext cx="416015" cy="62413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36" name="AutoShape 2">
            <a:extLst>
              <a:ext uri="{FF2B5EF4-FFF2-40B4-BE49-F238E27FC236}">
                <a16:creationId xmlns:a16="http://schemas.microsoft.com/office/drawing/2014/main" id="{E6C384AA-A78A-9F67-BE82-E7F1A7A0B73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04462" y="3463678"/>
            <a:ext cx="450149" cy="62519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9904E7DA-0568-6D91-EC8D-0280274F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8.3.5  </a:t>
            </a:r>
            <a:r>
              <a:rPr lang="zh-CN" altLang="en-US" sz="5400">
                <a:solidFill>
                  <a:srgbClr val="333399"/>
                </a:solidFill>
              </a:rPr>
              <a:t>最优</a:t>
            </a:r>
            <a:r>
              <a:rPr lang="zh-CN" altLang="zh-CN" sz="5400">
                <a:solidFill>
                  <a:srgbClr val="333399"/>
                </a:solidFill>
              </a:rPr>
              <a:t>二</a:t>
            </a:r>
            <a:r>
              <a:rPr lang="zh-CN" altLang="en-US" sz="5400">
                <a:solidFill>
                  <a:srgbClr val="333399"/>
                </a:solidFill>
              </a:rPr>
              <a:t>叉树</a:t>
            </a:r>
            <a:endParaRPr lang="zh-CN" altLang="en-US"/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DE13A174-AC0B-268E-C062-BDA5C1D63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773238"/>
            <a:ext cx="8964612" cy="508476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solidFill>
                  <a:srgbClr val="FF0000"/>
                </a:solidFill>
              </a:rPr>
              <a:t>(f)</a:t>
            </a:r>
            <a:r>
              <a:rPr lang="zh-CN" altLang="zh-CN"/>
              <a:t> </a:t>
            </a:r>
            <a:endParaRPr lang="en-US" altLang="zh-CN"/>
          </a:p>
          <a:p>
            <a:pPr>
              <a:lnSpc>
                <a:spcPct val="200000"/>
              </a:lnSpc>
            </a:pPr>
            <a:r>
              <a:rPr lang="en-US" altLang="zh-CN"/>
              <a:t>W(T)</a:t>
            </a:r>
            <a:r>
              <a:rPr lang="zh-CN" altLang="zh-CN"/>
              <a:t>＝</a:t>
            </a:r>
            <a:r>
              <a:rPr lang="en-US" altLang="zh-CN"/>
              <a:t>124</a:t>
            </a:r>
            <a:endParaRPr lang="zh-CN" altLang="en-US"/>
          </a:p>
        </p:txBody>
      </p:sp>
      <p:sp>
        <p:nvSpPr>
          <p:cNvPr id="33796" name="Rectangle 41">
            <a:extLst>
              <a:ext uri="{FF2B5EF4-FFF2-40B4-BE49-F238E27FC236}">
                <a16:creationId xmlns:a16="http://schemas.microsoft.com/office/drawing/2014/main" id="{6C78AEE7-9117-0517-9B92-6353E49FC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3797" name="Group 1">
            <a:extLst>
              <a:ext uri="{FF2B5EF4-FFF2-40B4-BE49-F238E27FC236}">
                <a16:creationId xmlns:a16="http://schemas.microsoft.com/office/drawing/2014/main" id="{4762AAB5-2DE8-1B11-3CB0-A100E34B92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2000" y="1844675"/>
            <a:ext cx="5002213" cy="5165725"/>
            <a:chOff x="4089" y="1897"/>
            <a:chExt cx="4689" cy="4842"/>
          </a:xfrm>
        </p:grpSpPr>
        <p:sp>
          <p:nvSpPr>
            <p:cNvPr id="33798" name="AutoShape 40">
              <a:extLst>
                <a:ext uri="{FF2B5EF4-FFF2-40B4-BE49-F238E27FC236}">
                  <a16:creationId xmlns:a16="http://schemas.microsoft.com/office/drawing/2014/main" id="{C80FC76B-CA07-FE99-1960-0449F8C7D03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089" y="1897"/>
              <a:ext cx="4633" cy="4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9" name="Text Box 39">
              <a:extLst>
                <a:ext uri="{FF2B5EF4-FFF2-40B4-BE49-F238E27FC236}">
                  <a16:creationId xmlns:a16="http://schemas.microsoft.com/office/drawing/2014/main" id="{69D1F889-AE67-9CAC-BF48-E18F6E9CE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" y="190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48</a:t>
              </a:r>
              <a:endParaRPr lang="en-US" altLang="zh-CN" sz="3200"/>
            </a:p>
          </p:txBody>
        </p:sp>
        <p:sp>
          <p:nvSpPr>
            <p:cNvPr id="33800" name="Text Box 38">
              <a:extLst>
                <a:ext uri="{FF2B5EF4-FFF2-40B4-BE49-F238E27FC236}">
                  <a16:creationId xmlns:a16="http://schemas.microsoft.com/office/drawing/2014/main" id="{09508CB6-B2D7-B453-4F73-0858ECA72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2" y="5112"/>
              <a:ext cx="742" cy="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3200"/>
            </a:p>
          </p:txBody>
        </p:sp>
        <p:sp>
          <p:nvSpPr>
            <p:cNvPr id="33801" name="Text Box 37">
              <a:extLst>
                <a:ext uri="{FF2B5EF4-FFF2-40B4-BE49-F238E27FC236}">
                  <a16:creationId xmlns:a16="http://schemas.microsoft.com/office/drawing/2014/main" id="{EB9D9408-07B0-8C43-A641-FB7BE063A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513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3200"/>
            </a:p>
          </p:txBody>
        </p:sp>
        <p:sp>
          <p:nvSpPr>
            <p:cNvPr id="33802" name="Text Box 36">
              <a:extLst>
                <a:ext uri="{FF2B5EF4-FFF2-40B4-BE49-F238E27FC236}">
                  <a16:creationId xmlns:a16="http://schemas.microsoft.com/office/drawing/2014/main" id="{A9E29A5C-B207-35C1-6BB6-021FE16E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" y="406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 sz="3200"/>
            </a:p>
          </p:txBody>
        </p:sp>
        <p:sp>
          <p:nvSpPr>
            <p:cNvPr id="33803" name="Text Box 35">
              <a:extLst>
                <a:ext uri="{FF2B5EF4-FFF2-40B4-BE49-F238E27FC236}">
                  <a16:creationId xmlns:a16="http://schemas.microsoft.com/office/drawing/2014/main" id="{6D3D6035-76BC-A6C2-0A35-48EA2CF63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2" y="440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altLang="zh-CN" sz="3200"/>
            </a:p>
          </p:txBody>
        </p:sp>
        <p:sp>
          <p:nvSpPr>
            <p:cNvPr id="33804" name="Text Box 34">
              <a:extLst>
                <a:ext uri="{FF2B5EF4-FFF2-40B4-BE49-F238E27FC236}">
                  <a16:creationId xmlns:a16="http://schemas.microsoft.com/office/drawing/2014/main" id="{D58A23D8-1AD3-BE82-C37B-36EADF0C5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318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en-US" altLang="zh-CN" sz="3200"/>
            </a:p>
          </p:txBody>
        </p:sp>
        <p:sp>
          <p:nvSpPr>
            <p:cNvPr id="33805" name="Text Box 33">
              <a:extLst>
                <a:ext uri="{FF2B5EF4-FFF2-40B4-BE49-F238E27FC236}">
                  <a16:creationId xmlns:a16="http://schemas.microsoft.com/office/drawing/2014/main" id="{5E87EE14-698E-DB45-E00F-064C53A5F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4" y="581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3806" name="Text Box 32">
              <a:extLst>
                <a:ext uri="{FF2B5EF4-FFF2-40B4-BE49-F238E27FC236}">
                  <a16:creationId xmlns:a16="http://schemas.microsoft.com/office/drawing/2014/main" id="{AE68DD31-9B13-6DE7-1162-7000A2481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9" y="583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33807" name="Text Box 31">
              <a:extLst>
                <a:ext uri="{FF2B5EF4-FFF2-40B4-BE49-F238E27FC236}">
                  <a16:creationId xmlns:a16="http://schemas.microsoft.com/office/drawing/2014/main" id="{E5B1C480-1632-9D77-E1C1-7608D0A83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5" y="487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33808" name="Text Box 30">
              <a:extLst>
                <a:ext uri="{FF2B5EF4-FFF2-40B4-BE49-F238E27FC236}">
                  <a16:creationId xmlns:a16="http://schemas.microsoft.com/office/drawing/2014/main" id="{624092A5-1C63-8AD0-135A-93DC9B529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0" y="494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33809" name="Text Box 29">
              <a:extLst>
                <a:ext uri="{FF2B5EF4-FFF2-40B4-BE49-F238E27FC236}">
                  <a16:creationId xmlns:a16="http://schemas.microsoft.com/office/drawing/2014/main" id="{8CB2725B-7184-6C52-BACE-9A9851D18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7" y="406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3200"/>
            </a:p>
          </p:txBody>
        </p:sp>
        <p:sp>
          <p:nvSpPr>
            <p:cNvPr id="33810" name="Text Box 28">
              <a:extLst>
                <a:ext uri="{FF2B5EF4-FFF2-40B4-BE49-F238E27FC236}">
                  <a16:creationId xmlns:a16="http://schemas.microsoft.com/office/drawing/2014/main" id="{15486D45-C335-F4CC-8699-EC889EFC2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6" y="435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3200"/>
            </a:p>
          </p:txBody>
        </p:sp>
        <p:sp>
          <p:nvSpPr>
            <p:cNvPr id="33811" name="Text Box 27">
              <a:extLst>
                <a:ext uri="{FF2B5EF4-FFF2-40B4-BE49-F238E27FC236}">
                  <a16:creationId xmlns:a16="http://schemas.microsoft.com/office/drawing/2014/main" id="{A6954C0C-91FA-0541-4E1B-D9EA3B40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5" y="325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en-US" altLang="zh-CN" sz="3200"/>
            </a:p>
          </p:txBody>
        </p:sp>
        <p:sp>
          <p:nvSpPr>
            <p:cNvPr id="33812" name="Oval 26">
              <a:extLst>
                <a:ext uri="{FF2B5EF4-FFF2-40B4-BE49-F238E27FC236}">
                  <a16:creationId xmlns:a16="http://schemas.microsoft.com/office/drawing/2014/main" id="{544100D2-6417-8F16-5547-152E66729A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5" y="4275"/>
              <a:ext cx="205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3" name="Oval 25">
              <a:extLst>
                <a:ext uri="{FF2B5EF4-FFF2-40B4-BE49-F238E27FC236}">
                  <a16:creationId xmlns:a16="http://schemas.microsoft.com/office/drawing/2014/main" id="{0B8C028D-75FE-F204-5CE0-A5FF9EA9D1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38" y="5046"/>
              <a:ext cx="203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4" name="Oval 24">
              <a:extLst>
                <a:ext uri="{FF2B5EF4-FFF2-40B4-BE49-F238E27FC236}">
                  <a16:creationId xmlns:a16="http://schemas.microsoft.com/office/drawing/2014/main" id="{78F632A5-C381-2DFF-750B-662AFCB619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15" y="5043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5" name="Oval 23">
              <a:extLst>
                <a:ext uri="{FF2B5EF4-FFF2-40B4-BE49-F238E27FC236}">
                  <a16:creationId xmlns:a16="http://schemas.microsoft.com/office/drawing/2014/main" id="{1B3AFC53-7E5F-AC49-7DE3-CDFDBE46F5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465" y="6003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6" name="Oval 22">
              <a:extLst>
                <a:ext uri="{FF2B5EF4-FFF2-40B4-BE49-F238E27FC236}">
                  <a16:creationId xmlns:a16="http://schemas.microsoft.com/office/drawing/2014/main" id="{E5F2EE97-6B11-47A1-EC0E-56256ECD72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348" y="6018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7" name="Oval 21">
              <a:extLst>
                <a:ext uri="{FF2B5EF4-FFF2-40B4-BE49-F238E27FC236}">
                  <a16:creationId xmlns:a16="http://schemas.microsoft.com/office/drawing/2014/main" id="{B99A627F-505C-D70C-3820-1088552BD0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98" y="5043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8" name="Oval 20">
              <a:extLst>
                <a:ext uri="{FF2B5EF4-FFF2-40B4-BE49-F238E27FC236}">
                  <a16:creationId xmlns:a16="http://schemas.microsoft.com/office/drawing/2014/main" id="{54DFBD2A-9D88-56C6-AFCA-A56FAE8D97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96" y="4275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9" name="Oval 19">
              <a:extLst>
                <a:ext uri="{FF2B5EF4-FFF2-40B4-BE49-F238E27FC236}">
                  <a16:creationId xmlns:a16="http://schemas.microsoft.com/office/drawing/2014/main" id="{808D931E-2A3E-88A9-65EA-D7E2781DE9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37" y="5044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33820" name="AutoShape 18">
              <a:extLst>
                <a:ext uri="{FF2B5EF4-FFF2-40B4-BE49-F238E27FC236}">
                  <a16:creationId xmlns:a16="http://schemas.microsoft.com/office/drawing/2014/main" id="{2DD000A7-A495-8F3F-596D-951EDB1A94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8" y="4479"/>
              <a:ext cx="459" cy="5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17">
              <a:extLst>
                <a:ext uri="{FF2B5EF4-FFF2-40B4-BE49-F238E27FC236}">
                  <a16:creationId xmlns:a16="http://schemas.microsoft.com/office/drawing/2014/main" id="{0EF3C58A-8656-0ED4-C537-80CDA330F8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7" y="4479"/>
              <a:ext cx="502" cy="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2" name="Oval 16">
              <a:extLst>
                <a:ext uri="{FF2B5EF4-FFF2-40B4-BE49-F238E27FC236}">
                  <a16:creationId xmlns:a16="http://schemas.microsoft.com/office/drawing/2014/main" id="{BC01FB64-E152-B73A-E061-440204BED7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1" y="4309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23" name="Oval 15">
              <a:extLst>
                <a:ext uri="{FF2B5EF4-FFF2-40B4-BE49-F238E27FC236}">
                  <a16:creationId xmlns:a16="http://schemas.microsoft.com/office/drawing/2014/main" id="{9741C596-97F5-D089-F2E0-54B5AAEEAD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1" y="3479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24" name="Oval 14">
              <a:extLst>
                <a:ext uri="{FF2B5EF4-FFF2-40B4-BE49-F238E27FC236}">
                  <a16:creationId xmlns:a16="http://schemas.microsoft.com/office/drawing/2014/main" id="{37854514-744B-0AC1-B0B6-597887C9BD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79" y="4274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25" name="Oval 13">
              <a:extLst>
                <a:ext uri="{FF2B5EF4-FFF2-40B4-BE49-F238E27FC236}">
                  <a16:creationId xmlns:a16="http://schemas.microsoft.com/office/drawing/2014/main" id="{2A1C96E3-A5E1-6F59-BD7C-9138782511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69" y="3484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33826" name="AutoShape 12">
              <a:extLst>
                <a:ext uri="{FF2B5EF4-FFF2-40B4-BE49-F238E27FC236}">
                  <a16:creationId xmlns:a16="http://schemas.microsoft.com/office/drawing/2014/main" id="{1BB74544-D82D-1284-CBD1-658D0572AC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15" y="4514"/>
              <a:ext cx="467" cy="5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7" name="AutoShape 11">
              <a:extLst>
                <a:ext uri="{FF2B5EF4-FFF2-40B4-BE49-F238E27FC236}">
                  <a16:creationId xmlns:a16="http://schemas.microsoft.com/office/drawing/2014/main" id="{01BE7065-15BB-F24F-81A7-F3243EDB5F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82" y="4514"/>
              <a:ext cx="558" cy="5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8" name="AutoShape 10">
              <a:extLst>
                <a:ext uri="{FF2B5EF4-FFF2-40B4-BE49-F238E27FC236}">
                  <a16:creationId xmlns:a16="http://schemas.microsoft.com/office/drawing/2014/main" id="{5775D3AD-A9E0-6E87-2820-774280625A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48" y="3684"/>
              <a:ext cx="454" cy="5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9" name="AutoShape 9">
              <a:extLst>
                <a:ext uri="{FF2B5EF4-FFF2-40B4-BE49-F238E27FC236}">
                  <a16:creationId xmlns:a16="http://schemas.microsoft.com/office/drawing/2014/main" id="{7FCD7196-79FF-6B72-EE6D-323BD9A193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02" y="3684"/>
              <a:ext cx="480" cy="6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0" name="AutoShape 8">
              <a:extLst>
                <a:ext uri="{FF2B5EF4-FFF2-40B4-BE49-F238E27FC236}">
                  <a16:creationId xmlns:a16="http://schemas.microsoft.com/office/drawing/2014/main" id="{8C149BF8-ADC4-7017-3F9E-43394D3FBD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66" y="5248"/>
              <a:ext cx="372" cy="7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1" name="AutoShape 7">
              <a:extLst>
                <a:ext uri="{FF2B5EF4-FFF2-40B4-BE49-F238E27FC236}">
                  <a16:creationId xmlns:a16="http://schemas.microsoft.com/office/drawing/2014/main" id="{950E8409-5319-521C-6AB3-8E40BBB264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8" y="5248"/>
              <a:ext cx="511" cy="7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2" name="AutoShape 6">
              <a:extLst>
                <a:ext uri="{FF2B5EF4-FFF2-40B4-BE49-F238E27FC236}">
                  <a16:creationId xmlns:a16="http://schemas.microsoft.com/office/drawing/2014/main" id="{89CCA7A7-C5E0-5F55-2EEB-71E0890E79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397" y="3689"/>
              <a:ext cx="373" cy="5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3" name="AutoShape 5">
              <a:extLst>
                <a:ext uri="{FF2B5EF4-FFF2-40B4-BE49-F238E27FC236}">
                  <a16:creationId xmlns:a16="http://schemas.microsoft.com/office/drawing/2014/main" id="{6F887F50-3352-F93A-14F2-563027A8B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70" y="3689"/>
              <a:ext cx="510" cy="5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34" name="Oval 4">
              <a:extLst>
                <a:ext uri="{FF2B5EF4-FFF2-40B4-BE49-F238E27FC236}">
                  <a16:creationId xmlns:a16="http://schemas.microsoft.com/office/drawing/2014/main" id="{ABF6C7D9-2C76-CDFC-6815-54ABA12D8D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76" y="2464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33835" name="AutoShape 3">
              <a:extLst>
                <a:ext uri="{FF2B5EF4-FFF2-40B4-BE49-F238E27FC236}">
                  <a16:creationId xmlns:a16="http://schemas.microsoft.com/office/drawing/2014/main" id="{FC6D5BF5-5AD8-7E53-A7A7-6E6D7FDDF4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02" y="2669"/>
              <a:ext cx="1275" cy="8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6" name="AutoShape 2">
              <a:extLst>
                <a:ext uri="{FF2B5EF4-FFF2-40B4-BE49-F238E27FC236}">
                  <a16:creationId xmlns:a16="http://schemas.microsoft.com/office/drawing/2014/main" id="{CEA7B243-9A30-5765-B0C8-542DCACA7E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7" y="2669"/>
              <a:ext cx="1593" cy="8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275E800E-FAB9-C0E5-BA4F-2B11736E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8.3.5  </a:t>
            </a:r>
            <a:r>
              <a:rPr lang="zh-CN" altLang="en-US" sz="5400">
                <a:solidFill>
                  <a:srgbClr val="333399"/>
                </a:solidFill>
              </a:rPr>
              <a:t>最优</a:t>
            </a:r>
            <a:r>
              <a:rPr lang="zh-CN" altLang="zh-CN" sz="5400">
                <a:solidFill>
                  <a:srgbClr val="333399"/>
                </a:solidFill>
              </a:rPr>
              <a:t>二</a:t>
            </a:r>
            <a:r>
              <a:rPr lang="zh-CN" altLang="en-US" sz="5400">
                <a:solidFill>
                  <a:srgbClr val="333399"/>
                </a:solidFill>
              </a:rPr>
              <a:t>叉树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509BC-817A-8203-7CF5-0C591A429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63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</a:rPr>
              <a:t>8.3.6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在一个序列的集合中，如果任何序列都不是另一个序列的前缀，则称这个集合为</a:t>
            </a:r>
            <a:r>
              <a:rPr lang="zh-CN" altLang="zh-CN" b="1" dirty="0">
                <a:solidFill>
                  <a:srgbClr val="FF0000"/>
                </a:solidFill>
              </a:rPr>
              <a:t>前缀码</a:t>
            </a:r>
            <a:r>
              <a:rPr lang="zh-CN" altLang="zh-CN" dirty="0"/>
              <a:t>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rgbClr val="FF00FF"/>
                </a:solidFill>
              </a:rPr>
              <a:t>例如</a:t>
            </a:r>
            <a:r>
              <a:rPr lang="zh-CN" altLang="zh-CN" dirty="0"/>
              <a:t>，</a:t>
            </a:r>
            <a:r>
              <a:rPr lang="en-US" altLang="zh-CN" dirty="0"/>
              <a:t>001</a:t>
            </a:r>
            <a:r>
              <a:rPr lang="zh-CN" altLang="zh-CN" dirty="0"/>
              <a:t>是</a:t>
            </a:r>
            <a:r>
              <a:rPr lang="en-US" altLang="zh-CN" dirty="0"/>
              <a:t>001011</a:t>
            </a:r>
            <a:r>
              <a:rPr lang="zh-CN" altLang="zh-CN" dirty="0"/>
              <a:t>的前缀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zh-CN" altLang="zh-CN" dirty="0"/>
              <a:t>集合</a:t>
            </a:r>
            <a:r>
              <a:rPr lang="en-US" altLang="zh-CN" dirty="0"/>
              <a:t>{000,001,01,10,11}</a:t>
            </a:r>
            <a:r>
              <a:rPr lang="zh-CN" altLang="zh-CN" dirty="0">
                <a:solidFill>
                  <a:srgbClr val="FF0000"/>
                </a:solidFill>
              </a:rPr>
              <a:t>是</a:t>
            </a:r>
            <a:r>
              <a:rPr lang="zh-CN" altLang="zh-CN" dirty="0"/>
              <a:t>前缀码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集合</a:t>
            </a:r>
            <a:r>
              <a:rPr lang="en-US" altLang="zh-CN" dirty="0"/>
              <a:t>{1,00,01,000,0001}</a:t>
            </a:r>
            <a:r>
              <a:rPr lang="zh-CN" altLang="zh-CN" dirty="0">
                <a:solidFill>
                  <a:srgbClr val="00B050"/>
                </a:solidFill>
              </a:rPr>
              <a:t>不是</a:t>
            </a:r>
            <a:r>
              <a:rPr lang="zh-CN" altLang="zh-CN" dirty="0"/>
              <a:t>前缀码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93B2A2F1-B2AA-7659-49CC-5D0B8EF7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8.3.5  </a:t>
            </a:r>
            <a:r>
              <a:rPr lang="zh-CN" altLang="en-US" sz="5400">
                <a:solidFill>
                  <a:srgbClr val="333399"/>
                </a:solidFill>
              </a:rPr>
              <a:t>最优</a:t>
            </a:r>
            <a:r>
              <a:rPr lang="zh-CN" altLang="zh-CN" sz="5400">
                <a:solidFill>
                  <a:srgbClr val="333399"/>
                </a:solidFill>
              </a:rPr>
              <a:t>二</a:t>
            </a:r>
            <a:r>
              <a:rPr lang="zh-CN" altLang="en-US" sz="5400">
                <a:solidFill>
                  <a:srgbClr val="333399"/>
                </a:solidFill>
              </a:rPr>
              <a:t>叉树</a:t>
            </a:r>
            <a:endParaRPr lang="zh-CN" altLang="en-US"/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1D269244-84A1-C441-6EBE-C2562255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/>
              <a:t>二叉树</a:t>
            </a:r>
            <a:r>
              <a:rPr lang="en-US" altLang="zh-CN"/>
              <a:t>  </a:t>
            </a:r>
            <a:r>
              <a:rPr lang="zh-CN" altLang="zh-CN">
                <a:solidFill>
                  <a:srgbClr val="FF0000"/>
                </a:solidFill>
              </a:rPr>
              <a:t>前缀码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en-US" altLang="zh-CN"/>
              <a:t>{00,10,011,111,0100,0101}</a:t>
            </a:r>
            <a:endParaRPr lang="zh-CN" altLang="en-US"/>
          </a:p>
        </p:txBody>
      </p:sp>
      <p:sp>
        <p:nvSpPr>
          <p:cNvPr id="35844" name="Rectangle 43">
            <a:extLst>
              <a:ext uri="{FF2B5EF4-FFF2-40B4-BE49-F238E27FC236}">
                <a16:creationId xmlns:a16="http://schemas.microsoft.com/office/drawing/2014/main" id="{41852CE1-65DD-AB95-472A-0067179A8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5845" name="Group 1">
            <a:extLst>
              <a:ext uri="{FF2B5EF4-FFF2-40B4-BE49-F238E27FC236}">
                <a16:creationId xmlns:a16="http://schemas.microsoft.com/office/drawing/2014/main" id="{BF5B9FFC-2219-CA0D-4381-83F06A9496D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11325" y="2636838"/>
            <a:ext cx="5597525" cy="4710112"/>
            <a:chOff x="3512" y="3683"/>
            <a:chExt cx="5247" cy="4414"/>
          </a:xfrm>
        </p:grpSpPr>
        <p:sp>
          <p:nvSpPr>
            <p:cNvPr id="35846" name="AutoShape 42">
              <a:extLst>
                <a:ext uri="{FF2B5EF4-FFF2-40B4-BE49-F238E27FC236}">
                  <a16:creationId xmlns:a16="http://schemas.microsoft.com/office/drawing/2014/main" id="{4AB4E30B-9993-429F-A8E4-00A86CD0C76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935" y="3683"/>
              <a:ext cx="4756" cy="4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7" name="Text Box 41">
              <a:extLst>
                <a:ext uri="{FF2B5EF4-FFF2-40B4-BE49-F238E27FC236}">
                  <a16:creationId xmlns:a16="http://schemas.microsoft.com/office/drawing/2014/main" id="{CA695354-705E-E53A-3BCC-0C0D6094A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2" y="7125"/>
              <a:ext cx="1056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sz="3200"/>
            </a:p>
          </p:txBody>
        </p:sp>
        <p:sp>
          <p:nvSpPr>
            <p:cNvPr id="35848" name="Text Box 40">
              <a:extLst>
                <a:ext uri="{FF2B5EF4-FFF2-40B4-BE49-F238E27FC236}">
                  <a16:creationId xmlns:a16="http://schemas.microsoft.com/office/drawing/2014/main" id="{D7219701-517D-AA88-C165-EE4BD22AE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8" y="7192"/>
              <a:ext cx="107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sz="3200"/>
            </a:p>
          </p:txBody>
        </p:sp>
        <p:sp>
          <p:nvSpPr>
            <p:cNvPr id="35849" name="Text Box 39">
              <a:extLst>
                <a:ext uri="{FF2B5EF4-FFF2-40B4-BE49-F238E27FC236}">
                  <a16:creationId xmlns:a16="http://schemas.microsoft.com/office/drawing/2014/main" id="{B571D1C1-B247-D865-2869-8FA0E38AE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" y="560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  <a:endParaRPr lang="en-US" altLang="zh-CN" sz="3200"/>
            </a:p>
          </p:txBody>
        </p:sp>
        <p:sp>
          <p:nvSpPr>
            <p:cNvPr id="35850" name="Text Box 38">
              <a:extLst>
                <a:ext uri="{FF2B5EF4-FFF2-40B4-BE49-F238E27FC236}">
                  <a16:creationId xmlns:a16="http://schemas.microsoft.com/office/drawing/2014/main" id="{47E106AF-F003-A0CF-0AD7-646584C11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7" y="6529"/>
              <a:ext cx="906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</a:t>
              </a:r>
              <a:endParaRPr lang="en-US" altLang="zh-CN" sz="3200"/>
            </a:p>
          </p:txBody>
        </p:sp>
        <p:sp>
          <p:nvSpPr>
            <p:cNvPr id="35851" name="Text Box 37">
              <a:extLst>
                <a:ext uri="{FF2B5EF4-FFF2-40B4-BE49-F238E27FC236}">
                  <a16:creationId xmlns:a16="http://schemas.microsoft.com/office/drawing/2014/main" id="{A7EB45C5-D567-B8A9-D268-4FF601798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7" y="6539"/>
              <a:ext cx="98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</a:t>
              </a:r>
              <a:endParaRPr lang="en-US" altLang="zh-CN" sz="3200"/>
            </a:p>
          </p:txBody>
        </p:sp>
        <p:sp>
          <p:nvSpPr>
            <p:cNvPr id="35852" name="Text Box 36">
              <a:extLst>
                <a:ext uri="{FF2B5EF4-FFF2-40B4-BE49-F238E27FC236}">
                  <a16:creationId xmlns:a16="http://schemas.microsoft.com/office/drawing/2014/main" id="{39072A5B-2445-D7D9-3CFB-F370F8066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4" y="565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3200"/>
            </a:p>
          </p:txBody>
        </p:sp>
        <p:sp>
          <p:nvSpPr>
            <p:cNvPr id="35853" name="Text Box 35">
              <a:extLst>
                <a:ext uri="{FF2B5EF4-FFF2-40B4-BE49-F238E27FC236}">
                  <a16:creationId xmlns:a16="http://schemas.microsoft.com/office/drawing/2014/main" id="{228E0A81-CEA9-6149-FAC0-2AE1062D44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" y="555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5854" name="Text Box 34">
              <a:extLst>
                <a:ext uri="{FF2B5EF4-FFF2-40B4-BE49-F238E27FC236}">
                  <a16:creationId xmlns:a16="http://schemas.microsoft.com/office/drawing/2014/main" id="{6E78DDC7-DC6D-94F9-ABDE-0D710AB83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" y="567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5855" name="Text Box 33">
              <a:extLst>
                <a:ext uri="{FF2B5EF4-FFF2-40B4-BE49-F238E27FC236}">
                  <a16:creationId xmlns:a16="http://schemas.microsoft.com/office/drawing/2014/main" id="{3AF25D74-57F2-555A-72FB-33B7DE5AE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5" y="5647"/>
              <a:ext cx="515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35856" name="Text Box 32">
              <a:extLst>
                <a:ext uri="{FF2B5EF4-FFF2-40B4-BE49-F238E27FC236}">
                  <a16:creationId xmlns:a16="http://schemas.microsoft.com/office/drawing/2014/main" id="{B1A15B3B-365C-AFB5-321C-EC0D68275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" y="6529"/>
              <a:ext cx="635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35857" name="Text Box 31">
              <a:extLst>
                <a:ext uri="{FF2B5EF4-FFF2-40B4-BE49-F238E27FC236}">
                  <a16:creationId xmlns:a16="http://schemas.microsoft.com/office/drawing/2014/main" id="{9F131446-E82C-167E-B505-5FAB2F124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9" y="6529"/>
              <a:ext cx="604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5858" name="Text Box 30">
              <a:extLst>
                <a:ext uri="{FF2B5EF4-FFF2-40B4-BE49-F238E27FC236}">
                  <a16:creationId xmlns:a16="http://schemas.microsoft.com/office/drawing/2014/main" id="{F92B94FA-173B-B53A-21D2-6567C2464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" y="460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35859" name="Text Box 29">
              <a:extLst>
                <a:ext uri="{FF2B5EF4-FFF2-40B4-BE49-F238E27FC236}">
                  <a16:creationId xmlns:a16="http://schemas.microsoft.com/office/drawing/2014/main" id="{1AB98B20-FC43-7833-8B60-AA9BA92BE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7" y="464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5860" name="Text Box 28">
              <a:extLst>
                <a:ext uri="{FF2B5EF4-FFF2-40B4-BE49-F238E27FC236}">
                  <a16:creationId xmlns:a16="http://schemas.microsoft.com/office/drawing/2014/main" id="{22A93565-4289-6125-9027-825BBA1AC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1" y="474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35861" name="Text Box 27">
              <a:extLst>
                <a:ext uri="{FF2B5EF4-FFF2-40B4-BE49-F238E27FC236}">
                  <a16:creationId xmlns:a16="http://schemas.microsoft.com/office/drawing/2014/main" id="{23CEC222-FDF0-F6CA-FC36-58A280AB0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4" y="470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5862" name="Text Box 26">
              <a:extLst>
                <a:ext uri="{FF2B5EF4-FFF2-40B4-BE49-F238E27FC236}">
                  <a16:creationId xmlns:a16="http://schemas.microsoft.com/office/drawing/2014/main" id="{92BE61CF-8F66-4FEC-86E0-2A53F00A2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3" y="376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/>
            </a:p>
          </p:txBody>
        </p:sp>
        <p:sp>
          <p:nvSpPr>
            <p:cNvPr id="35863" name="Text Box 25">
              <a:extLst>
                <a:ext uri="{FF2B5EF4-FFF2-40B4-BE49-F238E27FC236}">
                  <a16:creationId xmlns:a16="http://schemas.microsoft.com/office/drawing/2014/main" id="{A7DE5E4E-6B27-190F-71AF-155E0BC31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" y="372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5864" name="Oval 24">
              <a:extLst>
                <a:ext uri="{FF2B5EF4-FFF2-40B4-BE49-F238E27FC236}">
                  <a16:creationId xmlns:a16="http://schemas.microsoft.com/office/drawing/2014/main" id="{0EAABEC6-F781-CDAB-24E7-50DDBEE82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452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5" name="Oval 23">
              <a:extLst>
                <a:ext uri="{FF2B5EF4-FFF2-40B4-BE49-F238E27FC236}">
                  <a16:creationId xmlns:a16="http://schemas.microsoft.com/office/drawing/2014/main" id="{FA604A15-38EE-1818-5A6F-B501FAE4F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" y="464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6" name="Oval 22">
              <a:extLst>
                <a:ext uri="{FF2B5EF4-FFF2-40B4-BE49-F238E27FC236}">
                  <a16:creationId xmlns:a16="http://schemas.microsoft.com/office/drawing/2014/main" id="{6A2F2AA6-A708-BD1E-5D60-7801EB6B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" y="547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7" name="Oval 21">
              <a:extLst>
                <a:ext uri="{FF2B5EF4-FFF2-40B4-BE49-F238E27FC236}">
                  <a16:creationId xmlns:a16="http://schemas.microsoft.com/office/drawing/2014/main" id="{777A4362-FF14-8AE9-232B-E83A03738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5" y="5483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8" name="Oval 20">
              <a:extLst>
                <a:ext uri="{FF2B5EF4-FFF2-40B4-BE49-F238E27FC236}">
                  <a16:creationId xmlns:a16="http://schemas.microsoft.com/office/drawing/2014/main" id="{BF75D600-75DB-DEF6-2634-1FEB10550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" y="5498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9" name="Oval 19">
              <a:extLst>
                <a:ext uri="{FF2B5EF4-FFF2-40B4-BE49-F238E27FC236}">
                  <a16:creationId xmlns:a16="http://schemas.microsoft.com/office/drawing/2014/main" id="{E02C8A76-DD3F-99F5-4F47-BDBDDB0A9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" y="5520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0" name="Oval 18">
              <a:extLst>
                <a:ext uri="{FF2B5EF4-FFF2-40B4-BE49-F238E27FC236}">
                  <a16:creationId xmlns:a16="http://schemas.microsoft.com/office/drawing/2014/main" id="{440B5B99-49BB-11CA-71D6-945F8CC3D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6398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1" name="Oval 17">
              <a:extLst>
                <a:ext uri="{FF2B5EF4-FFF2-40B4-BE49-F238E27FC236}">
                  <a16:creationId xmlns:a16="http://schemas.microsoft.com/office/drawing/2014/main" id="{104D30A0-C46F-3465-B079-A7BDF874F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2" y="6398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2" name="Oval 16">
              <a:extLst>
                <a:ext uri="{FF2B5EF4-FFF2-40B4-BE49-F238E27FC236}">
                  <a16:creationId xmlns:a16="http://schemas.microsoft.com/office/drawing/2014/main" id="{DD9F27B8-8BBE-4458-015D-D55D47913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7297"/>
              <a:ext cx="25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3" name="Oval 15">
              <a:extLst>
                <a:ext uri="{FF2B5EF4-FFF2-40B4-BE49-F238E27FC236}">
                  <a16:creationId xmlns:a16="http://schemas.microsoft.com/office/drawing/2014/main" id="{7DE22982-827F-D4DC-37BE-758DDD113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6" y="7297"/>
              <a:ext cx="253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4" name="Oval 14">
              <a:extLst>
                <a:ext uri="{FF2B5EF4-FFF2-40B4-BE49-F238E27FC236}">
                  <a16:creationId xmlns:a16="http://schemas.microsoft.com/office/drawing/2014/main" id="{553B9BBA-2D80-A90F-056A-CAEB8E5A6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1" y="6398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5" name="Oval 13">
              <a:extLst>
                <a:ext uri="{FF2B5EF4-FFF2-40B4-BE49-F238E27FC236}">
                  <a16:creationId xmlns:a16="http://schemas.microsoft.com/office/drawing/2014/main" id="{599A397B-CB93-E3B0-BD31-4563D9598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1" y="3698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35876" name="AutoShape 12">
              <a:extLst>
                <a:ext uri="{FF2B5EF4-FFF2-40B4-BE49-F238E27FC236}">
                  <a16:creationId xmlns:a16="http://schemas.microsoft.com/office/drawing/2014/main" id="{73DBBB7F-86DB-E2D4-B71E-5F4C561940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67" y="4899"/>
              <a:ext cx="49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7" name="AutoShape 11">
              <a:extLst>
                <a:ext uri="{FF2B5EF4-FFF2-40B4-BE49-F238E27FC236}">
                  <a16:creationId xmlns:a16="http://schemas.microsoft.com/office/drawing/2014/main" id="{34C6AC71-69C8-A47F-9B3B-5AF4B3377B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57" y="4899"/>
              <a:ext cx="500" cy="6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8" name="AutoShape 10">
              <a:extLst>
                <a:ext uri="{FF2B5EF4-FFF2-40B4-BE49-F238E27FC236}">
                  <a16:creationId xmlns:a16="http://schemas.microsoft.com/office/drawing/2014/main" id="{2F5D60F3-AEDB-D9F3-96C3-07FF866B63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053" y="5739"/>
              <a:ext cx="339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9" name="AutoShape 9">
              <a:extLst>
                <a:ext uri="{FF2B5EF4-FFF2-40B4-BE49-F238E27FC236}">
                  <a16:creationId xmlns:a16="http://schemas.microsoft.com/office/drawing/2014/main" id="{5B160717-811B-DD18-CA74-AE606DD516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92" y="5739"/>
              <a:ext cx="427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0" name="AutoShape 8">
              <a:extLst>
                <a:ext uri="{FF2B5EF4-FFF2-40B4-BE49-F238E27FC236}">
                  <a16:creationId xmlns:a16="http://schemas.microsoft.com/office/drawing/2014/main" id="{6DC28C50-9590-82B3-E8BA-5BF22531C7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38" y="5739"/>
              <a:ext cx="361" cy="6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1" name="AutoShape 7">
              <a:extLst>
                <a:ext uri="{FF2B5EF4-FFF2-40B4-BE49-F238E27FC236}">
                  <a16:creationId xmlns:a16="http://schemas.microsoft.com/office/drawing/2014/main" id="{38B92C0F-08DA-427B-EED9-1B1C6A7BDE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63" y="6654"/>
              <a:ext cx="430" cy="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2" name="AutoShape 6">
              <a:extLst>
                <a:ext uri="{FF2B5EF4-FFF2-40B4-BE49-F238E27FC236}">
                  <a16:creationId xmlns:a16="http://schemas.microsoft.com/office/drawing/2014/main" id="{1A28905F-D925-7567-3F4A-90BC6F7E4E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25" y="6654"/>
              <a:ext cx="438" cy="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3" name="AutoShape 5">
              <a:extLst>
                <a:ext uri="{FF2B5EF4-FFF2-40B4-BE49-F238E27FC236}">
                  <a16:creationId xmlns:a16="http://schemas.microsoft.com/office/drawing/2014/main" id="{313B3FB3-F4E4-E148-043D-402C47D4C8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73" y="4779"/>
              <a:ext cx="519" cy="7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4" name="AutoShape 4">
              <a:extLst>
                <a:ext uri="{FF2B5EF4-FFF2-40B4-BE49-F238E27FC236}">
                  <a16:creationId xmlns:a16="http://schemas.microsoft.com/office/drawing/2014/main" id="{69C7EB67-01E1-A638-2E61-6C35B90052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00" y="4779"/>
              <a:ext cx="573" cy="6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5" name="AutoShape 3">
              <a:extLst>
                <a:ext uri="{FF2B5EF4-FFF2-40B4-BE49-F238E27FC236}">
                  <a16:creationId xmlns:a16="http://schemas.microsoft.com/office/drawing/2014/main" id="{145F1394-F7EE-F57A-D92A-4EAF0934CC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09" y="3954"/>
              <a:ext cx="1148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6" name="AutoShape 2">
              <a:extLst>
                <a:ext uri="{FF2B5EF4-FFF2-40B4-BE49-F238E27FC236}">
                  <a16:creationId xmlns:a16="http://schemas.microsoft.com/office/drawing/2014/main" id="{230B547A-DAD4-A6F9-86BB-0F55732029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73" y="3954"/>
              <a:ext cx="1036" cy="5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44F10B1-3E77-8917-A211-BC29E2B7B4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55576" y="170080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8.2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题，第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735902-CA89-336A-FD4A-BAE627F00C8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B45A2C-07AE-C208-6DC3-93ACAFE092E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CF806579-278C-16F9-9967-C5C4AE0883C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44C6093F-8BE9-6C04-87B4-FD1E6B33944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1E197A7A-6B4A-A70F-AF73-C7090F45DFA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F4181EF3-E96E-AAAC-B49F-4A12EE4CE0B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0CD6973-9B06-FFA2-F1FD-63C41A9A67F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0517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11921</TotalTime>
  <Words>1463</Words>
  <Application>Microsoft Office PowerPoint</Application>
  <PresentationFormat>全屏显示(4:3)</PresentationFormat>
  <Paragraphs>288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宋体</vt:lpstr>
      <vt:lpstr>Microsoft Yahei</vt:lpstr>
      <vt:lpstr>Calibri</vt:lpstr>
      <vt:lpstr>Tahoma</vt:lpstr>
      <vt:lpstr>Times New Roman</vt:lpstr>
      <vt:lpstr>Wingdings</vt:lpstr>
      <vt:lpstr>Blends</vt:lpstr>
      <vt:lpstr>Equation</vt:lpstr>
      <vt:lpstr>8.3 树</vt:lpstr>
      <vt:lpstr>8.3.1 树的概念 </vt:lpstr>
      <vt:lpstr>8.3.1 树的概念 </vt:lpstr>
      <vt:lpstr>8.3.1 树的概念 </vt:lpstr>
      <vt:lpstr>8.3.1 树的概念 </vt:lpstr>
      <vt:lpstr>8.3.1 树的概念 </vt:lpstr>
      <vt:lpstr>8.3.2 根树</vt:lpstr>
      <vt:lpstr>8.3.1 树的概念 </vt:lpstr>
      <vt:lpstr>8.3.2 根树</vt:lpstr>
      <vt:lpstr>8.3.2 根树</vt:lpstr>
      <vt:lpstr>8.3.2 根树</vt:lpstr>
      <vt:lpstr>8.3.2 根树</vt:lpstr>
      <vt:lpstr>8.3.2 根树</vt:lpstr>
      <vt:lpstr>8.3.2 根树</vt:lpstr>
      <vt:lpstr>8.3.3 决策树</vt:lpstr>
      <vt:lpstr>8.3.3 决策树</vt:lpstr>
      <vt:lpstr>8.3.4  二进制编址</vt:lpstr>
      <vt:lpstr>8.3.4  二进制编址</vt:lpstr>
      <vt:lpstr>8.3.4  二进制编址</vt:lpstr>
      <vt:lpstr>8.3.4  二进制编址</vt:lpstr>
      <vt:lpstr>8.3.4  二进制编址</vt:lpstr>
      <vt:lpstr>8.3.4  二进制编址</vt:lpstr>
      <vt:lpstr>8.3.4  二进制编址</vt:lpstr>
      <vt:lpstr>8.3.4  二进制编址</vt:lpstr>
      <vt:lpstr>8.3.4  二进制编址</vt:lpstr>
      <vt:lpstr>8.3.5  最优二叉树</vt:lpstr>
      <vt:lpstr>8.3.5  最优二叉树</vt:lpstr>
      <vt:lpstr>8.3.5  最优二叉树</vt:lpstr>
      <vt:lpstr>8.3.5  最优二叉树</vt:lpstr>
      <vt:lpstr>8.3.5  最优二叉树</vt:lpstr>
      <vt:lpstr>8.3.5  最优二叉树</vt:lpstr>
      <vt:lpstr>8.3.5  最优二叉树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224</cp:revision>
  <dcterms:created xsi:type="dcterms:W3CDTF">2010-04-09T13:44:14Z</dcterms:created>
  <dcterms:modified xsi:type="dcterms:W3CDTF">2023-12-21T07:47:51Z</dcterms:modified>
</cp:coreProperties>
</file>