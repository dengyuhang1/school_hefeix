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303" r:id="rId2"/>
    <p:sldId id="355" r:id="rId3"/>
    <p:sldId id="305" r:id="rId4"/>
    <p:sldId id="359" r:id="rId5"/>
    <p:sldId id="333" r:id="rId6"/>
    <p:sldId id="307" r:id="rId7"/>
    <p:sldId id="360" r:id="rId8"/>
    <p:sldId id="308" r:id="rId9"/>
    <p:sldId id="361" r:id="rId10"/>
    <p:sldId id="334" r:id="rId11"/>
    <p:sldId id="348" r:id="rId12"/>
    <p:sldId id="335" r:id="rId13"/>
    <p:sldId id="344" r:id="rId14"/>
    <p:sldId id="343" r:id="rId15"/>
    <p:sldId id="342" r:id="rId16"/>
    <p:sldId id="362" r:id="rId17"/>
    <p:sldId id="350" r:id="rId18"/>
    <p:sldId id="363" r:id="rId1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hlink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hlink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hlink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hlink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hlink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hlink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hlink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hlink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hlink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00FF"/>
    <a:srgbClr val="FF0066"/>
    <a:srgbClr val="CC0066"/>
    <a:srgbClr val="008080"/>
    <a:srgbClr val="339933"/>
    <a:srgbClr val="00CC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683" autoAdjust="0"/>
  </p:normalViewPr>
  <p:slideViewPr>
    <p:cSldViewPr>
      <p:cViewPr varScale="1">
        <p:scale>
          <a:sx n="64" d="100"/>
          <a:sy n="64" d="100"/>
        </p:scale>
        <p:origin x="1344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5304422-4710-60EF-8747-0A8CDE99BDBF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DB07F1F-0526-3971-0A3E-B120338E0B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5B0C16C1-AEF4-DFAB-A463-235D60ABE8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7F098687-BD81-658C-70FA-4B385488EF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D42B72FF-7FF0-85F4-1FAB-E855266ABE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B3811F6-6617-8768-A3E8-A40D120B87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F504A21-4686-F7AE-DB01-2F0E6F076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18EF1F53-3082-DD0B-156D-85563220D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C2B2FB01-E9E9-1F59-5C78-8B3B45F9C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B70A613E-AA00-EB04-86F5-A594ACCE175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7046B75E-D4DE-1474-F28C-B265F9D460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1DFF5EA5-9A66-EF09-FA1D-109A53A125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F5930060-A2A9-B26D-9018-EDC08C7546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93C5966-235F-4DA8-8167-F1E6A13F5C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7518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CAA59FF-5680-D2A2-8898-CF010D6C71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DB53DF1-54B8-EAC5-245A-FC7CEFBB18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65B972B-DF46-CD85-B1FA-702120C8A8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B7F82-1B70-4213-B6A6-F54F718F53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8204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A85E703-C824-6EB2-DAA1-7C778579D7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89475EE-0AAD-A4A6-2FE5-ABABF2B4D3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C8678B9-FD8B-A2EB-9ABF-23296F6941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0D1DA-8C29-4E3B-83E1-1806929B12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4366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EA0302F-055B-DB17-F539-1FA983F4A5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4C7C5AA-C4DF-D3BF-FD16-92028EBA04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E085A76-7777-D492-DA9C-C47D301F83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753CA-F791-44E9-90CD-338713EF2F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3245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8072013C-C901-2496-ADBA-10C0FD570B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B92CBDDB-3962-DF07-6607-A5DB12E51B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13AD70FD-E13D-9EA9-578D-F6ADF7FE0B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12F74D-C27A-4CD9-B521-BC1D8B2562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5414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17F21DE7-BE2D-D0A4-1C60-3DEB94C2DB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E10C358C-BDF1-98CB-6190-F9A0494EE7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B07CA83-DE7A-374C-CFB9-681E0216FE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612ABF-2CC4-4551-AF2C-0623BFFE47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2487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354E45B8-ED1B-D6AF-ADC6-478F867379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B5EAF192-F06C-3312-F02B-7100D52352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B65A9720-CB1F-B5E1-37EF-498F06F579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E2BB47-765E-49AA-85C3-6E365E7C27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3152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C7FA574-46ED-B7A7-F57E-D538CFDD06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C50050F-E977-5F44-6A68-E102424EC2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2D05F67-1E58-838E-E2DE-F6051FEAC3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E1D5F-7C61-49E6-AFFE-F2F32D255D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9378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B127A05-1E27-D84B-A77A-EA2DAA7C8C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69B6C7D-8728-7577-CBA7-C6EDEFCBCD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69F46FD-7E1C-5499-4088-C9CC75BE9B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EACB0C-73B8-47E9-943D-460790F5A7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0883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4C51314-32A6-F8B6-BD02-AA25ADB091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1D95011-CB33-69C9-6D84-C50EE49851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F93733A-EBC6-566A-5744-A2BE7D1226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B8FC59-2C81-41E5-8030-CC3E8F2BB2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649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71D064F-3B18-DE0C-31AA-E1F4F6568B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FEB0B96-7C4B-3B68-E49F-FC14D8BF78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CD6B997-1024-772A-DFF6-69EFCC29EA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BD8B7-BE74-4E94-9513-81A371967D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3818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8992E7AB-AF1C-4B98-850B-CA097BDCB6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38A723B-D377-2D5E-6AFF-110836C743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891A16E-A48E-8043-5097-673B8C8F7A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96750F-1DF0-463C-BBCD-57BD351B73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961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61EF734-FB80-8865-3178-F31AE885D59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>
              <a:solidFill>
                <a:schemeClr val="tx1"/>
              </a:solidFill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3C62D6C-26D6-A290-0700-BB456FF49C3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>
              <a:solidFill>
                <a:schemeClr val="tx1"/>
              </a:solidFill>
            </a:endParaRP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BB287AA-D1CA-391A-EE9B-1167B58A67E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>
              <a:solidFill>
                <a:schemeClr val="tx1"/>
              </a:solidFill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564DFF6-7C07-E68B-4D95-096AF61FB33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>
              <a:solidFill>
                <a:schemeClr val="tx1"/>
              </a:solidFill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CC1040D-333A-597E-4B69-4EF6DFDFCCB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>
              <a:solidFill>
                <a:schemeClr val="tx1"/>
              </a:solidFill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7AEB7D33-7B83-5910-7333-D3964257C0B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>
              <a:solidFill>
                <a:schemeClr val="tx1"/>
              </a:solidFill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CD971210-20A5-951F-003D-B479E368882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>
              <a:solidFill>
                <a:schemeClr val="tx1"/>
              </a:solidFill>
            </a:endParaRP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A665AA16-50BC-4181-BF7B-7C8A4D83A5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61D87F3E-365D-72BD-A6A6-7AB099B6C0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481A43CE-B108-CAE2-94F4-B59103031B2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72A61064-0032-94D7-DB87-EBDD6FF8E5C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832304A7-4177-DC1F-FEDF-EA8937CA51F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182E4F5-6B2C-47D1-A280-52844A3892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1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image" Target="../media/image1.tmp"/><Relationship Id="rId5" Type="http://schemas.openxmlformats.org/officeDocument/2006/relationships/tags" Target="../tags/tag39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38.xml"/><Relationship Id="rId9" Type="http://schemas.openxmlformats.org/officeDocument/2006/relationships/tags" Target="../tags/tag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E22DB93-0D68-0F02-2622-4625EC7EC4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1.5   </a:t>
            </a:r>
            <a:r>
              <a:rPr lang="zh-CN" altLang="en-US"/>
              <a:t>蕴含 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9157E20-57EC-B510-3080-3F84DB2065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7450" y="1844675"/>
            <a:ext cx="7767638" cy="4824413"/>
          </a:xfrm>
        </p:spPr>
        <p:txBody>
          <a:bodyPr/>
          <a:lstStyle/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1.5.1 </a:t>
            </a:r>
            <a:r>
              <a:rPr lang="zh-CN" altLang="en-US" sz="4000" b="1"/>
              <a:t>蕴含的概念</a:t>
            </a:r>
            <a:r>
              <a:rPr lang="zh-CN" altLang="en-US" sz="4000"/>
              <a:t> 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1.5.2 </a:t>
            </a:r>
            <a:r>
              <a:rPr lang="zh-CN" altLang="en-US" sz="4000" b="1"/>
              <a:t>证明蕴含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1.5.3 </a:t>
            </a:r>
            <a:r>
              <a:rPr lang="zh-CN" altLang="en-US" sz="4000" b="1"/>
              <a:t>蕴含定理</a:t>
            </a:r>
            <a:r>
              <a:rPr lang="zh-CN" altLang="en-US" sz="4000"/>
              <a:t> 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1.5.4 </a:t>
            </a:r>
            <a:r>
              <a:rPr lang="zh-CN" altLang="en-US" sz="4000" b="1"/>
              <a:t>蕴含的性质</a:t>
            </a:r>
            <a:endParaRPr lang="zh-CN" altLang="en-US"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A1248AA-96BD-80B2-BB74-8A4D06E5FC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1.5.1  </a:t>
            </a:r>
            <a:r>
              <a:rPr lang="zh-CN" altLang="en-US" b="1"/>
              <a:t>蕴含的概念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7CE0647-0D86-601B-4803-D588402D69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840287"/>
          </a:xfrm>
        </p:spPr>
        <p:txBody>
          <a:bodyPr/>
          <a:lstStyle/>
          <a:p>
            <a:pPr eaLnBrk="1" hangingPunct="1">
              <a:lnSpc>
                <a:spcPct val="14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1.5.1</a:t>
            </a:r>
            <a:r>
              <a:rPr lang="en-US" altLang="zh-CN" dirty="0"/>
              <a:t> </a:t>
            </a:r>
            <a:r>
              <a:rPr lang="zh-CN" altLang="en-US" dirty="0"/>
              <a:t>当且仅当命题公式</a:t>
            </a:r>
            <a:r>
              <a:rPr lang="en-US" altLang="zh-CN" dirty="0"/>
              <a:t>P→Q</a:t>
            </a:r>
            <a:r>
              <a:rPr lang="zh-CN" altLang="en-US" dirty="0"/>
              <a:t>为重言式时，称</a:t>
            </a:r>
            <a:r>
              <a:rPr lang="en-US" altLang="zh-CN" dirty="0"/>
              <a:t>P</a:t>
            </a:r>
            <a:r>
              <a:rPr lang="zh-CN" altLang="en-US" b="1" dirty="0">
                <a:solidFill>
                  <a:schemeClr val="hlink"/>
                </a:solidFill>
              </a:rPr>
              <a:t>蕴含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hlink"/>
                </a:solidFill>
              </a:rPr>
              <a:t>imply</a:t>
            </a:r>
            <a:r>
              <a:rPr lang="en-US" altLang="zh-CN" dirty="0"/>
              <a:t>)Q</a:t>
            </a:r>
            <a:r>
              <a:rPr lang="zh-CN" altLang="en-US" dirty="0"/>
              <a:t>，记作</a:t>
            </a:r>
            <a:r>
              <a:rPr lang="en-US" altLang="zh-CN" dirty="0"/>
              <a:t>P</a:t>
            </a:r>
            <a:r>
              <a:rPr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/>
              <a:t>Q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145000"/>
              </a:lnSpc>
            </a:pPr>
            <a:r>
              <a:rPr lang="en-US" altLang="zh-CN" dirty="0"/>
              <a:t>     P</a:t>
            </a:r>
            <a:r>
              <a:rPr lang="en-US" altLang="zh-CN" dirty="0">
                <a:solidFill>
                  <a:srgbClr val="FF00FF"/>
                </a:solidFill>
              </a:rPr>
              <a:t>→</a:t>
            </a:r>
            <a:r>
              <a:rPr lang="en-US" altLang="zh-CN" dirty="0"/>
              <a:t>Q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Q→P                </a:t>
            </a:r>
            <a:r>
              <a:rPr lang="zh-CN" altLang="en-US" dirty="0"/>
              <a:t>逆换式</a:t>
            </a:r>
            <a:r>
              <a:rPr lang="en-US" altLang="zh-CN" dirty="0">
                <a:solidFill>
                  <a:srgbClr val="00E4A8"/>
                </a:solidFill>
              </a:rPr>
              <a:t>converse</a:t>
            </a:r>
            <a:endParaRPr lang="en-US" altLang="zh-CN" dirty="0"/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┐P→┐Q              </a:t>
            </a:r>
            <a:r>
              <a:rPr lang="zh-CN" altLang="en-US" dirty="0"/>
              <a:t>反换式</a:t>
            </a:r>
            <a:r>
              <a:rPr lang="en-US" altLang="zh-CN" dirty="0">
                <a:solidFill>
                  <a:srgbClr val="FF00FF"/>
                </a:solidFill>
              </a:rPr>
              <a:t>inverse</a:t>
            </a:r>
            <a:endParaRPr lang="en-US" altLang="zh-CN" dirty="0"/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┐Q</a:t>
            </a:r>
            <a:r>
              <a:rPr lang="en-US" altLang="zh-CN" dirty="0">
                <a:solidFill>
                  <a:srgbClr val="FF0000"/>
                </a:solidFill>
              </a:rPr>
              <a:t>→</a:t>
            </a:r>
            <a:r>
              <a:rPr lang="en-US" altLang="zh-CN" dirty="0"/>
              <a:t>┐P               </a:t>
            </a:r>
            <a:r>
              <a:rPr lang="zh-CN" altLang="en-US" dirty="0"/>
              <a:t>逆反式</a:t>
            </a:r>
            <a:r>
              <a:rPr lang="en-US" altLang="zh-CN" dirty="0">
                <a:solidFill>
                  <a:srgbClr val="0000FF"/>
                </a:solidFill>
              </a:rPr>
              <a:t>contrapositive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D1706DE-BC76-8D92-A34C-7012B15153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1.5.2  </a:t>
            </a:r>
            <a:r>
              <a:rPr lang="zh-CN" altLang="en-US" b="1"/>
              <a:t>证明蕴含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C7F2280-2CF9-92DE-801A-80971D62E5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343900" cy="4941887"/>
          </a:xfrm>
        </p:spPr>
        <p:txBody>
          <a:bodyPr/>
          <a:lstStyle/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证明</a:t>
            </a:r>
            <a:r>
              <a:rPr lang="en-US" altLang="zh-CN" dirty="0"/>
              <a:t>P</a:t>
            </a:r>
            <a:r>
              <a:rPr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/>
              <a:t>Q</a:t>
            </a:r>
            <a:r>
              <a:rPr lang="zh-CN" altLang="en-US" dirty="0"/>
              <a:t>的三种方法如下：</a:t>
            </a:r>
          </a:p>
          <a:p>
            <a:pPr eaLnBrk="1" hangingPunct="1">
              <a:lnSpc>
                <a:spcPct val="200000"/>
              </a:lnSpc>
              <a:buClr>
                <a:srgbClr val="3333CC"/>
              </a:buClr>
            </a:pPr>
            <a:r>
              <a:rPr lang="zh-CN" altLang="en-US" dirty="0">
                <a:solidFill>
                  <a:srgbClr val="FF0000"/>
                </a:solidFill>
              </a:rPr>
              <a:t>列</a:t>
            </a:r>
            <a:r>
              <a:rPr lang="zh-CN" altLang="en-US" dirty="0">
                <a:solidFill>
                  <a:srgbClr val="000000"/>
                </a:solidFill>
              </a:rPr>
              <a:t>命题公式</a:t>
            </a:r>
            <a:r>
              <a:rPr lang="en-US" altLang="zh-CN" dirty="0">
                <a:solidFill>
                  <a:srgbClr val="000000"/>
                </a:solidFill>
              </a:rPr>
              <a:t>P→Q</a:t>
            </a:r>
            <a:r>
              <a:rPr lang="zh-CN" altLang="en-US" dirty="0">
                <a:solidFill>
                  <a:srgbClr val="00000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真值表。</a:t>
            </a:r>
            <a:r>
              <a:rPr lang="zh-CN" altLang="en-US" dirty="0">
                <a:solidFill>
                  <a:srgbClr val="000000"/>
                </a:solidFill>
              </a:rPr>
              <a:t> 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 dirty="0"/>
              <a:t>设前件</a:t>
            </a:r>
            <a:r>
              <a:rPr lang="en-US" altLang="zh-CN" dirty="0"/>
              <a:t>P</a:t>
            </a:r>
            <a:r>
              <a:rPr lang="zh-CN" altLang="en-US" dirty="0"/>
              <a:t>的真值为</a:t>
            </a:r>
            <a:r>
              <a:rPr lang="en-US" altLang="zh-CN" dirty="0"/>
              <a:t>1</a:t>
            </a:r>
            <a:r>
              <a:rPr lang="zh-CN" altLang="en-US" dirty="0"/>
              <a:t>，证明后件</a:t>
            </a:r>
            <a:r>
              <a:rPr lang="en-US" altLang="zh-CN" dirty="0"/>
              <a:t>Q</a:t>
            </a:r>
            <a:r>
              <a:rPr lang="zh-CN" altLang="en-US" dirty="0"/>
              <a:t>的真值为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lnSpc>
                <a:spcPct val="200000"/>
              </a:lnSpc>
            </a:pPr>
            <a:r>
              <a:rPr lang="zh-CN" altLang="en-US" dirty="0"/>
              <a:t>设后件</a:t>
            </a:r>
            <a:r>
              <a:rPr lang="en-US" altLang="zh-CN" dirty="0"/>
              <a:t>Q</a:t>
            </a:r>
            <a:r>
              <a:rPr lang="zh-CN" altLang="en-US" dirty="0"/>
              <a:t>的真值为</a:t>
            </a:r>
            <a:r>
              <a:rPr lang="en-US" altLang="zh-CN" dirty="0"/>
              <a:t>0</a:t>
            </a:r>
            <a:r>
              <a:rPr lang="zh-CN" altLang="en-US" dirty="0"/>
              <a:t>，证明前件</a:t>
            </a:r>
            <a:r>
              <a:rPr lang="en-US" altLang="zh-CN" dirty="0"/>
              <a:t>P</a:t>
            </a:r>
            <a:r>
              <a:rPr lang="zh-CN" altLang="en-US" dirty="0"/>
              <a:t>的真值为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7">
            <a:extLst>
              <a:ext uri="{FF2B5EF4-FFF2-40B4-BE49-F238E27FC236}">
                <a16:creationId xmlns:a16="http://schemas.microsoft.com/office/drawing/2014/main" id="{466DD3C2-FE15-16B3-3799-AAF398DA8C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3366FF"/>
                </a:solidFill>
              </a:rPr>
              <a:t> </a:t>
            </a:r>
            <a:r>
              <a:rPr lang="en-US" altLang="zh-CN"/>
              <a:t>1.5.2  </a:t>
            </a:r>
            <a:r>
              <a:rPr lang="zh-CN" altLang="en-US" b="1"/>
              <a:t>证明蕴含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C2B53BA-5F60-27C6-7458-66E42ABFCF4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2017713"/>
            <a:ext cx="8281987" cy="4840287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证一</a:t>
            </a:r>
            <a:endParaRPr lang="en-US" altLang="zh-CN" dirty="0"/>
          </a:p>
          <a:p>
            <a:pPr eaLnBrk="1" hangingPunct="1"/>
            <a:r>
              <a:rPr lang="zh-CN" altLang="en-US" dirty="0"/>
              <a:t>┐</a:t>
            </a:r>
            <a:r>
              <a:rPr lang="en-US" altLang="zh-CN" dirty="0"/>
              <a:t>Q∧(P→Q)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┐P</a:t>
            </a:r>
          </a:p>
        </p:txBody>
      </p:sp>
      <p:graphicFrame>
        <p:nvGraphicFramePr>
          <p:cNvPr id="94375" name="Group 167">
            <a:extLst>
              <a:ext uri="{FF2B5EF4-FFF2-40B4-BE49-F238E27FC236}">
                <a16:creationId xmlns:a16="http://schemas.microsoft.com/office/drawing/2014/main" id="{CE4871CE-7FBD-33FB-9BB4-46DEBD4D5AF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116013" y="3716338"/>
          <a:ext cx="6551612" cy="2895600"/>
        </p:xfrm>
        <a:graphic>
          <a:graphicData uri="http://schemas.openxmlformats.org/drawingml/2006/table">
            <a:tbl>
              <a:tblPr/>
              <a:tblGrid>
                <a:gridCol w="1079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7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5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  Q</a:t>
                      </a:r>
                    </a:p>
                  </a:txBody>
                  <a:tcPr marL="91424" marR="91424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┐Q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P→Q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┐Q</a:t>
                      </a:r>
                      <a:r>
                        <a:rPr lang="en-US" altLang="zh-CN" sz="3200" dirty="0"/>
                        <a:t>∧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(P→Q)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┐P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0  0</a:t>
                      </a:r>
                    </a:p>
                  </a:txBody>
                  <a:tcPr marL="91424" marR="91424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1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0  1</a:t>
                      </a:r>
                    </a:p>
                  </a:txBody>
                  <a:tcPr marL="91424" marR="91424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0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1  0</a:t>
                      </a:r>
                    </a:p>
                  </a:txBody>
                  <a:tcPr marL="91424" marR="91424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0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1  1</a:t>
                      </a:r>
                    </a:p>
                  </a:txBody>
                  <a:tcPr marL="91424" marR="91424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0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marL="91424" marR="91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4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9C84079-FC85-EC7D-3949-8AC76157EF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1.5.2  </a:t>
            </a:r>
            <a:r>
              <a:rPr lang="zh-CN" altLang="en-US" b="1"/>
              <a:t>证明蕴含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EEB850C7-3529-1A10-8027-D2ABB5F5F53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11188" y="1916113"/>
            <a:ext cx="4381500" cy="494188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3200" dirty="0">
                <a:solidFill>
                  <a:schemeClr val="hlink"/>
                </a:solidFill>
              </a:rPr>
              <a:t>例</a:t>
            </a:r>
            <a:r>
              <a:rPr lang="en-US" altLang="zh-CN" sz="3200" dirty="0">
                <a:solidFill>
                  <a:schemeClr val="hlink"/>
                </a:solidFill>
              </a:rPr>
              <a:t>1.5.1</a:t>
            </a:r>
            <a:r>
              <a:rPr lang="en-US" altLang="zh-CN" sz="3200" dirty="0"/>
              <a:t> </a:t>
            </a:r>
            <a:r>
              <a:rPr lang="zh-CN" altLang="en-US" sz="3200" dirty="0"/>
              <a:t>证明┐</a:t>
            </a:r>
            <a:r>
              <a:rPr lang="en-US" altLang="zh-CN" sz="3200" dirty="0"/>
              <a:t>Q∧(P→Q)</a:t>
            </a:r>
            <a:r>
              <a:rPr lang="en-US" altLang="zh-CN" sz="3200" dirty="0">
                <a:sym typeface="Symbol" pitchFamily="18" charset="2"/>
              </a:rPr>
              <a:t></a:t>
            </a:r>
            <a:r>
              <a:rPr lang="en-US" altLang="zh-CN" sz="3200" dirty="0"/>
              <a:t>┐P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3200" dirty="0">
                <a:solidFill>
                  <a:schemeClr val="hlink"/>
                </a:solidFill>
              </a:rPr>
              <a:t>证二</a:t>
            </a:r>
            <a:r>
              <a:rPr lang="zh-CN" altLang="en-US" sz="3200" dirty="0"/>
              <a:t>设┐</a:t>
            </a:r>
            <a:r>
              <a:rPr lang="en-US" altLang="zh-CN" sz="3200" dirty="0"/>
              <a:t>Q∧(P→Q)</a:t>
            </a:r>
            <a:r>
              <a:rPr lang="en-US" altLang="zh-CN" sz="3200" dirty="0">
                <a:solidFill>
                  <a:srgbClr val="FF00FF"/>
                </a:solidFill>
              </a:rPr>
              <a:t>1</a:t>
            </a:r>
            <a:endParaRPr lang="en-US" altLang="zh-CN" sz="3200" dirty="0">
              <a:latin typeface="宋体" pitchFamily="2" charset="-122"/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/>
              <a:t>   则┐</a:t>
            </a:r>
            <a:r>
              <a:rPr lang="en-US" altLang="zh-CN" sz="3200" dirty="0"/>
              <a:t>Q</a:t>
            </a:r>
            <a:r>
              <a:rPr lang="zh-CN" altLang="en-US" sz="3200" dirty="0"/>
              <a:t>与</a:t>
            </a:r>
            <a:r>
              <a:rPr lang="en-US" altLang="zh-CN" sz="3200" dirty="0"/>
              <a:t>P→Q</a:t>
            </a:r>
            <a:r>
              <a:rPr lang="zh-CN" altLang="en-US" sz="3200" dirty="0"/>
              <a:t>同为</a:t>
            </a:r>
            <a:r>
              <a:rPr lang="en-US" altLang="zh-CN" sz="3200" dirty="0">
                <a:solidFill>
                  <a:schemeClr val="accent1"/>
                </a:solidFill>
              </a:rPr>
              <a:t>1</a:t>
            </a:r>
            <a:endParaRPr lang="en-US" altLang="zh-CN" sz="3200" dirty="0">
              <a:solidFill>
                <a:schemeClr val="accent1"/>
              </a:solidFill>
              <a:latin typeface="宋体" pitchFamily="2" charset="-122"/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/>
              <a:t>   从而</a:t>
            </a:r>
            <a:r>
              <a:rPr lang="en-US" altLang="zh-CN" sz="3200" dirty="0"/>
              <a:t>P</a:t>
            </a:r>
            <a:r>
              <a:rPr lang="zh-CN" altLang="en-US" sz="3200" dirty="0"/>
              <a:t>与</a:t>
            </a:r>
            <a:r>
              <a:rPr lang="en-US" altLang="zh-CN" sz="3200" dirty="0"/>
              <a:t>Q</a:t>
            </a:r>
            <a:r>
              <a:rPr lang="zh-CN" altLang="en-US" sz="3200" dirty="0"/>
              <a:t>同为</a:t>
            </a:r>
            <a:r>
              <a:rPr lang="en-US" altLang="zh-CN" sz="3200" dirty="0">
                <a:solidFill>
                  <a:schemeClr val="accent1"/>
                </a:solidFill>
              </a:rPr>
              <a:t>0</a:t>
            </a:r>
            <a:endParaRPr lang="en-US" altLang="zh-CN" sz="3200" dirty="0">
              <a:solidFill>
                <a:schemeClr val="accent1"/>
              </a:solidFill>
              <a:latin typeface="宋体" pitchFamily="2" charset="-122"/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/>
              <a:t>   故┐</a:t>
            </a:r>
            <a:r>
              <a:rPr lang="en-US" altLang="zh-CN" sz="3200" dirty="0"/>
              <a:t>P</a:t>
            </a:r>
            <a:r>
              <a:rPr lang="zh-CN" altLang="en-US" sz="3200" dirty="0"/>
              <a:t>为</a:t>
            </a:r>
            <a:r>
              <a:rPr lang="en-US" altLang="zh-CN" sz="3200" dirty="0">
                <a:solidFill>
                  <a:srgbClr val="FF00FF"/>
                </a:solidFill>
              </a:rPr>
              <a:t>1</a:t>
            </a:r>
            <a:endParaRPr lang="en-US" altLang="zh-CN" sz="3200" b="1" dirty="0"/>
          </a:p>
        </p:txBody>
      </p:sp>
      <p:sp>
        <p:nvSpPr>
          <p:cNvPr id="7172" name="内容占位符 1">
            <a:extLst>
              <a:ext uri="{FF2B5EF4-FFF2-40B4-BE49-F238E27FC236}">
                <a16:creationId xmlns:a16="http://schemas.microsoft.com/office/drawing/2014/main" id="{47A7F617-3651-055A-15DC-180A1FB3564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145088" y="1844675"/>
            <a:ext cx="399891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chemeClr val="hlink"/>
                </a:solidFill>
              </a:rPr>
              <a:t>证三</a:t>
            </a:r>
            <a:r>
              <a:rPr lang="zh-CN" altLang="en-US" sz="3200" dirty="0"/>
              <a:t>设┐</a:t>
            </a:r>
            <a:r>
              <a:rPr lang="en-US" altLang="zh-CN" sz="3200" dirty="0"/>
              <a:t>P</a:t>
            </a:r>
            <a:r>
              <a:rPr lang="zh-CN" altLang="en-US" sz="3200" dirty="0"/>
              <a:t>的真值为</a:t>
            </a:r>
            <a:r>
              <a:rPr lang="en-US" altLang="zh-CN" sz="3200" dirty="0">
                <a:solidFill>
                  <a:srgbClr val="FF00FF"/>
                </a:solidFill>
              </a:rPr>
              <a:t>0</a:t>
            </a:r>
            <a:r>
              <a:rPr lang="en-US" altLang="zh-CN" sz="3200" dirty="0"/>
              <a:t>,</a:t>
            </a:r>
            <a:r>
              <a:rPr lang="zh-CN" altLang="en-US" sz="3200" dirty="0"/>
              <a:t>则</a:t>
            </a:r>
            <a:r>
              <a:rPr lang="en-US" altLang="zh-CN" sz="3200" dirty="0"/>
              <a:t>P</a:t>
            </a:r>
            <a:r>
              <a:rPr lang="zh-CN" altLang="en-US" sz="3200" dirty="0"/>
              <a:t>的真值为</a:t>
            </a:r>
            <a:r>
              <a:rPr lang="en-US" altLang="zh-CN" sz="3200" dirty="0"/>
              <a:t>1</a:t>
            </a:r>
            <a:r>
              <a:rPr lang="zh-CN" altLang="en-US" sz="3200" dirty="0"/>
              <a:t>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dirty="0"/>
              <a:t>   </a:t>
            </a:r>
            <a:r>
              <a:rPr lang="en-US" altLang="zh-CN" sz="3200" dirty="0"/>
              <a:t>(</a:t>
            </a:r>
            <a:r>
              <a:rPr lang="en-US" altLang="zh-CN" sz="3200" dirty="0">
                <a:solidFill>
                  <a:schemeClr val="accent1"/>
                </a:solidFill>
              </a:rPr>
              <a:t>1</a:t>
            </a:r>
            <a:r>
              <a:rPr lang="en-US" altLang="zh-CN" sz="3200" dirty="0"/>
              <a:t>)</a:t>
            </a:r>
            <a:r>
              <a:rPr lang="zh-CN" altLang="en-US" sz="3200" dirty="0"/>
              <a:t>当</a:t>
            </a:r>
            <a:r>
              <a:rPr lang="en-US" altLang="zh-CN" sz="3200" dirty="0"/>
              <a:t>Q</a:t>
            </a:r>
            <a:r>
              <a:rPr lang="zh-CN" altLang="en-US" sz="3200" dirty="0"/>
              <a:t>为</a:t>
            </a:r>
            <a:r>
              <a:rPr lang="en-US" altLang="zh-CN" sz="3200" dirty="0"/>
              <a:t>1</a:t>
            </a:r>
            <a:r>
              <a:rPr lang="zh-CN" altLang="en-US" sz="3200" dirty="0"/>
              <a:t>时</a:t>
            </a:r>
            <a:r>
              <a:rPr lang="en-US" altLang="zh-CN" sz="3200" dirty="0"/>
              <a:t>,</a:t>
            </a:r>
            <a:r>
              <a:rPr lang="zh-CN" altLang="en-US" sz="3200" dirty="0"/>
              <a:t>得 </a:t>
            </a:r>
            <a:endParaRPr lang="en-US" altLang="zh-CN" sz="3200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     </a:t>
            </a:r>
            <a:r>
              <a:rPr lang="zh-CN" altLang="en-US" sz="3200" dirty="0"/>
              <a:t>┐</a:t>
            </a:r>
            <a:r>
              <a:rPr lang="en-US" altLang="zh-CN" sz="3200" dirty="0"/>
              <a:t>Q∧(P→Q) </a:t>
            </a:r>
            <a:r>
              <a:rPr lang="en-US" altLang="zh-CN" sz="3200" dirty="0">
                <a:solidFill>
                  <a:srgbClr val="FF00FF"/>
                </a:solidFill>
              </a:rPr>
              <a:t>0</a:t>
            </a:r>
            <a:endParaRPr lang="en-US" altLang="zh-CN" sz="3200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   (</a:t>
            </a:r>
            <a:r>
              <a:rPr lang="en-US" altLang="zh-CN" sz="3200" dirty="0">
                <a:solidFill>
                  <a:schemeClr val="accent1"/>
                </a:solidFill>
              </a:rPr>
              <a:t>2</a:t>
            </a:r>
            <a:r>
              <a:rPr lang="en-US" altLang="zh-CN" sz="3200" dirty="0"/>
              <a:t>)</a:t>
            </a:r>
            <a:r>
              <a:rPr lang="zh-CN" altLang="en-US" sz="3200" dirty="0"/>
              <a:t>当</a:t>
            </a:r>
            <a:r>
              <a:rPr lang="en-US" altLang="zh-CN" sz="3200" dirty="0"/>
              <a:t>Q</a:t>
            </a:r>
            <a:r>
              <a:rPr lang="zh-CN" altLang="en-US" sz="3200" dirty="0"/>
              <a:t>为</a:t>
            </a:r>
            <a:r>
              <a:rPr lang="en-US" altLang="zh-CN" sz="3200" dirty="0"/>
              <a:t>0</a:t>
            </a:r>
            <a:r>
              <a:rPr lang="zh-CN" altLang="en-US" sz="3200" dirty="0"/>
              <a:t>时</a:t>
            </a:r>
            <a:r>
              <a:rPr lang="en-US" altLang="zh-CN" sz="3200" dirty="0"/>
              <a:t>,</a:t>
            </a:r>
            <a:r>
              <a:rPr lang="zh-CN" altLang="en-US" sz="3200" dirty="0"/>
              <a:t>得</a:t>
            </a:r>
            <a:endParaRPr lang="en-US" altLang="zh-CN" sz="3200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     </a:t>
            </a:r>
            <a:r>
              <a:rPr lang="zh-CN" altLang="en-US" sz="3200" dirty="0"/>
              <a:t>┐</a:t>
            </a:r>
            <a:r>
              <a:rPr lang="en-US" altLang="zh-CN" sz="3200" dirty="0"/>
              <a:t>Q∧(P→Q)</a:t>
            </a:r>
            <a:r>
              <a:rPr lang="zh-CN" altLang="en-US" sz="3200" dirty="0"/>
              <a:t> </a:t>
            </a:r>
            <a:r>
              <a:rPr lang="en-US" altLang="zh-CN" sz="3200" dirty="0">
                <a:solidFill>
                  <a:srgbClr val="FF00FF"/>
                </a:solidFill>
              </a:rPr>
              <a:t>0</a:t>
            </a:r>
            <a:endParaRPr lang="en-US" altLang="zh-CN" sz="3200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D8D5749-39A3-8557-AF62-6D34007FE6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1.5.3  </a:t>
            </a:r>
            <a:r>
              <a:rPr lang="zh-CN" altLang="en-US" b="1"/>
              <a:t>蕴含定理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BA8B4A7-E835-7AEA-2055-81AE072416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017713"/>
            <a:ext cx="8270875" cy="4840287"/>
          </a:xfrm>
        </p:spPr>
        <p:txBody>
          <a:bodyPr/>
          <a:lstStyle/>
          <a:p>
            <a:pPr eaLnBrk="1" hangingPunct="1"/>
            <a:r>
              <a:rPr lang="en-US" altLang="zh-CN" dirty="0"/>
              <a:t>P∧Q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                            I</a:t>
            </a:r>
            <a:r>
              <a:rPr lang="en-US" altLang="zh-CN" baseline="-25000" dirty="0"/>
              <a:t>1</a:t>
            </a:r>
            <a:endParaRPr lang="en-US" altLang="zh-CN" dirty="0"/>
          </a:p>
          <a:p>
            <a:pPr eaLnBrk="1" hangingPunct="1"/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P∨Q                            I</a:t>
            </a:r>
            <a:r>
              <a:rPr lang="en-US" altLang="zh-CN" baseline="-25000" dirty="0"/>
              <a:t>2</a:t>
            </a:r>
            <a:endParaRPr lang="en-US" altLang="zh-CN" dirty="0"/>
          </a:p>
          <a:p>
            <a:pPr eaLnBrk="1" hangingPunct="1"/>
            <a:r>
              <a:rPr lang="en-US" altLang="zh-CN" dirty="0"/>
              <a:t>┐</a:t>
            </a:r>
            <a:r>
              <a:rPr lang="en-US" altLang="zh-CN" dirty="0">
                <a:solidFill>
                  <a:schemeClr val="hlink"/>
                </a:solidFill>
              </a:rPr>
              <a:t>P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chemeClr val="accent1"/>
                </a:solidFill>
              </a:rPr>
              <a:t>P</a:t>
            </a:r>
            <a:r>
              <a:rPr lang="en-US" altLang="zh-CN" dirty="0"/>
              <a:t>→Q                         I</a:t>
            </a:r>
            <a:r>
              <a:rPr lang="en-US" altLang="zh-CN" baseline="-25000" dirty="0"/>
              <a:t>3</a:t>
            </a:r>
            <a:endParaRPr lang="en-US" altLang="zh-CN" dirty="0"/>
          </a:p>
          <a:p>
            <a:pPr eaLnBrk="1" hangingPunct="1"/>
            <a:r>
              <a:rPr lang="en-US" altLang="zh-CN" dirty="0">
                <a:solidFill>
                  <a:schemeClr val="accent1"/>
                </a:solidFill>
              </a:rPr>
              <a:t>Q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P→</a:t>
            </a:r>
            <a:r>
              <a:rPr lang="en-US" altLang="zh-CN" dirty="0">
                <a:solidFill>
                  <a:srgbClr val="CC0066"/>
                </a:solidFill>
              </a:rPr>
              <a:t>Q</a:t>
            </a:r>
            <a:r>
              <a:rPr lang="en-US" altLang="zh-CN" dirty="0"/>
              <a:t>                            I</a:t>
            </a:r>
            <a:r>
              <a:rPr lang="en-US" altLang="zh-CN" baseline="-25000" dirty="0"/>
              <a:t>4</a:t>
            </a:r>
            <a:endParaRPr lang="en-US" altLang="zh-CN" dirty="0"/>
          </a:p>
          <a:p>
            <a:pPr eaLnBrk="1" hangingPunct="1"/>
            <a:r>
              <a:rPr lang="en-US" altLang="zh-CN" dirty="0"/>
              <a:t>┐(P→Q)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                       I</a:t>
            </a:r>
            <a:r>
              <a:rPr lang="en-US" altLang="zh-CN" baseline="-25000" dirty="0"/>
              <a:t>5</a:t>
            </a:r>
            <a:endParaRPr lang="en-US" altLang="zh-CN" dirty="0"/>
          </a:p>
          <a:p>
            <a:pPr eaLnBrk="1" hangingPunct="1"/>
            <a:r>
              <a:rPr lang="en-US" altLang="zh-CN" dirty="0"/>
              <a:t>┐(P→Q)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┐Q                   I</a:t>
            </a:r>
            <a:r>
              <a:rPr lang="en-US" altLang="zh-CN" baseline="-25000" dirty="0"/>
              <a:t>6</a:t>
            </a:r>
            <a:endParaRPr lang="en-US" altLang="zh-CN" dirty="0"/>
          </a:p>
          <a:p>
            <a:pPr eaLnBrk="1" hangingPunct="1"/>
            <a:r>
              <a:rPr lang="en-US" altLang="zh-CN" dirty="0">
                <a:solidFill>
                  <a:srgbClr val="CC0066"/>
                </a:solidFill>
              </a:rPr>
              <a:t>P</a:t>
            </a:r>
            <a:r>
              <a:rPr lang="en-US" altLang="zh-CN" dirty="0"/>
              <a:t>∧(</a:t>
            </a:r>
            <a:r>
              <a:rPr lang="en-US" altLang="zh-CN" dirty="0">
                <a:solidFill>
                  <a:srgbClr val="CC0066"/>
                </a:solidFill>
              </a:rPr>
              <a:t>P</a:t>
            </a:r>
            <a:r>
              <a:rPr lang="en-US" altLang="zh-CN" dirty="0"/>
              <a:t>→Q)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Q                     I</a:t>
            </a:r>
            <a:r>
              <a:rPr lang="en-US" altLang="zh-CN" baseline="-25000" dirty="0"/>
              <a:t>7</a:t>
            </a:r>
            <a:endParaRPr lang="en-US" altLang="zh-CN" dirty="0"/>
          </a:p>
          <a:p>
            <a:pPr eaLnBrk="1" hangingPunct="1"/>
            <a:r>
              <a:rPr lang="en-US" altLang="zh-CN" dirty="0"/>
              <a:t>┐</a:t>
            </a:r>
            <a:r>
              <a:rPr lang="en-US" altLang="zh-CN" dirty="0">
                <a:solidFill>
                  <a:schemeClr val="accent1"/>
                </a:solidFill>
              </a:rPr>
              <a:t>Q</a:t>
            </a:r>
            <a:r>
              <a:rPr lang="en-US" altLang="zh-CN" dirty="0"/>
              <a:t>∧(P→</a:t>
            </a:r>
            <a:r>
              <a:rPr lang="en-US" altLang="zh-CN" dirty="0">
                <a:solidFill>
                  <a:schemeClr val="accent1"/>
                </a:solidFill>
              </a:rPr>
              <a:t>Q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┐P              I</a:t>
            </a:r>
            <a:r>
              <a:rPr lang="en-US" altLang="zh-CN" baseline="-25000" dirty="0"/>
              <a:t>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BD4EA6A-5C54-1279-1468-46C07EBFDAB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下列蕴含式正确的是（   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D1D97C-BB81-3259-A339-FDC2D0573E1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olidFill>
                  <a:schemeClr val="tx1"/>
                </a:solidFill>
              </a:rPr>
              <a:t>P∧Q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solidFill>
                  <a:schemeClr val="tx1"/>
                </a:solidFill>
              </a:rPr>
              <a:t>P</a:t>
            </a:r>
            <a:endParaRPr lang="zh-CN" altLang="en-US" sz="26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1EFEB3-E7F2-4BF3-B2D5-3D52C052DC0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>
                <a:solidFill>
                  <a:schemeClr val="tx1"/>
                </a:solidFill>
              </a:rPr>
              <a:t>P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solidFill>
                  <a:schemeClr val="tx1"/>
                </a:solidFill>
              </a:rPr>
              <a:t> P∧Q</a:t>
            </a:r>
            <a:endParaRPr lang="zh-CN" altLang="en-US" sz="2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B53A87-E63D-9BF8-4E22-3C2511F9D76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olidFill>
                  <a:schemeClr val="tx1"/>
                </a:solidFill>
              </a:rPr>
              <a:t>P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solidFill>
                  <a:schemeClr val="tx1"/>
                </a:solidFill>
              </a:rPr>
              <a:t>P∨Q</a:t>
            </a:r>
            <a:endParaRPr lang="zh-CN" altLang="en-US" sz="26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89BA0A-739C-7FAF-FC5F-448AC85DE55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>
                <a:solidFill>
                  <a:schemeClr val="tx1"/>
                </a:solidFill>
              </a:rPr>
              <a:t>P∨Q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 </a:t>
            </a:r>
            <a:r>
              <a:rPr lang="en-US" altLang="zh-CN" sz="2400" dirty="0">
                <a:solidFill>
                  <a:schemeClr val="tx1"/>
                </a:solidFill>
              </a:rPr>
              <a:t>P</a:t>
            </a:r>
            <a:endParaRPr lang="zh-CN" altLang="en-US" sz="2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7F1288-3E36-DC20-AD66-2610DF6EFA65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31AD09B-A224-2AFA-E81F-9AC242EE881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8106C16-0983-6FA9-5312-8D6B0AF142B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8170DD0-4ADF-FB35-06BA-E0920F8D9EB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DC3B740-2B67-0D94-EAF6-9EB93E462D03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153C3712-C90B-B92E-8A1D-FEB4C584E41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AAC2B637-5E24-2709-945F-6F01FC2E6CC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0" lang="zh-CN" altLang="en-US" sz="28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08367A38-AC1C-B61F-27D1-2E0C0EB130D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0" lang="zh-CN" altLang="en-US" sz="28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85466DA8-B3A5-651C-74DD-8F6074B0EF0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899934C9-9C1D-D1AC-D5C7-FBE4CFE5133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17DF588-49FE-255D-2EC4-E0333D4333B5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69596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A353D80-585F-9914-32FC-23434FA054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1.5.3  </a:t>
            </a:r>
            <a:r>
              <a:rPr lang="zh-CN" altLang="en-US" b="1"/>
              <a:t>蕴含定理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38970D2-BF25-3603-44DE-DBBCE593A4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840287"/>
          </a:xfrm>
        </p:spPr>
        <p:txBody>
          <a:bodyPr/>
          <a:lstStyle/>
          <a:p>
            <a:pPr eaLnBrk="1" hangingPunct="1"/>
            <a:r>
              <a:rPr lang="en-US" altLang="zh-CN" dirty="0"/>
              <a:t>┐P∧(P∨Q)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Q                               I</a:t>
            </a:r>
            <a:r>
              <a:rPr lang="en-US" altLang="zh-CN" baseline="-25000" dirty="0"/>
              <a:t>9</a:t>
            </a:r>
            <a:endParaRPr lang="en-US" altLang="zh-CN" dirty="0"/>
          </a:p>
          <a:p>
            <a:pPr eaLnBrk="1" hangingPunct="1"/>
            <a:r>
              <a:rPr lang="en-US" altLang="zh-CN" dirty="0"/>
              <a:t>(P→</a:t>
            </a:r>
            <a:r>
              <a:rPr lang="en-US" altLang="zh-CN" dirty="0">
                <a:solidFill>
                  <a:srgbClr val="CC0066"/>
                </a:solidFill>
              </a:rPr>
              <a:t>Q</a:t>
            </a:r>
            <a:r>
              <a:rPr lang="en-US" altLang="zh-CN" dirty="0"/>
              <a:t>)∧(</a:t>
            </a:r>
            <a:r>
              <a:rPr lang="en-US" altLang="zh-CN" dirty="0">
                <a:solidFill>
                  <a:srgbClr val="CC0066"/>
                </a:solidFill>
              </a:rPr>
              <a:t>Q</a:t>
            </a:r>
            <a:r>
              <a:rPr lang="en-US" altLang="zh-CN" dirty="0"/>
              <a:t>→R)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P→R                     I</a:t>
            </a:r>
            <a:r>
              <a:rPr lang="en-US" altLang="zh-CN" baseline="-25000" dirty="0"/>
              <a:t>10</a:t>
            </a:r>
            <a:endParaRPr lang="en-US" altLang="zh-CN" dirty="0"/>
          </a:p>
          <a:p>
            <a:pPr eaLnBrk="1" hangingPunct="1"/>
            <a:r>
              <a:rPr lang="en-US" altLang="zh-CN" dirty="0"/>
              <a:t>(</a:t>
            </a:r>
            <a:r>
              <a:rPr lang="en-US" altLang="zh-CN" dirty="0">
                <a:solidFill>
                  <a:schemeClr val="accent1"/>
                </a:solidFill>
              </a:rPr>
              <a:t>P</a:t>
            </a:r>
            <a:r>
              <a:rPr lang="en-US" altLang="zh-CN" dirty="0"/>
              <a:t>∨</a:t>
            </a:r>
            <a:r>
              <a:rPr lang="en-US" altLang="zh-CN" dirty="0">
                <a:solidFill>
                  <a:schemeClr val="accent1"/>
                </a:solidFill>
              </a:rPr>
              <a:t>Q</a:t>
            </a:r>
            <a:r>
              <a:rPr lang="en-US" altLang="zh-CN" dirty="0"/>
              <a:t>)∧(</a:t>
            </a:r>
            <a:r>
              <a:rPr lang="en-US" altLang="zh-CN" dirty="0">
                <a:solidFill>
                  <a:srgbClr val="CC0066"/>
                </a:solidFill>
              </a:rPr>
              <a:t>P</a:t>
            </a:r>
            <a:r>
              <a:rPr lang="en-US" altLang="zh-CN" dirty="0"/>
              <a:t>→R)∧(</a:t>
            </a:r>
            <a:r>
              <a:rPr lang="en-US" altLang="zh-CN" dirty="0">
                <a:solidFill>
                  <a:srgbClr val="CC0066"/>
                </a:solidFill>
              </a:rPr>
              <a:t>Q</a:t>
            </a:r>
            <a:r>
              <a:rPr lang="en-US" altLang="zh-CN" dirty="0"/>
              <a:t>→R)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R              I</a:t>
            </a:r>
            <a:r>
              <a:rPr lang="en-US" altLang="zh-CN" baseline="-25000" dirty="0"/>
              <a:t>11</a:t>
            </a:r>
            <a:endParaRPr lang="en-US" altLang="zh-CN" dirty="0"/>
          </a:p>
          <a:p>
            <a:pPr eaLnBrk="1" hangingPunct="1"/>
            <a:r>
              <a:rPr lang="en-US" altLang="zh-CN" dirty="0"/>
              <a:t>(P→</a:t>
            </a:r>
            <a:r>
              <a:rPr lang="en-US" altLang="zh-CN" dirty="0">
                <a:solidFill>
                  <a:srgbClr val="FF00FF"/>
                </a:solidFill>
              </a:rPr>
              <a:t>Q</a:t>
            </a:r>
            <a:r>
              <a:rPr lang="en-US" altLang="zh-CN" dirty="0"/>
              <a:t>)∧(R→</a:t>
            </a:r>
            <a:r>
              <a:rPr lang="en-US" altLang="zh-CN" dirty="0">
                <a:solidFill>
                  <a:srgbClr val="FF00FF"/>
                </a:solidFill>
              </a:rPr>
              <a:t>S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(P∧R)→(</a:t>
            </a:r>
            <a:r>
              <a:rPr lang="en-US" altLang="zh-CN" dirty="0">
                <a:solidFill>
                  <a:srgbClr val="FF00FF"/>
                </a:solidFill>
              </a:rPr>
              <a:t>Q</a:t>
            </a:r>
            <a:r>
              <a:rPr lang="en-US" altLang="zh-CN" dirty="0"/>
              <a:t>∧</a:t>
            </a:r>
            <a:r>
              <a:rPr lang="en-US" altLang="zh-CN" dirty="0">
                <a:solidFill>
                  <a:srgbClr val="FF00FF"/>
                </a:solidFill>
              </a:rPr>
              <a:t>S</a:t>
            </a:r>
            <a:r>
              <a:rPr lang="en-US" altLang="zh-CN" dirty="0"/>
              <a:t>)       I</a:t>
            </a:r>
            <a:r>
              <a:rPr lang="en-US" altLang="zh-CN" baseline="-25000" dirty="0"/>
              <a:t>12</a:t>
            </a:r>
            <a:endParaRPr lang="en-US" altLang="zh-CN" dirty="0"/>
          </a:p>
          <a:p>
            <a:pPr eaLnBrk="1" hangingPunct="1"/>
            <a:r>
              <a:rPr lang="en-US" altLang="zh-CN" dirty="0"/>
              <a:t>(P↔</a:t>
            </a:r>
            <a:r>
              <a:rPr lang="en-US" altLang="zh-CN" dirty="0">
                <a:solidFill>
                  <a:schemeClr val="hlink"/>
                </a:solidFill>
              </a:rPr>
              <a:t>Q</a:t>
            </a:r>
            <a:r>
              <a:rPr lang="en-US" altLang="zh-CN" dirty="0"/>
              <a:t>)∧(</a:t>
            </a:r>
            <a:r>
              <a:rPr lang="en-US" altLang="zh-CN" dirty="0">
                <a:solidFill>
                  <a:schemeClr val="hlink"/>
                </a:solidFill>
              </a:rPr>
              <a:t>Q</a:t>
            </a:r>
            <a:r>
              <a:rPr lang="en-US" altLang="zh-CN" dirty="0"/>
              <a:t>↔R)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P↔R                      I</a:t>
            </a:r>
            <a:r>
              <a:rPr lang="en-US" altLang="zh-CN" baseline="-25000" dirty="0"/>
              <a:t>13</a:t>
            </a:r>
            <a:endParaRPr lang="en-US" altLang="zh-CN" dirty="0"/>
          </a:p>
          <a:p>
            <a:pPr eaLnBrk="1" hangingPunct="1"/>
            <a:r>
              <a:rPr lang="en-US" altLang="zh-CN" dirty="0"/>
              <a:t>P→Q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(P∨</a:t>
            </a:r>
            <a:r>
              <a:rPr lang="en-US" altLang="zh-CN" dirty="0">
                <a:solidFill>
                  <a:schemeClr val="accent1"/>
                </a:solidFill>
              </a:rPr>
              <a:t>R</a:t>
            </a:r>
            <a:r>
              <a:rPr lang="en-US" altLang="zh-CN" dirty="0"/>
              <a:t>)→(Q∨</a:t>
            </a:r>
            <a:r>
              <a:rPr lang="en-US" altLang="zh-CN" dirty="0">
                <a:solidFill>
                  <a:schemeClr val="accent1"/>
                </a:solidFill>
              </a:rPr>
              <a:t>R</a:t>
            </a:r>
            <a:r>
              <a:rPr lang="en-US" altLang="zh-CN" dirty="0"/>
              <a:t>)                      I</a:t>
            </a:r>
            <a:r>
              <a:rPr lang="en-US" altLang="zh-CN" baseline="-25000" dirty="0"/>
              <a:t>14</a:t>
            </a:r>
            <a:endParaRPr lang="en-US" altLang="zh-CN" dirty="0"/>
          </a:p>
          <a:p>
            <a:pPr eaLnBrk="1" hangingPunct="1"/>
            <a:r>
              <a:rPr lang="en-US" altLang="zh-CN" dirty="0"/>
              <a:t>P→Q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(P∧</a:t>
            </a:r>
            <a:r>
              <a:rPr lang="en-US" altLang="zh-CN" dirty="0">
                <a:solidFill>
                  <a:srgbClr val="CC0066"/>
                </a:solidFill>
              </a:rPr>
              <a:t>R</a:t>
            </a:r>
            <a:r>
              <a:rPr lang="en-US" altLang="zh-CN" dirty="0"/>
              <a:t>)→(Q∧</a:t>
            </a:r>
            <a:r>
              <a:rPr lang="en-US" altLang="zh-CN" dirty="0">
                <a:solidFill>
                  <a:srgbClr val="CC0066"/>
                </a:solidFill>
              </a:rPr>
              <a:t>R</a:t>
            </a:r>
            <a:r>
              <a:rPr lang="en-US" altLang="zh-CN" dirty="0"/>
              <a:t>)                      I</a:t>
            </a:r>
            <a:r>
              <a:rPr lang="en-US" altLang="zh-CN" baseline="-25000" dirty="0"/>
              <a:t>15</a:t>
            </a: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534151-4B55-CF6F-364A-DD6DBEF30E0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下列蕴含式正确的是（   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30A88A7-B1A6-0096-1847-85537ED1C88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(P→Q) ∨(R→S)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 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(P∨R)→(Q∨S)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8464119-D8C4-98FB-F3BD-E613EFFC034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olidFill>
                  <a:schemeClr val="tx1"/>
                </a:solidFill>
              </a:rPr>
              <a:t>(P→Q)∧(R→S)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solidFill>
                  <a:schemeClr val="tx1"/>
                </a:solidFill>
              </a:rPr>
              <a:t>(P∧R)→(Q∧S)</a:t>
            </a:r>
            <a:endParaRPr lang="zh-CN" altLang="en-US" sz="28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D87B106-5C28-43B3-90CC-18BCF940633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olidFill>
                  <a:schemeClr val="tx1"/>
                </a:solidFill>
              </a:rPr>
              <a:t>P→Q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solidFill>
                  <a:schemeClr val="tx1"/>
                </a:solidFill>
              </a:rPr>
              <a:t>(P∨R)→(Q∨R)</a:t>
            </a:r>
            <a:endParaRPr lang="zh-CN" altLang="en-US" sz="2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664A8B-6C9B-8547-D302-DCECBFA8773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eaLnBrk="1" hangingPunct="1"/>
            <a:r>
              <a:rPr lang="en-US" altLang="zh-CN" sz="2800" dirty="0">
                <a:solidFill>
                  <a:schemeClr val="tx1"/>
                </a:solidFill>
              </a:rPr>
              <a:t>P→Q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solidFill>
                  <a:schemeClr val="tx1"/>
                </a:solidFill>
              </a:rPr>
              <a:t>(P∧R)→(Q∧R)                     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6F8663D-7F9F-BD4E-55FE-C8915AACB330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01655A-518B-2785-EB46-5AF1A04E0C4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0137C4B-5D09-FFC1-2612-5094A5ECACA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A0CED98-5375-DA80-91AF-7AF4503B056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BFD1FA4-F69F-DF2D-8B6C-D4573C2EC396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68E8C38-DF6D-CFB3-379E-0A9ECA9C6E60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EB1CE5EB-7962-E596-E675-F3C0A0BF660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0" lang="zh-CN" altLang="en-US" sz="28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A7F97DA9-6CA5-3581-D1BF-C1DBD75FEEF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0" lang="zh-CN" altLang="en-US" sz="28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C412E73E-631E-CFAA-B1FB-8B01F1B49E02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D18E3F9E-B2F0-829B-9639-E03DAFE67FAC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EE454ED3-9796-B8E3-D6CF-64FB21EA3EA3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22263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8A6FB3F-9A03-6A3C-0EC4-0C4FFB1C06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1.5.4 </a:t>
            </a:r>
            <a:r>
              <a:rPr lang="zh-CN" altLang="en-US" sz="5400" b="1"/>
              <a:t>蕴含的性质</a:t>
            </a:r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1C8A5C39-58DF-2860-BBC7-F06E85C421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353425" cy="4941887"/>
          </a:xfrm>
        </p:spPr>
        <p:txBody>
          <a:bodyPr/>
          <a:lstStyle/>
          <a:p>
            <a:pPr eaLnBrk="1" hangingPunct="1">
              <a:lnSpc>
                <a:spcPts val="48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1.5.1</a:t>
            </a:r>
            <a:r>
              <a:rPr lang="en-US" altLang="zh-CN" dirty="0"/>
              <a:t> </a:t>
            </a:r>
            <a:r>
              <a:rPr lang="zh-CN" altLang="en-US" dirty="0"/>
              <a:t>设命题公式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en-US" altLang="zh-CN" dirty="0">
                <a:sym typeface="Symbol" pitchFamily="18" charset="2"/>
              </a:rPr>
              <a:t></a:t>
            </a:r>
            <a:r>
              <a:rPr lang="en-US" altLang="zh-CN" dirty="0"/>
              <a:t>B</a:t>
            </a:r>
            <a:r>
              <a:rPr lang="zh-CN" altLang="en-US" dirty="0">
                <a:solidFill>
                  <a:srgbClr val="FF00FF"/>
                </a:solidFill>
              </a:rPr>
              <a:t>当且仅当</a:t>
            </a:r>
            <a:r>
              <a:rPr lang="en-US" altLang="zh-CN" dirty="0"/>
              <a:t>A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B</a:t>
            </a:r>
            <a:r>
              <a:rPr lang="zh-CN" altLang="en-US" dirty="0"/>
              <a:t>且</a:t>
            </a:r>
            <a:r>
              <a:rPr lang="en-US" altLang="zh-CN" dirty="0"/>
              <a:t>B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A</a:t>
            </a:r>
            <a:r>
              <a:rPr lang="zh-CN" altLang="en-US" dirty="0"/>
              <a:t>。</a:t>
            </a:r>
            <a:endParaRPr lang="zh-CN" altLang="en-US" b="1" dirty="0"/>
          </a:p>
          <a:p>
            <a:pPr eaLnBrk="1" hangingPunct="1">
              <a:lnSpc>
                <a:spcPts val="48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zh-CN" altLang="en-US" dirty="0"/>
              <a:t>       </a:t>
            </a:r>
            <a:r>
              <a:rPr lang="en-US" altLang="zh-CN" dirty="0"/>
              <a:t>A</a:t>
            </a:r>
            <a:r>
              <a:rPr lang="en-US" altLang="zh-CN" dirty="0">
                <a:sym typeface="Symbol" pitchFamily="18" charset="2"/>
              </a:rPr>
              <a:t></a:t>
            </a:r>
            <a:r>
              <a:rPr lang="en-US" altLang="zh-CN" dirty="0"/>
              <a:t>B</a:t>
            </a:r>
          </a:p>
          <a:p>
            <a:pPr marL="0" indent="0" eaLnBrk="1" hangingPunct="1">
              <a:lnSpc>
                <a:spcPts val="48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 A↔B</a:t>
            </a:r>
            <a:r>
              <a:rPr lang="zh-CN" altLang="en-US" dirty="0"/>
              <a:t>            </a:t>
            </a:r>
            <a:r>
              <a:rPr lang="en-US" altLang="zh-CN" dirty="0">
                <a:solidFill>
                  <a:schemeClr val="accent1"/>
                </a:solidFill>
              </a:rPr>
              <a:t>1</a:t>
            </a:r>
            <a:r>
              <a:rPr lang="zh-CN" altLang="en-US" dirty="0"/>
              <a:t>        </a:t>
            </a:r>
            <a:endParaRPr lang="en-US" altLang="zh-CN" dirty="0"/>
          </a:p>
          <a:p>
            <a:pPr marL="0" indent="0" eaLnBrk="1" hangingPunct="1">
              <a:lnSpc>
                <a:spcPts val="48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</a:t>
            </a:r>
            <a:r>
              <a:rPr lang="en-US" altLang="zh-CN" dirty="0">
                <a:solidFill>
                  <a:srgbClr val="FF00FF"/>
                </a:solidFill>
              </a:rPr>
              <a:t>(A→B)∧(B→A)</a:t>
            </a:r>
          </a:p>
          <a:p>
            <a:pPr marL="0" indent="0" eaLnBrk="1" hangingPunct="1">
              <a:lnSpc>
                <a:spcPts val="48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</a:t>
            </a:r>
            <a:r>
              <a:rPr lang="en-US" altLang="zh-CN" dirty="0"/>
              <a:t>A→B</a:t>
            </a:r>
            <a:r>
              <a:rPr lang="zh-CN" altLang="en-US" dirty="0"/>
              <a:t>与</a:t>
            </a:r>
            <a:r>
              <a:rPr lang="en-US" altLang="zh-CN" dirty="0"/>
              <a:t>B→A</a:t>
            </a:r>
            <a:r>
              <a:rPr lang="zh-CN" altLang="en-US" dirty="0"/>
              <a:t>       </a:t>
            </a:r>
            <a:r>
              <a:rPr lang="en-US" altLang="zh-CN" dirty="0">
                <a:solidFill>
                  <a:schemeClr val="accent1"/>
                </a:solidFill>
              </a:rPr>
              <a:t>1</a:t>
            </a:r>
            <a:r>
              <a:rPr lang="zh-CN" altLang="en-US" dirty="0"/>
              <a:t>      </a:t>
            </a:r>
            <a:endParaRPr lang="en-US" altLang="zh-CN" dirty="0"/>
          </a:p>
          <a:p>
            <a:pPr marL="0" indent="0" eaLnBrk="1" hangingPunct="1">
              <a:lnSpc>
                <a:spcPts val="48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A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B</a:t>
            </a:r>
            <a:r>
              <a:rPr lang="zh-CN" altLang="en-US" dirty="0"/>
              <a:t>且</a:t>
            </a:r>
            <a:r>
              <a:rPr lang="en-US" altLang="zh-CN" dirty="0"/>
              <a:t>B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A</a:t>
            </a:r>
            <a:endParaRPr lang="zh-CN" altLang="en-US" dirty="0"/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59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FA8F9E6-E31C-5416-8A35-C2627BBC84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1.5.4 </a:t>
            </a:r>
            <a:r>
              <a:rPr lang="zh-CN" altLang="en-US" sz="5400" b="1"/>
              <a:t>蕴含的性质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AAA2C1A-7BF4-EAB3-EF97-24D76CCFB4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840287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1.5.2</a:t>
            </a:r>
            <a:r>
              <a:rPr lang="en-US" altLang="zh-CN" dirty="0"/>
              <a:t> </a:t>
            </a:r>
            <a:r>
              <a:rPr lang="zh-CN" altLang="en-US" dirty="0"/>
              <a:t>设命题公式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(1)</a:t>
            </a:r>
            <a:r>
              <a:rPr lang="zh-CN" altLang="en-US" dirty="0"/>
              <a:t>若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B</a:t>
            </a:r>
            <a:r>
              <a:rPr lang="zh-CN" altLang="en-US" dirty="0"/>
              <a:t>且</a:t>
            </a:r>
            <a:r>
              <a:rPr lang="en-US" altLang="zh-CN" dirty="0"/>
              <a:t>A</a:t>
            </a:r>
            <a:r>
              <a:rPr lang="zh-CN" altLang="en-US" dirty="0"/>
              <a:t>为重言式，则</a:t>
            </a:r>
            <a:r>
              <a:rPr lang="en-US" altLang="zh-CN" dirty="0"/>
              <a:t>B</a:t>
            </a:r>
            <a:r>
              <a:rPr lang="zh-CN" altLang="en-US" dirty="0"/>
              <a:t>为重言式。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</a:t>
            </a:r>
            <a:r>
              <a:rPr lang="en-US" altLang="zh-CN" dirty="0"/>
              <a:t>(2)</a:t>
            </a:r>
            <a:r>
              <a:rPr lang="zh-CN" altLang="en-US" dirty="0"/>
              <a:t>若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B</a:t>
            </a:r>
            <a:r>
              <a:rPr lang="zh-CN" altLang="en-US" dirty="0"/>
              <a:t>且</a:t>
            </a:r>
            <a:r>
              <a:rPr lang="en-US" altLang="zh-CN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C</a:t>
            </a:r>
            <a:r>
              <a:rPr lang="zh-CN" altLang="en-US" dirty="0"/>
              <a:t>，则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C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</a:t>
            </a:r>
            <a:r>
              <a:rPr lang="en-US" altLang="zh-CN" dirty="0"/>
              <a:t>(3)</a:t>
            </a:r>
            <a:r>
              <a:rPr lang="zh-CN" altLang="en-US" dirty="0"/>
              <a:t>若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B</a:t>
            </a:r>
            <a:r>
              <a:rPr lang="zh-CN" altLang="en-US" dirty="0"/>
              <a:t>且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C</a:t>
            </a:r>
            <a:r>
              <a:rPr lang="zh-CN" altLang="en-US" dirty="0"/>
              <a:t>，则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B∧C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</a:t>
            </a:r>
            <a:r>
              <a:rPr lang="en-US" altLang="zh-CN" dirty="0"/>
              <a:t>(4)</a:t>
            </a:r>
            <a:r>
              <a:rPr lang="zh-CN" altLang="en-US" dirty="0"/>
              <a:t>若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C</a:t>
            </a:r>
            <a:r>
              <a:rPr lang="zh-CN" altLang="en-US" dirty="0"/>
              <a:t>且</a:t>
            </a:r>
            <a:r>
              <a:rPr lang="en-US" altLang="zh-CN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C</a:t>
            </a:r>
            <a:r>
              <a:rPr lang="zh-CN" altLang="en-US" dirty="0"/>
              <a:t>，则</a:t>
            </a:r>
            <a:r>
              <a:rPr lang="en-US" altLang="zh-CN" dirty="0"/>
              <a:t>A∨B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C</a:t>
            </a:r>
            <a:r>
              <a:rPr lang="zh-CN" altLang="en-US" dirty="0"/>
              <a:t>。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D180577-D021-BF0A-4D5E-EDC3ACCD3B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1.5.4 </a:t>
            </a:r>
            <a:r>
              <a:rPr lang="zh-CN" altLang="en-US" sz="5400" b="1"/>
              <a:t>蕴含的性质</a:t>
            </a:r>
          </a:p>
        </p:txBody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2FDB56CC-874F-92B7-C87C-0B0DDD781C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840287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en-US" altLang="zh-CN" dirty="0"/>
              <a:t>(1)</a:t>
            </a:r>
            <a:r>
              <a:rPr lang="zh-CN" altLang="en-US" dirty="0"/>
              <a:t>若</a:t>
            </a:r>
            <a:r>
              <a:rPr lang="en-US" altLang="zh-CN" dirty="0"/>
              <a:t>A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B</a:t>
            </a:r>
            <a:r>
              <a:rPr lang="zh-CN" altLang="en-US" dirty="0"/>
              <a:t>且</a:t>
            </a:r>
            <a:r>
              <a:rPr lang="en-US" altLang="zh-CN" dirty="0"/>
              <a:t>A</a:t>
            </a:r>
            <a:r>
              <a:rPr lang="zh-CN" altLang="en-US" dirty="0"/>
              <a:t>为重言式，则</a:t>
            </a:r>
            <a:r>
              <a:rPr lang="en-US" altLang="zh-CN" dirty="0"/>
              <a:t>B</a:t>
            </a:r>
            <a:r>
              <a:rPr lang="zh-CN" altLang="en-US" dirty="0"/>
              <a:t>为重言式。</a:t>
            </a:r>
          </a:p>
          <a:p>
            <a:pPr eaLnBrk="1" hangingPunct="1">
              <a:lnSpc>
                <a:spcPct val="20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zh-CN" altLang="en-US" dirty="0"/>
              <a:t>   因为</a:t>
            </a:r>
            <a:r>
              <a:rPr lang="en-US" altLang="zh-CN" dirty="0"/>
              <a:t>A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B</a:t>
            </a:r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 则</a:t>
            </a:r>
            <a:r>
              <a:rPr lang="en-US" altLang="zh-CN" dirty="0"/>
              <a:t>A→B</a:t>
            </a:r>
            <a:r>
              <a:rPr lang="zh-CN" altLang="en-US" dirty="0"/>
              <a:t>是重言式。又</a:t>
            </a:r>
            <a:r>
              <a:rPr lang="en-US" altLang="zh-CN" dirty="0"/>
              <a:t>A</a:t>
            </a:r>
            <a:r>
              <a:rPr lang="zh-CN" altLang="en-US" dirty="0"/>
              <a:t>为重言式</a:t>
            </a:r>
            <a:endParaRPr lang="en-US" altLang="zh-CN" dirty="0"/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 所以</a:t>
            </a:r>
            <a:r>
              <a:rPr lang="en-US" altLang="zh-CN" dirty="0"/>
              <a:t>B</a:t>
            </a:r>
            <a:r>
              <a:rPr lang="zh-CN" altLang="en-US" dirty="0"/>
              <a:t>为重言式。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0C15A12-26AE-57B7-FE9B-95C7A272F5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1.5.4 </a:t>
            </a:r>
            <a:r>
              <a:rPr lang="zh-CN" altLang="en-US" sz="5400" b="1"/>
              <a:t>蕴含的性质</a:t>
            </a:r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11C18C22-AA08-A541-DD82-4AD539F5AD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84028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zh-CN" dirty="0"/>
              <a:t>(2)</a:t>
            </a:r>
            <a:r>
              <a:rPr lang="zh-CN" altLang="en-US" dirty="0"/>
              <a:t>若</a:t>
            </a:r>
            <a:r>
              <a:rPr lang="en-US" altLang="zh-CN" dirty="0"/>
              <a:t>A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B</a:t>
            </a:r>
            <a:r>
              <a:rPr lang="zh-CN" altLang="en-US" dirty="0"/>
              <a:t>且</a:t>
            </a:r>
            <a:r>
              <a:rPr lang="en-US" altLang="zh-CN" dirty="0"/>
              <a:t>B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C</a:t>
            </a:r>
            <a:r>
              <a:rPr lang="zh-CN" altLang="en-US" dirty="0"/>
              <a:t>，则</a:t>
            </a:r>
            <a:r>
              <a:rPr lang="en-US" altLang="zh-CN" dirty="0"/>
              <a:t>A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C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证明  </a:t>
            </a:r>
            <a:r>
              <a:rPr lang="zh-CN" altLang="en-US" dirty="0"/>
              <a:t>因为</a:t>
            </a:r>
            <a:r>
              <a:rPr lang="en-US" altLang="zh-CN" dirty="0"/>
              <a:t>A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B</a:t>
            </a:r>
            <a:r>
              <a:rPr lang="zh-CN" altLang="en-US" dirty="0"/>
              <a:t>且</a:t>
            </a:r>
            <a:r>
              <a:rPr lang="en-US" altLang="zh-CN" dirty="0"/>
              <a:t>B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则</a:t>
            </a:r>
            <a:r>
              <a:rPr lang="en-US" altLang="zh-CN" dirty="0"/>
              <a:t>A→B</a:t>
            </a:r>
            <a:r>
              <a:rPr lang="zh-CN" altLang="en-US" dirty="0"/>
              <a:t>与</a:t>
            </a:r>
            <a:r>
              <a:rPr lang="en-US" altLang="zh-CN" dirty="0"/>
              <a:t>B→C</a:t>
            </a:r>
            <a:r>
              <a:rPr lang="zh-CN" altLang="en-US" dirty="0"/>
              <a:t>均是重言式。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又</a:t>
            </a:r>
            <a:r>
              <a:rPr lang="en-US" altLang="zh-CN" dirty="0"/>
              <a:t>(A→B)∧(B→C)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A→C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所以由</a:t>
            </a:r>
            <a:r>
              <a:rPr lang="en-US" altLang="zh-CN" dirty="0"/>
              <a:t>(1)</a:t>
            </a:r>
            <a:r>
              <a:rPr lang="zh-CN" altLang="en-US" dirty="0"/>
              <a:t>知</a:t>
            </a:r>
            <a:r>
              <a:rPr lang="en-US" altLang="zh-CN" dirty="0"/>
              <a:t>A→C</a:t>
            </a:r>
            <a:r>
              <a:rPr lang="zh-CN" altLang="en-US" dirty="0"/>
              <a:t>是重言式。</a:t>
            </a:r>
          </a:p>
          <a:p>
            <a:pPr eaLnBrk="1" hangingPunct="1">
              <a:lnSpc>
                <a:spcPct val="120000"/>
              </a:lnSpc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399E4C9-D769-0923-AF9B-CD75A3AB8A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1.5.4 </a:t>
            </a:r>
            <a:r>
              <a:rPr lang="zh-CN" altLang="en-US" sz="5400" b="1"/>
              <a:t>蕴含的性质</a:t>
            </a:r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8A136F40-6946-D5AE-7D64-4ABB38CB0A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017713"/>
            <a:ext cx="8270875" cy="4840287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en-US" altLang="zh-CN" dirty="0"/>
              <a:t>(3)</a:t>
            </a:r>
            <a:r>
              <a:rPr lang="zh-CN" altLang="en-US" dirty="0"/>
              <a:t>若</a:t>
            </a:r>
            <a:r>
              <a:rPr lang="en-US" altLang="zh-CN" dirty="0"/>
              <a:t>A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B</a:t>
            </a:r>
            <a:r>
              <a:rPr lang="zh-CN" altLang="en-US" dirty="0"/>
              <a:t>且</a:t>
            </a:r>
            <a:r>
              <a:rPr lang="en-US" altLang="zh-CN" dirty="0"/>
              <a:t>A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C</a:t>
            </a:r>
            <a:r>
              <a:rPr lang="zh-CN" altLang="en-US" dirty="0"/>
              <a:t>，则</a:t>
            </a:r>
            <a:r>
              <a:rPr lang="en-US" altLang="zh-CN" dirty="0"/>
              <a:t>A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B∧C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lnSpc>
                <a:spcPct val="200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证明 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的真值为</a:t>
            </a:r>
            <a:r>
              <a:rPr lang="en-US" altLang="zh-CN" dirty="0">
                <a:solidFill>
                  <a:schemeClr val="hlink"/>
                </a:solidFill>
              </a:rPr>
              <a:t>1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由</a:t>
            </a:r>
            <a:r>
              <a:rPr lang="en-US" altLang="zh-CN" dirty="0"/>
              <a:t>A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B</a:t>
            </a:r>
            <a:r>
              <a:rPr lang="zh-CN" altLang="en-US" dirty="0"/>
              <a:t>且</a:t>
            </a:r>
            <a:r>
              <a:rPr lang="en-US" altLang="zh-CN" dirty="0"/>
              <a:t>A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C</a:t>
            </a:r>
            <a:r>
              <a:rPr lang="zh-CN" altLang="en-US" dirty="0"/>
              <a:t>得</a:t>
            </a:r>
            <a:r>
              <a:rPr lang="en-US" altLang="zh-CN" dirty="0"/>
              <a:t>B</a:t>
            </a:r>
            <a:r>
              <a:rPr lang="zh-CN" altLang="en-US" dirty="0"/>
              <a:t>与</a:t>
            </a:r>
            <a:r>
              <a:rPr lang="en-US" altLang="zh-CN" dirty="0"/>
              <a:t>C</a:t>
            </a:r>
            <a:r>
              <a:rPr lang="zh-CN" altLang="en-US" dirty="0"/>
              <a:t>的真值均为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endParaRPr lang="en-US" altLang="zh-CN" dirty="0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</a:t>
            </a:r>
            <a:r>
              <a:rPr lang="zh-CN" altLang="en-US" dirty="0"/>
              <a:t>从而</a:t>
            </a:r>
            <a:r>
              <a:rPr lang="en-US" altLang="zh-CN" dirty="0"/>
              <a:t>B∧C</a:t>
            </a:r>
            <a:r>
              <a:rPr lang="zh-CN" altLang="en-US" dirty="0"/>
              <a:t>的真值为</a:t>
            </a:r>
            <a:r>
              <a:rPr lang="en-US" altLang="zh-CN" dirty="0">
                <a:solidFill>
                  <a:schemeClr val="hlink"/>
                </a:solidFill>
              </a:rPr>
              <a:t>1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745A003-5DC6-6569-CA66-DA9D805F11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1.5.4 </a:t>
            </a:r>
            <a:r>
              <a:rPr lang="zh-CN" altLang="en-US" sz="5400" b="1"/>
              <a:t>蕴含的性质</a:t>
            </a:r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87788B99-C7D7-439E-74B6-503956EC15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840287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en-US" altLang="zh-CN" dirty="0"/>
              <a:t>(4)</a:t>
            </a:r>
            <a:r>
              <a:rPr lang="zh-CN" altLang="en-US" dirty="0"/>
              <a:t>若</a:t>
            </a:r>
            <a:r>
              <a:rPr lang="en-US" altLang="zh-CN" dirty="0"/>
              <a:t>A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C</a:t>
            </a:r>
            <a:r>
              <a:rPr lang="zh-CN" altLang="en-US" dirty="0"/>
              <a:t>且</a:t>
            </a:r>
            <a:r>
              <a:rPr lang="en-US" altLang="zh-CN" dirty="0"/>
              <a:t>B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C</a:t>
            </a:r>
            <a:r>
              <a:rPr lang="zh-CN" altLang="en-US" dirty="0"/>
              <a:t>，则</a:t>
            </a:r>
            <a:r>
              <a:rPr lang="en-US" altLang="zh-CN" dirty="0"/>
              <a:t>A∨B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C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lnSpc>
                <a:spcPct val="200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证明  </a:t>
            </a:r>
            <a:r>
              <a:rPr lang="zh-CN" altLang="en-US" dirty="0"/>
              <a:t>设</a:t>
            </a:r>
            <a:r>
              <a:rPr lang="en-US" altLang="zh-CN" dirty="0"/>
              <a:t>C</a:t>
            </a:r>
            <a:r>
              <a:rPr lang="zh-CN" altLang="en-US" dirty="0"/>
              <a:t>的真值为</a:t>
            </a:r>
            <a:r>
              <a:rPr lang="en-US" altLang="zh-CN" dirty="0">
                <a:solidFill>
                  <a:schemeClr val="hlink"/>
                </a:solidFill>
              </a:rPr>
              <a:t>0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由</a:t>
            </a:r>
            <a:r>
              <a:rPr lang="en-US" altLang="zh-CN" dirty="0"/>
              <a:t>A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C</a:t>
            </a:r>
            <a:r>
              <a:rPr lang="zh-CN" altLang="en-US" dirty="0"/>
              <a:t>且</a:t>
            </a:r>
            <a:r>
              <a:rPr lang="en-US" altLang="zh-CN" dirty="0"/>
              <a:t>B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C</a:t>
            </a:r>
            <a:r>
              <a:rPr lang="zh-CN" altLang="en-US" dirty="0"/>
              <a:t>得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的真值均为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从而</a:t>
            </a:r>
            <a:r>
              <a:rPr lang="en-US" altLang="zh-CN" dirty="0"/>
              <a:t>A∨B</a:t>
            </a:r>
            <a:r>
              <a:rPr lang="zh-CN" altLang="en-US" dirty="0"/>
              <a:t>的真值为</a:t>
            </a:r>
            <a:r>
              <a:rPr lang="en-US" altLang="zh-CN" dirty="0">
                <a:solidFill>
                  <a:schemeClr val="hlink"/>
                </a:solidFill>
              </a:rPr>
              <a:t>0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>
            <a:extLst>
              <a:ext uri="{FF2B5EF4-FFF2-40B4-BE49-F238E27FC236}">
                <a16:creationId xmlns:a16="http://schemas.microsoft.com/office/drawing/2014/main" id="{D8AAF73D-B253-CA47-FAC6-671A3F3278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  作  业</a:t>
            </a:r>
          </a:p>
        </p:txBody>
      </p:sp>
      <p:sp>
        <p:nvSpPr>
          <p:cNvPr id="16387" name="内容占位符 2">
            <a:extLst>
              <a:ext uri="{FF2B5EF4-FFF2-40B4-BE49-F238E27FC236}">
                <a16:creationId xmlns:a16="http://schemas.microsoft.com/office/drawing/2014/main" id="{855D446D-A732-4C48-7AB5-5FEF83BC12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2688" y="2017713"/>
            <a:ext cx="7772400" cy="4724400"/>
          </a:xfrm>
        </p:spPr>
        <p:txBody>
          <a:bodyPr/>
          <a:lstStyle/>
          <a:p>
            <a:pPr>
              <a:lnSpc>
                <a:spcPct val="300000"/>
              </a:lnSpc>
            </a:pPr>
            <a:r>
              <a:rPr lang="en-US" altLang="zh-CN" dirty="0"/>
              <a:t>1. </a:t>
            </a:r>
            <a:r>
              <a:rPr lang="zh-CN" altLang="en-US" dirty="0"/>
              <a:t>下列式子中，（   ）不正确</a:t>
            </a:r>
            <a:endParaRPr lang="en-US" altLang="zh-CN" dirty="0"/>
          </a:p>
          <a:p>
            <a:r>
              <a:rPr lang="en-US" altLang="zh-CN" dirty="0"/>
              <a:t>A P-&gt;(Q-&gt;R)=&gt;(P-&gt;Q)-&gt;(P-&gt;R)</a:t>
            </a:r>
          </a:p>
          <a:p>
            <a:r>
              <a:rPr lang="en-US" altLang="zh-CN" dirty="0"/>
              <a:t>B P-&gt;(Q-&gt;R)=&gt;(P-&gt;Q)-&gt;R</a:t>
            </a:r>
          </a:p>
          <a:p>
            <a:r>
              <a:rPr lang="en-US" altLang="zh-CN" dirty="0"/>
              <a:t>C P-&gt;(Q-&gt;R)</a:t>
            </a:r>
            <a:r>
              <a:rPr lang="en-US" altLang="zh-CN" dirty="0">
                <a:sym typeface="Wingdings" panose="05000000000000000000" pitchFamily="2" charset="2"/>
              </a:rPr>
              <a:t>Q-&gt;(P-&gt;R)</a:t>
            </a:r>
          </a:p>
          <a:p>
            <a:r>
              <a:rPr lang="en-US" altLang="zh-CN" dirty="0">
                <a:sym typeface="Wingdings" panose="05000000000000000000" pitchFamily="2" charset="2"/>
              </a:rPr>
              <a:t>D P-&gt;(Q-&gt;R)(P</a:t>
            </a:r>
            <a:r>
              <a:rPr lang="en-US" altLang="zh-CN" dirty="0"/>
              <a:t> ∧Q</a:t>
            </a:r>
            <a:r>
              <a:rPr lang="en-US" altLang="zh-CN" dirty="0">
                <a:sym typeface="Wingdings" panose="05000000000000000000" pitchFamily="2" charset="2"/>
              </a:rPr>
              <a:t>)-&gt;R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4210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>
            <a:extLst>
              <a:ext uri="{FF2B5EF4-FFF2-40B4-BE49-F238E27FC236}">
                <a16:creationId xmlns:a16="http://schemas.microsoft.com/office/drawing/2014/main" id="{D8AAF73D-B253-CA47-FAC6-671A3F3278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  作  业</a:t>
            </a:r>
          </a:p>
        </p:txBody>
      </p:sp>
      <p:sp>
        <p:nvSpPr>
          <p:cNvPr id="16387" name="内容占位符 2">
            <a:extLst>
              <a:ext uri="{FF2B5EF4-FFF2-40B4-BE49-F238E27FC236}">
                <a16:creationId xmlns:a16="http://schemas.microsoft.com/office/drawing/2014/main" id="{855D446D-A732-4C48-7AB5-5FEF83BC12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2688" y="2017713"/>
            <a:ext cx="7772400" cy="4724400"/>
          </a:xfrm>
        </p:spPr>
        <p:txBody>
          <a:bodyPr/>
          <a:lstStyle/>
          <a:p>
            <a:pPr>
              <a:lnSpc>
                <a:spcPct val="300000"/>
              </a:lnSpc>
            </a:pPr>
            <a:r>
              <a:rPr lang="en-US" altLang="zh-CN" dirty="0">
                <a:solidFill>
                  <a:srgbClr val="FF0066"/>
                </a:solidFill>
              </a:rPr>
              <a:t>P17   </a:t>
            </a:r>
            <a:r>
              <a:rPr lang="zh-CN" altLang="en-US" dirty="0"/>
              <a:t>习题</a:t>
            </a:r>
            <a:r>
              <a:rPr lang="en-US" altLang="zh-CN"/>
              <a:t>1.5   8</a:t>
            </a:r>
            <a:endParaRPr lang="en-US" altLang="zh-C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200F2DB-BDE8-BFD2-5A93-F7293E62CC5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1141859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证明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P17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页第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题（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5F34EA0-BF08-063F-4E77-AD47F9A0A41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8CC11AE-7428-553E-6FFC-E5C991E4230C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58800C94-A6BF-C6B4-4F97-8E9FCCC6B37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0" lang="zh-CN" altLang="en-US" sz="28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F965A197-31F0-76D6-6292-D049398269A8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0" lang="zh-CN" altLang="en-US" sz="28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6A5E1F8B-C109-CC68-A0EA-BF643C2CA034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8AC93795-2F40-C0F4-79AB-4A03E1B15E52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86BEF64-B0D9-20F8-CBE8-4B68F1DCA2E8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185517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2783</TotalTime>
  <Words>1121</Words>
  <Application>Microsoft Office PowerPoint</Application>
  <PresentationFormat>全屏显示(4:3)</PresentationFormat>
  <Paragraphs>143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宋体</vt:lpstr>
      <vt:lpstr>Microsoft Yahei</vt:lpstr>
      <vt:lpstr>Tahoma</vt:lpstr>
      <vt:lpstr>Wingdings</vt:lpstr>
      <vt:lpstr>Blends</vt:lpstr>
      <vt:lpstr> 1.5   蕴含 </vt:lpstr>
      <vt:lpstr> 1.5.1  蕴含的概念</vt:lpstr>
      <vt:lpstr> 1.5.2  证明蕴含</vt:lpstr>
      <vt:lpstr> 1.5.2  证明蕴含</vt:lpstr>
      <vt:lpstr>1.5.2  证明蕴含</vt:lpstr>
      <vt:lpstr> 1.5.3  蕴含定理</vt:lpstr>
      <vt:lpstr>PowerPoint 演示文稿</vt:lpstr>
      <vt:lpstr> 1.5.3  蕴含定理</vt:lpstr>
      <vt:lpstr>PowerPoint 演示文稿</vt:lpstr>
      <vt:lpstr>1.5.4 蕴含的性质</vt:lpstr>
      <vt:lpstr>1.5.4 蕴含的性质</vt:lpstr>
      <vt:lpstr>1.5.4 蕴含的性质</vt:lpstr>
      <vt:lpstr>1.5.4 蕴含的性质</vt:lpstr>
      <vt:lpstr>1.5.4 蕴含的性质</vt:lpstr>
      <vt:lpstr>1.5.4 蕴含的性质</vt:lpstr>
      <vt:lpstr>  作  业</vt:lpstr>
      <vt:lpstr>  作  业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Duoduo</cp:lastModifiedBy>
  <cp:revision>58</cp:revision>
  <dcterms:created xsi:type="dcterms:W3CDTF">2010-04-09T13:44:14Z</dcterms:created>
  <dcterms:modified xsi:type="dcterms:W3CDTF">2023-12-13T01:40:25Z</dcterms:modified>
</cp:coreProperties>
</file>