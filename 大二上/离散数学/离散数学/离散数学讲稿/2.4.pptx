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04" r:id="rId2"/>
    <p:sldId id="347" r:id="rId3"/>
    <p:sldId id="307" r:id="rId4"/>
    <p:sldId id="342" r:id="rId5"/>
    <p:sldId id="344" r:id="rId6"/>
    <p:sldId id="308" r:id="rId7"/>
    <p:sldId id="310" r:id="rId8"/>
    <p:sldId id="311" r:id="rId9"/>
    <p:sldId id="322" r:id="rId10"/>
    <p:sldId id="348" r:id="rId11"/>
    <p:sldId id="339" r:id="rId12"/>
    <p:sldId id="313" r:id="rId13"/>
    <p:sldId id="323" r:id="rId14"/>
    <p:sldId id="349" r:id="rId15"/>
    <p:sldId id="337" r:id="rId16"/>
    <p:sldId id="338" r:id="rId17"/>
    <p:sldId id="353" r:id="rId18"/>
    <p:sldId id="312" r:id="rId19"/>
    <p:sldId id="351" r:id="rId20"/>
    <p:sldId id="352" r:id="rId21"/>
    <p:sldId id="324" r:id="rId22"/>
    <p:sldId id="325" r:id="rId23"/>
    <p:sldId id="354" r:id="rId24"/>
    <p:sldId id="355" r:id="rId25"/>
    <p:sldId id="356" r:id="rId2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Char char="n"/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Char char="n"/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Char char="n"/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Char char="n"/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Char char="n"/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66"/>
    <a:srgbClr val="CC0066"/>
    <a:srgbClr val="0066FF"/>
    <a:srgbClr val="008080"/>
    <a:srgbClr val="339933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83" autoAdjust="0"/>
  </p:normalViewPr>
  <p:slideViewPr>
    <p:cSldViewPr>
      <p:cViewPr varScale="1">
        <p:scale>
          <a:sx n="66" d="100"/>
          <a:sy n="66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4F0739-D4C6-CF49-C184-BE193E9BD0F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1C1DD49-D6AC-A59B-810B-6C6DB04395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10ACDC7B-153B-1C19-B962-47013AFFD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0E7C31E5-09A9-9C5E-9893-214A6A6EA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4EE1CEF2-EBE2-7101-70A7-612D6E97B9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15779BF-9B18-7B95-B9B0-EDCA236C8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86D0037-6433-4A98-63B8-4E9DA1B1D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89369961-CDE6-1C5E-1481-8D8931232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83E1807-F434-02F7-26AE-E10769538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D2AEC58E-EE27-E741-F12F-25280241666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33C6B658-4B92-FF5E-3835-D213C88608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1A49CAA-95F5-EFFA-3A81-21B52BBA72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F1A7BC77-EA94-FDDC-80A3-AD38C5D83C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B2024E1-97D0-4781-A661-D1309D24FD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6263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8014F64-B3AF-667C-E676-4EDEF3A230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9BF9413-B522-4386-F62F-56A4427357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D98674A-70E3-0F82-71E6-FFC713629B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DEE004-21F2-44D0-B85D-19DE997FF3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0842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E603E45-5528-E28A-8350-CDCBBD542C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C9970A2-E58A-4EB2-E4EE-28B2D66570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9E27108-CA91-66E1-9C35-F149BC86A6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C85687-2015-46C6-921A-27E8DF4C5D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84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1EC6232-ECCD-2632-34EE-8C1DC445D3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0AB6C3B-4FD6-91DC-BD67-AB30C96722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EE07242-11FA-9D32-FBFC-C83FD24F52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2431A6-9AE8-4850-8AC7-1CA7DCDFAB6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312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B08EB9E-A204-8FA3-9C9C-FDB51D185D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1AE93EC-274C-1326-ABF1-ADF17CB1A1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67EAF61-209B-A1BD-0207-8B8872EA32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BCB41A-A5A6-4341-BC54-81FF666912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083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C24A93C-13DB-DD2E-4854-1ED20A4795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F9BAC89D-8F51-D7B0-DFFA-ADEC27D7E5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347BF6F-7BCB-8DC1-C359-EF6B708B9F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8F69D2-8E2C-4540-ADFA-3D99489398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7362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9B00B9D-0E61-8D58-E3C9-DD722E2189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B0A2B3B0-B721-3A8E-D5A3-6894172CF5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700ADB0-1DB3-2C31-3CFE-61278494E8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1D44D3-0EAD-4928-866D-F710133F71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289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24167F3-1EFF-B228-80EA-7F5ED02A4C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6E44BE5-D6B5-25CE-7226-3502C625AB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4E23FF7-4CCC-E480-21BA-861E868E8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987168-E8A1-412A-85CA-E1CDE316F9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004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662F2C9-D48B-E2F4-796B-9B59747C10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C01C1CA-613E-88B9-9598-1C018387F1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EA467DF-B1A6-1CCD-BE11-F27263F886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337B16-CBC2-4F7B-9298-32106A825B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189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3AECD5C-C489-AF6D-A855-A9E1988E97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C492AAB-17C6-7BB0-30DE-B2BED2A403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B633C54-AB90-B204-6351-0242B8A328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E03885-E8BC-41A6-BFB0-30CBC3782A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506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387E773-6E53-E356-E035-FA834AF027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41281E-AA93-1938-C434-2EE2855EBF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974E218-4398-DE25-7B64-9A4DA28071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8DC85C-8F93-4F82-B0C0-B6D9BE92F0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8457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34675CA-E56F-A452-85C6-0665C3EBB5E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68EA1D3-8C1F-3006-EBB3-4F426BD2ACF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579AB17-C2F3-6157-4112-E189EB03B4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8EDB7FA-BD7E-1DED-0217-5EBB8085E4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C8FA6FD-3D94-E0F9-DCD4-A17EB1B095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86C1886-CEDA-31EE-EA01-84B949DE30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B9E2295-9826-E09C-FA41-64C58860C9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F23D9471-56FF-6DCF-BB21-2B2D38093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B8A237AA-2958-9944-F889-988B93D62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779119A4-C073-4EBF-0C54-1DA175EDFE1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A28694EF-8FD0-BF03-3831-F01F31C04D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E0D81341-8E04-6433-F928-E946DD991C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fld id="{49542C26-EC6A-4F7E-B07B-8523D204AFF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1.tmp"/><Relationship Id="rId5" Type="http://schemas.openxmlformats.org/officeDocument/2006/relationships/tags" Target="../tags/tag39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image" Target="../media/image1.tmp"/><Relationship Id="rId5" Type="http://schemas.openxmlformats.org/officeDocument/2006/relationships/tags" Target="../tags/tag48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0D5BBE-D699-38EE-39AF-BEDBD23A5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 </a:t>
            </a:r>
            <a:r>
              <a:rPr lang="zh-CN" altLang="en-US"/>
              <a:t>谓词等价式与蕴含式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6B2DAD7-869B-E80F-B5A7-903C25142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2017713"/>
            <a:ext cx="8054975" cy="4651375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2.4.1 </a:t>
            </a:r>
            <a:r>
              <a:rPr lang="zh-CN" altLang="en-US" sz="3600" b="1" dirty="0"/>
              <a:t>谓词公式赋值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2.4.2 </a:t>
            </a:r>
            <a:r>
              <a:rPr lang="zh-CN" altLang="en-US" sz="3600" b="1" dirty="0"/>
              <a:t>谓词公式的分类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2.4.3 </a:t>
            </a:r>
            <a:r>
              <a:rPr lang="zh-CN" altLang="en-US" sz="3600" b="1" dirty="0"/>
              <a:t>谓词等价与蕴含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2.4.4 </a:t>
            </a:r>
            <a:r>
              <a:rPr lang="zh-CN" altLang="en-US" sz="3600" b="1" dirty="0"/>
              <a:t>基本等价式与蕴含式</a:t>
            </a:r>
            <a:r>
              <a:rPr lang="zh-CN" altLang="en-US" sz="3600" dirty="0"/>
              <a:t>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2.4.5 </a:t>
            </a:r>
            <a:r>
              <a:rPr lang="zh-CN" altLang="en-US" sz="3600" b="1" dirty="0"/>
              <a:t>例题选讲</a:t>
            </a:r>
            <a:r>
              <a:rPr lang="zh-CN" altLang="en-US" sz="36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72965F8-C76C-FB16-33D5-F89BEA924B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2.4.1</a:t>
            </a:r>
            <a:r>
              <a:rPr lang="zh-CN" altLang="en-US"/>
              <a:t>谓词公式赋值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AA2D91A8-A4AC-2C01-1E4B-42A4288C3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/>
              <a:t>谓词公式</a:t>
            </a:r>
            <a:r>
              <a:rPr lang="en-US" altLang="zh-CN" dirty="0">
                <a:solidFill>
                  <a:srgbClr val="FF0000"/>
                </a:solidFill>
              </a:rPr>
              <a:t>P(x)∧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</a:t>
            </a:r>
            <a:r>
              <a:rPr lang="en-US" altLang="zh-CN" dirty="0" err="1">
                <a:solidFill>
                  <a:srgbClr val="FF0000"/>
                </a:solidFill>
              </a:rPr>
              <a:t>xR</a:t>
            </a:r>
            <a:r>
              <a:rPr lang="en-US" altLang="zh-CN" dirty="0">
                <a:solidFill>
                  <a:srgbClr val="FF0000"/>
                </a:solidFill>
              </a:rPr>
              <a:t>(x)∧Q</a:t>
            </a:r>
            <a:r>
              <a:rPr lang="zh-CN" altLang="en-US" dirty="0"/>
              <a:t>，其中论域</a:t>
            </a:r>
            <a:r>
              <a:rPr lang="en-US" altLang="zh-CN" dirty="0"/>
              <a:t>{1,2}</a:t>
            </a:r>
            <a:r>
              <a:rPr lang="zh-CN" altLang="en-US" dirty="0"/>
              <a:t>，且</a:t>
            </a:r>
            <a:r>
              <a:rPr lang="en-US" altLang="zh-CN" dirty="0"/>
              <a:t>P(x):x</a:t>
            </a:r>
            <a:r>
              <a:rPr lang="zh-CN" altLang="en-US" dirty="0"/>
              <a:t>是质数或</a:t>
            </a:r>
            <a:r>
              <a:rPr lang="en-US" altLang="zh-CN" dirty="0"/>
              <a:t>x</a:t>
            </a:r>
            <a:r>
              <a:rPr lang="zh-CN" altLang="en-US" dirty="0"/>
              <a:t>是合数。</a:t>
            </a:r>
            <a:r>
              <a:rPr lang="en-US" altLang="zh-CN" dirty="0"/>
              <a:t>R(x):x</a:t>
            </a:r>
            <a:r>
              <a:rPr lang="zh-CN" altLang="en-US" dirty="0"/>
              <a:t>是奇数。</a:t>
            </a:r>
            <a:endParaRPr lang="en-US" altLang="zh-CN" dirty="0"/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70E0A59-D5FF-4D66-7EED-A32D7E95AA2E}"/>
              </a:ext>
            </a:extLst>
          </p:cNvPr>
          <p:cNvGraphicFramePr>
            <a:graphicFrameLocks noGrp="1"/>
          </p:cNvGraphicFramePr>
          <p:nvPr/>
        </p:nvGraphicFramePr>
        <p:xfrm>
          <a:off x="1860550" y="3790950"/>
          <a:ext cx="5375275" cy="2590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1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800" b="0" dirty="0"/>
                        <a:t>   x</a:t>
                      </a:r>
                      <a:r>
                        <a:rPr lang="en-US" altLang="zh-CN" sz="2800" b="0" baseline="0" dirty="0"/>
                        <a:t>   </a:t>
                      </a:r>
                      <a:endParaRPr lang="zh-CN" altLang="en-US" sz="2800" b="0" dirty="0"/>
                    </a:p>
                  </a:txBody>
                  <a:tcPr marL="91429" marR="914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/>
                        <a:t>  Q</a:t>
                      </a:r>
                      <a:endParaRPr lang="zh-CN" altLang="en-US" sz="2800" b="0" dirty="0"/>
                    </a:p>
                  </a:txBody>
                  <a:tcPr marL="91429" marR="91429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solidFill>
                            <a:srgbClr val="FF0000"/>
                          </a:solidFill>
                        </a:rPr>
                        <a:t>  P(x)∧</a:t>
                      </a:r>
                      <a:r>
                        <a:rPr lang="en-US" altLang="zh-CN" sz="2800" b="0" dirty="0">
                          <a:solidFill>
                            <a:srgbClr val="FF0000"/>
                          </a:solidFill>
                          <a:sym typeface="Symbol" pitchFamily="18" charset="2"/>
                        </a:rPr>
                        <a:t></a:t>
                      </a:r>
                      <a:r>
                        <a:rPr lang="en-US" altLang="zh-CN" sz="2800" b="0" dirty="0" err="1">
                          <a:solidFill>
                            <a:srgbClr val="FF0000"/>
                          </a:solidFill>
                        </a:rPr>
                        <a:t>xR</a:t>
                      </a:r>
                      <a:r>
                        <a:rPr lang="en-US" altLang="zh-CN" sz="2800" b="0" dirty="0">
                          <a:solidFill>
                            <a:srgbClr val="FF0000"/>
                          </a:solidFill>
                        </a:rPr>
                        <a:t>(x)∧Q</a:t>
                      </a:r>
                      <a:endParaRPr lang="en-US" altLang="zh-CN" sz="2800" b="0" dirty="0"/>
                    </a:p>
                  </a:txBody>
                  <a:tcPr marL="91429" marR="9142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1   </a:t>
                      </a:r>
                      <a:endParaRPr lang="zh-CN" altLang="en-US" sz="2800" dirty="0"/>
                    </a:p>
                  </a:txBody>
                  <a:tcPr marL="91429" marR="914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T</a:t>
                      </a:r>
                      <a:endParaRPr lang="zh-CN" altLang="en-US" sz="2800" dirty="0"/>
                    </a:p>
                  </a:txBody>
                  <a:tcPr marL="91429" marR="914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      F</a:t>
                      </a:r>
                      <a:endParaRPr lang="zh-CN" altLang="en-US" sz="2800" dirty="0"/>
                    </a:p>
                  </a:txBody>
                  <a:tcPr marL="91429" marR="9142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1   </a:t>
                      </a:r>
                      <a:endParaRPr lang="zh-CN" altLang="en-US" sz="2800" dirty="0"/>
                    </a:p>
                  </a:txBody>
                  <a:tcPr marL="91429" marR="914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F</a:t>
                      </a:r>
                      <a:endParaRPr lang="zh-CN" altLang="en-US" sz="2800" dirty="0"/>
                    </a:p>
                  </a:txBody>
                  <a:tcPr marL="91429" marR="914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      </a:t>
                      </a:r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29" marR="9142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2   </a:t>
                      </a:r>
                      <a:endParaRPr lang="zh-CN" altLang="en-US" sz="2800" dirty="0"/>
                    </a:p>
                  </a:txBody>
                  <a:tcPr marL="91429" marR="914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T</a:t>
                      </a:r>
                      <a:endParaRPr lang="zh-CN" altLang="en-US" sz="2800" dirty="0"/>
                    </a:p>
                  </a:txBody>
                  <a:tcPr marL="91429" marR="914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            T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29" marR="9142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2  </a:t>
                      </a:r>
                      <a:endParaRPr lang="zh-CN" altLang="en-US" sz="2800" dirty="0"/>
                    </a:p>
                  </a:txBody>
                  <a:tcPr marL="91429" marR="914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F</a:t>
                      </a:r>
                      <a:endParaRPr lang="zh-CN" altLang="en-US" sz="2800" dirty="0"/>
                    </a:p>
                  </a:txBody>
                  <a:tcPr marL="91429" marR="9142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            F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29" marR="9142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DE95E71-6865-57D0-B593-35C499D2A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2.4.2</a:t>
            </a:r>
            <a:r>
              <a:rPr lang="zh-CN" altLang="en-US"/>
              <a:t>谓词公式的分类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978EDB7-AD2E-1A05-3D93-A6DBCB7D4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ct val="114000"/>
              </a:lnSpc>
              <a:defRPr/>
            </a:pPr>
            <a:r>
              <a:rPr lang="en-US" altLang="zh-CN" dirty="0">
                <a:solidFill>
                  <a:srgbClr val="FF0000"/>
                </a:solidFill>
              </a:rPr>
              <a:t>P(x)→Q(x)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是质数。     </a:t>
            </a:r>
            <a:r>
              <a:rPr lang="en-US" altLang="zh-CN" dirty="0"/>
              <a:t>Q(x)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是合数。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FF00FF"/>
                </a:solidFill>
              </a:rPr>
              <a:t>(1)</a:t>
            </a:r>
            <a:r>
              <a:rPr lang="zh-CN" altLang="en-US" dirty="0"/>
              <a:t>论域</a:t>
            </a:r>
            <a:r>
              <a:rPr lang="en-US" altLang="zh-CN" dirty="0"/>
              <a:t>{1,2,3,4}</a:t>
            </a:r>
            <a:r>
              <a:rPr lang="zh-CN" altLang="en-US" dirty="0"/>
              <a:t>   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chemeClr val="accent1"/>
                </a:solidFill>
              </a:rPr>
              <a:t>(2)</a:t>
            </a:r>
            <a:r>
              <a:rPr lang="zh-CN" altLang="en-US" dirty="0"/>
              <a:t>论域</a:t>
            </a:r>
            <a:r>
              <a:rPr lang="en-US" altLang="zh-CN" dirty="0"/>
              <a:t>{2,3}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1D73454-DDB7-51BD-5343-D7BAFCCB5A01}"/>
              </a:ext>
            </a:extLst>
          </p:cNvPr>
          <p:cNvGraphicFramePr>
            <a:graphicFrameLocks noGrp="1"/>
          </p:cNvGraphicFramePr>
          <p:nvPr/>
        </p:nvGraphicFramePr>
        <p:xfrm>
          <a:off x="1187450" y="4078288"/>
          <a:ext cx="6096000" cy="2590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800" b="0" dirty="0"/>
                        <a:t>   x</a:t>
                      </a:r>
                      <a:endParaRPr lang="zh-CN" altLang="en-US" sz="2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/>
                        <a:t>  P(x)</a:t>
                      </a:r>
                      <a:endParaRPr lang="zh-CN" altLang="en-US" sz="28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/>
                        <a:t>  Q(x)</a:t>
                      </a:r>
                      <a:endParaRPr lang="zh-CN" altLang="en-US" sz="28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/>
                        <a:t>  P(x)</a:t>
                      </a:r>
                      <a:r>
                        <a:rPr lang="en-US" altLang="zh-CN" sz="2800" dirty="0"/>
                        <a:t>→</a:t>
                      </a:r>
                      <a:r>
                        <a:rPr lang="en-US" altLang="zh-CN" sz="2800" b="0" dirty="0"/>
                        <a:t>Q(x)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1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F</a:t>
                      </a:r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F</a:t>
                      </a:r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  T</a:t>
                      </a:r>
                      <a:endParaRPr lang="zh-CN" alt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2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T</a:t>
                      </a:r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F</a:t>
                      </a:r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3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T</a:t>
                      </a:r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F</a:t>
                      </a:r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4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F</a:t>
                      </a:r>
                      <a:endParaRPr lang="zh-CN" alt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T</a:t>
                      </a:r>
                      <a:endParaRPr lang="zh-CN" altLang="en-US" sz="2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  T</a:t>
                      </a:r>
                      <a:endParaRPr lang="zh-CN" alt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D815048-DFF0-2114-05A2-D0A81D725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2.4.2</a:t>
            </a:r>
            <a:r>
              <a:rPr lang="zh-CN" altLang="en-US"/>
              <a:t>谓词公式的分类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B9C79AE-EF31-162A-2802-F6B202378B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60575"/>
            <a:ext cx="8343900" cy="4797425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重言式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chemeClr val="hlink"/>
                </a:solidFill>
              </a:rPr>
              <a:t>永真式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谓词公式对其</a:t>
            </a:r>
            <a:r>
              <a:rPr lang="zh-CN" altLang="en-US" dirty="0">
                <a:solidFill>
                  <a:schemeClr val="accent1"/>
                </a:solidFill>
              </a:rPr>
              <a:t>论域</a:t>
            </a:r>
            <a:r>
              <a:rPr lang="zh-CN" altLang="en-US" dirty="0"/>
              <a:t>中所有赋值</a:t>
            </a:r>
            <a:r>
              <a:rPr lang="en-US" altLang="zh-CN" dirty="0"/>
              <a:t>,</a:t>
            </a:r>
            <a:r>
              <a:rPr lang="zh-CN" altLang="en-US" dirty="0"/>
              <a:t>其真值都为</a:t>
            </a:r>
            <a:r>
              <a:rPr lang="en-US" altLang="zh-CN" dirty="0"/>
              <a:t>1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矛盾式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chemeClr val="hlink"/>
                </a:solidFill>
              </a:rPr>
              <a:t>永假式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谓词公式对其</a:t>
            </a:r>
            <a:r>
              <a:rPr lang="zh-CN" altLang="en-US" dirty="0">
                <a:solidFill>
                  <a:schemeClr val="accent1"/>
                </a:solidFill>
              </a:rPr>
              <a:t>论域</a:t>
            </a:r>
            <a:r>
              <a:rPr lang="zh-CN" altLang="en-US" dirty="0"/>
              <a:t>中所有赋值</a:t>
            </a:r>
            <a:r>
              <a:rPr lang="en-US" altLang="zh-CN" dirty="0"/>
              <a:t>,</a:t>
            </a:r>
            <a:r>
              <a:rPr lang="zh-CN" altLang="en-US" dirty="0"/>
              <a:t>其真值都为</a:t>
            </a:r>
            <a:r>
              <a:rPr lang="en-US" altLang="zh-CN" dirty="0"/>
              <a:t>0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可满足式</a:t>
            </a:r>
            <a:endParaRPr lang="zh-CN" altLang="en-US" dirty="0">
              <a:solidFill>
                <a:schemeClr val="hlink"/>
              </a:solidFill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谓词公式对其</a:t>
            </a:r>
            <a:r>
              <a:rPr lang="zh-CN" altLang="en-US" dirty="0">
                <a:solidFill>
                  <a:schemeClr val="accent1"/>
                </a:solidFill>
              </a:rPr>
              <a:t>论域</a:t>
            </a:r>
            <a:r>
              <a:rPr lang="zh-CN" altLang="en-US" dirty="0"/>
              <a:t>中所有赋值</a:t>
            </a:r>
            <a:r>
              <a:rPr lang="en-US" altLang="zh-CN" dirty="0"/>
              <a:t>,</a:t>
            </a:r>
            <a:r>
              <a:rPr lang="zh-CN" altLang="en-US" dirty="0"/>
              <a:t>其真值有</a:t>
            </a:r>
            <a:r>
              <a:rPr lang="en-US" altLang="zh-CN" dirty="0"/>
              <a:t>1</a:t>
            </a:r>
            <a:r>
              <a:rPr lang="zh-CN" altLang="en-US" dirty="0"/>
              <a:t>有</a:t>
            </a:r>
            <a:r>
              <a:rPr lang="en-US" altLang="zh-CN" dirty="0"/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87B7816-11BE-0647-24C0-4C91596B5E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2.4.3 </a:t>
            </a:r>
            <a:r>
              <a:rPr lang="zh-CN" altLang="en-US"/>
              <a:t>谓词等价与蕴含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81E1984A-C512-B38B-72B0-9E455F9CC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14000"/>
              </a:lnSpc>
              <a:defRPr/>
            </a:pPr>
            <a:r>
              <a:rPr lang="en-US" altLang="zh-CN" dirty="0"/>
              <a:t>P(x)→Q(x) 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</a:t>
            </a:r>
            <a:r>
              <a:rPr lang="en-US" altLang="zh-CN" dirty="0"/>
              <a:t> ┐P(x)∨Q(x)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是质数。     </a:t>
            </a:r>
            <a:r>
              <a:rPr lang="en-US" altLang="zh-CN" dirty="0"/>
              <a:t>Q(x)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是合数。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论域：</a:t>
            </a:r>
            <a:r>
              <a:rPr lang="en-US" altLang="zh-CN" dirty="0"/>
              <a:t>{1,2,3,4}</a:t>
            </a:r>
            <a:r>
              <a:rPr lang="zh-CN" altLang="en-US" dirty="0"/>
              <a:t>   </a:t>
            </a:r>
            <a:r>
              <a:rPr lang="en-US" altLang="zh-CN" dirty="0"/>
              <a:t> 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E46052C-5880-1DA7-E18E-039F9C465734}"/>
              </a:ext>
            </a:extLst>
          </p:cNvPr>
          <p:cNvGraphicFramePr>
            <a:graphicFrameLocks noGrp="1"/>
          </p:cNvGraphicFramePr>
          <p:nvPr/>
        </p:nvGraphicFramePr>
        <p:xfrm>
          <a:off x="1116013" y="4067175"/>
          <a:ext cx="7127876" cy="253047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47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03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1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315">
                <a:tc>
                  <a:txBody>
                    <a:bodyPr/>
                    <a:lstStyle/>
                    <a:p>
                      <a:r>
                        <a:rPr lang="en-US" altLang="zh-CN" sz="2400" b="0" dirty="0"/>
                        <a:t> x</a:t>
                      </a:r>
                      <a:endParaRPr lang="zh-CN" altLang="en-US" sz="2400" b="0" dirty="0"/>
                    </a:p>
                  </a:txBody>
                  <a:tcPr marL="91428" marR="91428" marT="45731" marB="4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/>
                        <a:t>P(x)</a:t>
                      </a:r>
                      <a:endParaRPr lang="zh-CN" altLang="en-US" sz="2400" b="0" dirty="0"/>
                    </a:p>
                  </a:txBody>
                  <a:tcPr marL="91428" marR="91428" marT="45731" marB="4573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┐</a:t>
                      </a:r>
                      <a:r>
                        <a:rPr lang="en-US" altLang="zh-CN" sz="2400" b="0" dirty="0"/>
                        <a:t>P(x)</a:t>
                      </a:r>
                      <a:endParaRPr lang="zh-CN" altLang="en-US" sz="2400" b="0" dirty="0"/>
                    </a:p>
                  </a:txBody>
                  <a:tcPr marL="91428" marR="91428" marT="45731" marB="4573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/>
                        <a:t>Q(x)</a:t>
                      </a:r>
                      <a:endParaRPr lang="zh-CN" altLang="en-US" sz="2400" b="0" dirty="0"/>
                    </a:p>
                  </a:txBody>
                  <a:tcPr marL="91428" marR="91428" marT="45731" marB="4573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/>
                        <a:t> P(x)</a:t>
                      </a:r>
                      <a:r>
                        <a:rPr lang="en-US" altLang="zh-CN" sz="2400" dirty="0"/>
                        <a:t>→</a:t>
                      </a:r>
                      <a:r>
                        <a:rPr lang="en-US" altLang="zh-CN" sz="2400" b="0" dirty="0"/>
                        <a:t>Q(x)</a:t>
                      </a:r>
                    </a:p>
                  </a:txBody>
                  <a:tcPr marL="91428" marR="91428" marT="45731" marB="4573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┐</a:t>
                      </a:r>
                      <a:r>
                        <a:rPr lang="en-US" altLang="zh-CN" sz="2400" b="0" dirty="0"/>
                        <a:t>P(x)</a:t>
                      </a:r>
                      <a:r>
                        <a:rPr lang="en-US" altLang="zh-CN" sz="2400" dirty="0"/>
                        <a:t>∨</a:t>
                      </a:r>
                      <a:r>
                        <a:rPr lang="en-US" altLang="zh-CN" sz="2400" b="0" dirty="0"/>
                        <a:t>Q(x)</a:t>
                      </a:r>
                      <a:endParaRPr lang="zh-CN" altLang="en-US" sz="2400" b="0" dirty="0"/>
                    </a:p>
                  </a:txBody>
                  <a:tcPr marL="91428" marR="91428" marT="45731" marB="4573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9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1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F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T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F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T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 T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90">
                <a:tc>
                  <a:txBody>
                    <a:bodyPr/>
                    <a:lstStyle/>
                    <a:p>
                      <a:r>
                        <a:rPr lang="en-US" altLang="zh-CN" sz="2800" b="1" dirty="0"/>
                        <a:t> </a:t>
                      </a:r>
                      <a:r>
                        <a:rPr lang="en-US" altLang="zh-CN" sz="2800" b="0" dirty="0"/>
                        <a:t>2</a:t>
                      </a:r>
                      <a:endParaRPr lang="zh-CN" altLang="en-US" sz="2800" b="0" dirty="0"/>
                    </a:p>
                  </a:txBody>
                  <a:tcPr marL="91428" marR="91428" marT="45731" marB="4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T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F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</a:t>
                      </a:r>
                      <a:r>
                        <a:rPr lang="en-US" altLang="zh-CN" sz="2800" baseline="0" dirty="0"/>
                        <a:t> </a:t>
                      </a:r>
                      <a:r>
                        <a:rPr lang="en-US" altLang="zh-CN" sz="2800" dirty="0"/>
                        <a:t>F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       F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731" marB="4573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9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3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T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F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F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       F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731" marB="4573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9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4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F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T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T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T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 T</a:t>
                      </a:r>
                      <a:endParaRPr lang="zh-CN" altLang="en-US" sz="2800" dirty="0"/>
                    </a:p>
                  </a:txBody>
                  <a:tcPr marL="91428" marR="91428" marT="45731" marB="4573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3917CEE-3448-07EA-E1D9-2D1124864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2.4.3 </a:t>
            </a:r>
            <a:r>
              <a:rPr lang="zh-CN" altLang="en-US"/>
              <a:t>谓词等价与蕴含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6456AF6-CF4E-3CBF-9E9A-C2E37A860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415338" cy="4840287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 dirty="0"/>
              <a:t>谓词公式</a:t>
            </a:r>
            <a:r>
              <a:rPr lang="zh-CN" altLang="en-US" dirty="0">
                <a:solidFill>
                  <a:srgbClr val="FF0000"/>
                </a:solidFill>
              </a:rPr>
              <a:t>等价</a:t>
            </a:r>
            <a:r>
              <a:rPr lang="zh-CN" altLang="en-US" dirty="0"/>
              <a:t>    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B 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dirty="0"/>
              <a:t>谓词公式</a:t>
            </a:r>
            <a:r>
              <a:rPr lang="zh-CN" altLang="en-US" dirty="0">
                <a:solidFill>
                  <a:schemeClr val="accent1"/>
                </a:solidFill>
              </a:rPr>
              <a:t>蕴含</a:t>
            </a:r>
            <a:r>
              <a:rPr lang="zh-CN" altLang="en-US" dirty="0"/>
              <a:t>    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B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dirty="0"/>
              <a:t>不特别指明时，谓词公式的等价、蕴含、重言式、矛盾式、可满足式等概念都是在</a:t>
            </a:r>
            <a:r>
              <a:rPr lang="zh-CN" altLang="en-US" dirty="0">
                <a:solidFill>
                  <a:schemeClr val="accent1"/>
                </a:solidFill>
              </a:rPr>
              <a:t>任意论域</a:t>
            </a:r>
            <a:r>
              <a:rPr lang="zh-CN" altLang="en-US" dirty="0"/>
              <a:t>上讨论。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A84428-A95F-7133-7A98-2E31914D2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2.4.3 </a:t>
            </a:r>
            <a:r>
              <a:rPr lang="zh-CN" altLang="en-US"/>
              <a:t>谓词等价与蕴含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E84BFAB2-5BC2-3B1D-664C-A7B4529DE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651375"/>
          </a:xfrm>
        </p:spPr>
        <p:txBody>
          <a:bodyPr/>
          <a:lstStyle/>
          <a:p>
            <a:pPr eaLnBrk="1" hangingPunct="1">
              <a:lnSpc>
                <a:spcPct val="160000"/>
              </a:lnSpc>
              <a:defRPr/>
            </a:pPr>
            <a:r>
              <a:rPr lang="zh-CN" altLang="en-US" dirty="0"/>
              <a:t>命题演算</a:t>
            </a:r>
            <a:r>
              <a:rPr lang="zh-CN" altLang="en-US" dirty="0">
                <a:solidFill>
                  <a:srgbClr val="FF0000"/>
                </a:solidFill>
              </a:rPr>
              <a:t>等价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蕴含</a:t>
            </a:r>
            <a:r>
              <a:rPr lang="zh-CN" altLang="en-US" dirty="0"/>
              <a:t>可</a:t>
            </a:r>
            <a:r>
              <a:rPr lang="zh-CN" altLang="en-US" b="1" dirty="0">
                <a:solidFill>
                  <a:schemeClr val="accent1"/>
                </a:solidFill>
              </a:rPr>
              <a:t>推广</a:t>
            </a:r>
            <a:r>
              <a:rPr lang="zh-CN" altLang="en-US" dirty="0"/>
              <a:t>到谓词演算。</a:t>
            </a:r>
            <a:endParaRPr lang="en-US" altLang="zh-CN" dirty="0"/>
          </a:p>
          <a:p>
            <a:pPr eaLnBrk="1" hangingPunct="1">
              <a:lnSpc>
                <a:spcPct val="160000"/>
              </a:lnSpc>
              <a:defRPr/>
            </a:pPr>
            <a:r>
              <a:rPr lang="en-US" altLang="zh-CN" dirty="0"/>
              <a:t>P→Q</a:t>
            </a:r>
            <a:r>
              <a:rPr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┐P∨Q       P(x)→Q(y)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</a:t>
            </a:r>
            <a:r>
              <a:rPr lang="en-US" altLang="zh-CN" dirty="0"/>
              <a:t>┐P(x)∨Q(y)</a:t>
            </a:r>
          </a:p>
          <a:p>
            <a:pPr eaLnBrk="1" hangingPunct="1">
              <a:lnSpc>
                <a:spcPct val="160000"/>
              </a:lnSpc>
              <a:defRPr/>
            </a:pPr>
            <a:r>
              <a:rPr lang="en-US" altLang="zh-CN" dirty="0"/>
              <a:t>P∧(P→Q)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Q       </a:t>
            </a:r>
          </a:p>
          <a:p>
            <a:pPr marL="0" indent="0" eaLnBrk="1" hangingPunct="1">
              <a:lnSpc>
                <a:spcPct val="16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P(z)∧(P(z)→Q(</a:t>
            </a:r>
            <a:r>
              <a:rPr lang="en-US" altLang="zh-CN" dirty="0" err="1"/>
              <a:t>x,y</a:t>
            </a:r>
            <a:r>
              <a:rPr lang="en-US" altLang="zh-CN" dirty="0"/>
              <a:t>))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</a:t>
            </a:r>
            <a:r>
              <a:rPr lang="en-US" altLang="zh-CN" dirty="0"/>
              <a:t>Q(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7314BC0-39CC-0ED3-728F-C4F5302A5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2.4.4 </a:t>
            </a:r>
            <a:r>
              <a:rPr lang="zh-CN" altLang="en-US"/>
              <a:t>基本等价式与蕴含式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41DEB5A-7D9F-98E2-F7F0-54B90B852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800" dirty="0"/>
              <a:t>A(x)</a:t>
            </a:r>
            <a:r>
              <a:rPr lang="zh-CN" altLang="en-US" sz="2800" dirty="0"/>
              <a:t>：</a:t>
            </a:r>
            <a:r>
              <a:rPr lang="en-US" altLang="zh-CN" sz="2800" dirty="0"/>
              <a:t>x</a:t>
            </a:r>
            <a:r>
              <a:rPr lang="zh-CN" altLang="en-US" sz="2800" dirty="0"/>
              <a:t>喜欢皮卡丘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zh-CN" altLang="en-US" sz="2800" dirty="0"/>
              <a:t>不是所有人都喜欢皮卡丘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en-US" altLang="zh-CN" sz="2800" dirty="0"/>
              <a:t>┐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 err="1"/>
              <a:t>xA</a:t>
            </a:r>
            <a:r>
              <a:rPr lang="en-US" altLang="zh-CN" sz="2800" dirty="0"/>
              <a:t>(x)</a:t>
            </a:r>
            <a:r>
              <a:rPr lang="en-US" altLang="zh-CN" sz="2800" dirty="0">
                <a:sym typeface="Symbol" panose="05050102010706020507" pitchFamily="18" charset="2"/>
              </a:rPr>
              <a:t></a:t>
            </a:r>
            <a:r>
              <a:rPr lang="en-US" altLang="zh-CN" sz="2800" dirty="0" err="1"/>
              <a:t>x┐A</a:t>
            </a:r>
            <a:r>
              <a:rPr lang="en-US" altLang="zh-CN" sz="2800" dirty="0"/>
              <a:t>(x)            E</a:t>
            </a:r>
            <a:r>
              <a:rPr lang="en-US" altLang="zh-CN" sz="2800" baseline="-25000" dirty="0"/>
              <a:t>21</a:t>
            </a:r>
          </a:p>
          <a:p>
            <a:pPr marL="0" indent="0" eaLnBrk="1" hangingPunct="1">
              <a:buNone/>
            </a:pPr>
            <a:r>
              <a:rPr lang="zh-CN" altLang="en-US" sz="2800" dirty="0"/>
              <a:t>存在一些人不喜欢皮卡丘</a:t>
            </a:r>
            <a:endParaRPr lang="en-US" altLang="zh-CN" sz="2800" dirty="0"/>
          </a:p>
          <a:p>
            <a:pPr marL="0" indent="0" eaLnBrk="1" hangingPunct="1">
              <a:buNone/>
            </a:pPr>
            <a:endParaRPr lang="en-US" altLang="zh-CN" sz="2800" dirty="0"/>
          </a:p>
          <a:p>
            <a:pPr marL="0" indent="0" eaLnBrk="1" hangingPunct="1">
              <a:buNone/>
            </a:pPr>
            <a:r>
              <a:rPr lang="en-US" altLang="zh-CN" sz="2800" dirty="0"/>
              <a:t>B(x)</a:t>
            </a:r>
            <a:r>
              <a:rPr lang="zh-CN" altLang="en-US" sz="2800" dirty="0"/>
              <a:t>：</a:t>
            </a:r>
            <a:r>
              <a:rPr lang="en-US" altLang="zh-CN" sz="2800" dirty="0"/>
              <a:t>x</a:t>
            </a:r>
            <a:r>
              <a:rPr lang="zh-CN" altLang="en-US" sz="2800" dirty="0"/>
              <a:t>讨厌皮卡丘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zh-CN" altLang="en-US" sz="2800" dirty="0"/>
              <a:t>不存在讨厌皮卡丘的人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┐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xB</a:t>
            </a:r>
            <a:r>
              <a:rPr lang="en-US" altLang="zh-CN" sz="2800" dirty="0"/>
              <a:t>(x)</a:t>
            </a:r>
            <a:r>
              <a:rPr lang="en-US" altLang="zh-CN" sz="2800" dirty="0">
                <a:sym typeface="Symbol" panose="05050102010706020507" pitchFamily="18" charset="2"/>
              </a:rPr>
              <a:t></a:t>
            </a:r>
            <a:r>
              <a:rPr lang="en-US" altLang="zh-CN" sz="2800" dirty="0" err="1"/>
              <a:t>x┐B</a:t>
            </a:r>
            <a:r>
              <a:rPr lang="en-US" altLang="zh-CN" sz="2800" dirty="0"/>
              <a:t>(x)            E</a:t>
            </a:r>
            <a:r>
              <a:rPr lang="en-US" altLang="zh-CN" sz="2800" baseline="-25000" dirty="0"/>
              <a:t>22</a:t>
            </a:r>
          </a:p>
          <a:p>
            <a:pPr marL="0" indent="0" eaLnBrk="1" hangingPunct="1">
              <a:buNone/>
            </a:pPr>
            <a:r>
              <a:rPr lang="zh-CN" altLang="en-US" sz="2800" dirty="0"/>
              <a:t>所有人都不讨厌皮卡丘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id="{C19C8BF8-4996-F8DA-8560-019297172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2.4.5 </a:t>
            </a:r>
            <a:r>
              <a:rPr lang="zh-CN" altLang="en-US"/>
              <a:t>例题选讲</a:t>
            </a:r>
          </a:p>
        </p:txBody>
      </p:sp>
      <p:sp>
        <p:nvSpPr>
          <p:cNvPr id="143369" name="Rectangle 9">
            <a:extLst>
              <a:ext uri="{FF2B5EF4-FFF2-40B4-BE49-F238E27FC236}">
                <a16:creationId xmlns:a16="http://schemas.microsoft.com/office/drawing/2014/main" id="{EE91AA06-9462-6076-CA52-1F8575FE86D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77850" y="2492375"/>
            <a:ext cx="4210050" cy="4259263"/>
          </a:xfrm>
        </p:spPr>
        <p:txBody>
          <a:bodyPr/>
          <a:lstStyle/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证明</a:t>
            </a:r>
            <a:r>
              <a:rPr lang="zh-CN" altLang="en-US" dirty="0"/>
              <a:t>设</a:t>
            </a:r>
            <a:r>
              <a:rPr lang="zh-CN" altLang="en-US" dirty="0">
                <a:solidFill>
                  <a:schemeClr val="accent1"/>
                </a:solidFill>
              </a:rPr>
              <a:t>任意</a:t>
            </a:r>
            <a:r>
              <a:rPr lang="zh-CN" altLang="en-US" dirty="0"/>
              <a:t>论域</a:t>
            </a:r>
            <a:r>
              <a:rPr lang="en-US" altLang="zh-CN" dirty="0"/>
              <a:t>E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/>
              <a:t>┐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 err="1"/>
              <a:t>xA</a:t>
            </a:r>
            <a:r>
              <a:rPr lang="en-US" altLang="zh-CN" dirty="0"/>
              <a:t>(x)  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itchFamily="18" charset="2"/>
              </a:rPr>
              <a:t>   </a:t>
            </a:r>
            <a:r>
              <a:rPr lang="en-US" altLang="zh-CN" dirty="0" err="1"/>
              <a:t>xA</a:t>
            </a:r>
            <a:r>
              <a:rPr lang="en-US" altLang="zh-CN" dirty="0"/>
              <a:t>(x)  0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存在常量</a:t>
            </a:r>
            <a:r>
              <a:rPr lang="en-US" altLang="zh-CN" dirty="0" err="1"/>
              <a:t>a∈E</a:t>
            </a:r>
            <a:r>
              <a:rPr lang="zh-CN" altLang="en-US" dirty="0"/>
              <a:t>使</a:t>
            </a:r>
            <a:r>
              <a:rPr lang="en-US" altLang="zh-CN" dirty="0"/>
              <a:t>A(a)  0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┐</a:t>
            </a:r>
            <a:r>
              <a:rPr lang="en-US" altLang="zh-CN" dirty="0"/>
              <a:t>A(a)  1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itchFamily="18" charset="2"/>
              </a:rPr>
              <a:t>   </a:t>
            </a:r>
            <a:r>
              <a:rPr lang="en-US" altLang="zh-CN" dirty="0" err="1"/>
              <a:t>x┐A</a:t>
            </a:r>
            <a:r>
              <a:rPr lang="en-US" altLang="zh-CN" dirty="0"/>
              <a:t>(x)  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0B7FA51-2766-EC9A-6EE6-06375A7C3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2313" y="2492375"/>
            <a:ext cx="4611687" cy="4365625"/>
          </a:xfrm>
        </p:spPr>
        <p:txBody>
          <a:bodyPr/>
          <a:lstStyle/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/>
              <a:t>┐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 err="1"/>
              <a:t>xA</a:t>
            </a:r>
            <a:r>
              <a:rPr lang="en-US" altLang="zh-CN" dirty="0"/>
              <a:t>(x)  </a:t>
            </a:r>
            <a:r>
              <a:rPr lang="en-US" altLang="zh-CN" dirty="0">
                <a:solidFill>
                  <a:srgbClr val="FF00FF"/>
                </a:solidFill>
              </a:rPr>
              <a:t>0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itchFamily="18" charset="2"/>
              </a:rPr>
              <a:t>   </a:t>
            </a:r>
            <a:r>
              <a:rPr lang="en-US" altLang="zh-CN" dirty="0" err="1"/>
              <a:t>xA</a:t>
            </a:r>
            <a:r>
              <a:rPr lang="en-US" altLang="zh-CN" dirty="0"/>
              <a:t>(x)  1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每个常量</a:t>
            </a:r>
            <a:r>
              <a:rPr lang="en-US" altLang="zh-CN" dirty="0" err="1"/>
              <a:t>a∈E</a:t>
            </a:r>
            <a:r>
              <a:rPr lang="zh-CN" altLang="en-US" dirty="0"/>
              <a:t>有</a:t>
            </a:r>
            <a:r>
              <a:rPr lang="en-US" altLang="zh-CN" dirty="0"/>
              <a:t>A(a)  1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每个常量</a:t>
            </a:r>
            <a:r>
              <a:rPr lang="en-US" altLang="zh-CN" dirty="0" err="1"/>
              <a:t>a∈E</a:t>
            </a:r>
            <a:r>
              <a:rPr lang="zh-CN" altLang="en-US" dirty="0"/>
              <a:t>有┐</a:t>
            </a:r>
            <a:r>
              <a:rPr lang="en-US" altLang="zh-CN" dirty="0"/>
              <a:t>A(a)  0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itchFamily="18" charset="2"/>
              </a:rPr>
              <a:t>   </a:t>
            </a:r>
            <a:r>
              <a:rPr lang="en-US" altLang="zh-CN" dirty="0" err="1"/>
              <a:t>x┐A</a:t>
            </a:r>
            <a:r>
              <a:rPr lang="en-US" altLang="zh-CN" dirty="0"/>
              <a:t>(x)  0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itchFamily="18" charset="2"/>
              </a:rPr>
              <a:t>   </a:t>
            </a:r>
            <a:r>
              <a:rPr lang="en-US" altLang="zh-CN" dirty="0" err="1"/>
              <a:t>x┐A</a:t>
            </a:r>
            <a:r>
              <a:rPr lang="en-US" altLang="zh-CN" dirty="0"/>
              <a:t>(x)  </a:t>
            </a:r>
            <a:r>
              <a:rPr lang="en-US" altLang="zh-CN" dirty="0">
                <a:solidFill>
                  <a:srgbClr val="FF00FF"/>
                </a:solidFill>
              </a:rPr>
              <a:t>0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defRPr/>
            </a:pPr>
            <a:endParaRPr lang="zh-CN" altLang="en-US" dirty="0"/>
          </a:p>
        </p:txBody>
      </p:sp>
      <p:sp>
        <p:nvSpPr>
          <p:cNvPr id="14341" name="矩形 2">
            <a:extLst>
              <a:ext uri="{FF2B5EF4-FFF2-40B4-BE49-F238E27FC236}">
                <a16:creationId xmlns:a16="http://schemas.microsoft.com/office/drawing/2014/main" id="{92F8926F-979E-FAA5-12CB-49E7CB808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1844675"/>
            <a:ext cx="7883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</a:rPr>
              <a:t> </a:t>
            </a:r>
            <a:r>
              <a:rPr lang="zh-CN" altLang="en-US" sz="2800">
                <a:solidFill>
                  <a:schemeClr val="hlink"/>
                </a:solidFill>
              </a:rPr>
              <a:t>例</a:t>
            </a:r>
            <a:r>
              <a:rPr lang="en-US" altLang="zh-CN" sz="2800">
                <a:solidFill>
                  <a:schemeClr val="hlink"/>
                </a:solidFill>
              </a:rPr>
              <a:t>2.4.1</a:t>
            </a:r>
            <a:r>
              <a:rPr lang="en-US" altLang="zh-CN" sz="2800"/>
              <a:t> </a:t>
            </a:r>
            <a:r>
              <a:rPr lang="zh-CN" altLang="en-US" sz="2800"/>
              <a:t>证明┐</a:t>
            </a:r>
            <a:r>
              <a:rPr lang="zh-CN" altLang="en-US" sz="2800">
                <a:sym typeface="Symbol" panose="05050102010706020507" pitchFamily="18" charset="2"/>
              </a:rPr>
              <a:t></a:t>
            </a:r>
            <a:r>
              <a:rPr lang="en-US" altLang="zh-CN" sz="2800"/>
              <a:t>xA(x)</a:t>
            </a:r>
            <a:r>
              <a:rPr lang="en-US" altLang="zh-CN" sz="2800">
                <a:sym typeface="Symbol" panose="05050102010706020507" pitchFamily="18" charset="2"/>
              </a:rPr>
              <a:t></a:t>
            </a:r>
            <a:r>
              <a:rPr lang="en-US" altLang="zh-CN" sz="2800"/>
              <a:t>x┐A(x)</a:t>
            </a:r>
            <a:endParaRPr lang="en-US" altLang="zh-CN" sz="2800" b="1"/>
          </a:p>
        </p:txBody>
      </p:sp>
    </p:spTree>
    <p:extLst>
      <p:ext uri="{BB962C8B-B14F-4D97-AF65-F5344CB8AC3E}">
        <p14:creationId xmlns:p14="http://schemas.microsoft.com/office/powerpoint/2010/main" val="639040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7314BC0-39CC-0ED3-728F-C4F5302A5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2.4.4 </a:t>
            </a:r>
            <a:r>
              <a:rPr lang="zh-CN" altLang="en-US"/>
              <a:t>基本等价式与蕴含式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41DEB5A-7D9F-98E2-F7F0-54B90B852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altLang="zh-CN" sz="3600" dirty="0">
                <a:sym typeface="Symbol" panose="05050102010706020507" pitchFamily="18" charset="2"/>
              </a:rPr>
              <a:t></a:t>
            </a:r>
            <a:r>
              <a:rPr lang="en-US" altLang="zh-CN" sz="3600" dirty="0"/>
              <a:t>x(A(x)∧B)</a:t>
            </a:r>
            <a:r>
              <a:rPr lang="en-US" altLang="zh-CN" sz="3600" dirty="0">
                <a:sym typeface="Symbol" panose="05050102010706020507" pitchFamily="18" charset="2"/>
              </a:rPr>
              <a:t></a:t>
            </a:r>
            <a:r>
              <a:rPr lang="en-US" altLang="zh-CN" sz="3600" dirty="0" err="1"/>
              <a:t>xA</a:t>
            </a:r>
            <a:r>
              <a:rPr lang="en-US" altLang="zh-CN" sz="3600" dirty="0"/>
              <a:t>(x)∧B     E</a:t>
            </a:r>
            <a:r>
              <a:rPr lang="en-US" altLang="zh-CN" sz="3600" baseline="-25000" dirty="0"/>
              <a:t>23</a:t>
            </a:r>
            <a:endParaRPr lang="en-US" altLang="zh-CN" sz="3600" dirty="0"/>
          </a:p>
          <a:p>
            <a:pPr eaLnBrk="1" hangingPunct="1">
              <a:lnSpc>
                <a:spcPct val="125000"/>
              </a:lnSpc>
            </a:pPr>
            <a:r>
              <a:rPr lang="en-US" altLang="zh-CN" sz="3600" dirty="0">
                <a:sym typeface="Symbol" panose="05050102010706020507" pitchFamily="18" charset="2"/>
              </a:rPr>
              <a:t></a:t>
            </a:r>
            <a:r>
              <a:rPr lang="en-US" altLang="zh-CN" sz="3600" dirty="0"/>
              <a:t>x(A(x)∨B)</a:t>
            </a:r>
            <a:r>
              <a:rPr lang="en-US" altLang="zh-CN" sz="3600" dirty="0">
                <a:sym typeface="Symbol" panose="05050102010706020507" pitchFamily="18" charset="2"/>
              </a:rPr>
              <a:t></a:t>
            </a:r>
            <a:r>
              <a:rPr lang="en-US" altLang="zh-CN" sz="3600" dirty="0" err="1"/>
              <a:t>xA</a:t>
            </a:r>
            <a:r>
              <a:rPr lang="en-US" altLang="zh-CN" sz="3600" dirty="0"/>
              <a:t>(x)∨B     E</a:t>
            </a:r>
            <a:r>
              <a:rPr lang="en-US" altLang="zh-CN" sz="3600" baseline="-25000" dirty="0"/>
              <a:t>24</a:t>
            </a:r>
            <a:endParaRPr lang="en-US" altLang="zh-CN" sz="3600" dirty="0"/>
          </a:p>
          <a:p>
            <a:pPr eaLnBrk="1" hangingPunct="1">
              <a:lnSpc>
                <a:spcPct val="125000"/>
              </a:lnSpc>
            </a:pPr>
            <a:r>
              <a:rPr lang="en-US" altLang="zh-CN" sz="3600" dirty="0">
                <a:sym typeface="Symbol" panose="05050102010706020507" pitchFamily="18" charset="2"/>
              </a:rPr>
              <a:t></a:t>
            </a:r>
            <a:r>
              <a:rPr lang="en-US" altLang="zh-CN" sz="3600" dirty="0"/>
              <a:t>x(A(x)∧B)</a:t>
            </a:r>
            <a:r>
              <a:rPr lang="en-US" altLang="zh-CN" sz="3600" dirty="0">
                <a:sym typeface="Symbol" panose="05050102010706020507" pitchFamily="18" charset="2"/>
              </a:rPr>
              <a:t></a:t>
            </a:r>
            <a:r>
              <a:rPr lang="en-US" altLang="zh-CN" sz="3600" dirty="0" err="1"/>
              <a:t>xA</a:t>
            </a:r>
            <a:r>
              <a:rPr lang="en-US" altLang="zh-CN" sz="3600" dirty="0"/>
              <a:t>(x)∧B      E</a:t>
            </a:r>
            <a:r>
              <a:rPr lang="en-US" altLang="zh-CN" sz="3600" baseline="-25000" dirty="0"/>
              <a:t>25</a:t>
            </a:r>
            <a:endParaRPr lang="en-US" altLang="zh-CN" sz="3600" dirty="0"/>
          </a:p>
          <a:p>
            <a:pPr eaLnBrk="1" hangingPunct="1">
              <a:lnSpc>
                <a:spcPct val="125000"/>
              </a:lnSpc>
            </a:pPr>
            <a:r>
              <a:rPr lang="en-US" altLang="zh-CN" sz="3600" dirty="0">
                <a:sym typeface="Symbol" panose="05050102010706020507" pitchFamily="18" charset="2"/>
              </a:rPr>
              <a:t></a:t>
            </a:r>
            <a:r>
              <a:rPr lang="en-US" altLang="zh-CN" sz="3600" dirty="0"/>
              <a:t>x(A(x)∨B)</a:t>
            </a:r>
            <a:r>
              <a:rPr lang="en-US" altLang="zh-CN" sz="3600" dirty="0">
                <a:sym typeface="Symbol" panose="05050102010706020507" pitchFamily="18" charset="2"/>
              </a:rPr>
              <a:t></a:t>
            </a:r>
            <a:r>
              <a:rPr lang="en-US" altLang="zh-CN" sz="3600" dirty="0" err="1"/>
              <a:t>xA</a:t>
            </a:r>
            <a:r>
              <a:rPr lang="en-US" altLang="zh-CN" sz="3600" dirty="0"/>
              <a:t>(x)∨B      E</a:t>
            </a:r>
            <a:r>
              <a:rPr lang="en-US" altLang="zh-CN" sz="3600" baseline="-250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226869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C531E02-86E9-0FCC-9474-D3B557E73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2.4.5 </a:t>
            </a:r>
            <a:r>
              <a:rPr lang="zh-CN" altLang="en-US"/>
              <a:t>例题选讲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DB72D1A-8E15-7C42-50FF-D747B775FC7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11188" y="2770188"/>
            <a:ext cx="3810000" cy="4114800"/>
          </a:xfrm>
        </p:spPr>
        <p:txBody>
          <a:bodyPr/>
          <a:lstStyle/>
          <a:p>
            <a:pPr eaLnBrk="1" hangingPunct="1">
              <a:lnSpc>
                <a:spcPct val="180000"/>
              </a:lnSpc>
              <a:defRPr/>
            </a:pPr>
            <a:r>
              <a:rPr lang="zh-CN" altLang="en-US" sz="3200" b="1" dirty="0">
                <a:solidFill>
                  <a:schemeClr val="hlink"/>
                </a:solidFill>
              </a:rPr>
              <a:t>证明 </a:t>
            </a:r>
            <a:r>
              <a:rPr lang="zh-CN" altLang="en-US" sz="3200" dirty="0"/>
              <a:t>若</a:t>
            </a:r>
            <a:r>
              <a:rPr lang="en-US" altLang="zh-CN" sz="3200" dirty="0"/>
              <a:t>B</a:t>
            </a:r>
            <a:r>
              <a:rPr lang="zh-CN" altLang="en-US" sz="3200" dirty="0"/>
              <a:t>  </a:t>
            </a:r>
            <a:r>
              <a:rPr lang="en-US" altLang="zh-CN" sz="3200" dirty="0">
                <a:solidFill>
                  <a:schemeClr val="accent1"/>
                </a:solidFill>
              </a:rPr>
              <a:t>0</a:t>
            </a:r>
            <a:r>
              <a:rPr lang="zh-CN" altLang="en-US" sz="3200" dirty="0"/>
              <a:t> </a:t>
            </a:r>
            <a:r>
              <a:rPr lang="zh-CN" altLang="en-US" sz="3200" dirty="0">
                <a:sym typeface="Symbol" pitchFamily="18" charset="2"/>
              </a:rPr>
              <a:t></a:t>
            </a:r>
            <a:r>
              <a:rPr lang="en-US" altLang="zh-CN" sz="3200" dirty="0"/>
              <a:t>x(A(x)∧B)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ym typeface="Symbol" pitchFamily="18" charset="2"/>
              </a:rPr>
              <a:t>   </a:t>
            </a:r>
            <a:r>
              <a:rPr lang="en-US" altLang="zh-CN" sz="3200" dirty="0"/>
              <a:t>0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ym typeface="Symbol" pitchFamily="18" charset="2"/>
              </a:rPr>
              <a:t>   </a:t>
            </a:r>
            <a:r>
              <a:rPr lang="en-US" altLang="zh-CN" sz="3200" dirty="0" err="1"/>
              <a:t>xA</a:t>
            </a:r>
            <a:r>
              <a:rPr lang="en-US" altLang="zh-CN" sz="3200" dirty="0"/>
              <a:t>(x)∧B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endParaRPr lang="en-US" altLang="zh-CN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E1764C2-CBA7-70A9-A547-8B730010A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708275"/>
            <a:ext cx="3810000" cy="4114800"/>
          </a:xfrm>
        </p:spPr>
        <p:txBody>
          <a:bodyPr/>
          <a:lstStyle/>
          <a:p>
            <a:pPr>
              <a:lnSpc>
                <a:spcPct val="180000"/>
              </a:lnSpc>
              <a:defRPr/>
            </a:pPr>
            <a:r>
              <a:rPr lang="zh-CN" altLang="en-US" sz="3200" dirty="0"/>
              <a:t>若</a:t>
            </a:r>
            <a:r>
              <a:rPr lang="en-US" altLang="zh-CN" sz="3200" dirty="0"/>
              <a:t>B</a:t>
            </a:r>
            <a:r>
              <a:rPr lang="zh-CN" altLang="en-US" sz="3200" dirty="0"/>
              <a:t>  </a:t>
            </a:r>
            <a:r>
              <a:rPr lang="en-US" altLang="zh-CN" sz="3200" dirty="0">
                <a:solidFill>
                  <a:srgbClr val="FF00FF"/>
                </a:solidFill>
              </a:rPr>
              <a:t>1</a:t>
            </a:r>
            <a:r>
              <a:rPr lang="zh-CN" altLang="en-US" sz="3200" dirty="0"/>
              <a:t> </a:t>
            </a:r>
            <a:endParaRPr lang="en-US" altLang="zh-CN" sz="3200" dirty="0"/>
          </a:p>
          <a:p>
            <a:pPr marL="0" indent="0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ym typeface="Symbol" pitchFamily="18" charset="2"/>
              </a:rPr>
              <a:t>   </a:t>
            </a:r>
            <a:r>
              <a:rPr lang="en-US" altLang="zh-CN" sz="3200" dirty="0"/>
              <a:t>x(A(x)∧B)</a:t>
            </a:r>
          </a:p>
          <a:p>
            <a:pPr marL="0" indent="0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ym typeface="Symbol" pitchFamily="18" charset="2"/>
              </a:rPr>
              <a:t>   </a:t>
            </a:r>
            <a:r>
              <a:rPr lang="en-US" altLang="zh-CN" sz="3200" dirty="0" err="1"/>
              <a:t>xA</a:t>
            </a:r>
            <a:r>
              <a:rPr lang="en-US" altLang="zh-CN" sz="3200" dirty="0"/>
              <a:t>(x)</a:t>
            </a:r>
          </a:p>
          <a:p>
            <a:pPr marL="0" indent="0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ym typeface="Symbol" pitchFamily="18" charset="2"/>
              </a:rPr>
              <a:t>   </a:t>
            </a:r>
            <a:r>
              <a:rPr lang="en-US" altLang="zh-CN" sz="3200" dirty="0" err="1"/>
              <a:t>xA</a:t>
            </a:r>
            <a:r>
              <a:rPr lang="en-US" altLang="zh-CN" sz="3200" dirty="0"/>
              <a:t>(x)∧B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8437" name="矩形 2">
            <a:extLst>
              <a:ext uri="{FF2B5EF4-FFF2-40B4-BE49-F238E27FC236}">
                <a16:creationId xmlns:a16="http://schemas.microsoft.com/office/drawing/2014/main" id="{22353414-83F1-FDAA-1F65-FD6F80D24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905000"/>
            <a:ext cx="8424862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2.4.5</a:t>
            </a:r>
            <a:r>
              <a:rPr lang="zh-CN" altLang="en-US"/>
              <a:t>证明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/>
              <a:t>x(A(x)∧B)</a:t>
            </a:r>
            <a:r>
              <a:rPr lang="en-US" altLang="zh-CN">
                <a:sym typeface="Symbol" panose="05050102010706020507" pitchFamily="18" charset="2"/>
              </a:rPr>
              <a:t></a:t>
            </a:r>
            <a:r>
              <a:rPr lang="en-US" altLang="zh-CN"/>
              <a:t>xA(x)∧B</a:t>
            </a:r>
            <a:endParaRPr lang="en-US" altLang="zh-CN" b="1"/>
          </a:p>
        </p:txBody>
      </p:sp>
    </p:spTree>
    <p:extLst>
      <p:ext uri="{BB962C8B-B14F-4D97-AF65-F5344CB8AC3E}">
        <p14:creationId xmlns:p14="http://schemas.microsoft.com/office/powerpoint/2010/main" val="1242600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929590C-9B09-5EC0-10D3-3868FBDA7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2.4.4 </a:t>
            </a:r>
            <a:r>
              <a:rPr lang="zh-CN" altLang="en-US"/>
              <a:t>基本等价式与蕴含式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D95002B-9C4F-AAEC-48DB-45B0946AD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65137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A(x)</a:t>
            </a:r>
            <a:r>
              <a:rPr lang="zh-CN" altLang="en-US" sz="2400" dirty="0">
                <a:sym typeface="Symbol" panose="05050102010706020507" pitchFamily="18" charset="2"/>
              </a:rPr>
              <a:t>：</a:t>
            </a:r>
            <a:r>
              <a:rPr lang="en-US" altLang="zh-CN" sz="2400" dirty="0"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喜欢王一博，</a:t>
            </a:r>
            <a:r>
              <a:rPr lang="en-US" altLang="zh-CN" sz="2400" dirty="0">
                <a:sym typeface="Symbol" panose="05050102010706020507" pitchFamily="18" charset="2"/>
              </a:rPr>
              <a:t>B(x)</a:t>
            </a:r>
            <a:r>
              <a:rPr lang="zh-CN" altLang="en-US" sz="2400" dirty="0">
                <a:sym typeface="Symbol" panose="05050102010706020507" pitchFamily="18" charset="2"/>
              </a:rPr>
              <a:t>：</a:t>
            </a:r>
            <a:r>
              <a:rPr lang="en-US" altLang="zh-CN" sz="2400" dirty="0"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喜欢刘亦菲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我们班所有人都同时喜欢王一博和刘亦菲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ts val="1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x(A(x)∧B(x))</a:t>
            </a:r>
            <a:r>
              <a:rPr lang="en-US" altLang="zh-CN" sz="2400" dirty="0">
                <a:sym typeface="Symbol" panose="05050102010706020507" pitchFamily="18" charset="2"/>
              </a:rPr>
              <a:t></a:t>
            </a:r>
            <a:r>
              <a:rPr lang="en-US" altLang="zh-CN" sz="2400" dirty="0" err="1"/>
              <a:t>xA</a:t>
            </a:r>
            <a:r>
              <a:rPr lang="en-US" altLang="zh-CN" sz="2400" dirty="0"/>
              <a:t>(x)∧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 err="1"/>
              <a:t>xB</a:t>
            </a:r>
            <a:r>
              <a:rPr lang="en-US" altLang="zh-CN" sz="2400" dirty="0"/>
              <a:t>(x)  E32</a:t>
            </a:r>
          </a:p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zh-CN" altLang="en-US" sz="2400" dirty="0"/>
              <a:t>我们班所有人都喜欢王一博，并且所有人都喜欢刘亦菲。</a:t>
            </a:r>
            <a:endParaRPr lang="en-US" altLang="zh-CN" sz="2400" dirty="0"/>
          </a:p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endParaRPr lang="en-US" altLang="zh-CN" sz="2400" dirty="0"/>
          </a:p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zh-CN" altLang="en-US" sz="2400" dirty="0"/>
              <a:t>我们班有人喜欢王一博或者刘亦菲</a:t>
            </a:r>
            <a:endParaRPr lang="en-US" altLang="zh-CN" sz="2400" dirty="0"/>
          </a:p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/>
              <a:t>x(A(x)∨B(x))</a:t>
            </a:r>
            <a:r>
              <a:rPr lang="en-US" altLang="zh-CN" sz="2400" dirty="0">
                <a:sym typeface="Symbol" panose="05050102010706020507" pitchFamily="18" charset="2"/>
              </a:rPr>
              <a:t></a:t>
            </a:r>
            <a:r>
              <a:rPr lang="en-US" altLang="zh-CN" sz="2400" dirty="0" err="1"/>
              <a:t>xA</a:t>
            </a:r>
            <a:r>
              <a:rPr lang="en-US" altLang="zh-CN" sz="2400" dirty="0"/>
              <a:t>(x)∨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xB</a:t>
            </a:r>
            <a:r>
              <a:rPr lang="en-US" altLang="zh-CN" sz="2400" dirty="0"/>
              <a:t>(x)    E33</a:t>
            </a:r>
          </a:p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zh-CN" altLang="en-US" sz="2400" dirty="0"/>
              <a:t>我们班有人喜欢王一博，或者有人喜欢刘亦菲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794915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>
            <a:extLst>
              <a:ext uri="{FF2B5EF4-FFF2-40B4-BE49-F238E27FC236}">
                <a16:creationId xmlns:a16="http://schemas.microsoft.com/office/drawing/2014/main" id="{F15EF7C1-CB50-57F7-855A-9D98BC9FD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2.4.5 </a:t>
            </a:r>
            <a:r>
              <a:rPr lang="zh-CN" altLang="en-US"/>
              <a:t>例题选讲</a:t>
            </a:r>
          </a:p>
        </p:txBody>
      </p:sp>
      <p:sp>
        <p:nvSpPr>
          <p:cNvPr id="15363" name="Rectangle 9">
            <a:extLst>
              <a:ext uri="{FF2B5EF4-FFF2-40B4-BE49-F238E27FC236}">
                <a16:creationId xmlns:a16="http://schemas.microsoft.com/office/drawing/2014/main" id="{767BB82C-45E8-640A-F073-58FCC41A13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916113"/>
            <a:ext cx="8209284" cy="4941887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2.4.2</a:t>
            </a:r>
            <a:r>
              <a:rPr lang="zh-CN" altLang="en-US" sz="2800" dirty="0"/>
              <a:t>证明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x(A(x)∧B(x))</a:t>
            </a:r>
            <a:r>
              <a:rPr lang="en-US" altLang="zh-CN" sz="2800" dirty="0">
                <a:sym typeface="Symbol" panose="05050102010706020507" pitchFamily="18" charset="2"/>
              </a:rPr>
              <a:t></a:t>
            </a:r>
            <a:r>
              <a:rPr lang="en-US" altLang="zh-CN" sz="2800" dirty="0" err="1"/>
              <a:t>xA</a:t>
            </a:r>
            <a:r>
              <a:rPr lang="en-US" altLang="zh-CN" sz="2800" dirty="0"/>
              <a:t>(x)∧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 err="1"/>
              <a:t>xB</a:t>
            </a:r>
            <a:r>
              <a:rPr lang="en-US" altLang="zh-CN" sz="2800" dirty="0"/>
              <a:t>(x)</a:t>
            </a:r>
            <a:endParaRPr lang="en-US" altLang="zh-CN" sz="2800" b="1" dirty="0"/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证明</a:t>
            </a:r>
            <a:r>
              <a:rPr lang="zh-CN" altLang="en-US" sz="2800" dirty="0"/>
              <a:t> 设</a:t>
            </a:r>
            <a:r>
              <a:rPr lang="en-US" altLang="zh-CN" sz="2800" dirty="0"/>
              <a:t>E</a:t>
            </a:r>
            <a:r>
              <a:rPr lang="zh-CN" altLang="en-US" sz="2800" dirty="0"/>
              <a:t>为任意论域。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x(A(x)∧B(x))</a:t>
            </a:r>
            <a:r>
              <a:rPr lang="zh-CN" altLang="en-US" sz="2800" dirty="0"/>
              <a:t>   </a:t>
            </a:r>
            <a:r>
              <a:rPr lang="en-US" altLang="zh-CN" sz="2800" dirty="0">
                <a:solidFill>
                  <a:srgbClr val="FF00FF"/>
                </a:solidFill>
              </a:rPr>
              <a:t>1                             </a:t>
            </a:r>
            <a:r>
              <a:rPr lang="en-US" altLang="zh-CN" sz="2800" dirty="0">
                <a:solidFill>
                  <a:schemeClr val="accent1"/>
                </a:solidFill>
              </a:rPr>
              <a:t>0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每个常量</a:t>
            </a:r>
            <a:r>
              <a:rPr lang="en-US" altLang="zh-CN" sz="2800" dirty="0" err="1"/>
              <a:t>a∈E</a:t>
            </a:r>
            <a:r>
              <a:rPr lang="zh-CN" altLang="en-US" sz="2800" dirty="0"/>
              <a:t>，</a:t>
            </a:r>
            <a:r>
              <a:rPr lang="en-US" altLang="zh-CN" sz="2800" dirty="0"/>
              <a:t>A(a)∧B(a)  1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</a:t>
            </a:r>
            <a:r>
              <a:rPr lang="en-US" altLang="zh-CN" sz="2800" dirty="0" err="1"/>
              <a:t>xA</a:t>
            </a:r>
            <a:r>
              <a:rPr lang="en-US" altLang="zh-CN" sz="2800" dirty="0"/>
              <a:t>(x)</a:t>
            </a:r>
            <a:r>
              <a:rPr lang="zh-CN" altLang="en-US" sz="2800" dirty="0"/>
              <a:t>与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 err="1"/>
              <a:t>xB</a:t>
            </a:r>
            <a:r>
              <a:rPr lang="en-US" altLang="zh-CN" sz="2800" dirty="0"/>
              <a:t>(x)</a:t>
            </a:r>
            <a:r>
              <a:rPr lang="zh-CN" altLang="en-US" sz="2800" dirty="0"/>
              <a:t>  均</a:t>
            </a:r>
            <a:r>
              <a:rPr lang="en-US" altLang="zh-CN" sz="2800" dirty="0"/>
              <a:t>1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</a:t>
            </a:r>
            <a:r>
              <a:rPr lang="en-US" altLang="zh-CN" sz="2800" dirty="0" err="1"/>
              <a:t>xA</a:t>
            </a:r>
            <a:r>
              <a:rPr lang="en-US" altLang="zh-CN" sz="2800" dirty="0"/>
              <a:t>(x)∧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 err="1"/>
              <a:t>xB</a:t>
            </a:r>
            <a:r>
              <a:rPr lang="en-US" altLang="zh-CN" sz="2800" dirty="0"/>
              <a:t>(x)</a:t>
            </a:r>
            <a:r>
              <a:rPr lang="zh-CN" altLang="en-US" sz="2800" dirty="0"/>
              <a:t>  </a:t>
            </a:r>
            <a:r>
              <a:rPr lang="en-US" altLang="zh-CN" sz="2800" dirty="0">
                <a:solidFill>
                  <a:srgbClr val="FF00FF"/>
                </a:solidFill>
              </a:rPr>
              <a:t>1                             </a:t>
            </a:r>
            <a:r>
              <a:rPr lang="en-US" altLang="zh-CN" sz="2800" dirty="0">
                <a:solidFill>
                  <a:schemeClr val="accent1"/>
                </a:solidFill>
              </a:rPr>
              <a:t>0</a:t>
            </a:r>
            <a:endParaRPr lang="zh-CN" altLang="en-US" sz="2800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9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37855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929590C-9B09-5EC0-10D3-3868FBDA7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2.4.4 </a:t>
            </a:r>
            <a:r>
              <a:rPr lang="zh-CN" altLang="en-US"/>
              <a:t>基本等价式与蕴含式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D95002B-9C4F-AAEC-48DB-45B0946AD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65137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en-US" altLang="zh-CN" sz="2600" dirty="0">
                <a:sym typeface="Symbol" panose="05050102010706020507" pitchFamily="18" charset="2"/>
              </a:rPr>
              <a:t>A(x)</a:t>
            </a:r>
            <a:r>
              <a:rPr lang="zh-CN" altLang="en-US" sz="2600" dirty="0">
                <a:sym typeface="Symbol" panose="05050102010706020507" pitchFamily="18" charset="2"/>
              </a:rPr>
              <a:t>：</a:t>
            </a:r>
            <a:r>
              <a:rPr lang="en-US" altLang="zh-CN" sz="2600" dirty="0">
                <a:sym typeface="Symbol" panose="05050102010706020507" pitchFamily="18" charset="2"/>
              </a:rPr>
              <a:t>x</a:t>
            </a:r>
            <a:r>
              <a:rPr lang="zh-CN" altLang="en-US" sz="2600" dirty="0">
                <a:sym typeface="Symbol" panose="05050102010706020507" pitchFamily="18" charset="2"/>
              </a:rPr>
              <a:t>在联欢会上唱歌，</a:t>
            </a:r>
            <a:r>
              <a:rPr lang="en-US" altLang="zh-CN" sz="2600" dirty="0">
                <a:sym typeface="Symbol" panose="05050102010706020507" pitchFamily="18" charset="2"/>
              </a:rPr>
              <a:t>B(x)</a:t>
            </a:r>
            <a:r>
              <a:rPr lang="zh-CN" altLang="en-US" sz="2600" dirty="0">
                <a:sym typeface="Symbol" panose="05050102010706020507" pitchFamily="18" charset="2"/>
              </a:rPr>
              <a:t>：</a:t>
            </a:r>
            <a:r>
              <a:rPr lang="en-US" altLang="zh-CN" sz="2600" dirty="0">
                <a:sym typeface="Symbol" panose="05050102010706020507" pitchFamily="18" charset="2"/>
              </a:rPr>
              <a:t>x</a:t>
            </a:r>
            <a:r>
              <a:rPr lang="zh-CN" altLang="en-US" sz="2600" dirty="0">
                <a:sym typeface="Symbol" panose="05050102010706020507" pitchFamily="18" charset="2"/>
              </a:rPr>
              <a:t>在联欢会上跳舞</a:t>
            </a:r>
            <a:endParaRPr lang="en-US" altLang="zh-CN" sz="2600" dirty="0"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zh-CN" altLang="en-US" sz="2600" dirty="0">
                <a:sym typeface="Symbol" panose="05050102010706020507" pitchFamily="18" charset="2"/>
              </a:rPr>
              <a:t>联欢会上所有人都唱歌或者所有人都跳舞</a:t>
            </a:r>
            <a:endParaRPr lang="en-US" altLang="zh-CN" sz="2600" dirty="0">
              <a:sym typeface="Symbol" panose="05050102010706020507" pitchFamily="18" charset="2"/>
            </a:endParaRPr>
          </a:p>
          <a:p>
            <a:pPr marL="0" eaLnBrk="1" hangingPunct="1">
              <a:lnSpc>
                <a:spcPct val="150000"/>
              </a:lnSpc>
              <a:spcBef>
                <a:spcPts val="100"/>
              </a:spcBef>
            </a:pPr>
            <a:r>
              <a:rPr lang="en-US" altLang="zh-CN" sz="2600" dirty="0">
                <a:sym typeface="Symbol" panose="05050102010706020507" pitchFamily="18" charset="2"/>
              </a:rPr>
              <a:t></a:t>
            </a:r>
            <a:r>
              <a:rPr lang="en-US" altLang="zh-CN" sz="2600" dirty="0" err="1"/>
              <a:t>xA</a:t>
            </a:r>
            <a:r>
              <a:rPr lang="en-US" altLang="zh-CN" sz="2600" dirty="0"/>
              <a:t>(x)∨</a:t>
            </a:r>
            <a:r>
              <a:rPr lang="en-US" altLang="zh-CN" sz="2600" dirty="0">
                <a:sym typeface="Symbol" panose="05050102010706020507" pitchFamily="18" charset="2"/>
              </a:rPr>
              <a:t></a:t>
            </a:r>
            <a:r>
              <a:rPr lang="en-US" altLang="zh-CN" sz="2600" dirty="0" err="1"/>
              <a:t>xB</a:t>
            </a:r>
            <a:r>
              <a:rPr lang="en-US" altLang="zh-CN" sz="2600" dirty="0"/>
              <a:t>(x)</a:t>
            </a:r>
            <a:r>
              <a:rPr lang="en-US" altLang="zh-CN" sz="2600" dirty="0">
                <a:sym typeface="Symbol" panose="05050102010706020507" pitchFamily="18" charset="2"/>
              </a:rPr>
              <a:t></a:t>
            </a:r>
            <a:r>
              <a:rPr lang="en-US" altLang="zh-CN" sz="2600" dirty="0"/>
              <a:t>x(A(x)∨B(x))   I</a:t>
            </a:r>
            <a:r>
              <a:rPr lang="en-US" altLang="zh-CN" sz="2600" baseline="-25000" dirty="0"/>
              <a:t>18</a:t>
            </a:r>
          </a:p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zh-CN" altLang="en-US" sz="2600" dirty="0"/>
              <a:t>联欢会上所有人或者唱歌或者跳舞</a:t>
            </a:r>
            <a:endParaRPr lang="en-US" altLang="zh-CN" sz="2600" dirty="0"/>
          </a:p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zh-CN" altLang="en-US" sz="2600" dirty="0"/>
              <a:t>联欢会上有的人既唱歌又跳舞</a:t>
            </a:r>
            <a:endParaRPr lang="en-US" altLang="zh-CN" sz="2600" dirty="0"/>
          </a:p>
          <a:p>
            <a:pPr marL="0" eaLnBrk="1" hangingPunct="1">
              <a:lnSpc>
                <a:spcPct val="150000"/>
              </a:lnSpc>
              <a:spcBef>
                <a:spcPts val="100"/>
              </a:spcBef>
            </a:pPr>
            <a:r>
              <a:rPr lang="en-US" altLang="zh-CN" sz="2600" dirty="0">
                <a:sym typeface="Symbol" panose="05050102010706020507" pitchFamily="18" charset="2"/>
              </a:rPr>
              <a:t></a:t>
            </a:r>
            <a:r>
              <a:rPr lang="en-US" altLang="zh-CN" sz="2600" dirty="0"/>
              <a:t>x(A(x)∧B(x))</a:t>
            </a:r>
            <a:r>
              <a:rPr lang="en-US" altLang="zh-CN" sz="2600" dirty="0">
                <a:sym typeface="Symbol" panose="05050102010706020507" pitchFamily="18" charset="2"/>
              </a:rPr>
              <a:t></a:t>
            </a:r>
            <a:r>
              <a:rPr lang="en-US" altLang="zh-CN" sz="2600" dirty="0" err="1"/>
              <a:t>xA</a:t>
            </a:r>
            <a:r>
              <a:rPr lang="en-US" altLang="zh-CN" sz="2600" dirty="0"/>
              <a:t>(x)∧</a:t>
            </a:r>
            <a:r>
              <a:rPr lang="en-US" altLang="zh-CN" sz="2600" dirty="0">
                <a:sym typeface="Symbol" panose="05050102010706020507" pitchFamily="18" charset="2"/>
              </a:rPr>
              <a:t></a:t>
            </a:r>
            <a:r>
              <a:rPr lang="en-US" altLang="zh-CN" sz="2600" dirty="0" err="1"/>
              <a:t>xB</a:t>
            </a:r>
            <a:r>
              <a:rPr lang="en-US" altLang="zh-CN" sz="2600" dirty="0"/>
              <a:t>(x)     I</a:t>
            </a:r>
            <a:r>
              <a:rPr lang="en-US" altLang="zh-CN" sz="2600" baseline="-25000" dirty="0"/>
              <a:t>19</a:t>
            </a:r>
          </a:p>
          <a:p>
            <a:pPr marL="0" indent="0" eaLnBrk="1" hangingPunct="1">
              <a:lnSpc>
                <a:spcPct val="150000"/>
              </a:lnSpc>
              <a:spcBef>
                <a:spcPts val="100"/>
              </a:spcBef>
              <a:buNone/>
            </a:pPr>
            <a:r>
              <a:rPr lang="zh-CN" altLang="en-US" sz="2600" dirty="0"/>
              <a:t>联欢会上有的人唱歌，有的人跳舞</a:t>
            </a: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584887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FC4E75A-57EC-1061-3AFB-2F949718A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2.4.5 </a:t>
            </a:r>
            <a:r>
              <a:rPr lang="zh-CN" altLang="en-US"/>
              <a:t>例题选讲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D892D23-D5BC-56AF-7A7C-1EE97CCEFA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  <a:sym typeface="Symbol" panose="05050102010706020507" pitchFamily="18" charset="2"/>
              </a:rPr>
              <a:t>2.4.3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证明</a:t>
            </a:r>
            <a:r>
              <a:rPr lang="en-US" altLang="zh-CN" sz="2800" dirty="0" err="1"/>
              <a:t>xA</a:t>
            </a:r>
            <a:r>
              <a:rPr lang="en-US" altLang="zh-CN" sz="2800" dirty="0"/>
              <a:t>(x)∨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 err="1"/>
              <a:t>xB</a:t>
            </a:r>
            <a:r>
              <a:rPr lang="en-US" altLang="zh-CN" sz="2800" dirty="0"/>
              <a:t>(x)</a:t>
            </a:r>
            <a:r>
              <a:rPr lang="en-US" altLang="zh-CN" sz="2800" dirty="0">
                <a:sym typeface="Symbol" panose="05050102010706020507" pitchFamily="18" charset="2"/>
              </a:rPr>
              <a:t></a:t>
            </a:r>
            <a:r>
              <a:rPr lang="en-US" altLang="zh-CN" sz="2800" dirty="0"/>
              <a:t>x(A(x)∨B(x))</a:t>
            </a:r>
            <a:endParaRPr lang="en-US" altLang="zh-CN" sz="2800" b="1" dirty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    </a:t>
            </a:r>
            <a:r>
              <a:rPr lang="zh-CN" altLang="en-US" sz="2800" dirty="0">
                <a:solidFill>
                  <a:schemeClr val="hlink"/>
                </a:solidFill>
              </a:rPr>
              <a:t>证明</a:t>
            </a:r>
            <a:r>
              <a:rPr lang="zh-CN" altLang="en-US" sz="2800" dirty="0"/>
              <a:t> 设</a:t>
            </a:r>
            <a:r>
              <a:rPr lang="en-US" altLang="zh-CN" sz="2800" dirty="0"/>
              <a:t>E</a:t>
            </a:r>
            <a:r>
              <a:rPr lang="zh-CN" altLang="en-US" sz="2800" dirty="0"/>
              <a:t>为任意论域。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x(A(x)∨B(x))  </a:t>
            </a:r>
            <a:r>
              <a:rPr lang="en-US" altLang="zh-CN" sz="2800" dirty="0">
                <a:solidFill>
                  <a:srgbClr val="FF00FF"/>
                </a:solidFill>
              </a:rPr>
              <a:t>0                             </a:t>
            </a:r>
            <a:endParaRPr lang="en-US" altLang="zh-CN" sz="2800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存在常量</a:t>
            </a:r>
            <a:r>
              <a:rPr lang="en-US" altLang="zh-CN" sz="2800" dirty="0" err="1"/>
              <a:t>a∈E</a:t>
            </a:r>
            <a:r>
              <a:rPr lang="zh-CN" altLang="en-US" sz="2800" dirty="0"/>
              <a:t>，</a:t>
            </a:r>
            <a:r>
              <a:rPr lang="en-US" altLang="zh-CN" sz="2800" dirty="0"/>
              <a:t>A(a)∨B(a)  0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存在常量</a:t>
            </a:r>
            <a:r>
              <a:rPr lang="en-US" altLang="zh-CN" sz="2800" dirty="0" err="1"/>
              <a:t>a∈E</a:t>
            </a:r>
            <a:r>
              <a:rPr lang="zh-CN" altLang="en-US" sz="2800" dirty="0"/>
              <a:t>，</a:t>
            </a:r>
            <a:r>
              <a:rPr lang="en-US" altLang="zh-CN" sz="2800" dirty="0"/>
              <a:t>A(a)</a:t>
            </a:r>
            <a:r>
              <a:rPr lang="zh-CN" altLang="en-US" sz="2800" dirty="0"/>
              <a:t>与</a:t>
            </a:r>
            <a:r>
              <a:rPr lang="en-US" altLang="zh-CN" sz="2800" dirty="0"/>
              <a:t>B(a)  </a:t>
            </a:r>
            <a:r>
              <a:rPr lang="zh-CN" altLang="en-US" sz="2800" dirty="0"/>
              <a:t>同</a:t>
            </a:r>
            <a:r>
              <a:rPr lang="en-US" altLang="zh-CN" sz="2800" dirty="0"/>
              <a:t>0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 </a:t>
            </a:r>
            <a:r>
              <a:rPr lang="en-US" altLang="zh-CN" sz="2800" dirty="0" err="1"/>
              <a:t>xA</a:t>
            </a:r>
            <a:r>
              <a:rPr lang="en-US" altLang="zh-CN" sz="2800" dirty="0"/>
              <a:t>(x)</a:t>
            </a:r>
            <a:r>
              <a:rPr lang="zh-CN" altLang="en-US" sz="2800" dirty="0"/>
              <a:t>与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 err="1"/>
              <a:t>xB</a:t>
            </a:r>
            <a:r>
              <a:rPr lang="en-US" altLang="zh-CN" sz="2800" dirty="0"/>
              <a:t>(x)  </a:t>
            </a:r>
            <a:r>
              <a:rPr lang="zh-CN" altLang="en-US" sz="2800" dirty="0"/>
              <a:t>同</a:t>
            </a:r>
            <a:r>
              <a:rPr lang="en-US" altLang="zh-CN" sz="2800" dirty="0"/>
              <a:t>0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 </a:t>
            </a:r>
            <a:r>
              <a:rPr lang="en-US" altLang="zh-CN" sz="2800" dirty="0" err="1"/>
              <a:t>xA</a:t>
            </a:r>
            <a:r>
              <a:rPr lang="en-US" altLang="zh-CN" sz="2800" dirty="0"/>
              <a:t>(x)∨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 err="1"/>
              <a:t>xB</a:t>
            </a:r>
            <a:r>
              <a:rPr lang="en-US" altLang="zh-CN" sz="2800" dirty="0"/>
              <a:t>(x)  </a:t>
            </a:r>
            <a:r>
              <a:rPr lang="en-US" altLang="zh-CN" sz="2800" dirty="0">
                <a:solidFill>
                  <a:srgbClr val="FF00FF"/>
                </a:solidFill>
              </a:rPr>
              <a:t>0                            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784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FE53181-19A7-85B6-7119-1965C6DA6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2.4.5 </a:t>
            </a:r>
            <a:r>
              <a:rPr lang="zh-CN" altLang="en-US"/>
              <a:t>例题选讲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A4C2F97-BBF2-BF72-D4C0-112B442FE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0066"/>
                </a:solidFill>
              </a:rPr>
              <a:t>例</a:t>
            </a:r>
            <a:r>
              <a:rPr lang="en-US" altLang="zh-CN" dirty="0">
                <a:solidFill>
                  <a:srgbClr val="FF0066"/>
                </a:solidFill>
              </a:rPr>
              <a:t>2.4.4</a:t>
            </a:r>
            <a:r>
              <a:rPr lang="zh-CN" altLang="en-US" dirty="0"/>
              <a:t>证明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x(A(x)∧B(x))</a:t>
            </a:r>
            <a:r>
              <a:rPr lang="en-US" altLang="zh-CN" dirty="0">
                <a:sym typeface="Symbol" panose="05050102010706020507" pitchFamily="18" charset="2"/>
              </a:rPr>
              <a:t></a:t>
            </a:r>
            <a:r>
              <a:rPr lang="en-US" altLang="zh-CN" dirty="0" err="1"/>
              <a:t>xA</a:t>
            </a:r>
            <a:r>
              <a:rPr lang="en-US" altLang="zh-CN" dirty="0"/>
              <a:t>(x)∧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xB</a:t>
            </a:r>
            <a:r>
              <a:rPr lang="en-US" altLang="zh-CN" dirty="0"/>
              <a:t>(x)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   证明</a:t>
            </a:r>
            <a:r>
              <a:rPr lang="zh-CN" altLang="en-US" dirty="0"/>
              <a:t> 设</a:t>
            </a:r>
            <a:r>
              <a:rPr lang="en-US" altLang="zh-CN" dirty="0"/>
              <a:t>E</a:t>
            </a:r>
            <a:r>
              <a:rPr lang="zh-CN" altLang="en-US" dirty="0"/>
              <a:t>为任意论域。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x(A(x)∧B(x))  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存在常量</a:t>
            </a:r>
            <a:r>
              <a:rPr lang="en-US" altLang="zh-CN" dirty="0" err="1"/>
              <a:t>a∈E</a:t>
            </a:r>
            <a:r>
              <a:rPr lang="zh-CN" altLang="en-US" dirty="0"/>
              <a:t>，</a:t>
            </a:r>
            <a:r>
              <a:rPr lang="en-US" altLang="zh-CN" dirty="0"/>
              <a:t>A(a)∧B(a)  1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存在常量</a:t>
            </a:r>
            <a:r>
              <a:rPr lang="en-US" altLang="zh-CN" dirty="0" err="1"/>
              <a:t>a∈E</a:t>
            </a:r>
            <a:r>
              <a:rPr lang="zh-CN" altLang="en-US" dirty="0"/>
              <a:t>，</a:t>
            </a:r>
            <a:r>
              <a:rPr lang="en-US" altLang="zh-CN" dirty="0"/>
              <a:t>A(a)</a:t>
            </a:r>
            <a:r>
              <a:rPr lang="zh-CN" altLang="en-US" dirty="0"/>
              <a:t>与</a:t>
            </a:r>
            <a:r>
              <a:rPr lang="en-US" altLang="zh-CN" dirty="0"/>
              <a:t>B(a)  </a:t>
            </a:r>
            <a:r>
              <a:rPr lang="zh-CN" altLang="en-US" dirty="0"/>
              <a:t>同</a:t>
            </a:r>
            <a:r>
              <a:rPr lang="en-US" altLang="zh-CN" dirty="0"/>
              <a:t>1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 </a:t>
            </a:r>
            <a:r>
              <a:rPr lang="en-US" altLang="zh-CN" dirty="0" err="1"/>
              <a:t>xA</a:t>
            </a:r>
            <a:r>
              <a:rPr lang="en-US" altLang="zh-CN" dirty="0"/>
              <a:t>(x)</a:t>
            </a:r>
            <a:r>
              <a:rPr lang="zh-CN" altLang="en-US" dirty="0"/>
              <a:t>与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xB</a:t>
            </a:r>
            <a:r>
              <a:rPr lang="en-US" altLang="zh-CN" dirty="0"/>
              <a:t>(x)  </a:t>
            </a:r>
            <a:r>
              <a:rPr lang="zh-CN" altLang="en-US" dirty="0"/>
              <a:t>同</a:t>
            </a:r>
            <a:r>
              <a:rPr lang="en-US" altLang="zh-CN" dirty="0"/>
              <a:t>1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 </a:t>
            </a:r>
            <a:r>
              <a:rPr lang="en-US" altLang="zh-CN" dirty="0" err="1"/>
              <a:t>xA</a:t>
            </a:r>
            <a:r>
              <a:rPr lang="en-US" altLang="zh-CN" dirty="0"/>
              <a:t>(x)∧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xB</a:t>
            </a:r>
            <a:r>
              <a:rPr lang="en-US" altLang="zh-CN" dirty="0"/>
              <a:t>(x)  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8440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7CBAE2-95E5-04D5-BB9B-AA09C94FB51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谓词演算中，下列各式（     ）不正确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CA4377-E845-9435-C7EA-E0B899AED4A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x(A(x)∧B(x))</a:t>
            </a:r>
            <a:r>
              <a:rPr lang="en-US" altLang="zh-CN" sz="2400" dirty="0">
                <a:sym typeface="Symbol" panose="05050102010706020507" pitchFamily="18" charset="2"/>
              </a:rPr>
              <a:t></a:t>
            </a:r>
            <a:r>
              <a:rPr lang="en-US" altLang="zh-CN" sz="2400" dirty="0" err="1"/>
              <a:t>xA</a:t>
            </a:r>
            <a:r>
              <a:rPr lang="en-US" altLang="zh-CN" sz="2400" dirty="0"/>
              <a:t>(x)∧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 err="1"/>
              <a:t>xB</a:t>
            </a:r>
            <a:r>
              <a:rPr lang="en-US" altLang="zh-CN" sz="2400" dirty="0"/>
              <a:t>(x)</a:t>
            </a:r>
            <a:endParaRPr lang="en-US" altLang="zh-CN" sz="24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70144C-6B9A-8B00-BAD6-280A9DE67E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/>
              <a:t>x(A(x)∨B(x))</a:t>
            </a:r>
            <a:r>
              <a:rPr lang="en-US" altLang="zh-CN" sz="2400" dirty="0">
                <a:sym typeface="Symbol" panose="05050102010706020507" pitchFamily="18" charset="2"/>
              </a:rPr>
              <a:t></a:t>
            </a:r>
            <a:r>
              <a:rPr lang="en-US" altLang="zh-CN" sz="2400" dirty="0" err="1"/>
              <a:t>xA</a:t>
            </a:r>
            <a:r>
              <a:rPr lang="en-US" altLang="zh-CN" sz="2400" dirty="0"/>
              <a:t>(x)∨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xB</a:t>
            </a:r>
            <a:r>
              <a:rPr lang="en-US" altLang="zh-CN" sz="2400" dirty="0"/>
              <a:t>(x)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051B8F-5BFA-D675-A2A8-E9A1D8B5A6E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x(A(x)∨B(x))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 err="1"/>
              <a:t>xA</a:t>
            </a:r>
            <a:r>
              <a:rPr lang="en-US" altLang="zh-CN" sz="2400" dirty="0"/>
              <a:t>(x)∨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 err="1"/>
              <a:t>xB</a:t>
            </a:r>
            <a:r>
              <a:rPr lang="en-US" altLang="zh-CN" sz="2400" dirty="0"/>
              <a:t>(x)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99A4C1-622A-7DAC-D100-BEF4E27F64C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/>
              <a:t>x(A(x)∧B(x))</a:t>
            </a:r>
            <a:r>
              <a:rPr lang="en-US" altLang="zh-CN" sz="2800" dirty="0">
                <a:sym typeface="Symbol" panose="05050102010706020507" pitchFamily="18" charset="2"/>
              </a:rPr>
              <a:t></a:t>
            </a:r>
            <a:r>
              <a:rPr lang="en-US" altLang="zh-CN" sz="2800" dirty="0" err="1"/>
              <a:t>xA</a:t>
            </a:r>
            <a:r>
              <a:rPr lang="en-US" altLang="zh-CN" sz="2800" dirty="0"/>
              <a:t>(x)∧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xB</a:t>
            </a:r>
            <a:r>
              <a:rPr lang="en-US" altLang="zh-CN" sz="2800" dirty="0"/>
              <a:t>(x)</a:t>
            </a:r>
            <a:endParaRPr lang="zh-CN" altLang="en-US" sz="28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122F3A0-DB4F-D308-6D8D-A1FEFD34E9C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CA6AF0E-FA8E-0DAD-A23E-131F9AF818A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5C85D78-1D27-D0A4-FFE9-7139402E54F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C81603D-2C32-0250-3A87-4A54DBC67DE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A487A55-DE9D-F453-B454-8BC0163C94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A463DBF-6925-86D1-2889-C0BE7571E83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B255843F-C729-B091-B748-494CA730603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FB7AB214-6C78-5B84-0B0C-4490A862257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01C17561-256C-DB26-9F1B-9F02BE33242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59AD80E1-3F5D-ECA9-5600-3EB59C2BEDD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6FB0245-B513-3688-BE5C-CB93129D352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5195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4E35529-F607-ADD8-BC3F-5AED6DABD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2.4.4 </a:t>
            </a:r>
            <a:r>
              <a:rPr lang="zh-CN" altLang="en-US"/>
              <a:t>基本等价式与蕴含式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86E72BC-49D8-CC61-2328-482AA63AB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60575"/>
            <a:ext cx="8415338" cy="360067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3600" dirty="0">
                <a:sym typeface="Symbol" panose="05050102010706020507" pitchFamily="18" charset="2"/>
              </a:rPr>
              <a:t></a:t>
            </a:r>
            <a:r>
              <a:rPr lang="en-US" altLang="zh-CN" sz="3600" dirty="0"/>
              <a:t>x(A→B(x))</a:t>
            </a:r>
            <a:r>
              <a:rPr lang="en-US" altLang="zh-CN" sz="3600" dirty="0">
                <a:sym typeface="Symbol" panose="05050102010706020507" pitchFamily="18" charset="2"/>
              </a:rPr>
              <a:t></a:t>
            </a:r>
            <a:r>
              <a:rPr lang="en-US" altLang="zh-CN" sz="3600" dirty="0"/>
              <a:t>A→</a:t>
            </a:r>
            <a:r>
              <a:rPr lang="en-US" altLang="zh-CN" sz="3600" dirty="0">
                <a:sym typeface="Symbol" panose="05050102010706020507" pitchFamily="18" charset="2"/>
              </a:rPr>
              <a:t></a:t>
            </a:r>
            <a:r>
              <a:rPr lang="en-US" altLang="zh-CN" sz="3600" dirty="0" err="1"/>
              <a:t>xB</a:t>
            </a:r>
            <a:r>
              <a:rPr lang="en-US" altLang="zh-CN" sz="3600" dirty="0"/>
              <a:t>(x)             E</a:t>
            </a:r>
            <a:r>
              <a:rPr lang="en-US" altLang="zh-CN" sz="3600" baseline="-25000" dirty="0"/>
              <a:t>29</a:t>
            </a:r>
            <a:endParaRPr lang="en-US" altLang="zh-CN" sz="3600" dirty="0"/>
          </a:p>
          <a:p>
            <a:pPr eaLnBrk="1" hangingPunct="1">
              <a:lnSpc>
                <a:spcPct val="120000"/>
              </a:lnSpc>
            </a:pPr>
            <a:endParaRPr lang="en-US" altLang="zh-CN" sz="36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3600" dirty="0">
                <a:sym typeface="Symbol" panose="05050102010706020507" pitchFamily="18" charset="2"/>
              </a:rPr>
              <a:t></a:t>
            </a:r>
            <a:r>
              <a:rPr lang="en-US" altLang="zh-CN" sz="3600" dirty="0"/>
              <a:t>x(A→B(x))</a:t>
            </a:r>
            <a:r>
              <a:rPr lang="en-US" altLang="zh-CN" sz="3600" dirty="0">
                <a:sym typeface="Symbol" panose="05050102010706020507" pitchFamily="18" charset="2"/>
              </a:rPr>
              <a:t></a:t>
            </a:r>
            <a:r>
              <a:rPr lang="en-US" altLang="zh-CN" sz="3600" dirty="0"/>
              <a:t>A→</a:t>
            </a:r>
            <a:r>
              <a:rPr lang="en-US" altLang="zh-CN" sz="3600" dirty="0">
                <a:sym typeface="Symbol" panose="05050102010706020507" pitchFamily="18" charset="2"/>
              </a:rPr>
              <a:t></a:t>
            </a:r>
            <a:r>
              <a:rPr lang="en-US" altLang="zh-CN" sz="3600" dirty="0" err="1"/>
              <a:t>xB</a:t>
            </a:r>
            <a:r>
              <a:rPr lang="en-US" altLang="zh-CN" sz="3600" dirty="0"/>
              <a:t>(x)              E</a:t>
            </a:r>
            <a:r>
              <a:rPr lang="en-US" altLang="zh-CN" sz="3600" baseline="-25000" dirty="0"/>
              <a:t>30</a:t>
            </a:r>
            <a:endParaRPr lang="en-US" altLang="zh-CN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4E35529-F607-ADD8-BC3F-5AED6DABD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2.4.4 </a:t>
            </a:r>
            <a:r>
              <a:rPr lang="zh-CN" altLang="en-US"/>
              <a:t>基本等价式与蕴含式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86E72BC-49D8-CC61-2328-482AA63AB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60575"/>
            <a:ext cx="8415338" cy="47974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 sz="36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3600" dirty="0">
                <a:sym typeface="Symbol" panose="05050102010706020507" pitchFamily="18" charset="2"/>
              </a:rPr>
              <a:t></a:t>
            </a:r>
            <a:r>
              <a:rPr lang="en-US" altLang="zh-CN" sz="3600" dirty="0"/>
              <a:t>x(A(x)→B)</a:t>
            </a:r>
            <a:r>
              <a:rPr lang="en-US" altLang="zh-CN" sz="3600" dirty="0">
                <a:sym typeface="Symbol" panose="05050102010706020507" pitchFamily="18" charset="2"/>
              </a:rPr>
              <a:t></a:t>
            </a:r>
            <a:r>
              <a:rPr lang="en-US" altLang="zh-CN" sz="3600" dirty="0" err="1"/>
              <a:t>xA</a:t>
            </a:r>
            <a:r>
              <a:rPr lang="en-US" altLang="zh-CN" sz="3600" dirty="0"/>
              <a:t>(x)→B             E</a:t>
            </a:r>
            <a:r>
              <a:rPr lang="en-US" altLang="zh-CN" sz="3600" baseline="-25000" dirty="0"/>
              <a:t>27</a:t>
            </a:r>
          </a:p>
          <a:p>
            <a:pPr eaLnBrk="1" hangingPunct="1">
              <a:lnSpc>
                <a:spcPct val="120000"/>
              </a:lnSpc>
            </a:pPr>
            <a:endParaRPr lang="en-US" altLang="zh-CN" sz="36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3600" dirty="0">
                <a:sym typeface="Symbol" panose="05050102010706020507" pitchFamily="18" charset="2"/>
              </a:rPr>
              <a:t></a:t>
            </a:r>
            <a:r>
              <a:rPr lang="en-US" altLang="zh-CN" sz="3600" dirty="0"/>
              <a:t>x(A(x)→B)</a:t>
            </a:r>
            <a:r>
              <a:rPr lang="en-US" altLang="zh-CN" sz="3600" dirty="0">
                <a:sym typeface="Symbol" panose="05050102010706020507" pitchFamily="18" charset="2"/>
              </a:rPr>
              <a:t></a:t>
            </a:r>
            <a:r>
              <a:rPr lang="en-US" altLang="zh-CN" sz="3600" dirty="0" err="1"/>
              <a:t>xA</a:t>
            </a:r>
            <a:r>
              <a:rPr lang="en-US" altLang="zh-CN" sz="3600" dirty="0"/>
              <a:t>(x)→B             E</a:t>
            </a:r>
            <a:r>
              <a:rPr lang="en-US" altLang="zh-CN" sz="3600" baseline="-25000" dirty="0"/>
              <a:t>28</a:t>
            </a:r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3436277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4E35529-F607-ADD8-BC3F-5AED6DABD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2.4.4 </a:t>
            </a:r>
            <a:r>
              <a:rPr lang="zh-CN" altLang="en-US"/>
              <a:t>基本等价式与蕴含式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86E72BC-49D8-CC61-2328-482AA63AB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60575"/>
            <a:ext cx="8415338" cy="4797425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</a:pPr>
            <a:endParaRPr lang="en-US" altLang="zh-CN" sz="36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3600" dirty="0">
                <a:sym typeface="Symbol" panose="05050102010706020507" pitchFamily="18" charset="2"/>
              </a:rPr>
              <a:t></a:t>
            </a:r>
            <a:r>
              <a:rPr lang="en-US" altLang="zh-CN" sz="3600" dirty="0" err="1"/>
              <a:t>xA</a:t>
            </a:r>
            <a:r>
              <a:rPr lang="en-US" altLang="zh-CN" sz="3600" dirty="0"/>
              <a:t>(x)→</a:t>
            </a:r>
            <a:r>
              <a:rPr lang="en-US" altLang="zh-CN" sz="3600" dirty="0">
                <a:sym typeface="Symbol" panose="05050102010706020507" pitchFamily="18" charset="2"/>
              </a:rPr>
              <a:t></a:t>
            </a:r>
            <a:r>
              <a:rPr lang="en-US" altLang="zh-CN" sz="3600" dirty="0" err="1"/>
              <a:t>xB</a:t>
            </a:r>
            <a:r>
              <a:rPr lang="en-US" altLang="zh-CN" sz="3600" dirty="0"/>
              <a:t>(x)</a:t>
            </a:r>
            <a:r>
              <a:rPr lang="en-US" altLang="zh-CN" sz="3600" dirty="0">
                <a:sym typeface="Symbol" panose="05050102010706020507" pitchFamily="18" charset="2"/>
              </a:rPr>
              <a:t></a:t>
            </a:r>
            <a:r>
              <a:rPr lang="en-US" altLang="zh-CN" sz="3600" dirty="0"/>
              <a:t>x(A(x)→B(x))  I</a:t>
            </a:r>
            <a:r>
              <a:rPr lang="en-US" altLang="zh-CN" sz="3600" baseline="-25000" dirty="0"/>
              <a:t>17</a:t>
            </a:r>
          </a:p>
          <a:p>
            <a:pPr eaLnBrk="1" hangingPunct="1">
              <a:lnSpc>
                <a:spcPct val="120000"/>
              </a:lnSpc>
            </a:pPr>
            <a:endParaRPr lang="en-US" altLang="zh-CN" sz="36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3600" dirty="0">
                <a:sym typeface="Symbol" panose="05050102010706020507" pitchFamily="18" charset="2"/>
              </a:rPr>
              <a:t></a:t>
            </a:r>
            <a:r>
              <a:rPr lang="en-US" altLang="zh-CN" sz="3600" dirty="0" err="1"/>
              <a:t>xA</a:t>
            </a:r>
            <a:r>
              <a:rPr lang="en-US" altLang="zh-CN" sz="3600" dirty="0"/>
              <a:t>(x)→</a:t>
            </a:r>
            <a:r>
              <a:rPr lang="en-US" altLang="zh-CN" sz="3600" dirty="0">
                <a:sym typeface="Symbol" panose="05050102010706020507" pitchFamily="18" charset="2"/>
              </a:rPr>
              <a:t></a:t>
            </a:r>
            <a:r>
              <a:rPr lang="en-US" altLang="zh-CN" sz="3600" dirty="0" err="1"/>
              <a:t>xB</a:t>
            </a:r>
            <a:r>
              <a:rPr lang="en-US" altLang="zh-CN" sz="3600" dirty="0"/>
              <a:t>(x)</a:t>
            </a:r>
            <a:r>
              <a:rPr lang="en-US" altLang="zh-CN" sz="3600" dirty="0">
                <a:sym typeface="Symbol" panose="05050102010706020507" pitchFamily="18" charset="2"/>
              </a:rPr>
              <a:t></a:t>
            </a:r>
            <a:r>
              <a:rPr lang="en-US" altLang="zh-CN" sz="3600" dirty="0"/>
              <a:t>x(A(x)→B(x))   E</a:t>
            </a:r>
            <a:r>
              <a:rPr lang="en-US" altLang="zh-CN" sz="3600" baseline="-25000" dirty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380977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414339B-596D-E04D-A40B-C0A41EE17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2.4.5 </a:t>
            </a:r>
            <a:r>
              <a:rPr lang="zh-CN" altLang="en-US"/>
              <a:t>例题选讲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5AB83A04-2F0E-0CBD-CB88-0BD8D48B00F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11188" y="2986088"/>
            <a:ext cx="4176712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/>
                </a:solidFill>
              </a:rPr>
              <a:t>左式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ym typeface="Symbol" pitchFamily="18" charset="2"/>
              </a:rPr>
              <a:t>   </a:t>
            </a:r>
            <a:r>
              <a:rPr lang="zh-CN" altLang="en-US" sz="3200" dirty="0">
                <a:sym typeface="Symbol" pitchFamily="18" charset="2"/>
              </a:rPr>
              <a:t></a:t>
            </a:r>
            <a:r>
              <a:rPr lang="en-US" altLang="zh-CN" sz="3200" dirty="0" err="1"/>
              <a:t>xA</a:t>
            </a:r>
            <a:r>
              <a:rPr lang="en-US" altLang="zh-CN" sz="3200" dirty="0"/>
              <a:t>(x)→</a:t>
            </a:r>
            <a:r>
              <a:rPr lang="en-US" altLang="zh-CN" sz="3200" dirty="0">
                <a:sym typeface="Symbol" pitchFamily="18" charset="2"/>
              </a:rPr>
              <a:t></a:t>
            </a:r>
            <a:r>
              <a:rPr lang="en-US" altLang="zh-CN" sz="3200" dirty="0" err="1"/>
              <a:t>xB</a:t>
            </a:r>
            <a:r>
              <a:rPr lang="en-US" altLang="zh-CN" sz="3200" dirty="0"/>
              <a:t>(x)</a:t>
            </a:r>
            <a:r>
              <a:rPr lang="en-US" altLang="zh-CN" sz="3200" dirty="0">
                <a:sym typeface="Symbol" pitchFamily="18" charset="2"/>
              </a:rPr>
              <a:t>       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ym typeface="Symbol" pitchFamily="18" charset="2"/>
              </a:rPr>
              <a:t>   </a:t>
            </a:r>
            <a:r>
              <a:rPr lang="en-US" altLang="zh-CN" sz="3200" dirty="0"/>
              <a:t>┐</a:t>
            </a:r>
            <a:r>
              <a:rPr lang="en-US" altLang="zh-CN" sz="3200" dirty="0">
                <a:sym typeface="Symbol" pitchFamily="18" charset="2"/>
              </a:rPr>
              <a:t></a:t>
            </a:r>
            <a:r>
              <a:rPr lang="en-US" altLang="zh-CN" sz="3200" dirty="0" err="1"/>
              <a:t>xA</a:t>
            </a:r>
            <a:r>
              <a:rPr lang="en-US" altLang="zh-CN" sz="3200" dirty="0"/>
              <a:t>(x)∨</a:t>
            </a:r>
            <a:r>
              <a:rPr lang="en-US" altLang="zh-CN" sz="3200" dirty="0">
                <a:sym typeface="Symbol" pitchFamily="18" charset="2"/>
              </a:rPr>
              <a:t></a:t>
            </a:r>
            <a:r>
              <a:rPr lang="en-US" altLang="zh-CN" sz="3200" dirty="0" err="1"/>
              <a:t>xB</a:t>
            </a:r>
            <a:r>
              <a:rPr lang="en-US" altLang="zh-CN" sz="3200" dirty="0"/>
              <a:t>(x)</a:t>
            </a:r>
            <a:r>
              <a:rPr lang="en-US" altLang="zh-CN" sz="3200" dirty="0">
                <a:sym typeface="Symbol" pitchFamily="18" charset="2"/>
              </a:rPr>
              <a:t>        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ym typeface="Symbol" pitchFamily="18" charset="2"/>
              </a:rPr>
              <a:t>   </a:t>
            </a:r>
            <a:r>
              <a:rPr lang="en-US" altLang="zh-CN" sz="3200" dirty="0" err="1"/>
              <a:t>x┐A</a:t>
            </a:r>
            <a:r>
              <a:rPr lang="en-US" altLang="zh-CN" sz="3200" dirty="0"/>
              <a:t>(x)∨</a:t>
            </a:r>
            <a:r>
              <a:rPr lang="en-US" altLang="zh-CN" sz="3200" dirty="0">
                <a:sym typeface="Symbol" pitchFamily="18" charset="2"/>
              </a:rPr>
              <a:t></a:t>
            </a:r>
            <a:r>
              <a:rPr lang="en-US" altLang="zh-CN" sz="3200" dirty="0" err="1"/>
              <a:t>xB</a:t>
            </a:r>
            <a:r>
              <a:rPr lang="en-US" altLang="zh-CN" sz="3200" dirty="0"/>
              <a:t>(x)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</a:p>
        </p:txBody>
      </p:sp>
      <p:sp>
        <p:nvSpPr>
          <p:cNvPr id="19460" name="内容占位符 1">
            <a:extLst>
              <a:ext uri="{FF2B5EF4-FFF2-40B4-BE49-F238E27FC236}">
                <a16:creationId xmlns:a16="http://schemas.microsoft.com/office/drawing/2014/main" id="{8BE9F368-FF79-ED12-6574-CE64DFB63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986088"/>
            <a:ext cx="3998912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FF0000"/>
                </a:solidFill>
                <a:sym typeface="Symbol" panose="05050102010706020507" pitchFamily="18" charset="2"/>
              </a:rPr>
              <a:t>右式</a:t>
            </a:r>
            <a:endParaRPr lang="en-US" altLang="zh-CN" sz="320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>
                <a:sym typeface="Symbol" panose="05050102010706020507" pitchFamily="18" charset="2"/>
              </a:rPr>
              <a:t></a:t>
            </a:r>
            <a:r>
              <a:rPr lang="zh-CN" altLang="en-US" sz="3200">
                <a:sym typeface="Symbol" panose="05050102010706020507" pitchFamily="18" charset="2"/>
              </a:rPr>
              <a:t></a:t>
            </a:r>
            <a:r>
              <a:rPr lang="en-US" altLang="zh-CN" sz="3200"/>
              <a:t>x(A(x)→B(x))</a:t>
            </a:r>
            <a:endParaRPr lang="en-US" altLang="zh-CN" sz="320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>
                <a:sym typeface="Symbol" panose="05050102010706020507" pitchFamily="18" charset="2"/>
              </a:rPr>
              <a:t></a:t>
            </a:r>
            <a:r>
              <a:rPr lang="en-US" altLang="zh-CN" sz="3200"/>
              <a:t>x(┐A(x)∨B(x))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>
                <a:sym typeface="Symbol" panose="05050102010706020507" pitchFamily="18" charset="2"/>
              </a:rPr>
              <a:t></a:t>
            </a:r>
            <a:r>
              <a:rPr lang="en-US" altLang="zh-CN" sz="3200"/>
              <a:t>x(┐A(x)∨B(x))</a:t>
            </a:r>
          </a:p>
        </p:txBody>
      </p:sp>
      <p:sp>
        <p:nvSpPr>
          <p:cNvPr id="19461" name="矩形 2">
            <a:extLst>
              <a:ext uri="{FF2B5EF4-FFF2-40B4-BE49-F238E27FC236}">
                <a16:creationId xmlns:a16="http://schemas.microsoft.com/office/drawing/2014/main" id="{DBE96CE3-433B-1F58-8312-EF365EEDF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151063"/>
            <a:ext cx="83534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2.4.7</a:t>
            </a:r>
            <a:r>
              <a:rPr lang="zh-CN" altLang="en-US"/>
              <a:t>证明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/>
              <a:t>xA(x)→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/>
              <a:t>xB(x)</a:t>
            </a:r>
            <a:r>
              <a:rPr lang="en-US" altLang="zh-CN">
                <a:sym typeface="Symbol" panose="05050102010706020507" pitchFamily="18" charset="2"/>
              </a:rPr>
              <a:t></a:t>
            </a:r>
            <a:r>
              <a:rPr lang="en-US" altLang="zh-CN"/>
              <a:t>x(A(x)→B(x))</a:t>
            </a:r>
            <a:endParaRPr lang="en-US" altLang="zh-CN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086296F-5790-012F-70B8-1E9264C0A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2.4.5 </a:t>
            </a:r>
            <a:r>
              <a:rPr lang="zh-CN" altLang="en-US"/>
              <a:t>例题选讲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B735540-F666-7C8C-F9B0-93D2D1328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2.4.8</a:t>
            </a:r>
            <a:r>
              <a:rPr lang="zh-CN" altLang="en-US" dirty="0"/>
              <a:t>证明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xA</a:t>
            </a:r>
            <a:r>
              <a:rPr lang="en-US" altLang="zh-CN" dirty="0"/>
              <a:t>(x)→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xB</a:t>
            </a:r>
            <a:r>
              <a:rPr lang="en-US" altLang="zh-CN" dirty="0"/>
              <a:t>(x)</a:t>
            </a:r>
            <a:r>
              <a:rPr lang="en-US" altLang="zh-CN" dirty="0">
                <a:sym typeface="Symbol" panose="05050102010706020507" pitchFamily="18" charset="2"/>
              </a:rPr>
              <a:t></a:t>
            </a:r>
            <a:r>
              <a:rPr lang="en-US" altLang="zh-CN" dirty="0"/>
              <a:t>x(A(x)→B(x))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 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xA</a:t>
            </a:r>
            <a:r>
              <a:rPr lang="en-US" altLang="zh-CN" dirty="0"/>
              <a:t>(x)→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xB</a:t>
            </a:r>
            <a:r>
              <a:rPr lang="en-US" altLang="zh-CN" dirty="0"/>
              <a:t>(x)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</a:t>
            </a:r>
            <a:r>
              <a:rPr lang="en-US" altLang="zh-CN" dirty="0"/>
              <a:t>┐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xA</a:t>
            </a:r>
            <a:r>
              <a:rPr lang="en-US" altLang="zh-CN" dirty="0"/>
              <a:t>(x)∨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xB</a:t>
            </a:r>
            <a:r>
              <a:rPr lang="en-US" altLang="zh-CN" dirty="0"/>
              <a:t>(x)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</a:t>
            </a:r>
            <a:r>
              <a:rPr lang="en-US" altLang="zh-CN" dirty="0" err="1"/>
              <a:t>x┐A</a:t>
            </a:r>
            <a:r>
              <a:rPr lang="en-US" altLang="zh-CN" dirty="0"/>
              <a:t>(x)∨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xB</a:t>
            </a:r>
            <a:r>
              <a:rPr lang="en-US" altLang="zh-CN" dirty="0"/>
              <a:t>(x)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</a:t>
            </a:r>
            <a:r>
              <a:rPr lang="en-US" altLang="zh-CN" dirty="0"/>
              <a:t>x(┐A(x)∨B(x))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</a:t>
            </a:r>
            <a:r>
              <a:rPr lang="en-US" altLang="zh-CN" dirty="0"/>
              <a:t>x(A(x)→B(x))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AB1EDA8-389A-87B4-F693-9D486EEE25E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是不含变量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的谓词公式，谓词公式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x(A(x)→B)</a:t>
            </a:r>
            <a:r>
              <a:rPr lang="zh-CN" altLang="en-US" sz="2800" dirty="0"/>
              <a:t>等价于（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057B06-A6F2-6A4C-4E77-0EFF2B80671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xA</a:t>
            </a:r>
            <a:r>
              <a:rPr lang="en-US" altLang="zh-CN" sz="2800" dirty="0"/>
              <a:t>(x)→B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E2276B-BD35-2B2C-F7F0-D39D7465BAD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 err="1"/>
              <a:t>xA</a:t>
            </a:r>
            <a:r>
              <a:rPr lang="en-US" altLang="zh-CN" sz="2800" dirty="0"/>
              <a:t>(x)→B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904524-87F7-A2AF-756B-2937599CE73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None/>
            </a:pPr>
            <a:r>
              <a:rPr lang="en-US" altLang="zh-CN" sz="2800" dirty="0"/>
              <a:t>A(x)→B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374602-2997-D357-553F-52C987683B5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None/>
            </a:pPr>
            <a:r>
              <a:rPr lang="en-US" altLang="zh-CN" sz="2800" dirty="0"/>
              <a:t>B → A(x)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D294B1E-019F-ECF3-ABD7-0A5121E0D2B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8722696-E5DD-B6F3-9A62-4F48FFD8C55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94D8D83-FF60-662A-784C-676BACB848C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D92D145-581D-6999-C85C-1A6FA1660B7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2EA64DA-8776-4716-FF60-E3FF94FDC865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1F378E-EC41-9376-31B6-F2DD65EEAA5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A47F448-2461-7E0D-73E3-155E6FBD1EE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8D3E2877-96DA-2C6F-B81C-7917D5843F9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AE5CA357-232C-FFA7-A932-30D4D584A20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648DCF04-06D3-C2C1-8138-E82EE3CDD8F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DB1D8CB-CA06-28BE-1F05-2511411E47F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4395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C9DB40C-393A-102D-AD05-1E390A82BF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281906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F0F7815-B84B-B1AE-A6FC-4A5EDE502A87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4E1B3E4-6759-D47B-E71F-4077B2DFAE5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1ABE7F10-9E85-2137-F66C-7154132B979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532491D-D99C-D48B-4C32-B50DBD0B58F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8B1950EC-8D33-D208-3BB9-8411E6521C0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CFAD82EC-1C97-BC19-13B5-01ACD8798BAB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1D9140E-E403-E6FE-6770-13BCA0D2418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2182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C9DB40C-393A-102D-AD05-1E390A82BF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281906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19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F0F7815-B84B-B1AE-A6FC-4A5EDE502A87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4E1B3E4-6759-D47B-E71F-4077B2DFAE5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1ABE7F10-9E85-2137-F66C-7154132B979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532491D-D99C-D48B-4C32-B50DBD0B58F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8B1950EC-8D33-D208-3BB9-8411E6521C0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CFAD82EC-1C97-BC19-13B5-01ACD8798BAB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1D9140E-E403-E6FE-6770-13BCA0D2418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22015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Char char="n"/>
          <a:tabLst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Char char="n"/>
          <a:tabLst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2845</TotalTime>
  <Words>1984</Words>
  <Application>Microsoft Office PowerPoint</Application>
  <PresentationFormat>全屏显示(4:3)</PresentationFormat>
  <Paragraphs>245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Microsoft Yahei</vt:lpstr>
      <vt:lpstr>Symbol</vt:lpstr>
      <vt:lpstr>Tahoma</vt:lpstr>
      <vt:lpstr>Wingdings</vt:lpstr>
      <vt:lpstr>Blends</vt:lpstr>
      <vt:lpstr>2.4 谓词等价式与蕴含式</vt:lpstr>
      <vt:lpstr>2.4.1谓词公式赋值</vt:lpstr>
      <vt:lpstr>2.4.2谓词公式的分类</vt:lpstr>
      <vt:lpstr>2.4.2谓词公式的分类</vt:lpstr>
      <vt:lpstr>2.4.3 谓词等价与蕴含</vt:lpstr>
      <vt:lpstr>2.4.3 谓词等价与蕴含</vt:lpstr>
      <vt:lpstr>2.4.3 谓词等价与蕴含</vt:lpstr>
      <vt:lpstr>2.4.4 基本等价式与蕴含式</vt:lpstr>
      <vt:lpstr>2.4.5 例题选讲</vt:lpstr>
      <vt:lpstr>2.4.4 基本等价式与蕴含式</vt:lpstr>
      <vt:lpstr>2.4.5 例题选讲</vt:lpstr>
      <vt:lpstr>2.4.4 基本等价式与蕴含式</vt:lpstr>
      <vt:lpstr>2.4.5 例题选讲</vt:lpstr>
      <vt:lpstr>2.4.4 基本等价式与蕴含式</vt:lpstr>
      <vt:lpstr>2.4.5 例题选讲</vt:lpstr>
      <vt:lpstr>2.4.5 例题选讲</vt:lpstr>
      <vt:lpstr>PowerPoint 演示文稿</vt:lpstr>
      <vt:lpstr>2.4.4 基本等价式与蕴含式</vt:lpstr>
      <vt:lpstr>2.4.4 基本等价式与蕴含式</vt:lpstr>
      <vt:lpstr>2.4.4 基本等价式与蕴含式</vt:lpstr>
      <vt:lpstr>2.4.5 例题选讲</vt:lpstr>
      <vt:lpstr>2.4.5 例题选讲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84</cp:revision>
  <dcterms:created xsi:type="dcterms:W3CDTF">2010-04-09T13:44:14Z</dcterms:created>
  <dcterms:modified xsi:type="dcterms:W3CDTF">2023-12-21T07:43:41Z</dcterms:modified>
</cp:coreProperties>
</file>