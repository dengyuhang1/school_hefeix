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61" r:id="rId2"/>
    <p:sldId id="429" r:id="rId3"/>
    <p:sldId id="430" r:id="rId4"/>
    <p:sldId id="431" r:id="rId5"/>
    <p:sldId id="442" r:id="rId6"/>
    <p:sldId id="443" r:id="rId7"/>
    <p:sldId id="466" r:id="rId8"/>
    <p:sldId id="434" r:id="rId9"/>
    <p:sldId id="433" r:id="rId10"/>
    <p:sldId id="446" r:id="rId11"/>
    <p:sldId id="451" r:id="rId12"/>
    <p:sldId id="452" r:id="rId13"/>
    <p:sldId id="458" r:id="rId14"/>
    <p:sldId id="461" r:id="rId1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9933"/>
    <a:srgbClr val="00CC99"/>
    <a:srgbClr val="0000FF"/>
    <a:srgbClr val="FF0066"/>
    <a:srgbClr val="CC0066"/>
    <a:srgbClr val="0066FF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3825" autoAdjust="0"/>
  </p:normalViewPr>
  <p:slideViewPr>
    <p:cSldViewPr>
      <p:cViewPr varScale="1">
        <p:scale>
          <a:sx n="64" d="100"/>
          <a:sy n="64" d="100"/>
        </p:scale>
        <p:origin x="1344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C95B099-DC9E-58BF-41A6-0220B8B6ADB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E0ABA3E-6C2B-E010-01BD-FCFAFC1DDC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C5BBC9D-DDB4-00B6-C7E1-0C4060FCA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00E548E1-4B70-0437-A645-0C1E81251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15626A4-3740-996E-8B6C-CF901C6FEF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E6F6D67-133A-8098-BB2E-AB77AA417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4C81FF1-9042-458F-F94C-D396E0ABD3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05DC3566-5BF8-5E24-1B8A-A6602EE68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4F033BF-1460-DCE0-4ECB-6B264225F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75A240FF-28C3-F477-7EEA-CBED39B6EC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265D95A-124F-A279-009B-26A5BC8F04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E0534F6-6F6D-D290-73C3-150695EA02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0DBF0466-C5AA-F6F5-5350-E2E8AFB9A1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C1BBA54-1C38-47B4-9AFE-D899B68FC2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36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F9CC567-9544-C5AB-C856-FA8651F36A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CF6E22E-FB19-7101-AAF9-516F9A4DDD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FF3EDC6-AF5C-97DD-B1E4-4BB5380FE8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C2FAB4-8E6D-40CB-974B-0ADD86F1070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3727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B03746A-9709-6586-7120-986D3A4FE5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AC2908F-E2AE-C2AA-AA8E-67EBC4F369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DA74C61-97FB-3924-3A1A-E3E7C14EBC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53E849-1187-45A1-A09A-71FC11269E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635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5A9DBF3-1E30-5B9E-A3BD-A5D902ED26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9B2ED72-3328-CFEB-97FA-C5DBAD0C2C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20D8E84-DF4B-7970-FAEA-CB166C5D8C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7A33A-7807-4CF2-81A1-916E9C79C5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568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7DE0342-1497-9EA2-9875-A06EAA87DC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EF8A665-1614-76B0-5D17-69E29E5D7D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ADA33AE-6035-1CAC-D982-0E1B221E3C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235A4F-C553-4189-B91C-173C4371FD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2681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1284745-53F4-729A-1CF3-F5FDD4EAB1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4A998E0-E577-8428-A701-45C6421F68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E94D7F1-1087-08FE-A5AD-06AF699D38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B31DFE-CD60-4C08-BFEB-F83862A73A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359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1D4B7F65-42B0-CE85-6FA0-1C26DDE195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3C581A9-5AF7-AE84-DB83-4709FA413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987619D-57DB-1484-4BD4-CF6615F21E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33357E-A414-4883-B5B9-59A9558C4B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1098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5FD7785-8DEC-4409-AD9F-439B8D3DDC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A8A37E5-8C05-1E70-2D1B-C7222A09B0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9C38FBA1-4AD3-E462-96C4-A920A555BB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389AED-E990-45DC-8E2C-6E51A77FD5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051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8BA33FF-2874-CC34-C776-4DB3547805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98C70F1-4A22-D758-10DA-70E44A7319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23636A9-1167-038A-F951-1B29AE34A3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264B4-A230-4285-ACA0-973E12FF28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3512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B54015D-C5AA-C1CC-5AD7-1D524252F6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F18D43B-FDA2-BA8C-0283-97F594F9D3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366264B-8350-17B3-4ED2-C56057E335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BF6775-B5B3-4A47-AC3A-64FF22C4A1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836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177082B-9C42-26A1-3D13-2D99772DF7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421D62F-026B-7BE1-1168-831C967572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4C1ADEE-7676-DD3B-F8EE-D4BCBADF0A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FD588A-64B6-4270-A08C-27F3CAB9BDF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7104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6F511A2-9044-4001-3ACA-126F2BC273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F0DB22A-6687-72C4-1C56-82F39D863A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13D360E-62DC-E742-F153-2A15E7C626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EDEFD8-DDA0-403B-A994-F46E85A802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644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9471F71-1D0B-7566-6DD1-8B0A49656C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F16433-3EE4-1244-EBC0-88F1A527B62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B03C5D6-0591-55AC-185A-F164F205D4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1A0F8FA-68A6-027E-149D-C838C6246E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4AED89-B275-89C1-B42A-17E7FF60C7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25DF699-364F-BE8C-6B20-5511A7B49F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E98B7FDB-87F8-138C-404E-14CD6AE8A4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A4941200-46D6-BAAE-92B8-CDB03BF98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BBCA3CA4-BFEE-7662-256D-C84F7D8CD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EBB4FEE4-471B-0843-2C1F-85859FC618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B2E407DB-657F-D94C-A89D-88CE12F093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98C2086-2085-C32C-4DF0-307757F4DE7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CD68729-B700-4508-A804-01B850C1C09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47092C5-57F2-3C9B-697D-EABDB02708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5400"/>
              <a:t>8.2 </a:t>
            </a:r>
            <a:r>
              <a:rPr lang="zh-CN" altLang="zh-CN" sz="5400"/>
              <a:t>哈密顿图</a:t>
            </a:r>
            <a:endParaRPr lang="zh-CN" altLang="en-US" sz="54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139AC4A-8A0B-8362-00F3-C75F60C4F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6872287" cy="46815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8.2.1 </a:t>
            </a:r>
            <a:r>
              <a:rPr lang="zh-CN" altLang="en-US" sz="4400" b="1" dirty="0"/>
              <a:t>问题的提出</a:t>
            </a:r>
            <a:r>
              <a:rPr lang="zh-CN" altLang="en-US" sz="44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8.2.2 </a:t>
            </a:r>
            <a:r>
              <a:rPr lang="zh-CN" altLang="en-US" sz="4400" b="1" dirty="0"/>
              <a:t>哈密顿图的概念</a:t>
            </a:r>
            <a:r>
              <a:rPr lang="zh-CN" altLang="en-US" sz="4400" dirty="0"/>
              <a:t>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4400" dirty="0"/>
              <a:t>8.2.3 </a:t>
            </a:r>
            <a:r>
              <a:rPr lang="zh-CN" altLang="en-US" sz="4400" b="1" dirty="0"/>
              <a:t>旅行推销商问题</a:t>
            </a:r>
            <a:endParaRPr lang="en-US" altLang="zh-CN" sz="4400" b="1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4400" b="1" dirty="0"/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endParaRPr lang="zh-CN" alt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5A76E737-225C-320B-D6DD-6F59442A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8.2.1 </a:t>
            </a:r>
            <a:r>
              <a:rPr lang="zh-CN" altLang="en-US" b="1"/>
              <a:t>问题的提出</a:t>
            </a:r>
            <a:r>
              <a:rPr lang="zh-CN" altLang="en-US"/>
              <a:t> 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B5DC3A1F-0ABD-47A0-A7E8-83EE20295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78522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周游世界</a:t>
            </a:r>
            <a:r>
              <a:rPr lang="zh-CN" altLang="en-US" b="1">
                <a:solidFill>
                  <a:srgbClr val="FF0000"/>
                </a:solidFill>
              </a:rPr>
              <a:t>问题</a:t>
            </a:r>
            <a:r>
              <a:rPr lang="zh-CN" altLang="zh-CN"/>
              <a:t>，</a:t>
            </a:r>
            <a:r>
              <a:rPr lang="en-US" altLang="zh-CN"/>
              <a:t>Hamilton(1805-1865)</a:t>
            </a:r>
            <a:r>
              <a:rPr lang="zh-CN" altLang="en-US"/>
              <a:t>，</a:t>
            </a:r>
            <a:r>
              <a:rPr lang="en-US" altLang="zh-CN"/>
              <a:t>1857</a:t>
            </a:r>
            <a:endParaRPr lang="zh-CN" altLang="en-US"/>
          </a:p>
        </p:txBody>
      </p:sp>
      <p:sp>
        <p:nvSpPr>
          <p:cNvPr id="7172" name="Rectangle 58">
            <a:extLst>
              <a:ext uri="{FF2B5EF4-FFF2-40B4-BE49-F238E27FC236}">
                <a16:creationId xmlns:a16="http://schemas.microsoft.com/office/drawing/2014/main" id="{55FAC2B7-4788-6CBE-BFCB-97D363AB4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173" name="Group 1">
            <a:extLst>
              <a:ext uri="{FF2B5EF4-FFF2-40B4-BE49-F238E27FC236}">
                <a16:creationId xmlns:a16="http://schemas.microsoft.com/office/drawing/2014/main" id="{44FD8B9C-27C4-B790-16E6-1E8E285B534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00188" y="2124075"/>
            <a:ext cx="5159375" cy="4689475"/>
            <a:chOff x="3510" y="4013"/>
            <a:chExt cx="4837" cy="4395"/>
          </a:xfrm>
        </p:grpSpPr>
        <p:sp>
          <p:nvSpPr>
            <p:cNvPr id="7174" name="AutoShape 57">
              <a:extLst>
                <a:ext uri="{FF2B5EF4-FFF2-40B4-BE49-F238E27FC236}">
                  <a16:creationId xmlns:a16="http://schemas.microsoft.com/office/drawing/2014/main" id="{0274720C-27F9-8D90-9835-DED1828E6A0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510" y="4013"/>
              <a:ext cx="4837" cy="4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" name="Text Box 56">
              <a:extLst>
                <a:ext uri="{FF2B5EF4-FFF2-40B4-BE49-F238E27FC236}">
                  <a16:creationId xmlns:a16="http://schemas.microsoft.com/office/drawing/2014/main" id="{5B2EDA86-BDC6-701F-5DD6-8174808A8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9" y="502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7176" name="Text Box 55">
              <a:extLst>
                <a:ext uri="{FF2B5EF4-FFF2-40B4-BE49-F238E27FC236}">
                  <a16:creationId xmlns:a16="http://schemas.microsoft.com/office/drawing/2014/main" id="{BAC42C66-9386-732F-1F74-7FA204DF7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6" y="600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/>
            </a:p>
          </p:txBody>
        </p:sp>
        <p:sp>
          <p:nvSpPr>
            <p:cNvPr id="7177" name="Text Box 54">
              <a:extLst>
                <a:ext uri="{FF2B5EF4-FFF2-40B4-BE49-F238E27FC236}">
                  <a16:creationId xmlns:a16="http://schemas.microsoft.com/office/drawing/2014/main" id="{12F15117-0AA5-980A-6F27-77B35A7FA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2" y="6881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/>
            </a:p>
          </p:txBody>
        </p:sp>
        <p:sp>
          <p:nvSpPr>
            <p:cNvPr id="7178" name="Text Box 53">
              <a:extLst>
                <a:ext uri="{FF2B5EF4-FFF2-40B4-BE49-F238E27FC236}">
                  <a16:creationId xmlns:a16="http://schemas.microsoft.com/office/drawing/2014/main" id="{FCA16993-114E-6639-9AB6-6CF514080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74" y="4316"/>
              <a:ext cx="748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/>
            </a:p>
          </p:txBody>
        </p:sp>
        <p:sp>
          <p:nvSpPr>
            <p:cNvPr id="7179" name="Text Box 52">
              <a:extLst>
                <a:ext uri="{FF2B5EF4-FFF2-40B4-BE49-F238E27FC236}">
                  <a16:creationId xmlns:a16="http://schemas.microsoft.com/office/drawing/2014/main" id="{7632E9C5-C54E-49CA-F365-44F0A2931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" y="6004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/>
            </a:p>
          </p:txBody>
        </p:sp>
        <p:sp>
          <p:nvSpPr>
            <p:cNvPr id="7180" name="Oval 51">
              <a:extLst>
                <a:ext uri="{FF2B5EF4-FFF2-40B4-BE49-F238E27FC236}">
                  <a16:creationId xmlns:a16="http://schemas.microsoft.com/office/drawing/2014/main" id="{C4558692-65D1-8D4A-60B2-58EFDB1D6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5" y="4470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1" name="Oval 50">
              <a:extLst>
                <a:ext uri="{FF2B5EF4-FFF2-40B4-BE49-F238E27FC236}">
                  <a16:creationId xmlns:a16="http://schemas.microsoft.com/office/drawing/2014/main" id="{C9E3B005-AFDC-B236-574A-AE5164DA0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9" y="6131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2" name="Oval 49">
              <a:extLst>
                <a:ext uri="{FF2B5EF4-FFF2-40B4-BE49-F238E27FC236}">
                  <a16:creationId xmlns:a16="http://schemas.microsoft.com/office/drawing/2014/main" id="{2248411A-D0E7-612A-E4F4-6FB833FC2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0" y="6145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3" name="Oval 48">
              <a:extLst>
                <a:ext uri="{FF2B5EF4-FFF2-40B4-BE49-F238E27FC236}">
                  <a16:creationId xmlns:a16="http://schemas.microsoft.com/office/drawing/2014/main" id="{3BADBC1D-C277-8558-2F68-F78611E44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8102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4" name="Oval 47">
              <a:extLst>
                <a:ext uri="{FF2B5EF4-FFF2-40B4-BE49-F238E27FC236}">
                  <a16:creationId xmlns:a16="http://schemas.microsoft.com/office/drawing/2014/main" id="{96A33EED-3A11-E364-26E7-AC894B912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8" y="8102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5" name="Oval 46">
              <a:extLst>
                <a:ext uri="{FF2B5EF4-FFF2-40B4-BE49-F238E27FC236}">
                  <a16:creationId xmlns:a16="http://schemas.microsoft.com/office/drawing/2014/main" id="{A246BD8D-7897-1BF3-CD57-40C7C29C5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2" y="5052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6" name="Oval 45">
              <a:extLst>
                <a:ext uri="{FF2B5EF4-FFF2-40B4-BE49-F238E27FC236}">
                  <a16:creationId xmlns:a16="http://schemas.microsoft.com/office/drawing/2014/main" id="{FD2FA98F-83BD-E9F3-6039-869BF8021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3" y="6443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7" name="Oval 44">
              <a:extLst>
                <a:ext uri="{FF2B5EF4-FFF2-40B4-BE49-F238E27FC236}">
                  <a16:creationId xmlns:a16="http://schemas.microsoft.com/office/drawing/2014/main" id="{7FC5461D-0E3E-41AE-2CF2-506755EC4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" y="6402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8" name="Oval 43">
              <a:extLst>
                <a:ext uri="{FF2B5EF4-FFF2-40B4-BE49-F238E27FC236}">
                  <a16:creationId xmlns:a16="http://schemas.microsoft.com/office/drawing/2014/main" id="{CF60771F-7B09-B1F6-F9AA-C7B2F29FD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6" y="7631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9" name="Oval 42">
              <a:extLst>
                <a:ext uri="{FF2B5EF4-FFF2-40B4-BE49-F238E27FC236}">
                  <a16:creationId xmlns:a16="http://schemas.microsoft.com/office/drawing/2014/main" id="{7B3AA7B3-5D9D-6E43-13E3-63C055F5F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9" y="7631"/>
              <a:ext cx="228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0" name="Oval 41">
              <a:extLst>
                <a:ext uri="{FF2B5EF4-FFF2-40B4-BE49-F238E27FC236}">
                  <a16:creationId xmlns:a16="http://schemas.microsoft.com/office/drawing/2014/main" id="{03CDA303-509F-3AF8-784F-F9A28881A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4" y="5725"/>
              <a:ext cx="229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1" name="Oval 40">
              <a:extLst>
                <a:ext uri="{FF2B5EF4-FFF2-40B4-BE49-F238E27FC236}">
                  <a16:creationId xmlns:a16="http://schemas.microsoft.com/office/drawing/2014/main" id="{A2F26233-519B-B053-8521-82F8D1AFF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4" y="7034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2" name="Oval 39">
              <a:extLst>
                <a:ext uri="{FF2B5EF4-FFF2-40B4-BE49-F238E27FC236}">
                  <a16:creationId xmlns:a16="http://schemas.microsoft.com/office/drawing/2014/main" id="{167C18C2-889F-3CFF-A923-E88F555EA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" y="5725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3" name="Oval 38">
              <a:extLst>
                <a:ext uri="{FF2B5EF4-FFF2-40B4-BE49-F238E27FC236}">
                  <a16:creationId xmlns:a16="http://schemas.microsoft.com/office/drawing/2014/main" id="{49CE681F-EAA3-84EE-DA47-18950F40F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" y="7631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4" name="Oval 37">
              <a:extLst>
                <a:ext uri="{FF2B5EF4-FFF2-40B4-BE49-F238E27FC236}">
                  <a16:creationId xmlns:a16="http://schemas.microsoft.com/office/drawing/2014/main" id="{B6D4551E-B837-7C0F-41E8-4902AE1B7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1" y="7034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7195" name="AutoShape 36">
              <a:extLst>
                <a:ext uri="{FF2B5EF4-FFF2-40B4-BE49-F238E27FC236}">
                  <a16:creationId xmlns:a16="http://schemas.microsoft.com/office/drawing/2014/main" id="{1D0B2A64-7E06-4ADB-612E-28E72730C8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10" y="4700"/>
              <a:ext cx="27" cy="3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6" name="AutoShape 35">
              <a:extLst>
                <a:ext uri="{FF2B5EF4-FFF2-40B4-BE49-F238E27FC236}">
                  <a16:creationId xmlns:a16="http://schemas.microsoft.com/office/drawing/2014/main" id="{03B20A96-A5F2-AC7E-74D9-19F2F05348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99" y="6247"/>
              <a:ext cx="594" cy="3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7" name="AutoShape 34">
              <a:extLst>
                <a:ext uri="{FF2B5EF4-FFF2-40B4-BE49-F238E27FC236}">
                  <a16:creationId xmlns:a16="http://schemas.microsoft.com/office/drawing/2014/main" id="{360B0860-1DE3-9DDC-84D5-F25DE9367C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065" y="4666"/>
              <a:ext cx="1864" cy="14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8" name="AutoShape 33">
              <a:extLst>
                <a:ext uri="{FF2B5EF4-FFF2-40B4-BE49-F238E27FC236}">
                  <a16:creationId xmlns:a16="http://schemas.microsoft.com/office/drawing/2014/main" id="{286BE25A-276F-EB44-599B-C1A66F4B0E1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91" y="4666"/>
              <a:ext cx="2053" cy="151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99" name="AutoShape 32">
              <a:extLst>
                <a:ext uri="{FF2B5EF4-FFF2-40B4-BE49-F238E27FC236}">
                  <a16:creationId xmlns:a16="http://schemas.microsoft.com/office/drawing/2014/main" id="{176993DB-A482-7773-1EC5-78BA1331499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13" y="6375"/>
              <a:ext cx="612" cy="172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0" name="AutoShape 31">
              <a:extLst>
                <a:ext uri="{FF2B5EF4-FFF2-40B4-BE49-F238E27FC236}">
                  <a16:creationId xmlns:a16="http://schemas.microsoft.com/office/drawing/2014/main" id="{24801421-77C3-6837-3783-0CD2C70C62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984" y="6362"/>
              <a:ext cx="824" cy="177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1" name="AutoShape 30">
              <a:extLst>
                <a:ext uri="{FF2B5EF4-FFF2-40B4-BE49-F238E27FC236}">
                  <a16:creationId xmlns:a16="http://schemas.microsoft.com/office/drawing/2014/main" id="{8782EE2B-21D2-563C-90C6-74925C1212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004" y="8218"/>
              <a:ext cx="249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2" name="AutoShape 29">
              <a:extLst>
                <a:ext uri="{FF2B5EF4-FFF2-40B4-BE49-F238E27FC236}">
                  <a16:creationId xmlns:a16="http://schemas.microsoft.com/office/drawing/2014/main" id="{7406C760-9DE4-82EA-400E-B40A7EFEC5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89" y="7746"/>
              <a:ext cx="547" cy="35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3" name="AutoShape 28">
              <a:extLst>
                <a:ext uri="{FF2B5EF4-FFF2-40B4-BE49-F238E27FC236}">
                  <a16:creationId xmlns:a16="http://schemas.microsoft.com/office/drawing/2014/main" id="{F49ED3D2-6125-317B-2603-F66C6336EC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17" y="7746"/>
              <a:ext cx="615" cy="3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4" name="AutoShape 27">
              <a:extLst>
                <a:ext uri="{FF2B5EF4-FFF2-40B4-BE49-F238E27FC236}">
                  <a16:creationId xmlns:a16="http://schemas.microsoft.com/office/drawing/2014/main" id="{E62D0432-7260-4680-85C1-7CE7A43917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660" y="6341"/>
              <a:ext cx="484" cy="1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5" name="AutoShape 26">
              <a:extLst>
                <a:ext uri="{FF2B5EF4-FFF2-40B4-BE49-F238E27FC236}">
                  <a16:creationId xmlns:a16="http://schemas.microsoft.com/office/drawing/2014/main" id="{07642050-C5A5-0128-0764-5A891C70C5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19" y="5248"/>
              <a:ext cx="437" cy="5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6" name="AutoShape 25">
              <a:extLst>
                <a:ext uri="{FF2B5EF4-FFF2-40B4-BE49-F238E27FC236}">
                  <a16:creationId xmlns:a16="http://schemas.microsoft.com/office/drawing/2014/main" id="{D05455D3-2D0A-4F12-2053-6FACA74A9C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89" y="5922"/>
              <a:ext cx="469" cy="5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7" name="AutoShape 24">
              <a:extLst>
                <a:ext uri="{FF2B5EF4-FFF2-40B4-BE49-F238E27FC236}">
                  <a16:creationId xmlns:a16="http://schemas.microsoft.com/office/drawing/2014/main" id="{EC64D9AD-CE3F-B37A-07DA-AB568B44CD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18" y="5248"/>
              <a:ext cx="656" cy="51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8" name="AutoShape 23">
              <a:extLst>
                <a:ext uri="{FF2B5EF4-FFF2-40B4-BE49-F238E27FC236}">
                  <a16:creationId xmlns:a16="http://schemas.microsoft.com/office/drawing/2014/main" id="{2533D0DE-E081-30DB-69A9-4B414D24DA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36" y="5922"/>
              <a:ext cx="529" cy="5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09" name="AutoShape 22">
              <a:extLst>
                <a:ext uri="{FF2B5EF4-FFF2-40B4-BE49-F238E27FC236}">
                  <a16:creationId xmlns:a16="http://schemas.microsoft.com/office/drawing/2014/main" id="{A39042EB-8B2E-1735-4529-CA29A41250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66" y="7746"/>
              <a:ext cx="41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0" name="AutoShape 21">
              <a:extLst>
                <a:ext uri="{FF2B5EF4-FFF2-40B4-BE49-F238E27FC236}">
                  <a16:creationId xmlns:a16="http://schemas.microsoft.com/office/drawing/2014/main" id="{EE408A79-D584-7592-B845-7B91FCA0D9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14" y="7746"/>
              <a:ext cx="37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1" name="AutoShape 20">
              <a:extLst>
                <a:ext uri="{FF2B5EF4-FFF2-40B4-BE49-F238E27FC236}">
                  <a16:creationId xmlns:a16="http://schemas.microsoft.com/office/drawing/2014/main" id="{3DC5B7C0-2CAB-E72F-8471-6D9B5B2D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08" y="6673"/>
              <a:ext cx="230" cy="3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2" name="AutoShape 19">
              <a:extLst>
                <a:ext uri="{FF2B5EF4-FFF2-40B4-BE49-F238E27FC236}">
                  <a16:creationId xmlns:a16="http://schemas.microsoft.com/office/drawing/2014/main" id="{3A766A3B-D1CA-EB6E-B714-0EC26849BB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200" y="7231"/>
              <a:ext cx="270" cy="4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3" name="AutoShape 18">
              <a:extLst>
                <a:ext uri="{FF2B5EF4-FFF2-40B4-BE49-F238E27FC236}">
                  <a16:creationId xmlns:a16="http://schemas.microsoft.com/office/drawing/2014/main" id="{4BD64847-38B0-45B3-B9D5-52C69E0490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884" y="7231"/>
              <a:ext cx="351" cy="4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14" name="AutoShape 17">
              <a:extLst>
                <a:ext uri="{FF2B5EF4-FFF2-40B4-BE49-F238E27FC236}">
                  <a16:creationId xmlns:a16="http://schemas.microsoft.com/office/drawing/2014/main" id="{5E9609AC-351F-9592-25DD-9527A91F8C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316" y="6633"/>
              <a:ext cx="230" cy="40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15" name="Oval 16">
              <a:extLst>
                <a:ext uri="{FF2B5EF4-FFF2-40B4-BE49-F238E27FC236}">
                  <a16:creationId xmlns:a16="http://schemas.microsoft.com/office/drawing/2014/main" id="{965DB585-8831-0B24-EF08-0578F8CB7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8" y="6165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6" name="Oval 15">
              <a:extLst>
                <a:ext uri="{FF2B5EF4-FFF2-40B4-BE49-F238E27FC236}">
                  <a16:creationId xmlns:a16="http://schemas.microsoft.com/office/drawing/2014/main" id="{D8F87915-45E2-126B-E4AC-1ABD3F8A91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9" y="6165"/>
              <a:ext cx="230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7" name="Oval 14">
              <a:extLst>
                <a:ext uri="{FF2B5EF4-FFF2-40B4-BE49-F238E27FC236}">
                  <a16:creationId xmlns:a16="http://schemas.microsoft.com/office/drawing/2014/main" id="{C7D8F650-5144-D047-0E5D-E58D26BCD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9" y="6673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8" name="Oval 13">
              <a:extLst>
                <a:ext uri="{FF2B5EF4-FFF2-40B4-BE49-F238E27FC236}">
                  <a16:creationId xmlns:a16="http://schemas.microsoft.com/office/drawing/2014/main" id="{F874C164-E276-E644-5FDB-7F6496BFF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9" y="6673"/>
              <a:ext cx="230" cy="23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19" name="Oval 12">
              <a:extLst>
                <a:ext uri="{FF2B5EF4-FFF2-40B4-BE49-F238E27FC236}">
                  <a16:creationId xmlns:a16="http://schemas.microsoft.com/office/drawing/2014/main" id="{9014DB35-BD15-7BEC-33E9-61AC02B52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2" y="7122"/>
              <a:ext cx="229" cy="23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7220" name="AutoShape 11">
              <a:extLst>
                <a:ext uri="{FF2B5EF4-FFF2-40B4-BE49-F238E27FC236}">
                  <a16:creationId xmlns:a16="http://schemas.microsoft.com/office/drawing/2014/main" id="{157B1F7B-35E3-5518-4225-F1C8240073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29" y="6280"/>
              <a:ext cx="4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1" name="AutoShape 10">
              <a:extLst>
                <a:ext uri="{FF2B5EF4-FFF2-40B4-BE49-F238E27FC236}">
                  <a16:creationId xmlns:a16="http://schemas.microsoft.com/office/drawing/2014/main" id="{FE1641F0-E306-EFB6-3B84-1A97CFE95E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84" y="6361"/>
              <a:ext cx="149" cy="3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2" name="AutoShape 9">
              <a:extLst>
                <a:ext uri="{FF2B5EF4-FFF2-40B4-BE49-F238E27FC236}">
                  <a16:creationId xmlns:a16="http://schemas.microsoft.com/office/drawing/2014/main" id="{EEB7519F-E8E8-B8C0-56DE-2A046FE160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613" y="6361"/>
              <a:ext cx="161" cy="3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3" name="AutoShape 8">
              <a:extLst>
                <a:ext uri="{FF2B5EF4-FFF2-40B4-BE49-F238E27FC236}">
                  <a16:creationId xmlns:a16="http://schemas.microsoft.com/office/drawing/2014/main" id="{BDD01626-03EF-134F-E7C3-F5DD7F3D857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665" y="6870"/>
              <a:ext cx="427" cy="3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4" name="AutoShape 7">
              <a:extLst>
                <a:ext uri="{FF2B5EF4-FFF2-40B4-BE49-F238E27FC236}">
                  <a16:creationId xmlns:a16="http://schemas.microsoft.com/office/drawing/2014/main" id="{287DFEA7-0EC3-5D48-7EF6-B3C34DE04B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21" y="6904"/>
              <a:ext cx="453" cy="33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5" name="AutoShape 6">
              <a:extLst>
                <a:ext uri="{FF2B5EF4-FFF2-40B4-BE49-F238E27FC236}">
                  <a16:creationId xmlns:a16="http://schemas.microsoft.com/office/drawing/2014/main" id="{84C44F9C-2896-46F5-51C0-963264FB88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19" y="5922"/>
              <a:ext cx="214" cy="2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6" name="AutoShape 5">
              <a:extLst>
                <a:ext uri="{FF2B5EF4-FFF2-40B4-BE49-F238E27FC236}">
                  <a16:creationId xmlns:a16="http://schemas.microsoft.com/office/drawing/2014/main" id="{6CAB0156-217E-8EF9-2A08-CA2B3FD25DE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13" y="5922"/>
              <a:ext cx="161" cy="2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7" name="AutoShape 4">
              <a:extLst>
                <a:ext uri="{FF2B5EF4-FFF2-40B4-BE49-F238E27FC236}">
                  <a16:creationId xmlns:a16="http://schemas.microsoft.com/office/drawing/2014/main" id="{E5E0BC74-8B5A-A8B8-4FC6-61ECDCE5B6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199" y="7352"/>
              <a:ext cx="8" cy="2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8" name="AutoShape 3">
              <a:extLst>
                <a:ext uri="{FF2B5EF4-FFF2-40B4-BE49-F238E27FC236}">
                  <a16:creationId xmlns:a16="http://schemas.microsoft.com/office/drawing/2014/main" id="{D410022B-3A50-9E59-2D2A-1E6FFE3255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00" y="6870"/>
              <a:ext cx="303" cy="1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29" name="AutoShape 2">
              <a:extLst>
                <a:ext uri="{FF2B5EF4-FFF2-40B4-BE49-F238E27FC236}">
                  <a16:creationId xmlns:a16="http://schemas.microsoft.com/office/drawing/2014/main" id="{1F40AFD1-2792-1415-E46E-814533D835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55" y="6870"/>
              <a:ext cx="380" cy="19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4C7991A7-770E-320C-3C0A-53A05A81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8195" name="内容占位符 2">
            <a:extLst>
              <a:ext uri="{FF2B5EF4-FFF2-40B4-BE49-F238E27FC236}">
                <a16:creationId xmlns:a16="http://schemas.microsoft.com/office/drawing/2014/main" id="{1802234C-8189-3325-6567-3F981426F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8.2.1 </a:t>
            </a:r>
            <a:r>
              <a:rPr lang="zh-CN" altLang="en-US"/>
              <a:t>设</a:t>
            </a:r>
            <a:r>
              <a:rPr lang="zh-CN" altLang="zh-CN"/>
              <a:t>无向图</a:t>
            </a:r>
            <a:r>
              <a:rPr lang="en-US" altLang="zh-CN"/>
              <a:t>G</a:t>
            </a:r>
            <a:r>
              <a:rPr lang="zh-CN" altLang="zh-CN"/>
              <a:t>，经过图</a:t>
            </a:r>
            <a:r>
              <a:rPr lang="en-US" altLang="zh-CN"/>
              <a:t>G</a:t>
            </a:r>
            <a:r>
              <a:rPr lang="zh-CN" altLang="zh-CN"/>
              <a:t>的每个结点一次且仅一次的路称作</a:t>
            </a:r>
            <a:r>
              <a:rPr lang="zh-CN" altLang="zh-CN" b="1">
                <a:solidFill>
                  <a:srgbClr val="CC0066"/>
                </a:solidFill>
              </a:rPr>
              <a:t>哈密顿路</a:t>
            </a:r>
            <a:r>
              <a:rPr lang="zh-CN" altLang="zh-CN"/>
              <a:t>。经过图</a:t>
            </a:r>
            <a:r>
              <a:rPr lang="en-US" altLang="zh-CN"/>
              <a:t>G</a:t>
            </a:r>
            <a:r>
              <a:rPr lang="zh-CN" altLang="zh-CN"/>
              <a:t>的每个结点一次且仅一次的闭路称作</a:t>
            </a:r>
            <a:r>
              <a:rPr lang="zh-CN" altLang="zh-CN" b="1">
                <a:solidFill>
                  <a:srgbClr val="00CC99"/>
                </a:solidFill>
              </a:rPr>
              <a:t>哈密顿回路</a:t>
            </a:r>
            <a:r>
              <a:rPr lang="zh-CN" altLang="zh-CN"/>
              <a:t>。</a:t>
            </a:r>
          </a:p>
          <a:p>
            <a:pPr>
              <a:lnSpc>
                <a:spcPct val="14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8.2.2 </a:t>
            </a:r>
            <a:r>
              <a:rPr lang="zh-CN" altLang="zh-CN"/>
              <a:t>给定有向图</a:t>
            </a:r>
            <a:r>
              <a:rPr lang="en-US" altLang="zh-CN"/>
              <a:t>D</a:t>
            </a:r>
            <a:r>
              <a:rPr lang="zh-CN" altLang="zh-CN"/>
              <a:t>，经过</a:t>
            </a:r>
            <a:r>
              <a:rPr lang="en-US" altLang="zh-CN"/>
              <a:t>D</a:t>
            </a:r>
            <a:r>
              <a:rPr lang="zh-CN" altLang="zh-CN"/>
              <a:t>中每个结点一次且仅一次的有向路称作</a:t>
            </a:r>
            <a:r>
              <a:rPr lang="zh-CN" altLang="zh-CN" b="1">
                <a:solidFill>
                  <a:srgbClr val="FF00FF"/>
                </a:solidFill>
              </a:rPr>
              <a:t>哈密顿有向路</a:t>
            </a:r>
            <a:r>
              <a:rPr lang="zh-CN" altLang="zh-CN"/>
              <a:t>。经过</a:t>
            </a:r>
            <a:r>
              <a:rPr lang="en-US" altLang="zh-CN"/>
              <a:t>D</a:t>
            </a:r>
            <a:r>
              <a:rPr lang="zh-CN" altLang="zh-CN"/>
              <a:t>中每个结点一次且仅一次的有向闭路称作</a:t>
            </a:r>
            <a:r>
              <a:rPr lang="zh-CN" altLang="zh-CN" b="1">
                <a:solidFill>
                  <a:srgbClr val="339933"/>
                </a:solidFill>
              </a:rPr>
              <a:t>哈密顿有向回路</a:t>
            </a:r>
            <a:r>
              <a:rPr lang="zh-CN" altLang="zh-CN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F40DCE08-6BF3-EADD-461F-15B42143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9219" name="内容占位符 2">
            <a:extLst>
              <a:ext uri="{FF2B5EF4-FFF2-40B4-BE49-F238E27FC236}">
                <a16:creationId xmlns:a16="http://schemas.microsoft.com/office/drawing/2014/main" id="{0169A01F-5432-7649-2531-6EC2FE46E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" y="1844675"/>
            <a:ext cx="8959850" cy="50133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zh-CN" b="1">
                <a:solidFill>
                  <a:srgbClr val="FF0000"/>
                </a:solidFill>
              </a:rPr>
              <a:t>定义</a:t>
            </a:r>
            <a:r>
              <a:rPr lang="en-US" altLang="zh-CN" b="1">
                <a:solidFill>
                  <a:srgbClr val="FF0000"/>
                </a:solidFill>
              </a:rPr>
              <a:t>8.2.3</a:t>
            </a:r>
            <a:r>
              <a:rPr lang="zh-CN" altLang="zh-CN"/>
              <a:t>具有哈密顿回路的无向图，与具有哈密顿有向回路的有向图，统称为</a:t>
            </a:r>
            <a:r>
              <a:rPr lang="zh-CN" altLang="zh-CN" b="1">
                <a:solidFill>
                  <a:srgbClr val="FF00FF"/>
                </a:solidFill>
              </a:rPr>
              <a:t>哈密顿图</a:t>
            </a:r>
            <a:r>
              <a:rPr lang="zh-CN" altLang="zh-CN"/>
              <a:t>。</a:t>
            </a:r>
          </a:p>
          <a:p>
            <a:pPr>
              <a:lnSpc>
                <a:spcPct val="200000"/>
              </a:lnSpc>
            </a:pPr>
            <a:r>
              <a:rPr lang="zh-CN" altLang="zh-CN"/>
              <a:t>判断一个给定的图是否是哈密顿图的问题，称为</a:t>
            </a:r>
            <a:r>
              <a:rPr lang="zh-CN" altLang="zh-CN" b="1">
                <a:solidFill>
                  <a:srgbClr val="FF0000"/>
                </a:solidFill>
              </a:rPr>
              <a:t>哈密顿问题</a:t>
            </a:r>
            <a:r>
              <a:rPr lang="zh-CN" altLang="zh-CN"/>
              <a:t>。</a:t>
            </a:r>
            <a:endParaRPr lang="en-US" altLang="zh-CN"/>
          </a:p>
          <a:p>
            <a:pPr>
              <a:lnSpc>
                <a:spcPct val="200000"/>
              </a:lnSpc>
            </a:pPr>
            <a:r>
              <a:rPr lang="zh-CN" altLang="zh-CN"/>
              <a:t>哈密顿问题是图论中尚未解决的难题之一。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>
            <a:extLst>
              <a:ext uri="{FF2B5EF4-FFF2-40B4-BE49-F238E27FC236}">
                <a16:creationId xmlns:a16="http://schemas.microsoft.com/office/drawing/2014/main" id="{F1D95628-0D58-1273-915E-81468067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19459" name="内容占位符 2">
            <a:extLst>
              <a:ext uri="{FF2B5EF4-FFF2-40B4-BE49-F238E27FC236}">
                <a16:creationId xmlns:a16="http://schemas.microsoft.com/office/drawing/2014/main" id="{93186DD1-C330-DEE7-B0D9-FD0E1B316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844675"/>
            <a:ext cx="8888412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8.2.3</a:t>
            </a:r>
            <a:r>
              <a:rPr lang="zh-CN" altLang="zh-CN"/>
              <a:t>已知</a:t>
            </a:r>
            <a:r>
              <a:rPr lang="en-US" altLang="zh-CN"/>
              <a:t>a,b,c,d,e,f,g</a:t>
            </a:r>
            <a:r>
              <a:rPr lang="zh-CN" altLang="zh-CN"/>
              <a:t>七人</a:t>
            </a:r>
            <a:r>
              <a:rPr lang="zh-CN" altLang="en-US"/>
              <a:t>中</a:t>
            </a:r>
            <a:r>
              <a:rPr lang="zh-CN" altLang="zh-CN"/>
              <a:t>，</a:t>
            </a:r>
            <a:r>
              <a:rPr lang="en-US" altLang="zh-CN"/>
              <a:t>a</a:t>
            </a:r>
            <a:r>
              <a:rPr lang="zh-CN" altLang="zh-CN"/>
              <a:t>会英语，</a:t>
            </a:r>
            <a:r>
              <a:rPr lang="en-US" altLang="zh-CN"/>
              <a:t>b</a:t>
            </a:r>
            <a:r>
              <a:rPr lang="zh-CN" altLang="zh-CN"/>
              <a:t>会英语和汉语；</a:t>
            </a:r>
            <a:r>
              <a:rPr lang="en-US" altLang="zh-CN"/>
              <a:t>c</a:t>
            </a:r>
            <a:r>
              <a:rPr lang="zh-CN" altLang="zh-CN"/>
              <a:t>会英语、意大利语和俄语；</a:t>
            </a:r>
            <a:r>
              <a:rPr lang="en-US" altLang="zh-CN"/>
              <a:t>d</a:t>
            </a:r>
            <a:r>
              <a:rPr lang="zh-CN" altLang="zh-CN"/>
              <a:t>会汉语和日语；</a:t>
            </a:r>
            <a:r>
              <a:rPr lang="en-US" altLang="zh-CN"/>
              <a:t>e</a:t>
            </a:r>
            <a:r>
              <a:rPr lang="zh-CN" altLang="zh-CN"/>
              <a:t>会意大利语和德语；</a:t>
            </a:r>
            <a:r>
              <a:rPr lang="en-US" altLang="zh-CN"/>
              <a:t>f</a:t>
            </a:r>
            <a:r>
              <a:rPr lang="zh-CN" altLang="zh-CN"/>
              <a:t>会</a:t>
            </a:r>
            <a:r>
              <a:rPr lang="zh-CN" altLang="en-US"/>
              <a:t>讲</a:t>
            </a:r>
            <a:r>
              <a:rPr lang="zh-CN" altLang="zh-CN"/>
              <a:t>俄语、日语和法语；</a:t>
            </a:r>
            <a:r>
              <a:rPr lang="en-US" altLang="zh-CN"/>
              <a:t>g</a:t>
            </a:r>
            <a:r>
              <a:rPr lang="zh-CN" altLang="zh-CN"/>
              <a:t>会德语和法语，能否将他们的座位围圆桌安排，使得每个人都能与他</a:t>
            </a:r>
            <a:r>
              <a:rPr lang="zh-CN" altLang="en-US"/>
              <a:t>左右两</a:t>
            </a:r>
            <a:r>
              <a:rPr lang="zh-CN" altLang="zh-CN"/>
              <a:t>边的人交谈。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86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E1F4A79B-B93D-10F9-24FB-ED9DD249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6D24C-6F1E-7AED-CE92-4B8626932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916113"/>
            <a:ext cx="8893175" cy="4941887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  <a:r>
              <a:rPr lang="zh-CN" altLang="zh-CN" sz="2800" dirty="0"/>
              <a:t>构造简单无向图</a:t>
            </a:r>
            <a:r>
              <a:rPr lang="en-US" altLang="zh-CN" sz="2800" dirty="0"/>
              <a:t>G</a:t>
            </a:r>
            <a:r>
              <a:rPr lang="zh-CN" altLang="zh-CN" sz="2800" dirty="0"/>
              <a:t>＝</a:t>
            </a:r>
            <a:r>
              <a:rPr lang="en-US" altLang="zh-CN" sz="2800" dirty="0">
                <a:latin typeface="+mn-ea"/>
              </a:rPr>
              <a:t>&lt;</a:t>
            </a:r>
            <a:r>
              <a:rPr lang="en-US" altLang="zh-CN" sz="2800" dirty="0"/>
              <a:t>V,E</a:t>
            </a:r>
            <a:r>
              <a:rPr lang="en-US" altLang="zh-CN" sz="2800" dirty="0">
                <a:latin typeface="+mn-ea"/>
              </a:rPr>
              <a:t>&gt;</a:t>
            </a:r>
            <a:r>
              <a:rPr lang="zh-CN" altLang="en-US" sz="2800" dirty="0"/>
              <a:t>，且</a:t>
            </a:r>
            <a:r>
              <a:rPr lang="en-US" altLang="zh-CN" sz="2800" dirty="0"/>
              <a:t>V</a:t>
            </a:r>
            <a:r>
              <a:rPr lang="zh-CN" altLang="zh-CN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dirty="0" err="1"/>
              <a:t>a,b,c,d,e,f,g</a:t>
            </a:r>
            <a:r>
              <a:rPr lang="en-US" altLang="zh-CN" sz="2800" dirty="0"/>
              <a:t>}</a:t>
            </a:r>
            <a:r>
              <a:rPr lang="zh-CN" altLang="en-US" sz="2800" dirty="0"/>
              <a:t>；</a:t>
            </a:r>
            <a:r>
              <a:rPr lang="en-US" altLang="zh-CN" sz="2800" dirty="0"/>
              <a:t>G</a:t>
            </a:r>
            <a:r>
              <a:rPr lang="zh-CN" altLang="zh-CN" sz="2800" dirty="0"/>
              <a:t>中的两个结点间有一条边当且仅当对应的两人会讲同一种语言</a:t>
            </a:r>
            <a:r>
              <a:rPr lang="zh-CN" altLang="en-US" sz="2800" dirty="0"/>
              <a:t>。</a:t>
            </a:r>
          </a:p>
        </p:txBody>
      </p:sp>
      <p:sp>
        <p:nvSpPr>
          <p:cNvPr id="20484" name="Rectangle 59">
            <a:extLst>
              <a:ext uri="{FF2B5EF4-FFF2-40B4-BE49-F238E27FC236}">
                <a16:creationId xmlns:a16="http://schemas.microsoft.com/office/drawing/2014/main" id="{9E07C136-6BB8-CE1F-8EAD-BBFE49F70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0485" name="Group 34">
            <a:extLst>
              <a:ext uri="{FF2B5EF4-FFF2-40B4-BE49-F238E27FC236}">
                <a16:creationId xmlns:a16="http://schemas.microsoft.com/office/drawing/2014/main" id="{D12BFB17-9FC4-5235-C284-830B9785513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916238" y="2724150"/>
            <a:ext cx="4291012" cy="4449763"/>
            <a:chOff x="4006" y="2223"/>
            <a:chExt cx="4023" cy="4169"/>
          </a:xfrm>
        </p:grpSpPr>
        <p:sp>
          <p:nvSpPr>
            <p:cNvPr id="20486" name="AutoShape 58">
              <a:extLst>
                <a:ext uri="{FF2B5EF4-FFF2-40B4-BE49-F238E27FC236}">
                  <a16:creationId xmlns:a16="http://schemas.microsoft.com/office/drawing/2014/main" id="{479092CF-AE5D-6B8F-D473-8FEA41A5B2C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006" y="2223"/>
              <a:ext cx="4023" cy="4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" name="Text Box 57">
              <a:extLst>
                <a:ext uri="{FF2B5EF4-FFF2-40B4-BE49-F238E27FC236}">
                  <a16:creationId xmlns:a16="http://schemas.microsoft.com/office/drawing/2014/main" id="{B0DDE9CF-A5A4-549B-7AA5-0D475AB23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4" y="263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b</a:t>
              </a:r>
              <a:endParaRPr lang="zh-CN" altLang="zh-CN" sz="2800"/>
            </a:p>
          </p:txBody>
        </p:sp>
        <p:sp>
          <p:nvSpPr>
            <p:cNvPr id="20488" name="Text Box 56">
              <a:extLst>
                <a:ext uri="{FF2B5EF4-FFF2-40B4-BE49-F238E27FC236}">
                  <a16:creationId xmlns:a16="http://schemas.microsoft.com/office/drawing/2014/main" id="{3A234430-69F6-9774-AF63-6173C2FBB4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338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a</a:t>
              </a:r>
              <a:endParaRPr lang="zh-CN" altLang="zh-CN" sz="2800"/>
            </a:p>
          </p:txBody>
        </p:sp>
        <p:sp>
          <p:nvSpPr>
            <p:cNvPr id="20489" name="Text Box 55">
              <a:extLst>
                <a:ext uri="{FF2B5EF4-FFF2-40B4-BE49-F238E27FC236}">
                  <a16:creationId xmlns:a16="http://schemas.microsoft.com/office/drawing/2014/main" id="{31536FC3-F8C7-C755-D958-5796D6B58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9" y="3448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c</a:t>
              </a:r>
              <a:endParaRPr lang="zh-CN" altLang="zh-CN" sz="2800"/>
            </a:p>
          </p:txBody>
        </p:sp>
        <p:sp>
          <p:nvSpPr>
            <p:cNvPr id="20490" name="Text Box 54">
              <a:extLst>
                <a:ext uri="{FF2B5EF4-FFF2-40B4-BE49-F238E27FC236}">
                  <a16:creationId xmlns:a16="http://schemas.microsoft.com/office/drawing/2014/main" id="{2397FDD3-1E3D-3CE1-EE6C-88648C1F2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6" y="4460"/>
              <a:ext cx="575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g</a:t>
              </a:r>
              <a:endParaRPr lang="zh-CN" altLang="zh-CN" sz="2800"/>
            </a:p>
          </p:txBody>
        </p:sp>
        <p:sp>
          <p:nvSpPr>
            <p:cNvPr id="20491" name="Text Box 53">
              <a:extLst>
                <a:ext uri="{FF2B5EF4-FFF2-40B4-BE49-F238E27FC236}">
                  <a16:creationId xmlns:a16="http://schemas.microsoft.com/office/drawing/2014/main" id="{F1799A03-73F6-B47E-2C9B-95CAF3FD0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2" y="4460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d</a:t>
              </a:r>
              <a:endParaRPr lang="zh-CN" altLang="zh-CN" sz="2800"/>
            </a:p>
          </p:txBody>
        </p:sp>
        <p:sp>
          <p:nvSpPr>
            <p:cNvPr id="20492" name="Text Box 52">
              <a:extLst>
                <a:ext uri="{FF2B5EF4-FFF2-40B4-BE49-F238E27FC236}">
                  <a16:creationId xmlns:a16="http://schemas.microsoft.com/office/drawing/2014/main" id="{584C214D-9E92-50F0-EDED-2FF383D221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1" y="5582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f</a:t>
              </a:r>
              <a:endParaRPr lang="zh-CN" altLang="zh-CN" sz="2800"/>
            </a:p>
          </p:txBody>
        </p:sp>
        <p:sp>
          <p:nvSpPr>
            <p:cNvPr id="20493" name="Text Box 51">
              <a:extLst>
                <a:ext uri="{FF2B5EF4-FFF2-40B4-BE49-F238E27FC236}">
                  <a16:creationId xmlns:a16="http://schemas.microsoft.com/office/drawing/2014/main" id="{102D0975-ED3D-537E-05A4-E6184942A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" y="5515"/>
              <a:ext cx="749" cy="6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/>
                <a:t>e</a:t>
              </a:r>
              <a:endParaRPr lang="zh-CN" altLang="zh-CN" sz="2800"/>
            </a:p>
          </p:txBody>
        </p:sp>
        <p:sp>
          <p:nvSpPr>
            <p:cNvPr id="20494" name="Oval 50">
              <a:extLst>
                <a:ext uri="{FF2B5EF4-FFF2-40B4-BE49-F238E27FC236}">
                  <a16:creationId xmlns:a16="http://schemas.microsoft.com/office/drawing/2014/main" id="{B9A67DE1-7F2E-1C58-4F21-D68247160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0" y="2821"/>
              <a:ext cx="218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5" name="Oval 49">
              <a:extLst>
                <a:ext uri="{FF2B5EF4-FFF2-40B4-BE49-F238E27FC236}">
                  <a16:creationId xmlns:a16="http://schemas.microsoft.com/office/drawing/2014/main" id="{E8DA210B-9B86-BB65-DEB7-C532CCFD7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8" y="3529"/>
              <a:ext cx="219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6" name="Oval 48">
              <a:extLst>
                <a:ext uri="{FF2B5EF4-FFF2-40B4-BE49-F238E27FC236}">
                  <a16:creationId xmlns:a16="http://schemas.microsoft.com/office/drawing/2014/main" id="{F9228D87-EAA6-7B86-91EE-48E181116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1" y="3601"/>
              <a:ext cx="218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7" name="Oval 47">
              <a:extLst>
                <a:ext uri="{FF2B5EF4-FFF2-40B4-BE49-F238E27FC236}">
                  <a16:creationId xmlns:a16="http://schemas.microsoft.com/office/drawing/2014/main" id="{B4C7C03C-60C5-9FC7-EEFF-1D5005AC9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8" y="4627"/>
              <a:ext cx="220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8" name="Oval 46">
              <a:extLst>
                <a:ext uri="{FF2B5EF4-FFF2-40B4-BE49-F238E27FC236}">
                  <a16:creationId xmlns:a16="http://schemas.microsoft.com/office/drawing/2014/main" id="{DFBEC5C8-EFFD-9819-0A0A-474854A84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9" y="4627"/>
              <a:ext cx="220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499" name="Oval 45">
              <a:extLst>
                <a:ext uri="{FF2B5EF4-FFF2-40B4-BE49-F238E27FC236}">
                  <a16:creationId xmlns:a16="http://schemas.microsoft.com/office/drawing/2014/main" id="{0805B444-F0CE-909D-94E8-FD6133A36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" y="5697"/>
              <a:ext cx="219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500" name="Oval 44">
              <a:extLst>
                <a:ext uri="{FF2B5EF4-FFF2-40B4-BE49-F238E27FC236}">
                  <a16:creationId xmlns:a16="http://schemas.microsoft.com/office/drawing/2014/main" id="{DA03B268-BE8B-EAF6-CE56-731B2B85D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" y="5697"/>
              <a:ext cx="218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20501" name="AutoShape 43">
              <a:extLst>
                <a:ext uri="{FF2B5EF4-FFF2-40B4-BE49-F238E27FC236}">
                  <a16:creationId xmlns:a16="http://schemas.microsoft.com/office/drawing/2014/main" id="{475DAF17-0AA4-290C-7EB2-538099100FD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66" y="3010"/>
              <a:ext cx="857" cy="62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2" name="AutoShape 42">
              <a:extLst>
                <a:ext uri="{FF2B5EF4-FFF2-40B4-BE49-F238E27FC236}">
                  <a16:creationId xmlns:a16="http://schemas.microsoft.com/office/drawing/2014/main" id="{8D15DB3D-C560-4B47-9348-51C6B0CBE2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186" y="3791"/>
              <a:ext cx="1637" cy="193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3" name="AutoShape 41">
              <a:extLst>
                <a:ext uri="{FF2B5EF4-FFF2-40B4-BE49-F238E27FC236}">
                  <a16:creationId xmlns:a16="http://schemas.microsoft.com/office/drawing/2014/main" id="{DB25000A-AABB-2E9E-2C06-AF11E3CA11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865" y="3010"/>
              <a:ext cx="947" cy="55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4" name="AutoShape 40">
              <a:extLst>
                <a:ext uri="{FF2B5EF4-FFF2-40B4-BE49-F238E27FC236}">
                  <a16:creationId xmlns:a16="http://schemas.microsoft.com/office/drawing/2014/main" id="{1646626A-7B90-A1E8-8423-81744FA83F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97" y="3640"/>
              <a:ext cx="1894" cy="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5" name="AutoShape 39">
              <a:extLst>
                <a:ext uri="{FF2B5EF4-FFF2-40B4-BE49-F238E27FC236}">
                  <a16:creationId xmlns:a16="http://schemas.microsoft.com/office/drawing/2014/main" id="{937D96D9-CA6E-68EC-867F-FE0363DFF19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9" y="3043"/>
              <a:ext cx="1212" cy="16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6" name="AutoShape 38">
              <a:extLst>
                <a:ext uri="{FF2B5EF4-FFF2-40B4-BE49-F238E27FC236}">
                  <a16:creationId xmlns:a16="http://schemas.microsoft.com/office/drawing/2014/main" id="{9F01ACA3-ABF3-B13F-2970-72F08C309D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682" y="3824"/>
              <a:ext cx="218" cy="18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7" name="AutoShape 37">
              <a:extLst>
                <a:ext uri="{FF2B5EF4-FFF2-40B4-BE49-F238E27FC236}">
                  <a16:creationId xmlns:a16="http://schemas.microsoft.com/office/drawing/2014/main" id="{951455FD-4CAF-A0C9-8EE6-A113D5F0455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46" y="4816"/>
              <a:ext cx="1959" cy="91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8" name="AutoShape 36">
              <a:extLst>
                <a:ext uri="{FF2B5EF4-FFF2-40B4-BE49-F238E27FC236}">
                  <a16:creationId xmlns:a16="http://schemas.microsoft.com/office/drawing/2014/main" id="{E904425E-3C7F-A390-BC64-3A98E915E9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218" y="4816"/>
              <a:ext cx="1883" cy="9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509" name="AutoShape 35">
              <a:extLst>
                <a:ext uri="{FF2B5EF4-FFF2-40B4-BE49-F238E27FC236}">
                  <a16:creationId xmlns:a16="http://schemas.microsoft.com/office/drawing/2014/main" id="{5EAD032C-A654-2BFF-4358-92159A8C36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68" y="4848"/>
              <a:ext cx="541" cy="8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77922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>
            <a:extLst>
              <a:ext uri="{FF2B5EF4-FFF2-40B4-BE49-F238E27FC236}">
                <a16:creationId xmlns:a16="http://schemas.microsoft.com/office/drawing/2014/main" id="{E1F4A79B-B93D-10F9-24FB-ED9DD2496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20484" name="Rectangle 59">
            <a:extLst>
              <a:ext uri="{FF2B5EF4-FFF2-40B4-BE49-F238E27FC236}">
                <a16:creationId xmlns:a16="http://schemas.microsoft.com/office/drawing/2014/main" id="{9E07C136-6BB8-CE1F-8EAD-BBFE49F70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6A55300-2F40-5778-94D9-E904593057DE}"/>
              </a:ext>
            </a:extLst>
          </p:cNvPr>
          <p:cNvSpPr txBox="1"/>
          <p:nvPr/>
        </p:nvSpPr>
        <p:spPr>
          <a:xfrm>
            <a:off x="1403648" y="3140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F01AEE-DD2A-DD27-0299-EA97F19F875A}"/>
              </a:ext>
            </a:extLst>
          </p:cNvPr>
          <p:cNvSpPr txBox="1"/>
          <p:nvPr/>
        </p:nvSpPr>
        <p:spPr>
          <a:xfrm>
            <a:off x="575556" y="2356138"/>
            <a:ext cx="7992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+mn-ea"/>
                <a:ea typeface="+mn-ea"/>
              </a:rPr>
              <a:t>必要条件：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若图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G=&lt;V,E&gt;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中具有一条汉密尔顿回路，则对于结点集</a:t>
            </a:r>
            <a:r>
              <a:rPr lang="zh-CN" altLang="en-US" sz="3600" i="1" dirty="0">
                <a:effectLst/>
                <a:latin typeface="+mn-ea"/>
                <a:ea typeface="+mn-ea"/>
              </a:rPr>
              <a:t> 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V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 的每个非空子集 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S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 均有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W</a:t>
            </a:r>
            <a:r>
              <a:rPr lang="en-US" altLang="zh-CN" sz="3600" i="0" dirty="0">
                <a:effectLst/>
                <a:latin typeface="+mn-ea"/>
                <a:ea typeface="+mn-ea"/>
              </a:rPr>
              <a:t>(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G</a:t>
            </a:r>
            <a:r>
              <a:rPr lang="en-US" altLang="zh-CN" sz="3600" i="0" dirty="0">
                <a:effectLst/>
                <a:latin typeface="+mn-ea"/>
                <a:ea typeface="+mn-ea"/>
              </a:rPr>
              <a:t>-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S</a:t>
            </a:r>
            <a:r>
              <a:rPr lang="en-US" altLang="zh-CN" sz="3600" i="0" dirty="0">
                <a:effectLst/>
                <a:latin typeface="+mn-ea"/>
                <a:ea typeface="+mn-ea"/>
              </a:rPr>
              <a:t>)&lt;</a:t>
            </a:r>
            <a:r>
              <a:rPr lang="en-US" altLang="zh-CN" sz="3600" dirty="0">
                <a:latin typeface="+mn-ea"/>
                <a:ea typeface="+mn-ea"/>
              </a:rPr>
              <a:t>=</a:t>
            </a:r>
            <a:r>
              <a:rPr lang="en-US" altLang="zh-CN" sz="3600" i="0" dirty="0">
                <a:effectLst/>
                <a:latin typeface="+mn-ea"/>
                <a:ea typeface="+mn-ea"/>
              </a:rPr>
              <a:t>|S|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成立，其中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W</a:t>
            </a:r>
            <a:r>
              <a:rPr lang="en-US" altLang="zh-CN" sz="3600" i="0" dirty="0">
                <a:effectLst/>
                <a:latin typeface="+mn-ea"/>
                <a:ea typeface="+mn-ea"/>
              </a:rPr>
              <a:t>(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G-S</a:t>
            </a:r>
            <a:r>
              <a:rPr lang="en-US" altLang="zh-CN" sz="3600" i="0" dirty="0">
                <a:effectLst/>
                <a:latin typeface="+mn-ea"/>
                <a:ea typeface="+mn-ea"/>
              </a:rPr>
              <a:t>)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是（</a:t>
            </a:r>
            <a:r>
              <a:rPr lang="en-US" altLang="zh-CN" sz="3600" i="1" dirty="0">
                <a:effectLst/>
                <a:latin typeface="+mn-ea"/>
                <a:ea typeface="+mn-ea"/>
              </a:rPr>
              <a:t>G-S</a:t>
            </a:r>
            <a:r>
              <a:rPr lang="zh-CN" altLang="en-US" sz="3600" i="0" dirty="0">
                <a:effectLst/>
                <a:latin typeface="+mn-ea"/>
                <a:ea typeface="+mn-ea"/>
              </a:rPr>
              <a:t>）中连通分支数。</a:t>
            </a:r>
            <a:endParaRPr lang="zh-CN" altLang="en-US" sz="3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2823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BFDA4DA2-D866-6F68-B081-048042ACD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108FD984-3E4F-BE5B-84BC-06218DCEF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哈密顿图？ 割点？ 二分图？</a:t>
            </a:r>
          </a:p>
        </p:txBody>
      </p:sp>
      <p:sp>
        <p:nvSpPr>
          <p:cNvPr id="10244" name="Rectangle 46">
            <a:extLst>
              <a:ext uri="{FF2B5EF4-FFF2-40B4-BE49-F238E27FC236}">
                <a16:creationId xmlns:a16="http://schemas.microsoft.com/office/drawing/2014/main" id="{12E45D85-911E-B506-7BB0-E8C0000A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245" name="Group 1">
            <a:extLst>
              <a:ext uri="{FF2B5EF4-FFF2-40B4-BE49-F238E27FC236}">
                <a16:creationId xmlns:a16="http://schemas.microsoft.com/office/drawing/2014/main" id="{2A875553-D1CD-5820-A265-35149BFFE8D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7088" y="2997200"/>
            <a:ext cx="7921625" cy="3486150"/>
            <a:chOff x="2722" y="8459"/>
            <a:chExt cx="7425" cy="3268"/>
          </a:xfrm>
        </p:grpSpPr>
        <p:sp>
          <p:nvSpPr>
            <p:cNvPr id="10246" name="AutoShape 45">
              <a:extLst>
                <a:ext uri="{FF2B5EF4-FFF2-40B4-BE49-F238E27FC236}">
                  <a16:creationId xmlns:a16="http://schemas.microsoft.com/office/drawing/2014/main" id="{DF3616CB-7594-D856-58E0-12879F4A6E0A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22" y="8459"/>
              <a:ext cx="7425" cy="3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47" name="Oval 44">
              <a:extLst>
                <a:ext uri="{FF2B5EF4-FFF2-40B4-BE49-F238E27FC236}">
                  <a16:creationId xmlns:a16="http://schemas.microsoft.com/office/drawing/2014/main" id="{DE64A5A2-96A0-471D-4CDF-AD62D35F1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9353"/>
              <a:ext cx="220" cy="22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48" name="Oval 43">
              <a:extLst>
                <a:ext uri="{FF2B5EF4-FFF2-40B4-BE49-F238E27FC236}">
                  <a16:creationId xmlns:a16="http://schemas.microsoft.com/office/drawing/2014/main" id="{0F9AA1C1-EB38-B913-D7DE-189DF1E04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9353"/>
              <a:ext cx="221" cy="22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49" name="Oval 42">
              <a:extLst>
                <a:ext uri="{FF2B5EF4-FFF2-40B4-BE49-F238E27FC236}">
                  <a16:creationId xmlns:a16="http://schemas.microsoft.com/office/drawing/2014/main" id="{90438953-89BC-D2B0-1684-D8E6BA200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111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0" name="Oval 41">
              <a:extLst>
                <a:ext uri="{FF2B5EF4-FFF2-40B4-BE49-F238E27FC236}">
                  <a16:creationId xmlns:a16="http://schemas.microsoft.com/office/drawing/2014/main" id="{276F5AB3-C5D1-4596-DF1F-DD57303A5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11133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1" name="Oval 40">
              <a:extLst>
                <a:ext uri="{FF2B5EF4-FFF2-40B4-BE49-F238E27FC236}">
                  <a16:creationId xmlns:a16="http://schemas.microsoft.com/office/drawing/2014/main" id="{6BC5316F-743A-BC0C-0704-3C051CA44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6" y="10036"/>
              <a:ext cx="222" cy="2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2" name="Oval 39">
              <a:extLst>
                <a:ext uri="{FF2B5EF4-FFF2-40B4-BE49-F238E27FC236}">
                  <a16:creationId xmlns:a16="http://schemas.microsoft.com/office/drawing/2014/main" id="{F0ADE056-AE66-B845-DE57-E407A8B9F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90" y="11496"/>
              <a:ext cx="222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3" name="Oval 38">
              <a:extLst>
                <a:ext uri="{FF2B5EF4-FFF2-40B4-BE49-F238E27FC236}">
                  <a16:creationId xmlns:a16="http://schemas.microsoft.com/office/drawing/2014/main" id="{1AD416AB-D839-8463-8900-91E0F7A0F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2" y="1061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4" name="Oval 37">
              <a:extLst>
                <a:ext uri="{FF2B5EF4-FFF2-40B4-BE49-F238E27FC236}">
                  <a16:creationId xmlns:a16="http://schemas.microsoft.com/office/drawing/2014/main" id="{FA72FA0D-5E50-1463-E5B0-28AA78305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" y="9574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5" name="Oval 36">
              <a:extLst>
                <a:ext uri="{FF2B5EF4-FFF2-40B4-BE49-F238E27FC236}">
                  <a16:creationId xmlns:a16="http://schemas.microsoft.com/office/drawing/2014/main" id="{F00F20A8-15C9-3C3D-FF0F-9A9AD4DD1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7" y="9574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6" name="Oval 35">
              <a:extLst>
                <a:ext uri="{FF2B5EF4-FFF2-40B4-BE49-F238E27FC236}">
                  <a16:creationId xmlns:a16="http://schemas.microsoft.com/office/drawing/2014/main" id="{48C761CD-5A86-17FE-0E97-11E1B2143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" y="10619"/>
              <a:ext cx="222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7" name="Oval 34">
              <a:extLst>
                <a:ext uri="{FF2B5EF4-FFF2-40B4-BE49-F238E27FC236}">
                  <a16:creationId xmlns:a16="http://schemas.microsoft.com/office/drawing/2014/main" id="{C65B7098-0689-A5AC-476F-33D4E689A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48" y="10039"/>
              <a:ext cx="222" cy="2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8" name="Oval 33">
              <a:extLst>
                <a:ext uri="{FF2B5EF4-FFF2-40B4-BE49-F238E27FC236}">
                  <a16:creationId xmlns:a16="http://schemas.microsoft.com/office/drawing/2014/main" id="{E82A0981-E9C2-AC26-0E45-A1802BE7F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7" y="10039"/>
              <a:ext cx="221" cy="2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9" name="Oval 32">
              <a:extLst>
                <a:ext uri="{FF2B5EF4-FFF2-40B4-BE49-F238E27FC236}">
                  <a16:creationId xmlns:a16="http://schemas.microsoft.com/office/drawing/2014/main" id="{7157BB0F-5E9D-FD89-2012-27598F008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6" y="10071"/>
              <a:ext cx="223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0" name="Oval 31">
              <a:extLst>
                <a:ext uri="{FF2B5EF4-FFF2-40B4-BE49-F238E27FC236}">
                  <a16:creationId xmlns:a16="http://schemas.microsoft.com/office/drawing/2014/main" id="{3E26408C-AD7E-F866-FBEA-326BB94AE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9" y="10036"/>
              <a:ext cx="222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1" name="Oval 30">
              <a:extLst>
                <a:ext uri="{FF2B5EF4-FFF2-40B4-BE49-F238E27FC236}">
                  <a16:creationId xmlns:a16="http://schemas.microsoft.com/office/drawing/2014/main" id="{F1D5288E-0472-DF4A-C6CF-A4EF855A7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3" y="8467"/>
              <a:ext cx="222" cy="2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62" name="Oval 29">
              <a:extLst>
                <a:ext uri="{FF2B5EF4-FFF2-40B4-BE49-F238E27FC236}">
                  <a16:creationId xmlns:a16="http://schemas.microsoft.com/office/drawing/2014/main" id="{61B01501-C0EE-559B-DD61-F1AF7675F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9351"/>
              <a:ext cx="224" cy="2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0263" name="AutoShape 28">
              <a:extLst>
                <a:ext uri="{FF2B5EF4-FFF2-40B4-BE49-F238E27FC236}">
                  <a16:creationId xmlns:a16="http://schemas.microsoft.com/office/drawing/2014/main" id="{244CD454-F713-EB80-6683-1B656AC66E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17" y="9796"/>
              <a:ext cx="261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4" name="AutoShape 27">
              <a:extLst>
                <a:ext uri="{FF2B5EF4-FFF2-40B4-BE49-F238E27FC236}">
                  <a16:creationId xmlns:a16="http://schemas.microsoft.com/office/drawing/2014/main" id="{B40C02CE-7C76-BA1F-4894-36CBC97CD0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56" y="9763"/>
              <a:ext cx="225" cy="30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5" name="AutoShape 26">
              <a:extLst>
                <a:ext uri="{FF2B5EF4-FFF2-40B4-BE49-F238E27FC236}">
                  <a16:creationId xmlns:a16="http://schemas.microsoft.com/office/drawing/2014/main" id="{7132ECA4-E18A-B93A-C95B-3F31D5B0AB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59" y="9763"/>
              <a:ext cx="305" cy="27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6" name="AutoShape 25">
              <a:extLst>
                <a:ext uri="{FF2B5EF4-FFF2-40B4-BE49-F238E27FC236}">
                  <a16:creationId xmlns:a16="http://schemas.microsoft.com/office/drawing/2014/main" id="{9CE39B74-BDF7-0370-AED7-3EF1F76297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20" y="9763"/>
              <a:ext cx="208" cy="27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7" name="AutoShape 24">
              <a:extLst>
                <a:ext uri="{FF2B5EF4-FFF2-40B4-BE49-F238E27FC236}">
                  <a16:creationId xmlns:a16="http://schemas.microsoft.com/office/drawing/2014/main" id="{E12569C5-F170-0DE8-2785-31432CB2A6D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617" y="10256"/>
              <a:ext cx="213" cy="3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8" name="AutoShape 23">
              <a:extLst>
                <a:ext uri="{FF2B5EF4-FFF2-40B4-BE49-F238E27FC236}">
                  <a16:creationId xmlns:a16="http://schemas.microsoft.com/office/drawing/2014/main" id="{739E492F-F104-34A6-FA90-96ADB6FB29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908" y="10260"/>
              <a:ext cx="351" cy="3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9" name="AutoShape 22">
              <a:extLst>
                <a:ext uri="{FF2B5EF4-FFF2-40B4-BE49-F238E27FC236}">
                  <a16:creationId xmlns:a16="http://schemas.microsoft.com/office/drawing/2014/main" id="{991EC0A3-9878-D603-5F47-80C4D8AE32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37" y="10228"/>
              <a:ext cx="336" cy="39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0" name="AutoShape 21">
              <a:extLst>
                <a:ext uri="{FF2B5EF4-FFF2-40B4-BE49-F238E27FC236}">
                  <a16:creationId xmlns:a16="http://schemas.microsoft.com/office/drawing/2014/main" id="{C5760546-24A4-1EE2-F015-658DAC5F36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673" y="10260"/>
              <a:ext cx="255" cy="3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1" name="AutoShape 20">
              <a:extLst>
                <a:ext uri="{FF2B5EF4-FFF2-40B4-BE49-F238E27FC236}">
                  <a16:creationId xmlns:a16="http://schemas.microsoft.com/office/drawing/2014/main" id="{5146303E-A936-6034-9333-58749F9536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85" y="8579"/>
              <a:ext cx="1564" cy="152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2" name="AutoShape 19">
              <a:extLst>
                <a:ext uri="{FF2B5EF4-FFF2-40B4-BE49-F238E27FC236}">
                  <a16:creationId xmlns:a16="http://schemas.microsoft.com/office/drawing/2014/main" id="{43948123-818F-4CAF-49AB-2AADB75FDF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588" y="8657"/>
              <a:ext cx="1608" cy="141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3" name="AutoShape 18">
              <a:extLst>
                <a:ext uri="{FF2B5EF4-FFF2-40B4-BE49-F238E27FC236}">
                  <a16:creationId xmlns:a16="http://schemas.microsoft.com/office/drawing/2014/main" id="{2DFEF6A2-8FFE-96DB-11C8-EF048A3AEE1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10" y="10259"/>
              <a:ext cx="1680" cy="134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4" name="AutoShape 17">
              <a:extLst>
                <a:ext uri="{FF2B5EF4-FFF2-40B4-BE49-F238E27FC236}">
                  <a16:creationId xmlns:a16="http://schemas.microsoft.com/office/drawing/2014/main" id="{2C335F5C-4966-ACC4-8B94-7454E20EE1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412" y="10293"/>
              <a:ext cx="1616" cy="13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5" name="AutoShape 16">
              <a:extLst>
                <a:ext uri="{FF2B5EF4-FFF2-40B4-BE49-F238E27FC236}">
                  <a16:creationId xmlns:a16="http://schemas.microsoft.com/office/drawing/2014/main" id="{7DFE1349-4B65-0C08-8129-86C184E933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78" y="8690"/>
              <a:ext cx="396" cy="88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6" name="AutoShape 15">
              <a:extLst>
                <a:ext uri="{FF2B5EF4-FFF2-40B4-BE49-F238E27FC236}">
                  <a16:creationId xmlns:a16="http://schemas.microsoft.com/office/drawing/2014/main" id="{04EF8BEC-37E4-9484-9D53-397BE782BA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52" y="8657"/>
              <a:ext cx="290" cy="91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7" name="AutoShape 14">
              <a:extLst>
                <a:ext uri="{FF2B5EF4-FFF2-40B4-BE49-F238E27FC236}">
                  <a16:creationId xmlns:a16="http://schemas.microsoft.com/office/drawing/2014/main" id="{894C78E0-8F5C-19EA-1CCA-7EAF8D4B74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621" y="10146"/>
              <a:ext cx="885" cy="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8" name="AutoShape 13">
              <a:extLst>
                <a:ext uri="{FF2B5EF4-FFF2-40B4-BE49-F238E27FC236}">
                  <a16:creationId xmlns:a16="http://schemas.microsoft.com/office/drawing/2014/main" id="{588486BB-9643-915B-59ED-B2EAF0B1FB9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038" y="10150"/>
              <a:ext cx="878" cy="3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9" name="AutoShape 12">
              <a:extLst>
                <a:ext uri="{FF2B5EF4-FFF2-40B4-BE49-F238E27FC236}">
                  <a16:creationId xmlns:a16="http://schemas.microsoft.com/office/drawing/2014/main" id="{D732271E-FCD2-206D-B657-40F4D445B9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986" y="10808"/>
              <a:ext cx="237" cy="7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0" name="AutoShape 11">
              <a:extLst>
                <a:ext uri="{FF2B5EF4-FFF2-40B4-BE49-F238E27FC236}">
                  <a16:creationId xmlns:a16="http://schemas.microsoft.com/office/drawing/2014/main" id="{C93628BE-9831-AD79-7725-C252EFE825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01" y="10841"/>
              <a:ext cx="372" cy="65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1" name="AutoShape 9">
              <a:extLst>
                <a:ext uri="{FF2B5EF4-FFF2-40B4-BE49-F238E27FC236}">
                  <a16:creationId xmlns:a16="http://schemas.microsoft.com/office/drawing/2014/main" id="{DDD2A961-A6E1-3C65-E4E8-777879DC75C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54" y="9463"/>
              <a:ext cx="62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2" name="AutoShape 8">
              <a:extLst>
                <a:ext uri="{FF2B5EF4-FFF2-40B4-BE49-F238E27FC236}">
                  <a16:creationId xmlns:a16="http://schemas.microsoft.com/office/drawing/2014/main" id="{725B7CB2-E2D3-1E7A-6A86-0964118FE8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95" y="9464"/>
              <a:ext cx="776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3" name="AutoShape 7">
              <a:extLst>
                <a:ext uri="{FF2B5EF4-FFF2-40B4-BE49-F238E27FC236}">
                  <a16:creationId xmlns:a16="http://schemas.microsoft.com/office/drawing/2014/main" id="{88D15A10-5084-D00D-5305-61028471377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2" y="9574"/>
              <a:ext cx="1" cy="155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4" name="AutoShape 6">
              <a:extLst>
                <a:ext uri="{FF2B5EF4-FFF2-40B4-BE49-F238E27FC236}">
                  <a16:creationId xmlns:a16="http://schemas.microsoft.com/office/drawing/2014/main" id="{EEA997E3-B70C-1865-5BC3-49C061E0A4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951" y="11244"/>
              <a:ext cx="16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85" name="Oval 5">
              <a:extLst>
                <a:ext uri="{FF2B5EF4-FFF2-40B4-BE49-F238E27FC236}">
                  <a16:creationId xmlns:a16="http://schemas.microsoft.com/office/drawing/2014/main" id="{59DFE3F8-C236-592F-AFB6-D6E045908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10256"/>
              <a:ext cx="221" cy="22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0286" name="AutoShape 4">
              <a:extLst>
                <a:ext uri="{FF2B5EF4-FFF2-40B4-BE49-F238E27FC236}">
                  <a16:creationId xmlns:a16="http://schemas.microsoft.com/office/drawing/2014/main" id="{8E88A525-3732-5D5B-4752-84A9A300FE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85" y="9574"/>
              <a:ext cx="1" cy="68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7" name="AutoShape 3">
              <a:extLst>
                <a:ext uri="{FF2B5EF4-FFF2-40B4-BE49-F238E27FC236}">
                  <a16:creationId xmlns:a16="http://schemas.microsoft.com/office/drawing/2014/main" id="{B2CF0ADB-C197-54A3-EFB3-1308B08BC6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2919" y="10445"/>
              <a:ext cx="688" cy="7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8" name="AutoShape 2">
              <a:extLst>
                <a:ext uri="{FF2B5EF4-FFF2-40B4-BE49-F238E27FC236}">
                  <a16:creationId xmlns:a16="http://schemas.microsoft.com/office/drawing/2014/main" id="{E5BFE454-EA46-EA88-6D97-7ED08D9675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64" y="10445"/>
              <a:ext cx="839" cy="7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DD35372-4000-2B6F-8DA4-94E3A3F1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DD08B211-F05E-F7BD-4999-2B36C72F6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893175" cy="50133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</a:rPr>
              <a:t>完全图</a:t>
            </a:r>
            <a:r>
              <a:rPr lang="en-US" altLang="zh-CN">
                <a:solidFill>
                  <a:srgbClr val="FF0000"/>
                </a:solidFill>
              </a:rPr>
              <a:t>K</a:t>
            </a:r>
            <a:r>
              <a:rPr lang="en-US" altLang="zh-CN" baseline="-25000">
                <a:solidFill>
                  <a:srgbClr val="FF0000"/>
                </a:solidFill>
              </a:rPr>
              <a:t>n</a:t>
            </a:r>
            <a:r>
              <a:rPr lang="en-US" altLang="zh-CN">
                <a:solidFill>
                  <a:srgbClr val="FF0000"/>
                </a:solidFill>
              </a:rPr>
              <a:t>(n</a:t>
            </a:r>
            <a:r>
              <a:rPr lang="zh-CN" altLang="zh-CN">
                <a:solidFill>
                  <a:srgbClr val="FF0000"/>
                </a:solidFill>
              </a:rPr>
              <a:t>≥</a:t>
            </a:r>
            <a:r>
              <a:rPr lang="en-US" altLang="zh-CN">
                <a:solidFill>
                  <a:srgbClr val="FF0000"/>
                </a:solidFill>
              </a:rPr>
              <a:t>3)</a:t>
            </a:r>
            <a:r>
              <a:rPr lang="zh-CN" altLang="en-US"/>
              <a:t>与</a:t>
            </a:r>
            <a:r>
              <a:rPr lang="zh-CN" altLang="en-US">
                <a:solidFill>
                  <a:srgbClr val="FF0000"/>
                </a:solidFill>
              </a:rPr>
              <a:t>哈密顿图？</a:t>
            </a:r>
          </a:p>
        </p:txBody>
      </p:sp>
      <p:sp>
        <p:nvSpPr>
          <p:cNvPr id="11268" name="Oval 29">
            <a:extLst>
              <a:ext uri="{FF2B5EF4-FFF2-40B4-BE49-F238E27FC236}">
                <a16:creationId xmlns:a16="http://schemas.microsoft.com/office/drawing/2014/main" id="{3C3B34F4-1D6B-EB16-B09F-41DC80042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788" y="6165850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69" name="Oval 29">
            <a:extLst>
              <a:ext uri="{FF2B5EF4-FFF2-40B4-BE49-F238E27FC236}">
                <a16:creationId xmlns:a16="http://schemas.microsoft.com/office/drawing/2014/main" id="{3AC60DFE-24C9-951C-03E3-94E58E1A2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5084763"/>
            <a:ext cx="238125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0" name="Oval 29">
            <a:extLst>
              <a:ext uri="{FF2B5EF4-FFF2-40B4-BE49-F238E27FC236}">
                <a16:creationId xmlns:a16="http://schemas.microsoft.com/office/drawing/2014/main" id="{C367CED9-2486-51F1-2C82-55D6E01B4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084763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1" name="Oval 29">
            <a:extLst>
              <a:ext uri="{FF2B5EF4-FFF2-40B4-BE49-F238E27FC236}">
                <a16:creationId xmlns:a16="http://schemas.microsoft.com/office/drawing/2014/main" id="{ACB658DA-9DC1-B9E3-6E63-EEEC59EEA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013" y="3800475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2" name="Oval 29">
            <a:extLst>
              <a:ext uri="{FF2B5EF4-FFF2-40B4-BE49-F238E27FC236}">
                <a16:creationId xmlns:a16="http://schemas.microsoft.com/office/drawing/2014/main" id="{EEBD0903-2AF3-3E7C-40CB-170FFF933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789363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3" name="Oval 29">
            <a:extLst>
              <a:ext uri="{FF2B5EF4-FFF2-40B4-BE49-F238E27FC236}">
                <a16:creationId xmlns:a16="http://schemas.microsoft.com/office/drawing/2014/main" id="{7AE4511D-28B7-DA01-4DE0-367621EA8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2830513"/>
            <a:ext cx="238125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57B1724-AE73-34D1-223D-4E121CB7F027}"/>
              </a:ext>
            </a:extLst>
          </p:cNvPr>
          <p:cNvCxnSpPr>
            <a:stCxn id="11273" idx="4"/>
          </p:cNvCxnSpPr>
          <p:nvPr/>
        </p:nvCxnSpPr>
        <p:spPr>
          <a:xfrm flipH="1">
            <a:off x="2963863" y="3068638"/>
            <a:ext cx="1035050" cy="720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3BF41B1-B74C-6441-604F-87229EF9771E}"/>
              </a:ext>
            </a:extLst>
          </p:cNvPr>
          <p:cNvCxnSpPr/>
          <p:nvPr/>
        </p:nvCxnSpPr>
        <p:spPr>
          <a:xfrm>
            <a:off x="4008438" y="3068638"/>
            <a:ext cx="1116012" cy="720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FBC4FAE-4BE5-C111-4096-60264C9E0019}"/>
              </a:ext>
            </a:extLst>
          </p:cNvPr>
          <p:cNvCxnSpPr>
            <a:stCxn id="11272" idx="4"/>
            <a:endCxn id="11270" idx="0"/>
          </p:cNvCxnSpPr>
          <p:nvPr/>
        </p:nvCxnSpPr>
        <p:spPr>
          <a:xfrm>
            <a:off x="2963863" y="4027488"/>
            <a:ext cx="0" cy="1057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57CCEB3-1AD7-7C91-EA9B-109F9E50DCAC}"/>
              </a:ext>
            </a:extLst>
          </p:cNvPr>
          <p:cNvCxnSpPr>
            <a:stCxn id="11271" idx="4"/>
            <a:endCxn id="11269" idx="0"/>
          </p:cNvCxnSpPr>
          <p:nvPr/>
        </p:nvCxnSpPr>
        <p:spPr>
          <a:xfrm>
            <a:off x="5172075" y="4038600"/>
            <a:ext cx="23813" cy="1046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D4CEFD0-CF49-4AE7-B03E-6894C91BD739}"/>
              </a:ext>
            </a:extLst>
          </p:cNvPr>
          <p:cNvCxnSpPr>
            <a:stCxn id="11270" idx="4"/>
          </p:cNvCxnSpPr>
          <p:nvPr/>
        </p:nvCxnSpPr>
        <p:spPr>
          <a:xfrm>
            <a:off x="2963863" y="5322888"/>
            <a:ext cx="1035050" cy="842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B0E22A31-90E5-1B68-0298-321ED0F3FFB1}"/>
              </a:ext>
            </a:extLst>
          </p:cNvPr>
          <p:cNvCxnSpPr>
            <a:stCxn id="11269" idx="4"/>
            <a:endCxn id="11268" idx="0"/>
          </p:cNvCxnSpPr>
          <p:nvPr/>
        </p:nvCxnSpPr>
        <p:spPr>
          <a:xfrm flipH="1">
            <a:off x="4008438" y="5322888"/>
            <a:ext cx="1187450" cy="842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7FDED5C-0170-30BD-4B69-B959C4A109F5}"/>
              </a:ext>
            </a:extLst>
          </p:cNvPr>
          <p:cNvCxnSpPr>
            <a:stCxn id="11273" idx="4"/>
            <a:endCxn id="11268" idx="0"/>
          </p:cNvCxnSpPr>
          <p:nvPr/>
        </p:nvCxnSpPr>
        <p:spPr>
          <a:xfrm>
            <a:off x="3998913" y="3068638"/>
            <a:ext cx="9525" cy="3097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583B36C-919E-0E04-F50B-0715D27ACCDC}"/>
              </a:ext>
            </a:extLst>
          </p:cNvPr>
          <p:cNvCxnSpPr>
            <a:stCxn id="11272" idx="6"/>
            <a:endCxn id="11271" idx="2"/>
          </p:cNvCxnSpPr>
          <p:nvPr/>
        </p:nvCxnSpPr>
        <p:spPr>
          <a:xfrm>
            <a:off x="3082925" y="3908425"/>
            <a:ext cx="1970088" cy="11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8E2AD92-2869-591C-FBA4-A27088217167}"/>
              </a:ext>
            </a:extLst>
          </p:cNvPr>
          <p:cNvCxnSpPr>
            <a:stCxn id="11271" idx="2"/>
          </p:cNvCxnSpPr>
          <p:nvPr/>
        </p:nvCxnSpPr>
        <p:spPr>
          <a:xfrm flipH="1">
            <a:off x="4008438" y="3919538"/>
            <a:ext cx="1044575" cy="2246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430AF0D-8714-CEAF-51D7-6A351CA506EA}"/>
              </a:ext>
            </a:extLst>
          </p:cNvPr>
          <p:cNvCxnSpPr>
            <a:stCxn id="11269" idx="2"/>
          </p:cNvCxnSpPr>
          <p:nvPr/>
        </p:nvCxnSpPr>
        <p:spPr>
          <a:xfrm flipH="1" flipV="1">
            <a:off x="4008438" y="3068638"/>
            <a:ext cx="1068387" cy="2135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801BBA7-E6E7-128C-9B14-2777AEDFFD9E}"/>
              </a:ext>
            </a:extLst>
          </p:cNvPr>
          <p:cNvCxnSpPr/>
          <p:nvPr/>
        </p:nvCxnSpPr>
        <p:spPr>
          <a:xfrm flipH="1">
            <a:off x="3082925" y="5203825"/>
            <a:ext cx="19939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5C2FF26-0D8E-C9AF-1563-900A54B5999B}"/>
              </a:ext>
            </a:extLst>
          </p:cNvPr>
          <p:cNvCxnSpPr/>
          <p:nvPr/>
        </p:nvCxnSpPr>
        <p:spPr>
          <a:xfrm flipH="1" flipV="1">
            <a:off x="3022600" y="3973513"/>
            <a:ext cx="915988" cy="2138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0C33283D-1009-6310-7687-C5CD27FA4613}"/>
              </a:ext>
            </a:extLst>
          </p:cNvPr>
          <p:cNvCxnSpPr/>
          <p:nvPr/>
        </p:nvCxnSpPr>
        <p:spPr>
          <a:xfrm flipH="1">
            <a:off x="3022600" y="3068638"/>
            <a:ext cx="976313" cy="201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160CE0A-B68A-B128-3255-C39F67183CB5}"/>
              </a:ext>
            </a:extLst>
          </p:cNvPr>
          <p:cNvCxnSpPr>
            <a:stCxn id="11270" idx="7"/>
          </p:cNvCxnSpPr>
          <p:nvPr/>
        </p:nvCxnSpPr>
        <p:spPr>
          <a:xfrm flipV="1">
            <a:off x="3048000" y="3919538"/>
            <a:ext cx="2005013" cy="1200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0C1B9B0-C3D5-6A0D-3583-DEEE5ADD4AEF}"/>
              </a:ext>
            </a:extLst>
          </p:cNvPr>
          <p:cNvCxnSpPr>
            <a:stCxn id="11272" idx="5"/>
            <a:endCxn id="11269" idx="2"/>
          </p:cNvCxnSpPr>
          <p:nvPr/>
        </p:nvCxnSpPr>
        <p:spPr>
          <a:xfrm>
            <a:off x="3048000" y="3992563"/>
            <a:ext cx="2028825" cy="1211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1">
            <a:extLst>
              <a:ext uri="{FF2B5EF4-FFF2-40B4-BE49-F238E27FC236}">
                <a16:creationId xmlns:a16="http://schemas.microsoft.com/office/drawing/2014/main" id="{DDD80593-6EA2-CB99-9CD1-F145DA44F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6E572-6FA4-56BE-6CB4-64E2777D5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8.2.1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设</a:t>
            </a:r>
            <a:r>
              <a:rPr lang="en-US" altLang="zh-CN" dirty="0"/>
              <a:t>G</a:t>
            </a:r>
            <a:r>
              <a:rPr lang="zh-CN" altLang="zh-CN" dirty="0"/>
              <a:t>是任意</a:t>
            </a:r>
            <a:r>
              <a:rPr lang="en-US" altLang="zh-CN" dirty="0"/>
              <a:t>n(n</a:t>
            </a:r>
            <a:r>
              <a:rPr lang="zh-CN" altLang="zh-CN" dirty="0"/>
              <a:t>≥</a:t>
            </a:r>
            <a:r>
              <a:rPr lang="en-US" altLang="zh-CN" dirty="0"/>
              <a:t>3)</a:t>
            </a:r>
            <a:r>
              <a:rPr lang="zh-CN" altLang="zh-CN" dirty="0"/>
              <a:t>阶图，且对</a:t>
            </a:r>
            <a:r>
              <a:rPr lang="en-US" altLang="zh-CN" dirty="0"/>
              <a:t>G</a:t>
            </a:r>
            <a:r>
              <a:rPr lang="zh-CN" altLang="zh-CN" dirty="0"/>
              <a:t>的</a:t>
            </a:r>
            <a:r>
              <a:rPr lang="zh-CN" altLang="zh-CN" dirty="0">
                <a:solidFill>
                  <a:srgbClr val="0000FF"/>
                </a:solidFill>
              </a:rPr>
              <a:t>每个</a:t>
            </a:r>
            <a:r>
              <a:rPr lang="zh-CN" altLang="zh-CN" dirty="0"/>
              <a:t>顶点</a:t>
            </a:r>
            <a:r>
              <a:rPr lang="en-US" altLang="zh-CN" dirty="0"/>
              <a:t>x</a:t>
            </a:r>
            <a:r>
              <a:rPr lang="zh-CN" altLang="zh-CN" dirty="0"/>
              <a:t>，都有</a:t>
            </a:r>
            <a:r>
              <a:rPr lang="en-US" altLang="zh-CN" dirty="0" err="1"/>
              <a:t>deg</a:t>
            </a:r>
            <a:r>
              <a:rPr lang="en-US" altLang="zh-CN" dirty="0"/>
              <a:t>(x)</a:t>
            </a:r>
            <a:r>
              <a:rPr lang="zh-CN" altLang="zh-CN" dirty="0"/>
              <a:t>≥</a:t>
            </a:r>
            <a:r>
              <a:rPr lang="en-US" altLang="zh-CN" dirty="0"/>
              <a:t>   </a:t>
            </a:r>
            <a:r>
              <a:rPr lang="zh-CN" altLang="zh-CN" dirty="0"/>
              <a:t>，则</a:t>
            </a:r>
            <a:r>
              <a:rPr lang="en-US" altLang="zh-CN" dirty="0"/>
              <a:t>G</a:t>
            </a:r>
            <a:r>
              <a:rPr lang="zh-CN" altLang="zh-CN" dirty="0"/>
              <a:t>是哈密顿图。</a:t>
            </a:r>
            <a:endParaRPr lang="en-US" altLang="zh-CN" dirty="0"/>
          </a:p>
          <a:p>
            <a:pPr>
              <a:lnSpc>
                <a:spcPct val="20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定理</a:t>
            </a:r>
            <a:r>
              <a:rPr lang="en-US" altLang="zh-CN" b="1" dirty="0">
                <a:solidFill>
                  <a:srgbClr val="FF0000"/>
                </a:solidFill>
              </a:rPr>
              <a:t>8.2.2 </a:t>
            </a:r>
            <a:r>
              <a:rPr lang="zh-CN" altLang="zh-CN" dirty="0"/>
              <a:t>设任意</a:t>
            </a:r>
            <a:r>
              <a:rPr lang="en-US" altLang="zh-CN" dirty="0"/>
              <a:t>n(n</a:t>
            </a:r>
            <a:r>
              <a:rPr lang="zh-CN" altLang="zh-CN" dirty="0"/>
              <a:t>≥</a:t>
            </a:r>
            <a:r>
              <a:rPr lang="en-US" altLang="zh-CN" dirty="0"/>
              <a:t>3)</a:t>
            </a:r>
            <a:r>
              <a:rPr lang="zh-CN" altLang="zh-CN" dirty="0"/>
              <a:t>阶图</a:t>
            </a:r>
            <a:r>
              <a:rPr lang="en-US" altLang="zh-CN" dirty="0"/>
              <a:t>G</a:t>
            </a:r>
            <a:r>
              <a:rPr lang="zh-CN" altLang="zh-CN" dirty="0"/>
              <a:t>，对</a:t>
            </a:r>
            <a:r>
              <a:rPr lang="zh-CN" altLang="zh-CN" dirty="0">
                <a:solidFill>
                  <a:srgbClr val="0000FF"/>
                </a:solidFill>
              </a:rPr>
              <a:t>所有</a:t>
            </a:r>
            <a:r>
              <a:rPr lang="zh-CN" altLang="zh-CN" dirty="0"/>
              <a:t>不同非邻接顶点</a:t>
            </a:r>
            <a:r>
              <a:rPr lang="en-US" altLang="zh-CN" dirty="0"/>
              <a:t>x</a:t>
            </a:r>
            <a:r>
              <a:rPr lang="zh-CN" altLang="zh-CN" dirty="0"/>
              <a:t>和</a:t>
            </a:r>
            <a:r>
              <a:rPr lang="en-US" altLang="zh-CN" dirty="0"/>
              <a:t>y</a:t>
            </a:r>
            <a:r>
              <a:rPr lang="zh-CN" altLang="zh-CN" dirty="0"/>
              <a:t>，若</a:t>
            </a:r>
            <a:r>
              <a:rPr lang="en-US" altLang="zh-CN" dirty="0" err="1"/>
              <a:t>deg</a:t>
            </a:r>
            <a:r>
              <a:rPr lang="en-US" altLang="zh-CN" dirty="0"/>
              <a:t>(x)+</a:t>
            </a:r>
            <a:r>
              <a:rPr lang="en-US" altLang="zh-CN" dirty="0" err="1"/>
              <a:t>deg</a:t>
            </a:r>
            <a:r>
              <a:rPr lang="en-US" altLang="zh-CN" dirty="0"/>
              <a:t>(y)</a:t>
            </a:r>
            <a:r>
              <a:rPr lang="zh-CN" altLang="zh-CN" dirty="0"/>
              <a:t>≥</a:t>
            </a:r>
            <a:r>
              <a:rPr lang="en-US" altLang="zh-CN" dirty="0"/>
              <a:t>n</a:t>
            </a:r>
            <a:r>
              <a:rPr lang="zh-CN" altLang="zh-CN" dirty="0"/>
              <a:t>，则</a:t>
            </a:r>
            <a:r>
              <a:rPr lang="en-US" altLang="zh-CN" dirty="0"/>
              <a:t>G</a:t>
            </a:r>
            <a:r>
              <a:rPr lang="zh-CN" altLang="zh-CN" dirty="0"/>
              <a:t>是哈密顿图。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zh-CN" dirty="0"/>
          </a:p>
          <a:p>
            <a:pPr>
              <a:defRPr/>
            </a:pPr>
            <a:endParaRPr lang="zh-CN" altLang="en-US" dirty="0"/>
          </a:p>
        </p:txBody>
      </p:sp>
      <p:graphicFrame>
        <p:nvGraphicFramePr>
          <p:cNvPr id="1026" name="对象 3">
            <a:extLst>
              <a:ext uri="{FF2B5EF4-FFF2-40B4-BE49-F238E27FC236}">
                <a16:creationId xmlns:a16="http://schemas.microsoft.com/office/drawing/2014/main" id="{9FE944AC-29F5-D08E-248E-F1D5484C72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7900" y="3068638"/>
          <a:ext cx="304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34" imgH="393529" progId="Equation.DSMT4">
                  <p:embed/>
                </p:oleObj>
              </mc:Choice>
              <mc:Fallback>
                <p:oleObj name="Equation" r:id="rId2" imgW="152334" imgH="393529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068638"/>
                        <a:ext cx="3048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320F3312-8CD4-3ACC-FFA1-C89CBBDC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08C30-92FC-9CAF-493F-B2DB8EBB6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44675"/>
            <a:ext cx="8964612" cy="5013325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8.2.2 </a:t>
            </a:r>
            <a:r>
              <a:rPr lang="zh-CN" altLang="zh-CN" dirty="0"/>
              <a:t>有</a:t>
            </a:r>
            <a:r>
              <a:rPr lang="en-US" altLang="zh-CN" dirty="0"/>
              <a:t>n</a:t>
            </a:r>
            <a:r>
              <a:rPr lang="zh-CN" altLang="zh-CN" dirty="0"/>
              <a:t>个人，任意两个人合起来认识其余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2</a:t>
            </a:r>
            <a:r>
              <a:rPr lang="zh-CN" altLang="zh-CN" dirty="0"/>
              <a:t>个人，证明：当</a:t>
            </a:r>
            <a:r>
              <a:rPr lang="en-US" altLang="zh-CN" dirty="0"/>
              <a:t>n</a:t>
            </a:r>
            <a:r>
              <a:rPr lang="zh-CN" altLang="zh-CN" dirty="0"/>
              <a:t>≥</a:t>
            </a:r>
            <a:r>
              <a:rPr lang="en-US" altLang="zh-CN" dirty="0"/>
              <a:t>4</a:t>
            </a:r>
            <a:r>
              <a:rPr lang="zh-CN" altLang="zh-CN" dirty="0"/>
              <a:t>时，这</a:t>
            </a:r>
            <a:r>
              <a:rPr lang="en-US" altLang="zh-CN" dirty="0"/>
              <a:t>n</a:t>
            </a:r>
            <a:r>
              <a:rPr lang="zh-CN" altLang="zh-CN" dirty="0"/>
              <a:t>个人能站成一圈，使每个人的两旁站着自己认识的人。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证明</a:t>
            </a:r>
            <a:r>
              <a:rPr lang="zh-CN" altLang="zh-CN" b="1" dirty="0"/>
              <a:t> </a:t>
            </a:r>
            <a:r>
              <a:rPr lang="zh-CN" altLang="zh-CN" dirty="0"/>
              <a:t>构造简单无向图</a:t>
            </a:r>
            <a:r>
              <a:rPr lang="en-US" altLang="zh-CN" dirty="0"/>
              <a:t>G</a:t>
            </a:r>
            <a:r>
              <a:rPr lang="zh-CN" altLang="zh-CN" dirty="0"/>
              <a:t>＝</a:t>
            </a:r>
            <a:r>
              <a:rPr lang="en-US" altLang="zh-CN" dirty="0">
                <a:latin typeface="+mn-ea"/>
              </a:rPr>
              <a:t>&lt;</a:t>
            </a:r>
            <a:r>
              <a:rPr lang="en-US" altLang="zh-CN" dirty="0"/>
              <a:t>V,E</a:t>
            </a:r>
            <a:r>
              <a:rPr lang="en-US" altLang="zh-CN" dirty="0">
                <a:latin typeface="+mn-ea"/>
              </a:rPr>
              <a:t>&gt;</a:t>
            </a:r>
            <a:r>
              <a:rPr lang="zh-CN" altLang="en-US" dirty="0"/>
              <a:t>，</a:t>
            </a:r>
            <a:r>
              <a:rPr lang="zh-CN" altLang="zh-CN" dirty="0"/>
              <a:t>其中</a:t>
            </a:r>
            <a:r>
              <a:rPr lang="en-US" altLang="zh-CN" dirty="0"/>
              <a:t>V</a:t>
            </a:r>
            <a:r>
              <a:rPr lang="zh-CN" altLang="zh-CN" dirty="0"/>
              <a:t>中的</a:t>
            </a:r>
            <a:r>
              <a:rPr lang="en-US" altLang="zh-CN" dirty="0"/>
              <a:t>n</a:t>
            </a:r>
            <a:r>
              <a:rPr lang="zh-CN" altLang="zh-CN" dirty="0"/>
              <a:t>个结点表示这</a:t>
            </a:r>
            <a:r>
              <a:rPr lang="en-US" altLang="zh-CN" dirty="0"/>
              <a:t>n</a:t>
            </a:r>
            <a:r>
              <a:rPr lang="zh-CN" altLang="zh-CN" dirty="0"/>
              <a:t>个人</a:t>
            </a:r>
            <a:r>
              <a:rPr lang="zh-CN" altLang="en-US" dirty="0"/>
              <a:t>；</a:t>
            </a:r>
            <a:r>
              <a:rPr lang="en-US" altLang="zh-CN" dirty="0"/>
              <a:t>G</a:t>
            </a:r>
            <a:r>
              <a:rPr lang="zh-CN" altLang="zh-CN" dirty="0"/>
              <a:t>中的两个结点间有一条边当且仅当对应的人互相认识。</a:t>
            </a:r>
            <a:endParaRPr lang="en-US" altLang="zh-CN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zh-CN" dirty="0">
                <a:solidFill>
                  <a:srgbClr val="00CC99"/>
                </a:solidFill>
              </a:rPr>
              <a:t>任取</a:t>
            </a:r>
            <a:r>
              <a:rPr lang="en-US" altLang="zh-CN" dirty="0" err="1"/>
              <a:t>u,v</a:t>
            </a:r>
            <a:r>
              <a:rPr lang="zh-CN" altLang="zh-CN" dirty="0"/>
              <a:t>∈</a:t>
            </a:r>
            <a:r>
              <a:rPr lang="en-US" altLang="zh-CN" dirty="0"/>
              <a:t>V(G)</a:t>
            </a:r>
            <a:r>
              <a:rPr lang="zh-CN" altLang="zh-CN" dirty="0"/>
              <a:t>，显然</a:t>
            </a:r>
            <a:r>
              <a:rPr lang="en-US" altLang="zh-CN" dirty="0" err="1"/>
              <a:t>deg</a:t>
            </a:r>
            <a:r>
              <a:rPr lang="en-US" altLang="zh-CN" dirty="0"/>
              <a:t>(u)</a:t>
            </a:r>
            <a:r>
              <a:rPr lang="zh-CN" altLang="zh-CN" dirty="0"/>
              <a:t>＋</a:t>
            </a:r>
            <a:r>
              <a:rPr lang="en-US" altLang="zh-CN" dirty="0" err="1"/>
              <a:t>deg</a:t>
            </a:r>
            <a:r>
              <a:rPr lang="en-US" altLang="zh-CN" dirty="0"/>
              <a:t>(v)</a:t>
            </a:r>
            <a:r>
              <a:rPr lang="zh-CN" altLang="zh-CN" dirty="0"/>
              <a:t>≥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  <a:endParaRPr lang="zh-CN" altLang="zh-CN" dirty="0"/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(1)</a:t>
            </a:r>
            <a:r>
              <a:rPr lang="zh-CN" altLang="zh-CN" dirty="0"/>
              <a:t>若</a:t>
            </a:r>
            <a:r>
              <a:rPr lang="en-US" altLang="zh-CN" dirty="0"/>
              <a:t>u</a:t>
            </a:r>
            <a:r>
              <a:rPr lang="zh-CN" altLang="zh-CN" dirty="0"/>
              <a:t>与</a:t>
            </a:r>
            <a:r>
              <a:rPr lang="en-US" altLang="zh-CN" dirty="0"/>
              <a:t>v</a:t>
            </a:r>
            <a:r>
              <a:rPr lang="zh-CN" altLang="zh-CN" dirty="0"/>
              <a:t>邻接，则</a:t>
            </a:r>
            <a:r>
              <a:rPr lang="en-US" altLang="zh-CN" dirty="0" err="1"/>
              <a:t>deg</a:t>
            </a:r>
            <a:r>
              <a:rPr lang="en-US" altLang="zh-CN" dirty="0"/>
              <a:t>(u)</a:t>
            </a:r>
            <a:r>
              <a:rPr lang="zh-CN" altLang="zh-CN" dirty="0"/>
              <a:t>＋</a:t>
            </a:r>
            <a:r>
              <a:rPr lang="en-US" altLang="zh-CN" dirty="0" err="1"/>
              <a:t>deg</a:t>
            </a:r>
            <a:r>
              <a:rPr lang="en-US" altLang="zh-CN" dirty="0"/>
              <a:t>(v)</a:t>
            </a:r>
            <a:r>
              <a:rPr lang="zh-CN" altLang="zh-CN" dirty="0"/>
              <a:t>≥</a:t>
            </a:r>
            <a:r>
              <a:rPr lang="en-US" altLang="zh-CN" dirty="0"/>
              <a:t>n</a:t>
            </a:r>
            <a:r>
              <a:rPr lang="zh-CN" altLang="en-US" dirty="0"/>
              <a:t>。</a:t>
            </a:r>
          </a:p>
          <a:p>
            <a:pPr>
              <a:defRPr/>
            </a:pPr>
            <a:endParaRPr lang="zh-CN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52">
            <a:extLst>
              <a:ext uri="{FF2B5EF4-FFF2-40B4-BE49-F238E27FC236}">
                <a16:creationId xmlns:a16="http://schemas.microsoft.com/office/drawing/2014/main" id="{81D83F21-020F-DCF7-1193-048D95725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2138" y="5157788"/>
            <a:ext cx="549275" cy="5445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800"/>
          </a:p>
        </p:txBody>
      </p:sp>
      <p:sp>
        <p:nvSpPr>
          <p:cNvPr id="16387" name="标题 1">
            <a:extLst>
              <a:ext uri="{FF2B5EF4-FFF2-40B4-BE49-F238E27FC236}">
                <a16:creationId xmlns:a16="http://schemas.microsoft.com/office/drawing/2014/main" id="{37709DA4-EC5F-0B24-A937-7F0FE69C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8.2.2 </a:t>
            </a:r>
            <a:r>
              <a:rPr lang="zh-CN" altLang="en-US" b="1"/>
              <a:t>哈密顿图的概念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E1ADC4-0D99-6176-72A4-F3AEED778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5" y="1916113"/>
            <a:ext cx="9109075" cy="494188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 (2)</a:t>
            </a:r>
            <a:r>
              <a:rPr lang="zh-CN" altLang="zh-CN" dirty="0"/>
              <a:t>若</a:t>
            </a:r>
            <a:r>
              <a:rPr lang="en-US" altLang="zh-CN" dirty="0"/>
              <a:t>u</a:t>
            </a:r>
            <a:r>
              <a:rPr lang="zh-CN" altLang="zh-CN" dirty="0"/>
              <a:t>与</a:t>
            </a:r>
            <a:r>
              <a:rPr lang="en-US" altLang="zh-CN" dirty="0"/>
              <a:t>v</a:t>
            </a:r>
            <a:r>
              <a:rPr lang="zh-CN" altLang="en-US" dirty="0"/>
              <a:t>不</a:t>
            </a:r>
            <a:r>
              <a:rPr lang="zh-CN" altLang="zh-CN" dirty="0"/>
              <a:t>邻接</a:t>
            </a:r>
            <a:r>
              <a:rPr lang="zh-CN" altLang="en-US" dirty="0"/>
              <a:t>，下面证明</a:t>
            </a:r>
            <a:endParaRPr lang="en-US" altLang="zh-CN" dirty="0"/>
          </a:p>
          <a:p>
            <a:pPr>
              <a:defRPr/>
            </a:pPr>
            <a:r>
              <a:rPr lang="en-US" altLang="zh-CN" dirty="0" err="1"/>
              <a:t>deg</a:t>
            </a:r>
            <a:r>
              <a:rPr lang="en-US" altLang="zh-CN" dirty="0"/>
              <a:t>(u)</a:t>
            </a:r>
            <a:r>
              <a:rPr lang="zh-CN" altLang="zh-CN" dirty="0"/>
              <a:t>＋</a:t>
            </a:r>
            <a:r>
              <a:rPr lang="en-US" altLang="zh-CN" dirty="0" err="1"/>
              <a:t>deg</a:t>
            </a:r>
            <a:r>
              <a:rPr lang="en-US" altLang="zh-CN" dirty="0"/>
              <a:t>(v)</a:t>
            </a:r>
            <a:r>
              <a:rPr lang="zh-CN" altLang="zh-CN" dirty="0"/>
              <a:t>≠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  <a:r>
              <a:rPr lang="en-US" altLang="zh-CN" dirty="0" err="1"/>
              <a:t>deg</a:t>
            </a:r>
            <a:r>
              <a:rPr lang="en-US" altLang="zh-CN" dirty="0"/>
              <a:t>(u)</a:t>
            </a:r>
            <a:r>
              <a:rPr lang="zh-CN" altLang="zh-CN" dirty="0"/>
              <a:t>＋</a:t>
            </a:r>
            <a:r>
              <a:rPr lang="en-US" altLang="zh-CN" dirty="0" err="1"/>
              <a:t>deg</a:t>
            </a:r>
            <a:r>
              <a:rPr lang="en-US" altLang="zh-CN" dirty="0"/>
              <a:t>(v)</a:t>
            </a:r>
            <a:r>
              <a:rPr lang="zh-CN" altLang="zh-CN" dirty="0"/>
              <a:t>≠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u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>
                <a:solidFill>
                  <a:srgbClr val="FF0066"/>
                </a:solidFill>
              </a:rPr>
              <a:t>共认识</a:t>
            </a:r>
            <a:r>
              <a:rPr lang="en-US" altLang="zh-CN" dirty="0"/>
              <a:t>v</a:t>
            </a:r>
            <a:r>
              <a:rPr lang="zh-CN" altLang="en-US" dirty="0"/>
              <a:t>外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3</a:t>
            </a:r>
            <a:r>
              <a:rPr lang="zh-CN" altLang="en-US" dirty="0"/>
              <a:t>人；</a:t>
            </a:r>
            <a:r>
              <a:rPr lang="en-US" altLang="zh-CN" dirty="0"/>
              <a:t>u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>
                <a:solidFill>
                  <a:srgbClr val="FF0066"/>
                </a:solidFill>
              </a:rPr>
              <a:t>共认识</a:t>
            </a:r>
            <a:r>
              <a:rPr lang="en-US" altLang="zh-CN" dirty="0"/>
              <a:t>v</a:t>
            </a:r>
            <a:r>
              <a:rPr lang="zh-CN" altLang="en-US" dirty="0"/>
              <a:t>外</a:t>
            </a:r>
            <a:r>
              <a:rPr lang="en-US" altLang="zh-CN" dirty="0"/>
              <a:t>n</a:t>
            </a:r>
            <a:r>
              <a:rPr lang="zh-CN" altLang="zh-CN" dirty="0"/>
              <a:t>－</a:t>
            </a:r>
            <a:r>
              <a:rPr lang="en-US" altLang="zh-CN" dirty="0"/>
              <a:t>3</a:t>
            </a:r>
            <a:r>
              <a:rPr lang="zh-CN" altLang="en-US" dirty="0"/>
              <a:t>人</a:t>
            </a:r>
            <a:endParaRPr lang="en-US" altLang="zh-CN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16389" name="Oval 29">
            <a:extLst>
              <a:ext uri="{FF2B5EF4-FFF2-40B4-BE49-F238E27FC236}">
                <a16:creationId xmlns:a16="http://schemas.microsoft.com/office/drawing/2014/main" id="{140C0D11-E04B-A406-6D13-620EAC9EB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3622675"/>
            <a:ext cx="238125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0" name="Oval 29">
            <a:extLst>
              <a:ext uri="{FF2B5EF4-FFF2-40B4-BE49-F238E27FC236}">
                <a16:creationId xmlns:a16="http://schemas.microsoft.com/office/drawing/2014/main" id="{D27F0197-BDFC-AC08-55F6-A53E3C64C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3622675"/>
            <a:ext cx="239713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1" name="Oval 29">
            <a:extLst>
              <a:ext uri="{FF2B5EF4-FFF2-40B4-BE49-F238E27FC236}">
                <a16:creationId xmlns:a16="http://schemas.microsoft.com/office/drawing/2014/main" id="{4D669F25-7A7D-1C9C-28AF-163F7BBEC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5075238"/>
            <a:ext cx="238125" cy="23653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2" name="Oval 29">
            <a:extLst>
              <a:ext uri="{FF2B5EF4-FFF2-40B4-BE49-F238E27FC236}">
                <a16:creationId xmlns:a16="http://schemas.microsoft.com/office/drawing/2014/main" id="{BAAC0D4C-DDED-C82C-36DF-CFB53C2FF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062538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3" name="Oval 29">
            <a:extLst>
              <a:ext uri="{FF2B5EF4-FFF2-40B4-BE49-F238E27FC236}">
                <a16:creationId xmlns:a16="http://schemas.microsoft.com/office/drawing/2014/main" id="{6D30AA84-052F-3C45-A8D9-AA95731C1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5080000"/>
            <a:ext cx="238125" cy="2365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4" name="Oval 29">
            <a:extLst>
              <a:ext uri="{FF2B5EF4-FFF2-40B4-BE49-F238E27FC236}">
                <a16:creationId xmlns:a16="http://schemas.microsoft.com/office/drawing/2014/main" id="{DB12E696-EA36-6A46-29FB-514FFEF17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062538"/>
            <a:ext cx="238125" cy="238125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5" name="Oval 29">
            <a:extLst>
              <a:ext uri="{FF2B5EF4-FFF2-40B4-BE49-F238E27FC236}">
                <a16:creationId xmlns:a16="http://schemas.microsoft.com/office/drawing/2014/main" id="{4DEE7D97-9901-AB7D-BD3E-8DA9CD70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5084763"/>
            <a:ext cx="238125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6" name="Oval 29">
            <a:extLst>
              <a:ext uri="{FF2B5EF4-FFF2-40B4-BE49-F238E27FC236}">
                <a16:creationId xmlns:a16="http://schemas.microsoft.com/office/drawing/2014/main" id="{7A7018B0-26AD-A103-33C8-A8817B454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084763"/>
            <a:ext cx="239713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7" name="Oval 29">
            <a:extLst>
              <a:ext uri="{FF2B5EF4-FFF2-40B4-BE49-F238E27FC236}">
                <a16:creationId xmlns:a16="http://schemas.microsoft.com/office/drawing/2014/main" id="{63321F1D-4FE5-87E6-66CD-3A2E91F8D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5080000"/>
            <a:ext cx="239712" cy="236538"/>
          </a:xfrm>
          <a:prstGeom prst="ellipse">
            <a:avLst/>
          </a:prstGeom>
          <a:solidFill>
            <a:srgbClr val="FF00FF"/>
          </a:solidFill>
          <a:ln w="9525">
            <a:solidFill>
              <a:srgbClr val="FF00FF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8" name="Oval 29">
            <a:extLst>
              <a:ext uri="{FF2B5EF4-FFF2-40B4-BE49-F238E27FC236}">
                <a16:creationId xmlns:a16="http://schemas.microsoft.com/office/drawing/2014/main" id="{950C0894-CF19-026B-292B-C4B56B492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5080000"/>
            <a:ext cx="238125" cy="236538"/>
          </a:xfrm>
          <a:prstGeom prst="ellipse">
            <a:avLst/>
          </a:prstGeom>
          <a:solidFill>
            <a:schemeClr val="tx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399" name="Oval 29">
            <a:extLst>
              <a:ext uri="{FF2B5EF4-FFF2-40B4-BE49-F238E27FC236}">
                <a16:creationId xmlns:a16="http://schemas.microsoft.com/office/drawing/2014/main" id="{A5E68A84-CC82-F5EA-FFF6-7AB5D02F2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3600" y="3622675"/>
            <a:ext cx="238125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400" name="Oval 29">
            <a:extLst>
              <a:ext uri="{FF2B5EF4-FFF2-40B4-BE49-F238E27FC236}">
                <a16:creationId xmlns:a16="http://schemas.microsoft.com/office/drawing/2014/main" id="{58CDEB33-2043-3118-F41D-702E1819D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3622675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6AFD3E4-B165-0F7B-5732-3FC217915DF7}"/>
              </a:ext>
            </a:extLst>
          </p:cNvPr>
          <p:cNvCxnSpPr>
            <a:stCxn id="16389" idx="4"/>
            <a:endCxn id="16394" idx="0"/>
          </p:cNvCxnSpPr>
          <p:nvPr/>
        </p:nvCxnSpPr>
        <p:spPr>
          <a:xfrm>
            <a:off x="1860550" y="3860800"/>
            <a:ext cx="166688" cy="1201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81AB922-F810-8917-97C8-7C82E72878FD}"/>
              </a:ext>
            </a:extLst>
          </p:cNvPr>
          <p:cNvCxnSpPr>
            <a:stCxn id="16389" idx="4"/>
            <a:endCxn id="16392" idx="0"/>
          </p:cNvCxnSpPr>
          <p:nvPr/>
        </p:nvCxnSpPr>
        <p:spPr>
          <a:xfrm flipH="1">
            <a:off x="947738" y="3860800"/>
            <a:ext cx="912812" cy="1201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3230CF5-C335-ED44-53B9-F104D4FECD88}"/>
              </a:ext>
            </a:extLst>
          </p:cNvPr>
          <p:cNvCxnSpPr>
            <a:stCxn id="16390" idx="4"/>
            <a:endCxn id="16391" idx="0"/>
          </p:cNvCxnSpPr>
          <p:nvPr/>
        </p:nvCxnSpPr>
        <p:spPr>
          <a:xfrm flipH="1">
            <a:off x="2603500" y="3860800"/>
            <a:ext cx="409575" cy="1214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3E1D68-D8A7-1A99-1557-BF596A1EE7B2}"/>
              </a:ext>
            </a:extLst>
          </p:cNvPr>
          <p:cNvCxnSpPr>
            <a:endCxn id="16393" idx="0"/>
          </p:cNvCxnSpPr>
          <p:nvPr/>
        </p:nvCxnSpPr>
        <p:spPr>
          <a:xfrm>
            <a:off x="3013075" y="3860800"/>
            <a:ext cx="814388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7EBE03D-97E8-788C-87F4-F0663E07CA5F}"/>
              </a:ext>
            </a:extLst>
          </p:cNvPr>
          <p:cNvCxnSpPr>
            <a:stCxn id="16400" idx="4"/>
            <a:endCxn id="16396" idx="0"/>
          </p:cNvCxnSpPr>
          <p:nvPr/>
        </p:nvCxnSpPr>
        <p:spPr>
          <a:xfrm flipH="1">
            <a:off x="5340350" y="3860800"/>
            <a:ext cx="912813" cy="12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E91D2FE-AD3B-014F-9C94-3EB933BC8740}"/>
              </a:ext>
            </a:extLst>
          </p:cNvPr>
          <p:cNvCxnSpPr>
            <a:endCxn id="16398" idx="0"/>
          </p:cNvCxnSpPr>
          <p:nvPr/>
        </p:nvCxnSpPr>
        <p:spPr>
          <a:xfrm>
            <a:off x="6253163" y="3860800"/>
            <a:ext cx="166687" cy="121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AE37EFA-CD7E-AD0D-4B6B-207BF9BFE7DC}"/>
              </a:ext>
            </a:extLst>
          </p:cNvPr>
          <p:cNvCxnSpPr/>
          <p:nvPr/>
        </p:nvCxnSpPr>
        <p:spPr>
          <a:xfrm flipH="1">
            <a:off x="6996113" y="3860800"/>
            <a:ext cx="336550" cy="1201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64806BE-5A75-EA37-B0D8-8B16DAC36896}"/>
              </a:ext>
            </a:extLst>
          </p:cNvPr>
          <p:cNvCxnSpPr/>
          <p:nvPr/>
        </p:nvCxnSpPr>
        <p:spPr>
          <a:xfrm>
            <a:off x="6253163" y="3860800"/>
            <a:ext cx="742950" cy="12017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99465A6-394C-EC32-441D-12761B3F986D}"/>
              </a:ext>
            </a:extLst>
          </p:cNvPr>
          <p:cNvCxnSpPr>
            <a:stCxn id="16399" idx="4"/>
            <a:endCxn id="16395" idx="0"/>
          </p:cNvCxnSpPr>
          <p:nvPr/>
        </p:nvCxnSpPr>
        <p:spPr>
          <a:xfrm>
            <a:off x="7332663" y="3860800"/>
            <a:ext cx="887412" cy="1223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Box 52">
            <a:extLst>
              <a:ext uri="{FF2B5EF4-FFF2-40B4-BE49-F238E27FC236}">
                <a16:creationId xmlns:a16="http://schemas.microsoft.com/office/drawing/2014/main" id="{AC572F10-37A2-7AA0-8BFA-05832F107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797425"/>
            <a:ext cx="693738" cy="54451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zh-CN" altLang="zh-CN" sz="2800" kern="100" dirty="0">
                <a:ea typeface="宋体"/>
                <a:cs typeface="Times New Roman"/>
              </a:rPr>
              <a:t>…</a:t>
            </a:r>
            <a:endParaRPr lang="en-US" altLang="zh-CN" sz="2800" dirty="0"/>
          </a:p>
        </p:txBody>
      </p:sp>
      <p:sp>
        <p:nvSpPr>
          <p:cNvPr id="35" name="Text Box 52">
            <a:extLst>
              <a:ext uri="{FF2B5EF4-FFF2-40B4-BE49-F238E27FC236}">
                <a16:creationId xmlns:a16="http://schemas.microsoft.com/office/drawing/2014/main" id="{1A645D7A-B8F4-F39E-46BD-D445BD145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563" y="4851400"/>
            <a:ext cx="58737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zh-CN" altLang="zh-CN" sz="2800" kern="100" dirty="0">
                <a:ea typeface="宋体"/>
                <a:cs typeface="Times New Roman"/>
              </a:rPr>
              <a:t>…</a:t>
            </a:r>
            <a:endParaRPr lang="en-US" altLang="zh-CN" sz="2800" dirty="0"/>
          </a:p>
        </p:txBody>
      </p:sp>
      <p:sp>
        <p:nvSpPr>
          <p:cNvPr id="16412" name="Text Box 52">
            <a:extLst>
              <a:ext uri="{FF2B5EF4-FFF2-40B4-BE49-F238E27FC236}">
                <a16:creationId xmlns:a16="http://schemas.microsoft.com/office/drawing/2014/main" id="{2E63227F-ADDD-DC02-FEA3-C774F457A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3459163"/>
            <a:ext cx="347662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altLang="zh-CN" sz="2800"/>
          </a:p>
        </p:txBody>
      </p:sp>
      <p:sp>
        <p:nvSpPr>
          <p:cNvPr id="16413" name="Text Box 52">
            <a:extLst>
              <a:ext uri="{FF2B5EF4-FFF2-40B4-BE49-F238E27FC236}">
                <a16:creationId xmlns:a16="http://schemas.microsoft.com/office/drawing/2014/main" id="{5583C623-D27F-5917-6827-87D7B697D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538" y="3429000"/>
            <a:ext cx="550862" cy="54451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2800"/>
          </a:p>
        </p:txBody>
      </p:sp>
      <p:sp>
        <p:nvSpPr>
          <p:cNvPr id="16414" name="Text Box 52">
            <a:extLst>
              <a:ext uri="{FF2B5EF4-FFF2-40B4-BE49-F238E27FC236}">
                <a16:creationId xmlns:a16="http://schemas.microsoft.com/office/drawing/2014/main" id="{1B894464-AF08-73E9-F7BC-C79C71921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3459163"/>
            <a:ext cx="34607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en-US" altLang="zh-CN" sz="2800"/>
          </a:p>
        </p:txBody>
      </p:sp>
      <p:sp>
        <p:nvSpPr>
          <p:cNvPr id="16415" name="Text Box 52">
            <a:extLst>
              <a:ext uri="{FF2B5EF4-FFF2-40B4-BE49-F238E27FC236}">
                <a16:creationId xmlns:a16="http://schemas.microsoft.com/office/drawing/2014/main" id="{A8F24FA1-594A-A38F-93B9-452024481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3457575"/>
            <a:ext cx="347663" cy="54451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altLang="zh-CN" sz="2800"/>
          </a:p>
        </p:txBody>
      </p:sp>
      <p:sp>
        <p:nvSpPr>
          <p:cNvPr id="16416" name="Text Box 52">
            <a:extLst>
              <a:ext uri="{FF2B5EF4-FFF2-40B4-BE49-F238E27FC236}">
                <a16:creationId xmlns:a16="http://schemas.microsoft.com/office/drawing/2014/main" id="{0E39D5D3-704C-701D-6F6C-521C580B5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163" y="5345113"/>
            <a:ext cx="347662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z="2800"/>
          </a:p>
        </p:txBody>
      </p:sp>
      <p:sp>
        <p:nvSpPr>
          <p:cNvPr id="16417" name="Text Box 52">
            <a:extLst>
              <a:ext uri="{FF2B5EF4-FFF2-40B4-BE49-F238E27FC236}">
                <a16:creationId xmlns:a16="http://schemas.microsoft.com/office/drawing/2014/main" id="{AC8A7CE8-C03F-4F95-8EA8-26FCFB030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5391150"/>
            <a:ext cx="347663" cy="4873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CN" sz="2800"/>
          </a:p>
        </p:txBody>
      </p:sp>
      <p:sp>
        <p:nvSpPr>
          <p:cNvPr id="43" name="Text Box 52">
            <a:extLst>
              <a:ext uri="{FF2B5EF4-FFF2-40B4-BE49-F238E27FC236}">
                <a16:creationId xmlns:a16="http://schemas.microsoft.com/office/drawing/2014/main" id="{25036761-05EA-2A70-25FC-D2E3D1537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4868863"/>
            <a:ext cx="693737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zh-CN" altLang="zh-CN" sz="2800" kern="100" dirty="0">
                <a:ea typeface="宋体"/>
                <a:cs typeface="Times New Roman"/>
              </a:rPr>
              <a:t>…</a:t>
            </a:r>
            <a:endParaRPr lang="en-US" altLang="zh-CN" sz="2800" dirty="0"/>
          </a:p>
        </p:txBody>
      </p:sp>
      <p:sp>
        <p:nvSpPr>
          <p:cNvPr id="44" name="Text Box 52">
            <a:extLst>
              <a:ext uri="{FF2B5EF4-FFF2-40B4-BE49-F238E27FC236}">
                <a16:creationId xmlns:a16="http://schemas.microsoft.com/office/drawing/2014/main" id="{65A836DB-6E0D-D1C0-6BDB-A35DCEA1A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4868863"/>
            <a:ext cx="693738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r>
              <a:rPr lang="zh-CN" altLang="zh-CN" sz="2800" kern="100" dirty="0">
                <a:ea typeface="宋体"/>
                <a:cs typeface="Times New Roman"/>
              </a:rPr>
              <a:t>…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>
            <a:extLst>
              <a:ext uri="{FF2B5EF4-FFF2-40B4-BE49-F238E27FC236}">
                <a16:creationId xmlns:a16="http://schemas.microsoft.com/office/drawing/2014/main" id="{5905CFB9-2563-559A-6B38-B9E6D64D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8.2.3 </a:t>
            </a:r>
            <a:r>
              <a:rPr lang="zh-CN" altLang="en-US" b="1" dirty="0"/>
              <a:t>旅行推销商问题</a:t>
            </a:r>
            <a:endParaRPr lang="zh-CN" altLang="en-US" dirty="0"/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6C7E5622-08E7-D2CC-A61D-9E8C0D557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93175" cy="501332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zh-CN" b="1">
                <a:solidFill>
                  <a:srgbClr val="FF0000"/>
                </a:solidFill>
              </a:rPr>
              <a:t>旅行推销商问题</a:t>
            </a:r>
            <a:r>
              <a:rPr lang="en-US" altLang="zh-CN"/>
              <a:t>(travelling salesman problem)</a:t>
            </a:r>
            <a:r>
              <a:rPr lang="zh-CN" altLang="zh-CN"/>
              <a:t>是求加权完全无向图中访问每个顶点</a:t>
            </a:r>
            <a:r>
              <a:rPr lang="zh-CN" altLang="zh-CN">
                <a:solidFill>
                  <a:srgbClr val="FF00FF"/>
                </a:solidFill>
              </a:rPr>
              <a:t>恰好</a:t>
            </a:r>
            <a:r>
              <a:rPr lang="zh-CN" altLang="zh-CN"/>
              <a:t>一次且返回出发点的总权数最小的闭路，又称之为</a:t>
            </a:r>
            <a:r>
              <a:rPr lang="zh-CN" altLang="zh-CN" b="1">
                <a:solidFill>
                  <a:srgbClr val="FF0000"/>
                </a:solidFill>
              </a:rPr>
              <a:t>最优</a:t>
            </a:r>
            <a:r>
              <a:rPr lang="en-US" altLang="zh-CN" b="1">
                <a:solidFill>
                  <a:srgbClr val="FF0000"/>
                </a:solidFill>
              </a:rPr>
              <a:t>Hamilton</a:t>
            </a:r>
            <a:r>
              <a:rPr lang="zh-CN" altLang="zh-CN" b="1">
                <a:solidFill>
                  <a:srgbClr val="FF0000"/>
                </a:solidFill>
              </a:rPr>
              <a:t>回路</a:t>
            </a:r>
            <a:r>
              <a:rPr lang="zh-CN" altLang="zh-CN"/>
              <a:t>。</a:t>
            </a:r>
            <a:endParaRPr lang="en-US" altLang="zh-CN"/>
          </a:p>
          <a:p>
            <a:pPr>
              <a:lnSpc>
                <a:spcPct val="125000"/>
              </a:lnSpc>
            </a:pPr>
            <a:r>
              <a:rPr lang="zh-CN" altLang="zh-CN"/>
              <a:t>旅行推销员商问题等价于完全加权图中总权数最小的</a:t>
            </a:r>
            <a:r>
              <a:rPr lang="en-US" altLang="zh-CN"/>
              <a:t>Hamilton</a:t>
            </a:r>
            <a:r>
              <a:rPr lang="zh-CN" altLang="zh-CN"/>
              <a:t>回路，是</a:t>
            </a:r>
            <a:r>
              <a:rPr lang="en-US" altLang="zh-CN"/>
              <a:t>NPC</a:t>
            </a:r>
            <a:r>
              <a:rPr lang="zh-CN" altLang="zh-CN"/>
              <a:t>问题。虽然具有实践和理论的重要性，但目前还没有找到一个有效算法。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56">
            <a:extLst>
              <a:ext uri="{FF2B5EF4-FFF2-40B4-BE49-F238E27FC236}">
                <a16:creationId xmlns:a16="http://schemas.microsoft.com/office/drawing/2014/main" id="{443D388B-FF5B-9617-4833-398C5D900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4319588"/>
            <a:ext cx="576262" cy="4048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13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79" name="Text Box 56">
            <a:extLst>
              <a:ext uri="{FF2B5EF4-FFF2-40B4-BE49-F238E27FC236}">
                <a16:creationId xmlns:a16="http://schemas.microsoft.com/office/drawing/2014/main" id="{7E5750E9-3AB5-DD4C-77B3-1FCFB64A0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445125"/>
            <a:ext cx="576262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13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80" name="Text Box 56">
            <a:extLst>
              <a:ext uri="{FF2B5EF4-FFF2-40B4-BE49-F238E27FC236}">
                <a16:creationId xmlns:a16="http://schemas.microsoft.com/office/drawing/2014/main" id="{0301967D-63A8-0692-BA19-E1BD53612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4319588"/>
            <a:ext cx="287337" cy="4048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3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81" name="Text Box 56">
            <a:extLst>
              <a:ext uri="{FF2B5EF4-FFF2-40B4-BE49-F238E27FC236}">
                <a16:creationId xmlns:a16="http://schemas.microsoft.com/office/drawing/2014/main" id="{E90CC210-A27F-171A-03F2-8E02587656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445125"/>
            <a:ext cx="287338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9</a:t>
            </a:r>
            <a:endParaRPr lang="zh-CN" altLang="zh-CN" sz="2400"/>
          </a:p>
        </p:txBody>
      </p:sp>
      <p:sp>
        <p:nvSpPr>
          <p:cNvPr id="24582" name="Text Box 56">
            <a:extLst>
              <a:ext uri="{FF2B5EF4-FFF2-40B4-BE49-F238E27FC236}">
                <a16:creationId xmlns:a16="http://schemas.microsoft.com/office/drawing/2014/main" id="{F5641218-7C07-9BCE-243C-BE1CBDBBB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8063" y="5229225"/>
            <a:ext cx="5207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11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83" name="Text Box 56">
            <a:extLst>
              <a:ext uri="{FF2B5EF4-FFF2-40B4-BE49-F238E27FC236}">
                <a16:creationId xmlns:a16="http://schemas.microsoft.com/office/drawing/2014/main" id="{74FC2CA1-0BED-835E-0D26-E689491A8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5254625"/>
            <a:ext cx="576262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18</a:t>
            </a:r>
            <a:endParaRPr lang="zh-CN" altLang="zh-CN" sz="2400"/>
          </a:p>
        </p:txBody>
      </p:sp>
      <p:sp>
        <p:nvSpPr>
          <p:cNvPr id="24584" name="Text Box 56">
            <a:extLst>
              <a:ext uri="{FF2B5EF4-FFF2-40B4-BE49-F238E27FC236}">
                <a16:creationId xmlns:a16="http://schemas.microsoft.com/office/drawing/2014/main" id="{A9703C37-A4FD-0E69-070E-B751C06F7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4508500"/>
            <a:ext cx="576263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12</a:t>
            </a:r>
            <a:endParaRPr lang="zh-CN" altLang="zh-CN" sz="2400"/>
          </a:p>
        </p:txBody>
      </p:sp>
      <p:sp>
        <p:nvSpPr>
          <p:cNvPr id="24585" name="Text Box 56">
            <a:extLst>
              <a:ext uri="{FF2B5EF4-FFF2-40B4-BE49-F238E27FC236}">
                <a16:creationId xmlns:a16="http://schemas.microsoft.com/office/drawing/2014/main" id="{B1DE126F-EE1A-BC66-5A2F-93C4FBAD5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025" y="4941888"/>
            <a:ext cx="574675" cy="4048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18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86" name="Text Box 56">
            <a:extLst>
              <a:ext uri="{FF2B5EF4-FFF2-40B4-BE49-F238E27FC236}">
                <a16:creationId xmlns:a16="http://schemas.microsoft.com/office/drawing/2014/main" id="{4D633229-791A-5438-EF7D-5E3B5B6D4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743325"/>
            <a:ext cx="55245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15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87" name="Text Box 56">
            <a:extLst>
              <a:ext uri="{FF2B5EF4-FFF2-40B4-BE49-F238E27FC236}">
                <a16:creationId xmlns:a16="http://schemas.microsoft.com/office/drawing/2014/main" id="{5F0A5129-5294-51C2-D392-4A098F247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932238"/>
            <a:ext cx="398462" cy="43338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5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88" name="Text Box 56">
            <a:extLst>
              <a:ext uri="{FF2B5EF4-FFF2-40B4-BE49-F238E27FC236}">
                <a16:creationId xmlns:a16="http://schemas.microsoft.com/office/drawing/2014/main" id="{9AF90DB5-36BA-339C-8B01-6F7433D5D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3213100"/>
            <a:ext cx="398462" cy="433388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FF0000"/>
                </a:solidFill>
              </a:rPr>
              <a:t>6</a:t>
            </a:r>
            <a:endParaRPr lang="zh-CN" altLang="zh-CN" sz="2800">
              <a:solidFill>
                <a:srgbClr val="FF0000"/>
              </a:solidFill>
            </a:endParaRPr>
          </a:p>
        </p:txBody>
      </p:sp>
      <p:sp>
        <p:nvSpPr>
          <p:cNvPr id="24589" name="Text Box 56">
            <a:extLst>
              <a:ext uri="{FF2B5EF4-FFF2-40B4-BE49-F238E27FC236}">
                <a16:creationId xmlns:a16="http://schemas.microsoft.com/office/drawing/2014/main" id="{ED256322-9A04-D7AB-3930-2C6D69DE1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4075113"/>
            <a:ext cx="400050" cy="43338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2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90" name="Text Box 56">
            <a:extLst>
              <a:ext uri="{FF2B5EF4-FFF2-40B4-BE49-F238E27FC236}">
                <a16:creationId xmlns:a16="http://schemas.microsoft.com/office/drawing/2014/main" id="{7B94787B-50FF-AF8A-0FB7-E185D35DF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4925" y="3322638"/>
            <a:ext cx="609600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16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91" name="Text Box 56">
            <a:extLst>
              <a:ext uri="{FF2B5EF4-FFF2-40B4-BE49-F238E27FC236}">
                <a16:creationId xmlns:a16="http://schemas.microsoft.com/office/drawing/2014/main" id="{509FD299-4E82-EB73-511D-E68254B35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433763"/>
            <a:ext cx="400050" cy="427037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9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92" name="Text Box 56">
            <a:extLst>
              <a:ext uri="{FF2B5EF4-FFF2-40B4-BE49-F238E27FC236}">
                <a16:creationId xmlns:a16="http://schemas.microsoft.com/office/drawing/2014/main" id="{53E90E13-0F36-F79D-8D4A-A0FF9900B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3357563"/>
            <a:ext cx="363538" cy="3968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</a:rPr>
              <a:t>7</a:t>
            </a:r>
            <a:endParaRPr lang="zh-CN" altLang="zh-CN" sz="2400">
              <a:solidFill>
                <a:srgbClr val="FF0000"/>
              </a:solidFill>
            </a:endParaRPr>
          </a:p>
        </p:txBody>
      </p:sp>
      <p:sp>
        <p:nvSpPr>
          <p:cNvPr id="24593" name="标题 1">
            <a:extLst>
              <a:ext uri="{FF2B5EF4-FFF2-40B4-BE49-F238E27FC236}">
                <a16:creationId xmlns:a16="http://schemas.microsoft.com/office/drawing/2014/main" id="{A4424C8A-01DA-C377-DEA7-71400C47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8.2.3 </a:t>
            </a:r>
            <a:r>
              <a:rPr lang="zh-CN" altLang="en-US" b="1" dirty="0"/>
              <a:t>旅行推销商问题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4CC6E2ED-A12A-8A3F-381F-B0C055C67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871663"/>
            <a:ext cx="8891587" cy="5013325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8.2.4</a:t>
            </a:r>
            <a:r>
              <a:rPr lang="zh-CN" altLang="zh-CN" sz="2800" dirty="0"/>
              <a:t>用</a:t>
            </a:r>
            <a:r>
              <a:rPr lang="zh-CN" altLang="zh-CN" sz="2800" b="1" dirty="0">
                <a:solidFill>
                  <a:srgbClr val="00CC99"/>
                </a:solidFill>
              </a:rPr>
              <a:t>最邻近方法</a:t>
            </a:r>
            <a:r>
              <a:rPr lang="zh-CN" altLang="en-US" sz="2800" dirty="0"/>
              <a:t>求充分小权的哈密顿回路</a:t>
            </a:r>
            <a:endParaRPr lang="en-US" altLang="zh-CN" sz="2800" dirty="0"/>
          </a:p>
          <a:p>
            <a:pPr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en-US" altLang="zh-CN" dirty="0" err="1"/>
              <a:t>adcbefa</a:t>
            </a:r>
            <a:r>
              <a:rPr lang="en-US" altLang="zh-CN" dirty="0"/>
              <a:t>  </a:t>
            </a:r>
            <a:r>
              <a:rPr lang="zh-CN" altLang="en-US" dirty="0"/>
              <a:t>权和</a:t>
            </a:r>
            <a:r>
              <a:rPr lang="en-US" altLang="zh-CN" dirty="0"/>
              <a:t>55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bcadefb</a:t>
            </a:r>
            <a:r>
              <a:rPr lang="en-US" altLang="zh-CN" dirty="0"/>
              <a:t>  </a:t>
            </a:r>
            <a:r>
              <a:rPr lang="zh-CN" altLang="en-US" dirty="0"/>
              <a:t>权和</a:t>
            </a:r>
            <a:r>
              <a:rPr lang="en-US" altLang="zh-CN" dirty="0"/>
              <a:t>53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cbadefc</a:t>
            </a:r>
            <a:r>
              <a:rPr lang="en-US" altLang="zh-CN" dirty="0"/>
              <a:t>  </a:t>
            </a:r>
            <a:r>
              <a:rPr lang="zh-CN" altLang="en-US" dirty="0"/>
              <a:t>权和</a:t>
            </a:r>
            <a:r>
              <a:rPr lang="en-US" altLang="zh-CN" dirty="0"/>
              <a:t>42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dabcfed</a:t>
            </a:r>
            <a:r>
              <a:rPr lang="en-US" altLang="zh-CN" dirty="0"/>
              <a:t>  </a:t>
            </a:r>
            <a:r>
              <a:rPr lang="zh-CN" altLang="en-US" dirty="0"/>
              <a:t>权和</a:t>
            </a:r>
            <a:r>
              <a:rPr lang="en-US" altLang="zh-CN" dirty="0"/>
              <a:t>42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eadcbfe</a:t>
            </a:r>
            <a:r>
              <a:rPr lang="en-US" altLang="zh-CN" dirty="0"/>
              <a:t>  </a:t>
            </a:r>
            <a:r>
              <a:rPr lang="zh-CN" altLang="en-US" dirty="0"/>
              <a:t>权和</a:t>
            </a:r>
            <a:r>
              <a:rPr lang="en-US" altLang="zh-CN" dirty="0"/>
              <a:t>51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en-US" altLang="zh-CN" dirty="0" err="1"/>
              <a:t>fcbadef</a:t>
            </a:r>
            <a:r>
              <a:rPr lang="en-US" altLang="zh-CN" dirty="0"/>
              <a:t>   </a:t>
            </a:r>
            <a:r>
              <a:rPr lang="zh-CN" altLang="en-US" dirty="0"/>
              <a:t>权和</a:t>
            </a:r>
            <a:r>
              <a:rPr lang="en-US" altLang="zh-CN" dirty="0"/>
              <a:t>42</a:t>
            </a:r>
            <a:endParaRPr lang="zh-CN" altLang="en-US" dirty="0"/>
          </a:p>
        </p:txBody>
      </p:sp>
      <p:sp>
        <p:nvSpPr>
          <p:cNvPr id="24595" name="Oval 29">
            <a:extLst>
              <a:ext uri="{FF2B5EF4-FFF2-40B4-BE49-F238E27FC236}">
                <a16:creationId xmlns:a16="http://schemas.microsoft.com/office/drawing/2014/main" id="{95B5B40B-F25C-7B10-A5F7-64DC42B0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2924175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6" name="Oval 29">
            <a:extLst>
              <a:ext uri="{FF2B5EF4-FFF2-40B4-BE49-F238E27FC236}">
                <a16:creationId xmlns:a16="http://schemas.microsoft.com/office/drawing/2014/main" id="{947B9BC1-276D-1C0D-0026-C51ACD612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138" y="3860800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7" name="Oval 29">
            <a:extLst>
              <a:ext uri="{FF2B5EF4-FFF2-40B4-BE49-F238E27FC236}">
                <a16:creationId xmlns:a16="http://schemas.microsoft.com/office/drawing/2014/main" id="{078021CE-0DF1-801B-4C30-3E428113E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4575" y="3860800"/>
            <a:ext cx="239713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8" name="Oval 29">
            <a:extLst>
              <a:ext uri="{FF2B5EF4-FFF2-40B4-BE49-F238E27FC236}">
                <a16:creationId xmlns:a16="http://schemas.microsoft.com/office/drawing/2014/main" id="{FBA70698-53C3-8B16-A46A-74A4E6393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062538"/>
            <a:ext cx="239713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599" name="Oval 29">
            <a:extLst>
              <a:ext uri="{FF2B5EF4-FFF2-40B4-BE49-F238E27FC236}">
                <a16:creationId xmlns:a16="http://schemas.microsoft.com/office/drawing/2014/main" id="{0FF0E94B-3E40-2D71-0EC3-00A694554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5062538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4600" name="Oval 29">
            <a:extLst>
              <a:ext uri="{FF2B5EF4-FFF2-40B4-BE49-F238E27FC236}">
                <a16:creationId xmlns:a16="http://schemas.microsoft.com/office/drawing/2014/main" id="{29E6230D-CD40-6A40-5593-0EF5CA8AB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363" y="5927725"/>
            <a:ext cx="239712" cy="2381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79722CB3-623C-5ACC-B924-E6F861B728E4}"/>
              </a:ext>
            </a:extLst>
          </p:cNvPr>
          <p:cNvCxnSpPr>
            <a:stCxn id="24595" idx="4"/>
            <a:endCxn id="24600" idx="0"/>
          </p:cNvCxnSpPr>
          <p:nvPr/>
        </p:nvCxnSpPr>
        <p:spPr>
          <a:xfrm>
            <a:off x="6069013" y="3162300"/>
            <a:ext cx="0" cy="2765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E32A352-E205-5036-0397-C75182836696}"/>
              </a:ext>
            </a:extLst>
          </p:cNvPr>
          <p:cNvCxnSpPr>
            <a:stCxn id="24597" idx="6"/>
            <a:endCxn id="24596" idx="2"/>
          </p:cNvCxnSpPr>
          <p:nvPr/>
        </p:nvCxnSpPr>
        <p:spPr>
          <a:xfrm>
            <a:off x="5094288" y="3979863"/>
            <a:ext cx="197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F5366CA-006F-8B94-8F8F-2449542D895B}"/>
              </a:ext>
            </a:extLst>
          </p:cNvPr>
          <p:cNvCxnSpPr/>
          <p:nvPr/>
        </p:nvCxnSpPr>
        <p:spPr>
          <a:xfrm>
            <a:off x="5099050" y="5181600"/>
            <a:ext cx="20415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0BE1A8C-8DFC-A98C-321C-79F29BB4A18A}"/>
              </a:ext>
            </a:extLst>
          </p:cNvPr>
          <p:cNvCxnSpPr>
            <a:stCxn id="24597" idx="4"/>
            <a:endCxn id="24599" idx="0"/>
          </p:cNvCxnSpPr>
          <p:nvPr/>
        </p:nvCxnSpPr>
        <p:spPr>
          <a:xfrm>
            <a:off x="4973638" y="4098925"/>
            <a:ext cx="6350" cy="963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4E15658B-CEE6-55ED-D2D3-6207EC56CF4A}"/>
              </a:ext>
            </a:extLst>
          </p:cNvPr>
          <p:cNvCxnSpPr>
            <a:stCxn id="24596" idx="4"/>
            <a:endCxn id="24598" idx="0"/>
          </p:cNvCxnSpPr>
          <p:nvPr/>
        </p:nvCxnSpPr>
        <p:spPr>
          <a:xfrm>
            <a:off x="7188200" y="4098925"/>
            <a:ext cx="23813" cy="9636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E4D76E4-D7BA-C40A-0864-51B039156F30}"/>
              </a:ext>
            </a:extLst>
          </p:cNvPr>
          <p:cNvCxnSpPr>
            <a:stCxn id="24595" idx="4"/>
          </p:cNvCxnSpPr>
          <p:nvPr/>
        </p:nvCxnSpPr>
        <p:spPr>
          <a:xfrm flipH="1">
            <a:off x="5099050" y="3162300"/>
            <a:ext cx="969963" cy="817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83D44A9-8907-71B0-AD7D-22C227505CAC}"/>
              </a:ext>
            </a:extLst>
          </p:cNvPr>
          <p:cNvCxnSpPr/>
          <p:nvPr/>
        </p:nvCxnSpPr>
        <p:spPr>
          <a:xfrm>
            <a:off x="6081713" y="3162300"/>
            <a:ext cx="987425" cy="8175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0A190D6-9787-4772-4CB6-7291C4A460D1}"/>
              </a:ext>
            </a:extLst>
          </p:cNvPr>
          <p:cNvCxnSpPr>
            <a:endCxn id="24599" idx="7"/>
          </p:cNvCxnSpPr>
          <p:nvPr/>
        </p:nvCxnSpPr>
        <p:spPr>
          <a:xfrm flipH="1">
            <a:off x="5064125" y="3162300"/>
            <a:ext cx="1017588" cy="1935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A1012C-7068-F1FC-8DB3-4509E24E5A8E}"/>
              </a:ext>
            </a:extLst>
          </p:cNvPr>
          <p:cNvCxnSpPr>
            <a:endCxn id="24598" idx="1"/>
          </p:cNvCxnSpPr>
          <p:nvPr/>
        </p:nvCxnSpPr>
        <p:spPr>
          <a:xfrm>
            <a:off x="6081713" y="3162300"/>
            <a:ext cx="1046162" cy="1935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A060943-759E-B93C-C3E4-D1184CF1B2AE}"/>
              </a:ext>
            </a:extLst>
          </p:cNvPr>
          <p:cNvCxnSpPr>
            <a:stCxn id="24597" idx="5"/>
          </p:cNvCxnSpPr>
          <p:nvPr/>
        </p:nvCxnSpPr>
        <p:spPr>
          <a:xfrm>
            <a:off x="5059363" y="4064000"/>
            <a:ext cx="1009650" cy="1863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5A3CE5E-D76B-D475-74A6-4547F0AC2921}"/>
              </a:ext>
            </a:extLst>
          </p:cNvPr>
          <p:cNvCxnSpPr>
            <a:endCxn id="24598" idx="1"/>
          </p:cNvCxnSpPr>
          <p:nvPr/>
        </p:nvCxnSpPr>
        <p:spPr>
          <a:xfrm>
            <a:off x="5099050" y="4064000"/>
            <a:ext cx="2028825" cy="1033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6FA193D-CC46-FAE0-169E-2011FC63714D}"/>
              </a:ext>
            </a:extLst>
          </p:cNvPr>
          <p:cNvCxnSpPr>
            <a:stCxn id="24599" idx="7"/>
            <a:endCxn id="24596" idx="3"/>
          </p:cNvCxnSpPr>
          <p:nvPr/>
        </p:nvCxnSpPr>
        <p:spPr>
          <a:xfrm flipV="1">
            <a:off x="5064125" y="4064000"/>
            <a:ext cx="2039938" cy="1033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23556">
            <a:extLst>
              <a:ext uri="{FF2B5EF4-FFF2-40B4-BE49-F238E27FC236}">
                <a16:creationId xmlns:a16="http://schemas.microsoft.com/office/drawing/2014/main" id="{E28EEDB8-728A-EE6B-BB60-09A2A96F7289}"/>
              </a:ext>
            </a:extLst>
          </p:cNvPr>
          <p:cNvCxnSpPr>
            <a:endCxn id="24600" idx="0"/>
          </p:cNvCxnSpPr>
          <p:nvPr/>
        </p:nvCxnSpPr>
        <p:spPr>
          <a:xfrm>
            <a:off x="5099050" y="5181600"/>
            <a:ext cx="969963" cy="74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23558">
            <a:extLst>
              <a:ext uri="{FF2B5EF4-FFF2-40B4-BE49-F238E27FC236}">
                <a16:creationId xmlns:a16="http://schemas.microsoft.com/office/drawing/2014/main" id="{F7FC850F-BE73-0640-CED3-22B0BCB77FF4}"/>
              </a:ext>
            </a:extLst>
          </p:cNvPr>
          <p:cNvCxnSpPr>
            <a:endCxn id="24600" idx="0"/>
          </p:cNvCxnSpPr>
          <p:nvPr/>
        </p:nvCxnSpPr>
        <p:spPr>
          <a:xfrm flipH="1">
            <a:off x="6119813" y="5181600"/>
            <a:ext cx="973137" cy="746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23562">
            <a:extLst>
              <a:ext uri="{FF2B5EF4-FFF2-40B4-BE49-F238E27FC236}">
                <a16:creationId xmlns:a16="http://schemas.microsoft.com/office/drawing/2014/main" id="{23FE0358-EF09-AC50-7ED4-ED511F3B7E59}"/>
              </a:ext>
            </a:extLst>
          </p:cNvPr>
          <p:cNvCxnSpPr>
            <a:endCxn id="24600" idx="0"/>
          </p:cNvCxnSpPr>
          <p:nvPr/>
        </p:nvCxnSpPr>
        <p:spPr>
          <a:xfrm flipH="1">
            <a:off x="6069013" y="4098925"/>
            <a:ext cx="1035050" cy="1828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16" name="Text Box 56">
            <a:extLst>
              <a:ext uri="{FF2B5EF4-FFF2-40B4-BE49-F238E27FC236}">
                <a16:creationId xmlns:a16="http://schemas.microsoft.com/office/drawing/2014/main" id="{2B850B23-1EEA-1E56-3CFF-198B6D1A8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9625" y="2492375"/>
            <a:ext cx="287338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a</a:t>
            </a:r>
            <a:endParaRPr lang="zh-CN" altLang="zh-CN" sz="2400"/>
          </a:p>
        </p:txBody>
      </p:sp>
      <p:sp>
        <p:nvSpPr>
          <p:cNvPr id="24617" name="Text Box 56">
            <a:extLst>
              <a:ext uri="{FF2B5EF4-FFF2-40B4-BE49-F238E27FC236}">
                <a16:creationId xmlns:a16="http://schemas.microsoft.com/office/drawing/2014/main" id="{008D437B-1F4E-4D75-48B9-273E74709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2188" y="3705225"/>
            <a:ext cx="287337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b</a:t>
            </a:r>
            <a:endParaRPr lang="zh-CN" altLang="zh-CN" sz="2400"/>
          </a:p>
        </p:txBody>
      </p:sp>
      <p:sp>
        <p:nvSpPr>
          <p:cNvPr id="24618" name="Text Box 56">
            <a:extLst>
              <a:ext uri="{FF2B5EF4-FFF2-40B4-BE49-F238E27FC236}">
                <a16:creationId xmlns:a16="http://schemas.microsoft.com/office/drawing/2014/main" id="{363F5FA4-EFAC-5A8A-6BD2-D839C979C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8663" y="3729038"/>
            <a:ext cx="287337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f</a:t>
            </a:r>
            <a:endParaRPr lang="zh-CN" altLang="zh-CN" sz="2400"/>
          </a:p>
        </p:txBody>
      </p:sp>
      <p:sp>
        <p:nvSpPr>
          <p:cNvPr id="24619" name="Text Box 56">
            <a:extLst>
              <a:ext uri="{FF2B5EF4-FFF2-40B4-BE49-F238E27FC236}">
                <a16:creationId xmlns:a16="http://schemas.microsoft.com/office/drawing/2014/main" id="{CE083627-757B-1D27-9759-9CD55ED79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363" y="4941888"/>
            <a:ext cx="287337" cy="40481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e</a:t>
            </a:r>
            <a:endParaRPr lang="zh-CN" altLang="zh-CN" sz="2400"/>
          </a:p>
        </p:txBody>
      </p:sp>
      <p:sp>
        <p:nvSpPr>
          <p:cNvPr id="24620" name="Text Box 56">
            <a:extLst>
              <a:ext uri="{FF2B5EF4-FFF2-40B4-BE49-F238E27FC236}">
                <a16:creationId xmlns:a16="http://schemas.microsoft.com/office/drawing/2014/main" id="{A727978F-F27D-C823-1CBB-23F7AA6C3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4967288"/>
            <a:ext cx="287337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c</a:t>
            </a:r>
            <a:endParaRPr lang="zh-CN" altLang="zh-CN" sz="2400"/>
          </a:p>
        </p:txBody>
      </p:sp>
      <p:sp>
        <p:nvSpPr>
          <p:cNvPr id="24621" name="Text Box 56">
            <a:extLst>
              <a:ext uri="{FF2B5EF4-FFF2-40B4-BE49-F238E27FC236}">
                <a16:creationId xmlns:a16="http://schemas.microsoft.com/office/drawing/2014/main" id="{6DAE1D73-1F31-D083-6FCD-6023BD12C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6191250"/>
            <a:ext cx="287338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/>
              <a:t>d</a:t>
            </a:r>
            <a:endParaRPr lang="zh-CN" altLang="zh-CN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7751</TotalTime>
  <Words>868</Words>
  <Application>Microsoft Office PowerPoint</Application>
  <PresentationFormat>全屏显示(4:3)</PresentationFormat>
  <Paragraphs>96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宋体</vt:lpstr>
      <vt:lpstr>Tahoma</vt:lpstr>
      <vt:lpstr>Times New Roman</vt:lpstr>
      <vt:lpstr>Wingdings</vt:lpstr>
      <vt:lpstr>Blends</vt:lpstr>
      <vt:lpstr>Equation</vt:lpstr>
      <vt:lpstr>8.2 哈密顿图</vt:lpstr>
      <vt:lpstr>8.2.1 问题的提出 </vt:lpstr>
      <vt:lpstr>8.2.2 哈密顿图的概念 </vt:lpstr>
      <vt:lpstr>8.2.2 哈密顿图的概念 </vt:lpstr>
      <vt:lpstr>8.2.2 哈密顿图的概念 </vt:lpstr>
      <vt:lpstr>8.2.2 哈密顿图的概念 </vt:lpstr>
      <vt:lpstr>8.2.2 哈密顿图的概念 </vt:lpstr>
      <vt:lpstr>8.2.2 哈密顿图的概念 </vt:lpstr>
      <vt:lpstr>8.2.2 哈密顿图的概念 </vt:lpstr>
      <vt:lpstr>8.2.2 哈密顿图的概念 </vt:lpstr>
      <vt:lpstr>8.2.2 哈密顿图的概念 </vt:lpstr>
      <vt:lpstr>8.2.2 哈密顿图的概念 </vt:lpstr>
      <vt:lpstr>8.2.3 旅行推销商问题</vt:lpstr>
      <vt:lpstr>8.2.3 旅行推销商问题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180</cp:revision>
  <dcterms:created xsi:type="dcterms:W3CDTF">2010-04-09T13:44:14Z</dcterms:created>
  <dcterms:modified xsi:type="dcterms:W3CDTF">2023-11-28T00:59:39Z</dcterms:modified>
</cp:coreProperties>
</file>