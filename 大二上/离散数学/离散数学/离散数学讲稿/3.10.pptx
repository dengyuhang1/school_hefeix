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05" r:id="rId2"/>
    <p:sldId id="334" r:id="rId3"/>
    <p:sldId id="336" r:id="rId4"/>
    <p:sldId id="306" r:id="rId5"/>
    <p:sldId id="338" r:id="rId6"/>
    <p:sldId id="332" r:id="rId7"/>
    <p:sldId id="340" r:id="rId8"/>
    <p:sldId id="308" r:id="rId9"/>
    <p:sldId id="309" r:id="rId10"/>
    <p:sldId id="310" r:id="rId11"/>
    <p:sldId id="342" r:id="rId12"/>
    <p:sldId id="345" r:id="rId13"/>
    <p:sldId id="347" r:id="rId14"/>
    <p:sldId id="349" r:id="rId15"/>
    <p:sldId id="312" r:id="rId16"/>
    <p:sldId id="354" r:id="rId17"/>
    <p:sldId id="351" r:id="rId18"/>
    <p:sldId id="315" r:id="rId19"/>
    <p:sldId id="316" r:id="rId20"/>
    <p:sldId id="318" r:id="rId21"/>
    <p:sldId id="319" r:id="rId22"/>
    <p:sldId id="320" r:id="rId23"/>
    <p:sldId id="321" r:id="rId24"/>
    <p:sldId id="324" r:id="rId25"/>
    <p:sldId id="325" r:id="rId26"/>
    <p:sldId id="326" r:id="rId27"/>
    <p:sldId id="355" r:id="rId28"/>
    <p:sldId id="356" r:id="rId29"/>
    <p:sldId id="357" r:id="rId3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0066"/>
    <a:srgbClr val="CC0066"/>
    <a:srgbClr val="339933"/>
    <a:srgbClr val="0066FF"/>
    <a:srgbClr val="008080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475" autoAdjust="0"/>
  </p:normalViewPr>
  <p:slideViewPr>
    <p:cSldViewPr>
      <p:cViewPr varScale="1">
        <p:scale>
          <a:sx n="64" d="100"/>
          <a:sy n="64" d="100"/>
        </p:scale>
        <p:origin x="134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34B630D-688F-A1DA-7C23-9FEFC9EB0396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65F3376-E279-8E29-EF70-CEB02F1A5E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CAC66A26-A68C-AD04-C232-0A21DEE14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39897F59-D8D5-0F3E-479F-C8A7E880AB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37746B8E-3789-80C1-600A-C5D8A59B4F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46360E3-87E3-2C4A-FB23-09583C02AB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F63BFF3-6694-6B8C-728A-13825A473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B79B9F5C-7957-194A-86C6-9A24FE619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3E1DA7CB-A525-EB54-70E4-1C59B6BBC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40B4F1ED-CA1B-A2FD-CCBD-DFE52E5386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A24C5CB0-14AE-87CB-04C4-8B87145169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3AA75589-9C86-26B9-4760-09598A1C31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21395F2-8A86-104A-9D33-C555E58E55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003F20B-E5C7-4AE9-98FD-AF0EDE11E8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538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E557DA7-DF2B-DB0C-EDA6-23F18DF626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D01A822-DB02-C527-F14F-2E3F3ABDBA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497DDFB-A0B9-CB27-5733-C2CE0BDDD5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88DA7F-011A-4DAB-99FC-7C4DE883A37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898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E145BA0-71B1-7D31-45E6-CBA6E64D90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033309F-5D3A-B3C5-F992-E208BCAF55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67B777D-B943-376C-1949-70C7591EDC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0D761D-771A-4642-8A6F-3AD2511B45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63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79EF211-888E-D348-F2AE-E9D2B360E1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31FD02B-1CC6-73BA-61F4-282E319FD2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BB9F0EE-E2C4-BCBA-B7FD-77C76599E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F0BB95-A992-46A0-A8CA-4C1B229492D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3534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05D5B42-ED55-2AA4-4AD4-05B97FD253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622B49E-70F4-1D6A-26CC-FD9D391E94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802C64E-6D9C-2EF1-85D2-52D63975C5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B047AF-EEBD-4CC3-BA3F-DF3E5D9F82B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7688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DDD18D8-CB7D-8EF9-E266-99507078C3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6DE0640-AE5F-A4ED-9F65-1A5B5A61B7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C40D450-3483-FF5B-868B-F96CB662B9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2DA99E-C892-4723-A2B1-1DF6D6548D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4700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5999213-3E1B-EE75-6E72-E12862DE30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C32D9EF-CEF1-DD4F-1AA4-0F084E37C4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23C04FE-7D2F-C77A-410D-1B1F342BC9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8D45D5-1C9D-4D66-AB26-8C758DC236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7578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8487164-F7CC-6301-7D24-911BC0A0AD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C2C665F-F9E9-A19C-687E-BC06B1C192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F192FD7-5614-E4F7-EEA3-8D717F132F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C8724E-4967-4360-B389-2FBFE5A347F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520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C6B6F49-DF73-7B4C-69C9-FDA40065DC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DBB7AF-A3ED-6A78-AB74-BD11BA7770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476BDE8-9005-4B63-41F0-CA1E592834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66347C-3593-4D8D-9DB4-EB4998B82D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8646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4908633-5F8F-5026-5CD6-111E87D4CE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FEAFBCF-E9FD-DC69-FFF9-E0EF14A787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6C4AF68-F6C7-6512-D956-A25C540050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1666F5-0E98-495B-8F31-1E86658463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267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A43EADF-8C35-2BD2-AED5-45EDF4FCC3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EAFE7C1-D9F8-B48F-01CA-CD67BC061E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12599B8-C669-8828-B61B-7FEE997778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7727A0-CF17-47BF-BEB0-ED1A181BFF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742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352BC13-21EB-9333-178E-73A9C3424B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5C3E5E5-5FAD-51F0-9118-F5F6DE6A8A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383FF8E-4F3D-7FC1-202C-F85EBF4349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6E3121-F9B3-483A-9B53-2044368133A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234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19E0A5AD-C58C-7E2C-45ED-C8C9D4B995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28F6FB9D-6E41-0618-4D30-C1F1965CFF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132EFC9-73A7-D9A6-0FDA-DB0FA4F433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BEBC1A-8745-4D11-9D5C-B3754CE27E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1104D89-B35C-4C5F-D234-1614B244E5D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1A97EC-124E-0CE2-A344-E68CDD1B34F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DAA14F9-FD30-4580-52E5-3A26226690B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E35C5CB-103D-6F19-2C59-960A489C21E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5BF093-DBB4-BF36-CF16-E0F60C9EF6B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82DAFA8-F22D-8397-D89C-5C11D5462A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D250D526-993F-3929-B72D-A8C6DC556A8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3A8E6446-760E-1340-2D90-4AAD96FB2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E4D5A4FA-31A5-B266-64D0-E4C1D63ECD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F9019DE2-2107-9D13-A962-9B1AF4A9BAF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4D66A80F-1D0F-24D7-7BD9-876F6F22DC0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01B50B2E-41E1-6FA8-EDE0-827F014D27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6A2D123-E5E7-4B5B-9CA4-0BA5EC4B949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.wmf"/><Relationship Id="rId7" Type="http://schemas.openxmlformats.org/officeDocument/2006/relationships/oleObject" Target="../embeddings/oleObject4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.wmf"/><Relationship Id="rId7" Type="http://schemas.openxmlformats.org/officeDocument/2006/relationships/oleObject" Target="../embeddings/oleObject9.bin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1.wmf"/><Relationship Id="rId7" Type="http://schemas.openxmlformats.org/officeDocument/2006/relationships/oleObject" Target="../embeddings/oleObject14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oleObject" Target="../embeddings/oleObject26.bin"/><Relationship Id="rId3" Type="http://schemas.openxmlformats.org/officeDocument/2006/relationships/image" Target="../media/image3.wmf"/><Relationship Id="rId7" Type="http://schemas.openxmlformats.org/officeDocument/2006/relationships/oleObject" Target="../embeddings/oleObject20.bin"/><Relationship Id="rId12" Type="http://schemas.openxmlformats.org/officeDocument/2006/relationships/oleObject" Target="../embeddings/oleObject25.bin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9.bin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18.bin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17.bin"/><Relationship Id="rId9" Type="http://schemas.openxmlformats.org/officeDocument/2006/relationships/oleObject" Target="../embeddings/oleObject2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1.wmf"/><Relationship Id="rId7" Type="http://schemas.openxmlformats.org/officeDocument/2006/relationships/oleObject" Target="../embeddings/oleObject31.bin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0.bin"/><Relationship Id="rId5" Type="http://schemas.openxmlformats.org/officeDocument/2006/relationships/oleObject" Target="../embeddings/oleObject29.bin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1.wmf"/><Relationship Id="rId7" Type="http://schemas.openxmlformats.org/officeDocument/2006/relationships/oleObject" Target="../embeddings/oleObject38.bin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7.bin"/><Relationship Id="rId5" Type="http://schemas.openxmlformats.org/officeDocument/2006/relationships/oleObject" Target="../embeddings/oleObject36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2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3.wmf"/><Relationship Id="rId7" Type="http://schemas.openxmlformats.org/officeDocument/2006/relationships/oleObject" Target="../embeddings/oleObject48.bin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5" Type="http://schemas.openxmlformats.org/officeDocument/2006/relationships/oleObject" Target="../embeddings/oleObject46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oleObject" Target="../embeddings/oleObject53.bin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5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13.xml"/><Relationship Id="rId4" Type="http://schemas.openxmlformats.org/officeDocument/2006/relationships/oleObject" Target="../embeddings/oleObject5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13.xml"/><Relationship Id="rId5" Type="http://schemas.openxmlformats.org/officeDocument/2006/relationships/oleObject" Target="../embeddings/oleObject58.bin"/><Relationship Id="rId4" Type="http://schemas.openxmlformats.org/officeDocument/2006/relationships/oleObject" Target="../embeddings/oleObject57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8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7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oleObject" Target="../embeddings/oleObject73.bin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72.bin"/><Relationship Id="rId5" Type="http://schemas.openxmlformats.org/officeDocument/2006/relationships/oleObject" Target="../embeddings/oleObject71.bin"/><Relationship Id="rId4" Type="http://schemas.openxmlformats.org/officeDocument/2006/relationships/oleObject" Target="../embeddings/oleObject70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2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2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12.tmp"/><Relationship Id="rId5" Type="http://schemas.openxmlformats.org/officeDocument/2006/relationships/tags" Target="../tags/tag39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4368FBA-17E4-7965-9E84-7D5E933B21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3.10 </a:t>
            </a:r>
            <a:r>
              <a:rPr lang="zh-CN" altLang="en-US"/>
              <a:t>关系的闭包运算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D8DCEB7-FB68-EC10-2CC8-6569BBD8B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013" y="2017713"/>
            <a:ext cx="7839075" cy="4724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3.10.1 </a:t>
            </a:r>
            <a:r>
              <a:rPr lang="zh-CN" altLang="en-US" sz="4000" b="1"/>
              <a:t>闭包的定义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3.10.2 </a:t>
            </a:r>
            <a:r>
              <a:rPr lang="zh-CN" altLang="en-US" sz="4000" b="1"/>
              <a:t>闭包的性质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3.10.3 Warshall</a:t>
            </a:r>
            <a:r>
              <a:rPr lang="zh-CN" altLang="en-US" sz="4000" b="1"/>
              <a:t>算法</a:t>
            </a:r>
            <a:r>
              <a:rPr lang="zh-CN" altLang="en-US" sz="400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3.10.4 </a:t>
            </a:r>
            <a:r>
              <a:rPr lang="zh-CN" altLang="en-US" sz="4000" b="1"/>
              <a:t>闭包的复合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EFA4B7D1-B5A9-34DB-84C6-13C875AE7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3.10.1 </a:t>
            </a:r>
            <a:r>
              <a:rPr lang="zh-CN" altLang="en-US" sz="5400"/>
              <a:t>闭包的定义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D686D63E-DAF1-2A91-8085-3CADA5B9E61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916113"/>
            <a:ext cx="8677275" cy="4826000"/>
          </a:xfrm>
        </p:spPr>
        <p:txBody>
          <a:bodyPr/>
          <a:lstStyle/>
          <a:p>
            <a:pPr eaLnBrk="1" hangingPunct="1">
              <a:lnSpc>
                <a:spcPct val="17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自反闭包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reflexive closure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chemeClr val="accent1"/>
                </a:solidFill>
              </a:rPr>
              <a:t>r(R)</a:t>
            </a:r>
            <a:endParaRPr lang="en-US" altLang="zh-CN" dirty="0"/>
          </a:p>
          <a:p>
            <a:pPr eaLnBrk="1" hangingPunct="1">
              <a:lnSpc>
                <a:spcPct val="170000"/>
              </a:lnSpc>
              <a:defRPr/>
            </a:pPr>
            <a:r>
              <a:rPr lang="zh-CN" altLang="en-US" dirty="0"/>
              <a:t>设</a:t>
            </a:r>
            <a:r>
              <a:rPr lang="en-US" altLang="zh-CN" dirty="0"/>
              <a:t>R   A×A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/>
              <a:t>R</a:t>
            </a:r>
            <a:r>
              <a:rPr lang="en-US" altLang="zh-CN" baseline="30000" dirty="0"/>
              <a:t>’</a:t>
            </a:r>
            <a:r>
              <a:rPr lang="en-US" altLang="zh-CN" dirty="0"/>
              <a:t>   A×A</a:t>
            </a:r>
            <a:r>
              <a:rPr lang="zh-CN" altLang="en-US" dirty="0"/>
              <a:t>，且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(1)R</a:t>
            </a:r>
            <a:r>
              <a:rPr lang="en-US" altLang="zh-CN" baseline="30000" dirty="0"/>
              <a:t>’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1"/>
                </a:solidFill>
              </a:rPr>
              <a:t>自反</a:t>
            </a:r>
            <a:r>
              <a:rPr lang="zh-CN" altLang="en-US" dirty="0"/>
              <a:t>关系</a:t>
            </a:r>
            <a:endParaRPr lang="en-US" altLang="zh-CN" dirty="0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(2)R</a:t>
            </a:r>
            <a:r>
              <a:rPr lang="en-US" altLang="zh-CN" baseline="30000" dirty="0"/>
              <a:t>’</a:t>
            </a:r>
            <a:r>
              <a:rPr lang="en-US" altLang="zh-CN" dirty="0"/>
              <a:t>    R</a:t>
            </a:r>
            <a:endParaRPr lang="zh-CN" altLang="en-US" dirty="0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(3)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rgbClr val="CC0066"/>
                </a:solidFill>
              </a:rPr>
              <a:t>任意</a:t>
            </a:r>
            <a:r>
              <a:rPr lang="zh-CN" altLang="en-US" dirty="0">
                <a:solidFill>
                  <a:schemeClr val="accent1"/>
                </a:solidFill>
              </a:rPr>
              <a:t>自反</a:t>
            </a:r>
            <a:r>
              <a:rPr lang="zh-CN" altLang="en-US" dirty="0"/>
              <a:t>关系</a:t>
            </a:r>
            <a:r>
              <a:rPr lang="en-US" altLang="zh-CN" dirty="0"/>
              <a:t>R’’</a:t>
            </a:r>
            <a:r>
              <a:rPr lang="zh-CN" altLang="en-US" dirty="0"/>
              <a:t>，若</a:t>
            </a:r>
            <a:r>
              <a:rPr lang="en-US" altLang="zh-CN" dirty="0"/>
              <a:t>R’’   R</a:t>
            </a:r>
            <a:r>
              <a:rPr lang="zh-CN" altLang="en-US" dirty="0"/>
              <a:t>，则</a:t>
            </a:r>
            <a:r>
              <a:rPr lang="en-US" altLang="zh-CN" dirty="0"/>
              <a:t>R’’    R</a:t>
            </a:r>
            <a:r>
              <a:rPr lang="en-US" altLang="zh-CN" baseline="30000" dirty="0"/>
              <a:t>’</a:t>
            </a:r>
            <a:endParaRPr lang="zh-CN" altLang="en-US" dirty="0"/>
          </a:p>
        </p:txBody>
      </p:sp>
      <p:graphicFrame>
        <p:nvGraphicFramePr>
          <p:cNvPr id="4100" name="Object 4">
            <a:extLst>
              <a:ext uri="{FF2B5EF4-FFF2-40B4-BE49-F238E27FC236}">
                <a16:creationId xmlns:a16="http://schemas.microsoft.com/office/drawing/2014/main" id="{CC426FF6-C6F4-2445-0F64-98E53D020C0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801813" y="4954588"/>
          <a:ext cx="5318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4954588"/>
                        <a:ext cx="5318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对象 1">
            <a:extLst>
              <a:ext uri="{FF2B5EF4-FFF2-40B4-BE49-F238E27FC236}">
                <a16:creationId xmlns:a16="http://schemas.microsoft.com/office/drawing/2014/main" id="{6A02C45A-AED8-79ED-5A95-6BA6EF8CE1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213100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213100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对象 2">
            <a:extLst>
              <a:ext uri="{FF2B5EF4-FFF2-40B4-BE49-F238E27FC236}">
                <a16:creationId xmlns:a16="http://schemas.microsoft.com/office/drawing/2014/main" id="{CD483012-BC60-2355-C935-B386C97A3B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1150" y="5924550"/>
          <a:ext cx="5318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1150" y="5924550"/>
                        <a:ext cx="5318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对象 3">
            <a:extLst>
              <a:ext uri="{FF2B5EF4-FFF2-40B4-BE49-F238E27FC236}">
                <a16:creationId xmlns:a16="http://schemas.microsoft.com/office/drawing/2014/main" id="{00124971-FBA9-1EE5-6A0B-29812612F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8525" y="5924550"/>
          <a:ext cx="5318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8525" y="5924550"/>
                        <a:ext cx="5318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对象 6">
            <a:extLst>
              <a:ext uri="{FF2B5EF4-FFF2-40B4-BE49-F238E27FC236}">
                <a16:creationId xmlns:a16="http://schemas.microsoft.com/office/drawing/2014/main" id="{10C9E97C-6AC4-FD8C-F317-1B68693C76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3213100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68" imgH="152268" progId="Equation.DSMT4">
                  <p:embed/>
                </p:oleObj>
              </mc:Choice>
              <mc:Fallback>
                <p:oleObj name="Equation" r:id="rId8" imgW="152268" imgH="152268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213100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D2DEFBB-1DE0-228D-AF33-5799CAE01B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3.10.1 </a:t>
            </a:r>
            <a:r>
              <a:rPr lang="zh-CN" altLang="en-US" sz="5400"/>
              <a:t>闭包的定义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DA75BE8D-C2F7-D56C-DF04-E8122B1A72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sz="2800" dirty="0">
                <a:solidFill>
                  <a:schemeClr val="hlink"/>
                </a:solidFill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</a:rPr>
              <a:t>3.10.1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＝</a:t>
            </a:r>
            <a:r>
              <a:rPr lang="en-US" altLang="zh-CN" sz="2800" dirty="0"/>
              <a:t>{1,2,3,4}</a:t>
            </a:r>
            <a:r>
              <a:rPr lang="zh-CN" altLang="en-US" sz="2800" dirty="0"/>
              <a:t>，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</a:t>
            </a:r>
            <a:r>
              <a:rPr lang="en-US" altLang="zh-CN" sz="2800" dirty="0"/>
              <a:t>R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  <a:endParaRPr lang="zh-CN" altLang="en-US" sz="2800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FF00FF"/>
                </a:solidFill>
              </a:rPr>
              <a:t>P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1,1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2,3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4,3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Q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1,1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2,3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4,3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accent1"/>
                </a:solidFill>
              </a:rPr>
              <a:t>2,4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S</a:t>
            </a:r>
            <a:r>
              <a:rPr lang="zh-CN" altLang="en-US" sz="2800" dirty="0"/>
              <a:t>＝</a:t>
            </a:r>
            <a:r>
              <a:rPr lang="en-US" altLang="zh-CN" sz="2400" dirty="0"/>
              <a:t>{</a:t>
            </a:r>
            <a:r>
              <a:rPr lang="en-US" altLang="zh-CN" sz="24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400" dirty="0">
                <a:solidFill>
                  <a:schemeClr val="hlink"/>
                </a:solidFill>
              </a:rPr>
              <a:t>1,1</a:t>
            </a:r>
            <a:r>
              <a:rPr lang="en-US" altLang="zh-CN" sz="24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400" dirty="0">
                <a:solidFill>
                  <a:schemeClr val="hlink"/>
                </a:solidFill>
              </a:rPr>
              <a:t>2,3</a:t>
            </a:r>
            <a:r>
              <a:rPr lang="en-US" altLang="zh-CN" sz="24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400" dirty="0">
                <a:solidFill>
                  <a:schemeClr val="hlink"/>
                </a:solidFill>
              </a:rPr>
              <a:t>4,3</a:t>
            </a:r>
            <a:r>
              <a:rPr lang="en-US" altLang="zh-CN" sz="24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2,2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3,3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4,4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sz="2400" dirty="0">
                <a:solidFill>
                  <a:schemeClr val="accent1"/>
                </a:solidFill>
              </a:rPr>
              <a:t>2,4</a:t>
            </a:r>
            <a:r>
              <a:rPr lang="en-US" altLang="zh-CN" sz="2400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sz="2400" dirty="0">
                <a:solidFill>
                  <a:schemeClr val="accent1"/>
                </a:solidFill>
              </a:rPr>
              <a:t>3,4</a:t>
            </a:r>
            <a:r>
              <a:rPr lang="en-US" altLang="zh-CN" sz="2400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sz="2400"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>
            <a:extLst>
              <a:ext uri="{FF2B5EF4-FFF2-40B4-BE49-F238E27FC236}">
                <a16:creationId xmlns:a16="http://schemas.microsoft.com/office/drawing/2014/main" id="{EC6C3540-9C7D-CA34-F81A-75E903F7CE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3.10.1 </a:t>
            </a:r>
            <a:r>
              <a:rPr lang="zh-CN" altLang="en-US" sz="5400"/>
              <a:t>闭包的定义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A86A5C27-90C8-F250-1A2A-707F5E66794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916113"/>
            <a:ext cx="8532812" cy="4826000"/>
          </a:xfrm>
        </p:spPr>
        <p:txBody>
          <a:bodyPr/>
          <a:lstStyle/>
          <a:p>
            <a:pPr eaLnBrk="1" hangingPunct="1">
              <a:lnSpc>
                <a:spcPct val="17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对称闭包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symmetric  closure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chemeClr val="accent1"/>
                </a:solidFill>
              </a:rPr>
              <a:t>s(R)</a:t>
            </a:r>
            <a:endParaRPr lang="en-US" altLang="zh-CN" dirty="0"/>
          </a:p>
          <a:p>
            <a:pPr eaLnBrk="1" hangingPunct="1">
              <a:lnSpc>
                <a:spcPct val="170000"/>
              </a:lnSpc>
              <a:defRPr/>
            </a:pPr>
            <a:r>
              <a:rPr lang="zh-CN" altLang="en-US" dirty="0"/>
              <a:t>设</a:t>
            </a:r>
            <a:r>
              <a:rPr lang="en-US" altLang="zh-CN" dirty="0"/>
              <a:t>R   A×A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/>
              <a:t>R</a:t>
            </a:r>
            <a:r>
              <a:rPr lang="en-US" altLang="zh-CN" baseline="30000" dirty="0"/>
              <a:t>’</a:t>
            </a:r>
            <a:r>
              <a:rPr lang="en-US" altLang="zh-CN" dirty="0"/>
              <a:t>   A×A</a:t>
            </a:r>
            <a:r>
              <a:rPr lang="zh-CN" altLang="en-US" dirty="0"/>
              <a:t>，且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(1)R</a:t>
            </a:r>
            <a:r>
              <a:rPr lang="en-US" altLang="zh-CN" baseline="30000" dirty="0"/>
              <a:t>’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1"/>
                </a:solidFill>
              </a:rPr>
              <a:t>对称</a:t>
            </a:r>
            <a:r>
              <a:rPr lang="zh-CN" altLang="en-US" dirty="0"/>
              <a:t>关系</a:t>
            </a:r>
            <a:endParaRPr lang="en-US" altLang="zh-CN" dirty="0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(2)R</a:t>
            </a:r>
            <a:r>
              <a:rPr lang="en-US" altLang="zh-CN" baseline="30000" dirty="0"/>
              <a:t>’</a:t>
            </a:r>
            <a:r>
              <a:rPr lang="en-US" altLang="zh-CN" dirty="0"/>
              <a:t>    R</a:t>
            </a:r>
            <a:endParaRPr lang="zh-CN" altLang="en-US" dirty="0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(3)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rgbClr val="CC0066"/>
                </a:solidFill>
              </a:rPr>
              <a:t>任意</a:t>
            </a:r>
            <a:r>
              <a:rPr lang="zh-CN" altLang="en-US" dirty="0">
                <a:solidFill>
                  <a:schemeClr val="accent1"/>
                </a:solidFill>
              </a:rPr>
              <a:t>对称</a:t>
            </a:r>
            <a:r>
              <a:rPr lang="zh-CN" altLang="en-US" dirty="0"/>
              <a:t>关系</a:t>
            </a:r>
            <a:r>
              <a:rPr lang="en-US" altLang="zh-CN" dirty="0"/>
              <a:t>R’’</a:t>
            </a:r>
            <a:r>
              <a:rPr lang="zh-CN" altLang="en-US" dirty="0"/>
              <a:t>，若</a:t>
            </a:r>
            <a:r>
              <a:rPr lang="en-US" altLang="zh-CN" dirty="0"/>
              <a:t>R’’   R</a:t>
            </a:r>
            <a:r>
              <a:rPr lang="zh-CN" altLang="en-US" dirty="0"/>
              <a:t>，则</a:t>
            </a:r>
            <a:r>
              <a:rPr lang="en-US" altLang="zh-CN" dirty="0"/>
              <a:t>R’’    R</a:t>
            </a:r>
            <a:r>
              <a:rPr lang="en-US" altLang="zh-CN" baseline="30000" dirty="0"/>
              <a:t>’</a:t>
            </a:r>
            <a:endParaRPr lang="zh-CN" altLang="en-US" dirty="0"/>
          </a:p>
        </p:txBody>
      </p:sp>
      <p:graphicFrame>
        <p:nvGraphicFramePr>
          <p:cNvPr id="6148" name="Object 4">
            <a:extLst>
              <a:ext uri="{FF2B5EF4-FFF2-40B4-BE49-F238E27FC236}">
                <a16:creationId xmlns:a16="http://schemas.microsoft.com/office/drawing/2014/main" id="{A062C3BC-A9F9-B2B7-B950-BF0E32DDE194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822450" y="4954588"/>
          <a:ext cx="5318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4954588"/>
                        <a:ext cx="5318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对象 1">
            <a:extLst>
              <a:ext uri="{FF2B5EF4-FFF2-40B4-BE49-F238E27FC236}">
                <a16:creationId xmlns:a16="http://schemas.microsoft.com/office/drawing/2014/main" id="{BD35BB66-2F21-05DC-E3EB-86E504D629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213100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213100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对象 2">
            <a:extLst>
              <a:ext uri="{FF2B5EF4-FFF2-40B4-BE49-F238E27FC236}">
                <a16:creationId xmlns:a16="http://schemas.microsoft.com/office/drawing/2014/main" id="{D0389D56-5AFF-9059-4DFA-32189A49D8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18450" y="5924550"/>
          <a:ext cx="5318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8450" y="5924550"/>
                        <a:ext cx="5318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对象 3">
            <a:extLst>
              <a:ext uri="{FF2B5EF4-FFF2-40B4-BE49-F238E27FC236}">
                <a16:creationId xmlns:a16="http://schemas.microsoft.com/office/drawing/2014/main" id="{8AE0EF01-AC64-3004-ED24-584CFC6A0C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6463" y="5924550"/>
          <a:ext cx="531812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6463" y="5924550"/>
                        <a:ext cx="531812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对象 6">
            <a:extLst>
              <a:ext uri="{FF2B5EF4-FFF2-40B4-BE49-F238E27FC236}">
                <a16:creationId xmlns:a16="http://schemas.microsoft.com/office/drawing/2014/main" id="{C4C61AB8-A5CC-8AA8-8B99-466B0A1614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7100" y="3213100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68" imgH="152268" progId="Equation.DSMT4">
                  <p:embed/>
                </p:oleObj>
              </mc:Choice>
              <mc:Fallback>
                <p:oleObj name="Equation" r:id="rId8" imgW="152268" imgH="152268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3213100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E379820-2DA2-D781-7FAE-F6E973EF7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3.10.1 </a:t>
            </a:r>
            <a:r>
              <a:rPr lang="zh-CN" altLang="en-US" sz="5400"/>
              <a:t>闭包的定义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891CCEDE-9787-DAE1-2566-F1CA34E528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sz="2800" dirty="0">
                <a:solidFill>
                  <a:schemeClr val="hlink"/>
                </a:solidFill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</a:rPr>
              <a:t>3.10.2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＝</a:t>
            </a:r>
            <a:r>
              <a:rPr lang="en-US" altLang="zh-CN" sz="2800" dirty="0"/>
              <a:t>{1,2,3,4}</a:t>
            </a:r>
            <a:r>
              <a:rPr lang="zh-CN" altLang="en-US" sz="2800" dirty="0"/>
              <a:t>，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</a:t>
            </a:r>
            <a:r>
              <a:rPr lang="en-US" altLang="zh-CN" sz="2800" dirty="0"/>
              <a:t>R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  <a:endParaRPr lang="zh-CN" altLang="en-US" sz="2800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FF00FF"/>
                </a:solidFill>
              </a:rPr>
              <a:t>P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1,1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2,3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4,3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Q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1,1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2,3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4,3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accent1"/>
                </a:solidFill>
              </a:rPr>
              <a:t>2,4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S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1,1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2,3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4,3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accent1"/>
                </a:solidFill>
              </a:rPr>
              <a:t>2,4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accent1"/>
                </a:solidFill>
              </a:rPr>
              <a:t>3,1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>
            <a:extLst>
              <a:ext uri="{FF2B5EF4-FFF2-40B4-BE49-F238E27FC236}">
                <a16:creationId xmlns:a16="http://schemas.microsoft.com/office/drawing/2014/main" id="{9604A717-690D-6719-77F8-0E5B15B47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3.10.1 </a:t>
            </a:r>
            <a:r>
              <a:rPr lang="zh-CN" altLang="en-US" sz="5400"/>
              <a:t>闭包的定义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ECAA4243-3293-6307-BA8A-F9BEFB1F16E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916113"/>
            <a:ext cx="8532812" cy="4826000"/>
          </a:xfrm>
        </p:spPr>
        <p:txBody>
          <a:bodyPr/>
          <a:lstStyle/>
          <a:p>
            <a:pPr eaLnBrk="1" hangingPunct="1">
              <a:lnSpc>
                <a:spcPct val="17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传递闭包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transitive closure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chemeClr val="accent1"/>
                </a:solidFill>
              </a:rPr>
              <a:t>t(R)</a:t>
            </a:r>
            <a:endParaRPr lang="en-US" altLang="zh-CN" dirty="0"/>
          </a:p>
          <a:p>
            <a:pPr eaLnBrk="1" hangingPunct="1">
              <a:lnSpc>
                <a:spcPct val="170000"/>
              </a:lnSpc>
              <a:defRPr/>
            </a:pPr>
            <a:r>
              <a:rPr lang="zh-CN" altLang="en-US" dirty="0"/>
              <a:t>设</a:t>
            </a:r>
            <a:r>
              <a:rPr lang="en-US" altLang="zh-CN" dirty="0"/>
              <a:t>R   A×A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/>
              <a:t>R</a:t>
            </a:r>
            <a:r>
              <a:rPr lang="en-US" altLang="zh-CN" baseline="30000" dirty="0"/>
              <a:t>’</a:t>
            </a:r>
            <a:r>
              <a:rPr lang="en-US" altLang="zh-CN" dirty="0"/>
              <a:t>   A×A</a:t>
            </a:r>
            <a:r>
              <a:rPr lang="zh-CN" altLang="en-US" dirty="0"/>
              <a:t>，且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(1)R</a:t>
            </a:r>
            <a:r>
              <a:rPr lang="en-US" altLang="zh-CN" baseline="30000" dirty="0"/>
              <a:t>’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1"/>
                </a:solidFill>
              </a:rPr>
              <a:t>传递</a:t>
            </a:r>
            <a:r>
              <a:rPr lang="zh-CN" altLang="en-US" dirty="0"/>
              <a:t>关系</a:t>
            </a:r>
            <a:endParaRPr lang="en-US" altLang="zh-CN" dirty="0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(2)R</a:t>
            </a:r>
            <a:r>
              <a:rPr lang="en-US" altLang="zh-CN" baseline="30000" dirty="0"/>
              <a:t>’</a:t>
            </a:r>
            <a:r>
              <a:rPr lang="en-US" altLang="zh-CN" dirty="0"/>
              <a:t>    R</a:t>
            </a:r>
            <a:endParaRPr lang="zh-CN" altLang="en-US" dirty="0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(3)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rgbClr val="CC0066"/>
                </a:solidFill>
              </a:rPr>
              <a:t>任意</a:t>
            </a:r>
            <a:r>
              <a:rPr lang="zh-CN" altLang="en-US" dirty="0">
                <a:solidFill>
                  <a:schemeClr val="accent1"/>
                </a:solidFill>
              </a:rPr>
              <a:t>传递</a:t>
            </a:r>
            <a:r>
              <a:rPr lang="zh-CN" altLang="en-US" dirty="0"/>
              <a:t>关系</a:t>
            </a:r>
            <a:r>
              <a:rPr lang="en-US" altLang="zh-CN" dirty="0"/>
              <a:t>R’’</a:t>
            </a:r>
            <a:r>
              <a:rPr lang="zh-CN" altLang="en-US" dirty="0"/>
              <a:t>，若</a:t>
            </a:r>
            <a:r>
              <a:rPr lang="en-US" altLang="zh-CN" dirty="0"/>
              <a:t>R’’   R</a:t>
            </a:r>
            <a:r>
              <a:rPr lang="zh-CN" altLang="en-US" dirty="0"/>
              <a:t>，则</a:t>
            </a:r>
            <a:r>
              <a:rPr lang="en-US" altLang="zh-CN" dirty="0"/>
              <a:t>R’’    R</a:t>
            </a:r>
            <a:r>
              <a:rPr lang="en-US" altLang="zh-CN" baseline="30000" dirty="0"/>
              <a:t>’</a:t>
            </a:r>
            <a:endParaRPr lang="zh-CN" altLang="en-US" dirty="0"/>
          </a:p>
        </p:txBody>
      </p: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0EAB2780-C3E1-0A97-563D-6FAFD455FC91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835150" y="4954588"/>
          <a:ext cx="5318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954588"/>
                        <a:ext cx="5318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对象 1">
            <a:extLst>
              <a:ext uri="{FF2B5EF4-FFF2-40B4-BE49-F238E27FC236}">
                <a16:creationId xmlns:a16="http://schemas.microsoft.com/office/drawing/2014/main" id="{F03300E9-3B72-A61C-F7F6-5528D05496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213100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213100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对象 2">
            <a:extLst>
              <a:ext uri="{FF2B5EF4-FFF2-40B4-BE49-F238E27FC236}">
                <a16:creationId xmlns:a16="http://schemas.microsoft.com/office/drawing/2014/main" id="{70FB78E4-2064-482B-14C9-ECD8C29831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6550" y="5924550"/>
          <a:ext cx="5318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0" y="5924550"/>
                        <a:ext cx="5318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对象 3">
            <a:extLst>
              <a:ext uri="{FF2B5EF4-FFF2-40B4-BE49-F238E27FC236}">
                <a16:creationId xmlns:a16="http://schemas.microsoft.com/office/drawing/2014/main" id="{FF788CA5-D49E-EA53-096E-70860E2706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5825" y="5924550"/>
          <a:ext cx="5318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825" y="5924550"/>
                        <a:ext cx="5318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对象 6">
            <a:extLst>
              <a:ext uri="{FF2B5EF4-FFF2-40B4-BE49-F238E27FC236}">
                <a16:creationId xmlns:a16="http://schemas.microsoft.com/office/drawing/2014/main" id="{39B39B0D-7EE9-BD84-D05B-8C7D935DF4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3213100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68" imgH="152268" progId="Equation.DSMT4">
                  <p:embed/>
                </p:oleObj>
              </mc:Choice>
              <mc:Fallback>
                <p:oleObj name="Equation" r:id="rId8" imgW="152268" imgH="152268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213100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FAB27BA-B683-6A75-793C-11312E6F4B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3.10.1 </a:t>
            </a:r>
            <a:r>
              <a:rPr lang="zh-CN" altLang="en-US" sz="5400"/>
              <a:t>闭包的定义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523B7536-8C60-B55B-72DE-2B78A1698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sz="2800" dirty="0">
                <a:solidFill>
                  <a:schemeClr val="hlink"/>
                </a:solidFill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</a:rPr>
              <a:t>3.10.3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＝</a:t>
            </a:r>
            <a:r>
              <a:rPr lang="en-US" altLang="zh-CN" sz="2800" dirty="0"/>
              <a:t>{1,2,3,4}</a:t>
            </a:r>
            <a:r>
              <a:rPr lang="zh-CN" altLang="en-US" sz="2800" dirty="0"/>
              <a:t>，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</a:t>
            </a:r>
            <a:r>
              <a:rPr lang="en-US" altLang="zh-CN" sz="2800" dirty="0"/>
              <a:t>R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  <a:endParaRPr lang="zh-CN" altLang="en-US" sz="2800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FF00FF"/>
                </a:solidFill>
              </a:rPr>
              <a:t>P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1,1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2,4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4,3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Q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1,1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2,4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4,3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accent1"/>
                </a:solidFill>
              </a:rPr>
              <a:t>2,1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S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1,1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2,4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4,3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accent1"/>
                </a:solidFill>
              </a:rPr>
              <a:t>2,1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accent1"/>
                </a:solidFill>
              </a:rPr>
              <a:t>1,3</a:t>
            </a:r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1B2C810-734C-4F9D-7B9A-E700FA692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3.10.1 </a:t>
            </a:r>
            <a:r>
              <a:rPr lang="zh-CN" altLang="en-US" sz="5400"/>
              <a:t>闭包的定义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A487C89-8355-348D-5F5F-990F7296AF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例</a:t>
            </a:r>
            <a:r>
              <a:rPr lang="en-US" altLang="zh-CN" sz="2800">
                <a:solidFill>
                  <a:schemeClr val="hlink"/>
                </a:solidFill>
              </a:rPr>
              <a:t>3.10.4</a:t>
            </a:r>
            <a:r>
              <a:rPr lang="en-US" altLang="zh-CN" sz="2800"/>
              <a:t> </a:t>
            </a:r>
            <a:r>
              <a:rPr lang="zh-CN" altLang="en-US" sz="2800"/>
              <a:t>设</a:t>
            </a:r>
            <a:r>
              <a:rPr lang="en-US" altLang="zh-CN" sz="2800"/>
              <a:t>A</a:t>
            </a:r>
            <a:r>
              <a:rPr lang="zh-CN" altLang="en-US" sz="2800"/>
              <a:t>＝</a:t>
            </a:r>
            <a:r>
              <a:rPr lang="en-US" altLang="zh-CN" sz="2800"/>
              <a:t>{1,2,3,4}</a:t>
            </a:r>
            <a:r>
              <a:rPr lang="zh-CN" altLang="en-US" sz="2800"/>
              <a:t>，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</a:t>
            </a:r>
            <a:r>
              <a:rPr lang="en-US" altLang="zh-CN" sz="2800"/>
              <a:t>R</a:t>
            </a:r>
            <a:r>
              <a:rPr lang="zh-CN" altLang="en-US" sz="2800"/>
              <a:t>＝</a:t>
            </a:r>
            <a:r>
              <a:rPr lang="en-US" altLang="zh-CN" sz="2800"/>
              <a:t>{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1,1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2,3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3,2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4,3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/>
              <a:t>}</a:t>
            </a:r>
            <a:r>
              <a:rPr lang="zh-CN" altLang="en-US" sz="2800" b="1"/>
              <a:t>，</a:t>
            </a:r>
            <a:r>
              <a:rPr lang="zh-CN" altLang="en-US" sz="2800"/>
              <a:t>则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accent1"/>
                </a:solidFill>
              </a:rPr>
              <a:t>   r(R)</a:t>
            </a:r>
            <a:r>
              <a:rPr lang="zh-CN" altLang="en-US" sz="2800"/>
              <a:t>＝</a:t>
            </a:r>
            <a:r>
              <a:rPr lang="en-US" altLang="zh-CN" sz="2800"/>
              <a:t>{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1,1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2,3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3,2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4,3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/>
              <a:t>,</a:t>
            </a:r>
            <a:r>
              <a:rPr lang="en-US" altLang="zh-CN" sz="2800" b="1">
                <a:latin typeface="宋体" panose="02010600030101010101" pitchFamily="2" charset="-122"/>
              </a:rPr>
              <a:t>&lt;</a:t>
            </a:r>
            <a:r>
              <a:rPr lang="en-US" altLang="zh-CN" sz="2800"/>
              <a:t>2,2</a:t>
            </a:r>
            <a:r>
              <a:rPr lang="en-US" altLang="zh-CN" sz="2800" b="1">
                <a:latin typeface="宋体" panose="02010600030101010101" pitchFamily="2" charset="-122"/>
              </a:rPr>
              <a:t>&gt;</a:t>
            </a:r>
            <a:r>
              <a:rPr lang="en-US" altLang="zh-CN" sz="2800"/>
              <a:t>,</a:t>
            </a:r>
            <a:r>
              <a:rPr lang="en-US" altLang="zh-CN" sz="2800" b="1">
                <a:latin typeface="宋体" panose="02010600030101010101" pitchFamily="2" charset="-122"/>
              </a:rPr>
              <a:t>&lt;</a:t>
            </a:r>
            <a:r>
              <a:rPr lang="en-US" altLang="zh-CN" sz="2800"/>
              <a:t>3,3</a:t>
            </a:r>
            <a:r>
              <a:rPr lang="en-US" altLang="zh-CN" sz="2800" b="1">
                <a:latin typeface="宋体" panose="02010600030101010101" pitchFamily="2" charset="-122"/>
              </a:rPr>
              <a:t>&gt;</a:t>
            </a:r>
            <a:r>
              <a:rPr lang="en-US" altLang="zh-CN" sz="2800"/>
              <a:t>,</a:t>
            </a:r>
            <a:r>
              <a:rPr lang="en-US" altLang="zh-CN" sz="2800" b="1">
                <a:latin typeface="宋体" panose="02010600030101010101" pitchFamily="2" charset="-122"/>
              </a:rPr>
              <a:t>&lt;</a:t>
            </a:r>
            <a:r>
              <a:rPr lang="en-US" altLang="zh-CN" sz="2800"/>
              <a:t>4,4</a:t>
            </a:r>
            <a:r>
              <a:rPr lang="en-US" altLang="zh-CN" sz="2800" b="1">
                <a:latin typeface="宋体" panose="02010600030101010101" pitchFamily="2" charset="-122"/>
              </a:rPr>
              <a:t>&gt;</a:t>
            </a:r>
            <a:r>
              <a:rPr lang="en-US" altLang="zh-CN" sz="2800"/>
              <a:t>}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FF"/>
                </a:solidFill>
              </a:rPr>
              <a:t>   s(R)</a:t>
            </a:r>
            <a:r>
              <a:rPr lang="zh-CN" altLang="en-US" sz="2800"/>
              <a:t>＝</a:t>
            </a:r>
            <a:r>
              <a:rPr lang="en-US" altLang="zh-CN" sz="2800"/>
              <a:t>{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1,1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2,3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3,2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4,3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/>
              <a:t>,</a:t>
            </a:r>
            <a:r>
              <a:rPr lang="en-US" altLang="zh-CN" sz="2800" b="1">
                <a:latin typeface="宋体" panose="02010600030101010101" pitchFamily="2" charset="-122"/>
              </a:rPr>
              <a:t>&lt;</a:t>
            </a:r>
            <a:r>
              <a:rPr lang="en-US" altLang="zh-CN" sz="2800"/>
              <a:t>3,4</a:t>
            </a:r>
            <a:r>
              <a:rPr lang="en-US" altLang="zh-CN" sz="2800" b="1">
                <a:latin typeface="宋体" panose="02010600030101010101" pitchFamily="2" charset="-122"/>
              </a:rPr>
              <a:t>&gt;</a:t>
            </a:r>
            <a:r>
              <a:rPr lang="en-US" altLang="zh-CN" sz="2800"/>
              <a:t>}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accent1"/>
                </a:solidFill>
              </a:rPr>
              <a:t>   t(R)</a:t>
            </a:r>
            <a:r>
              <a:rPr lang="zh-CN" altLang="en-US" sz="2800"/>
              <a:t>＝</a:t>
            </a:r>
            <a:r>
              <a:rPr lang="en-US" altLang="zh-CN" sz="2800"/>
              <a:t>{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1,1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2,3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3,2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>
                <a:solidFill>
                  <a:schemeClr val="hlink"/>
                </a:solidFill>
              </a:rPr>
              <a:t>,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>
                <a:solidFill>
                  <a:schemeClr val="hlink"/>
                </a:solidFill>
              </a:rPr>
              <a:t>4,3</a:t>
            </a:r>
            <a:r>
              <a:rPr lang="en-US" altLang="zh-CN" sz="2800" b="1">
                <a:solidFill>
                  <a:schemeClr val="hlink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2800"/>
              <a:t>,</a:t>
            </a:r>
            <a:r>
              <a:rPr lang="en-US" altLang="zh-CN" sz="2800" b="1">
                <a:latin typeface="宋体" panose="02010600030101010101" pitchFamily="2" charset="-122"/>
              </a:rPr>
              <a:t>&lt;</a:t>
            </a:r>
            <a:r>
              <a:rPr lang="en-US" altLang="zh-CN" sz="2800"/>
              <a:t>2,2</a:t>
            </a:r>
            <a:r>
              <a:rPr lang="en-US" altLang="zh-CN" sz="2800" b="1">
                <a:latin typeface="宋体" panose="02010600030101010101" pitchFamily="2" charset="-122"/>
              </a:rPr>
              <a:t>&gt;</a:t>
            </a:r>
            <a:r>
              <a:rPr lang="en-US" altLang="zh-CN" sz="2800"/>
              <a:t>,</a:t>
            </a:r>
            <a:r>
              <a:rPr lang="en-US" altLang="zh-CN" sz="2800" b="1">
                <a:latin typeface="宋体" panose="02010600030101010101" pitchFamily="2" charset="-122"/>
              </a:rPr>
              <a:t>&lt;</a:t>
            </a:r>
            <a:r>
              <a:rPr lang="en-US" altLang="zh-CN" sz="2800"/>
              <a:t>3,3</a:t>
            </a:r>
            <a:r>
              <a:rPr lang="en-US" altLang="zh-CN" sz="2800" b="1">
                <a:latin typeface="宋体" panose="02010600030101010101" pitchFamily="2" charset="-122"/>
              </a:rPr>
              <a:t>&gt;</a:t>
            </a:r>
            <a:r>
              <a:rPr lang="en-US" altLang="zh-CN" sz="2800"/>
              <a:t>,</a:t>
            </a:r>
            <a:r>
              <a:rPr lang="en-US" altLang="zh-CN" sz="2800" b="1">
                <a:latin typeface="宋体" panose="02010600030101010101" pitchFamily="2" charset="-122"/>
              </a:rPr>
              <a:t>&lt;</a:t>
            </a:r>
            <a:r>
              <a:rPr lang="en-US" altLang="zh-CN" sz="2800"/>
              <a:t>4,2</a:t>
            </a:r>
            <a:r>
              <a:rPr lang="en-US" altLang="zh-CN" sz="2800" b="1">
                <a:latin typeface="宋体" panose="02010600030101010101" pitchFamily="2" charset="-122"/>
              </a:rPr>
              <a:t>&gt;</a:t>
            </a:r>
            <a:r>
              <a:rPr lang="en-US" altLang="zh-CN" sz="280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5773DFDC-B5D3-AD54-4493-77202E0092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3.10.2 </a:t>
            </a:r>
            <a:r>
              <a:rPr lang="zh-CN" altLang="en-US" sz="5400"/>
              <a:t>闭包的性质</a:t>
            </a:r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8E7A8E5A-5A80-B90C-97C0-D0FA3C16C54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916113"/>
            <a:ext cx="3673475" cy="494188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hlink"/>
                </a:solidFill>
              </a:rPr>
              <a:t>例</a:t>
            </a:r>
            <a:r>
              <a:rPr lang="en-US" altLang="zh-CN" sz="3200" dirty="0">
                <a:solidFill>
                  <a:schemeClr val="hlink"/>
                </a:solidFill>
              </a:rPr>
              <a:t>3.10.5 </a:t>
            </a:r>
            <a:r>
              <a:rPr lang="zh-CN" altLang="en-US" sz="3200" dirty="0"/>
              <a:t>设</a:t>
            </a:r>
            <a:r>
              <a:rPr lang="en-US" altLang="zh-CN" sz="3200" dirty="0"/>
              <a:t>R</a:t>
            </a:r>
            <a:r>
              <a:rPr lang="zh-CN" altLang="en-US" sz="3200" dirty="0"/>
              <a:t>与</a:t>
            </a:r>
            <a:r>
              <a:rPr lang="en-US" altLang="zh-CN" sz="3200" dirty="0"/>
              <a:t>H</a:t>
            </a:r>
            <a:r>
              <a:rPr lang="zh-CN" altLang="en-US" sz="3200" dirty="0"/>
              <a:t>均为</a:t>
            </a:r>
            <a:r>
              <a:rPr lang="en-US" altLang="zh-CN" sz="3200" dirty="0"/>
              <a:t>A</a:t>
            </a:r>
            <a:r>
              <a:rPr lang="zh-CN" altLang="en-US" sz="3200" dirty="0"/>
              <a:t>上的关系，且</a:t>
            </a:r>
            <a:r>
              <a:rPr lang="en-US" altLang="zh-CN" sz="3200" dirty="0">
                <a:solidFill>
                  <a:srgbClr val="FF00FF"/>
                </a:solidFill>
              </a:rPr>
              <a:t>R   H</a:t>
            </a:r>
            <a:r>
              <a:rPr lang="zh-CN" altLang="en-US" sz="3200" dirty="0"/>
              <a:t>，</a:t>
            </a:r>
            <a:r>
              <a:rPr lang="zh-CN" altLang="en-US" sz="3200" dirty="0">
                <a:solidFill>
                  <a:schemeClr val="hlink"/>
                </a:solidFill>
              </a:rPr>
              <a:t>则</a:t>
            </a:r>
            <a:r>
              <a:rPr lang="zh-CN" altLang="en-US" sz="3200" dirty="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/>
              <a:t>   </a:t>
            </a:r>
            <a:r>
              <a:rPr lang="en-US" altLang="zh-CN" sz="3200" dirty="0">
                <a:solidFill>
                  <a:schemeClr val="accent1"/>
                </a:solidFill>
              </a:rPr>
              <a:t>(1)</a:t>
            </a:r>
            <a:r>
              <a:rPr lang="en-US" altLang="zh-CN" sz="3200" dirty="0"/>
              <a:t> r(R)   r(H)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   </a:t>
            </a:r>
            <a:r>
              <a:rPr lang="en-US" altLang="zh-CN" sz="3200" dirty="0">
                <a:solidFill>
                  <a:srgbClr val="FF00FF"/>
                </a:solidFill>
              </a:rPr>
              <a:t>(2)</a:t>
            </a:r>
            <a:r>
              <a:rPr lang="en-US" altLang="zh-CN" sz="3200" dirty="0"/>
              <a:t> s(R)   s(H)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   </a:t>
            </a:r>
            <a:r>
              <a:rPr lang="en-US" altLang="zh-CN" sz="3200" dirty="0">
                <a:solidFill>
                  <a:schemeClr val="accent1"/>
                </a:solidFill>
              </a:rPr>
              <a:t>(3)</a:t>
            </a:r>
            <a:r>
              <a:rPr lang="en-US" altLang="zh-CN" sz="3200" dirty="0"/>
              <a:t> t(R)   t(H)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chemeClr val="hlink"/>
                </a:solidFill>
              </a:rPr>
              <a:t>   </a:t>
            </a:r>
            <a:endParaRPr lang="en-US" altLang="zh-CN" sz="900" dirty="0"/>
          </a:p>
        </p:txBody>
      </p:sp>
      <p:sp>
        <p:nvSpPr>
          <p:cNvPr id="11268" name="Rectangle 6">
            <a:extLst>
              <a:ext uri="{FF2B5EF4-FFF2-40B4-BE49-F238E27FC236}">
                <a16:creationId xmlns:a16="http://schemas.microsoft.com/office/drawing/2014/main" id="{B0AC9361-949B-3DCC-3268-FAF0649106E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284663" y="1916113"/>
            <a:ext cx="4643437" cy="49418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chemeClr val="hlink"/>
                </a:solidFill>
              </a:rPr>
              <a:t>证明</a:t>
            </a:r>
            <a:r>
              <a:rPr lang="en-US" altLang="zh-CN" sz="3200">
                <a:solidFill>
                  <a:schemeClr val="accent1"/>
                </a:solidFill>
              </a:rPr>
              <a:t>(1) </a:t>
            </a:r>
            <a:r>
              <a:rPr lang="en-US" altLang="zh-CN" sz="3200"/>
              <a:t>R   H</a:t>
            </a:r>
            <a:endParaRPr lang="en-US" altLang="zh-CN" sz="9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/>
              <a:t>      R∪I</a:t>
            </a:r>
            <a:r>
              <a:rPr lang="en-US" altLang="zh-CN" sz="3200" baseline="-25000"/>
              <a:t>A</a:t>
            </a:r>
            <a:r>
              <a:rPr lang="en-US" altLang="zh-CN" sz="3200"/>
              <a:t>    H∪I</a:t>
            </a:r>
            <a:r>
              <a:rPr lang="en-US" altLang="zh-CN" sz="3200" baseline="-25000"/>
              <a:t>A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>
                <a:solidFill>
                  <a:srgbClr val="FF00FF"/>
                </a:solidFill>
              </a:rPr>
              <a:t>(2)</a:t>
            </a:r>
            <a:r>
              <a:rPr lang="zh-CN" altLang="en-US" sz="3200"/>
              <a:t>由</a:t>
            </a:r>
            <a:r>
              <a:rPr lang="en-US" altLang="zh-CN" sz="3200"/>
              <a:t>R   H</a:t>
            </a:r>
            <a:r>
              <a:rPr lang="zh-CN" altLang="en-US" sz="3200"/>
              <a:t>知</a:t>
            </a:r>
            <a:r>
              <a:rPr lang="en-US" altLang="zh-CN" sz="3200"/>
              <a:t>R</a:t>
            </a:r>
            <a:r>
              <a:rPr lang="en-US" altLang="zh-CN" sz="3200" baseline="30000"/>
              <a:t>-1</a:t>
            </a:r>
            <a:r>
              <a:rPr lang="en-US" altLang="zh-CN" sz="3200"/>
              <a:t>   H</a:t>
            </a:r>
            <a:r>
              <a:rPr lang="en-US" altLang="zh-CN" sz="3200" baseline="30000"/>
              <a:t>-1</a:t>
            </a:r>
            <a:endParaRPr lang="en-US" altLang="zh-CN" sz="32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/>
              <a:t>   </a:t>
            </a:r>
            <a:r>
              <a:rPr lang="zh-CN" altLang="en-US" sz="3200"/>
              <a:t>  </a:t>
            </a:r>
            <a:r>
              <a:rPr lang="en-US" altLang="zh-CN" sz="3200"/>
              <a:t>R∪R</a:t>
            </a:r>
            <a:r>
              <a:rPr lang="en-US" altLang="zh-CN" sz="3200" baseline="30000"/>
              <a:t>-1     </a:t>
            </a:r>
            <a:r>
              <a:rPr lang="en-US" altLang="zh-CN" sz="3200"/>
              <a:t>H∪H</a:t>
            </a:r>
            <a:r>
              <a:rPr lang="en-US" altLang="zh-CN" sz="3200" baseline="30000"/>
              <a:t>-1</a:t>
            </a:r>
            <a:endParaRPr lang="zh-CN" altLang="en-US" sz="32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>
                <a:solidFill>
                  <a:schemeClr val="accent1"/>
                </a:solidFill>
              </a:rPr>
              <a:t>(3)</a:t>
            </a:r>
            <a:r>
              <a:rPr lang="zh-CN" altLang="en-US" sz="3200"/>
              <a:t>由</a:t>
            </a:r>
            <a:r>
              <a:rPr lang="en-US" altLang="zh-CN" sz="3200"/>
              <a:t>R   H   t(H)</a:t>
            </a:r>
            <a:r>
              <a:rPr lang="zh-CN" altLang="en-US" sz="3200"/>
              <a:t>知</a:t>
            </a:r>
            <a:endParaRPr lang="en-US" altLang="zh-CN" sz="32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/>
              <a:t>   t(H)</a:t>
            </a:r>
            <a:r>
              <a:rPr lang="zh-CN" altLang="en-US" sz="3200"/>
              <a:t>包含</a:t>
            </a:r>
            <a:r>
              <a:rPr lang="en-US" altLang="zh-CN" sz="3200"/>
              <a:t>R</a:t>
            </a:r>
            <a:r>
              <a:rPr lang="zh-CN" altLang="en-US" sz="3200"/>
              <a:t>的传递关系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/>
              <a:t>   </a:t>
            </a:r>
            <a:r>
              <a:rPr lang="en-US" altLang="zh-CN" sz="3200"/>
              <a:t>t(R)</a:t>
            </a:r>
            <a:r>
              <a:rPr lang="zh-CN" altLang="en-US" sz="3200"/>
              <a:t>包含</a:t>
            </a:r>
            <a:r>
              <a:rPr lang="en-US" altLang="zh-CN" sz="3200"/>
              <a:t>R</a:t>
            </a:r>
            <a:r>
              <a:rPr lang="zh-CN" altLang="en-US" sz="3200"/>
              <a:t>的</a:t>
            </a:r>
            <a:r>
              <a:rPr lang="zh-CN" altLang="en-US" sz="3200">
                <a:solidFill>
                  <a:srgbClr val="CC0066"/>
                </a:solidFill>
              </a:rPr>
              <a:t>最小</a:t>
            </a:r>
            <a:r>
              <a:rPr lang="zh-CN" altLang="en-US" sz="3200"/>
              <a:t>传递</a:t>
            </a:r>
          </a:p>
        </p:txBody>
      </p:sp>
      <p:graphicFrame>
        <p:nvGraphicFramePr>
          <p:cNvPr id="11269" name="Object 7">
            <a:extLst>
              <a:ext uri="{FF2B5EF4-FFF2-40B4-BE49-F238E27FC236}">
                <a16:creationId xmlns:a16="http://schemas.microsoft.com/office/drawing/2014/main" id="{434B18A3-C784-B138-B5AB-2B471C58BF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611563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611563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8">
            <a:extLst>
              <a:ext uri="{FF2B5EF4-FFF2-40B4-BE49-F238E27FC236}">
                <a16:creationId xmlns:a16="http://schemas.microsoft.com/office/drawing/2014/main" id="{5D838765-1839-5386-6497-84C21D7A3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4487863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487863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9">
            <a:extLst>
              <a:ext uri="{FF2B5EF4-FFF2-40B4-BE49-F238E27FC236}">
                <a16:creationId xmlns:a16="http://schemas.microsoft.com/office/drawing/2014/main" id="{89929A62-0348-51EE-685C-006B79B33A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0438" y="5303838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5303838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10">
            <a:extLst>
              <a:ext uri="{FF2B5EF4-FFF2-40B4-BE49-F238E27FC236}">
                <a16:creationId xmlns:a16="http://schemas.microsoft.com/office/drawing/2014/main" id="{1F14E089-76C5-DB2B-07FE-291A7A6FAE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2813" y="6143625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6143625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11">
            <a:extLst>
              <a:ext uri="{FF2B5EF4-FFF2-40B4-BE49-F238E27FC236}">
                <a16:creationId xmlns:a16="http://schemas.microsoft.com/office/drawing/2014/main" id="{D6114F14-4D70-5D30-1CDC-D8DFD5D62B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2768600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2768600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12">
            <a:extLst>
              <a:ext uri="{FF2B5EF4-FFF2-40B4-BE49-F238E27FC236}">
                <a16:creationId xmlns:a16="http://schemas.microsoft.com/office/drawing/2014/main" id="{5C0430EB-8581-D3E5-21C8-3F5072091A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2078038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68" imgH="152268" progId="Equation.DSMT4">
                  <p:embed/>
                </p:oleObj>
              </mc:Choice>
              <mc:Fallback>
                <p:oleObj name="Equation" r:id="rId8" imgW="152268" imgH="15226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078038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4">
            <a:extLst>
              <a:ext uri="{FF2B5EF4-FFF2-40B4-BE49-F238E27FC236}">
                <a16:creationId xmlns:a16="http://schemas.microsoft.com/office/drawing/2014/main" id="{44FC392B-FA3C-3EBB-1E55-2D002BE236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3432175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268" imgH="152268" progId="Equation.DSMT4">
                  <p:embed/>
                </p:oleObj>
              </mc:Choice>
              <mc:Fallback>
                <p:oleObj name="Equation" r:id="rId9" imgW="152268" imgH="152268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432175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15">
            <a:extLst>
              <a:ext uri="{FF2B5EF4-FFF2-40B4-BE49-F238E27FC236}">
                <a16:creationId xmlns:a16="http://schemas.microsoft.com/office/drawing/2014/main" id="{4AC3161C-4BB1-D095-6553-1D3D25AE4D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3432175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268" imgH="152268" progId="Equation.DSMT4">
                  <p:embed/>
                </p:oleObj>
              </mc:Choice>
              <mc:Fallback>
                <p:oleObj name="Equation" r:id="rId10" imgW="152268" imgH="15226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432175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7" name="Object 16">
            <a:extLst>
              <a:ext uri="{FF2B5EF4-FFF2-40B4-BE49-F238E27FC236}">
                <a16:creationId xmlns:a16="http://schemas.microsoft.com/office/drawing/2014/main" id="{6866C466-7740-0076-7161-A2923BB121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4152900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68" imgH="152268" progId="Equation.DSMT4">
                  <p:embed/>
                </p:oleObj>
              </mc:Choice>
              <mc:Fallback>
                <p:oleObj name="Equation" r:id="rId11" imgW="152268" imgH="152268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152900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8" name="Object 18">
            <a:extLst>
              <a:ext uri="{FF2B5EF4-FFF2-40B4-BE49-F238E27FC236}">
                <a16:creationId xmlns:a16="http://schemas.microsoft.com/office/drawing/2014/main" id="{689DB342-737A-F767-E059-AC1FFC7DB7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4800600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268" imgH="152268" progId="Equation.DSMT4">
                  <p:embed/>
                </p:oleObj>
              </mc:Choice>
              <mc:Fallback>
                <p:oleObj name="Equation" r:id="rId12" imgW="152268" imgH="152268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4800600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9" name="Object 19">
            <a:extLst>
              <a:ext uri="{FF2B5EF4-FFF2-40B4-BE49-F238E27FC236}">
                <a16:creationId xmlns:a16="http://schemas.microsoft.com/office/drawing/2014/main" id="{C602AF44-948A-C942-A3A6-988F257062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4025" y="4800600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268" imgH="152268" progId="Equation.DSMT4">
                  <p:embed/>
                </p:oleObj>
              </mc:Choice>
              <mc:Fallback>
                <p:oleObj name="Equation" r:id="rId13" imgW="152268" imgH="152268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4025" y="4800600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1">
            <a:extLst>
              <a:ext uri="{FF2B5EF4-FFF2-40B4-BE49-F238E27FC236}">
                <a16:creationId xmlns:a16="http://schemas.microsoft.com/office/drawing/2014/main" id="{F7A81BED-824D-4513-402A-86CA4D2E6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3.10.2 </a:t>
            </a:r>
            <a:r>
              <a:rPr lang="zh-CN" altLang="en-US" sz="5400"/>
              <a:t>闭包的性质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594C511-4467-40AA-2772-1E47D5FE3F7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3.10.1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   </a:t>
            </a:r>
            <a:r>
              <a:rPr lang="en-US" altLang="zh-CN" dirty="0"/>
              <a:t>A×A</a:t>
            </a:r>
            <a:r>
              <a:rPr lang="zh-CN" altLang="en-US" dirty="0"/>
              <a:t>，则</a:t>
            </a:r>
            <a:r>
              <a:rPr lang="en-US" altLang="zh-CN" dirty="0">
                <a:solidFill>
                  <a:schemeClr val="accent1"/>
                </a:solidFill>
              </a:rPr>
              <a:t>r(R)</a:t>
            </a:r>
            <a:r>
              <a:rPr lang="zh-CN" altLang="en-US" dirty="0"/>
              <a:t>＝</a:t>
            </a:r>
            <a:r>
              <a:rPr lang="en-US" altLang="zh-CN" dirty="0"/>
              <a:t>R∪</a:t>
            </a:r>
            <a:r>
              <a:rPr lang="en-US" altLang="zh-CN" dirty="0">
                <a:solidFill>
                  <a:srgbClr val="FF00FF"/>
                </a:solidFill>
              </a:rPr>
              <a:t>I</a:t>
            </a:r>
            <a:r>
              <a:rPr lang="en-US" altLang="zh-CN" baseline="-25000" dirty="0">
                <a:solidFill>
                  <a:srgbClr val="FF00FF"/>
                </a:solidFill>
              </a:rPr>
              <a:t>A</a:t>
            </a:r>
            <a:endParaRPr lang="en-US" altLang="zh-CN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 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①显然</a:t>
            </a:r>
            <a:r>
              <a:rPr lang="en-US" altLang="zh-CN" dirty="0"/>
              <a:t>R∪I</a:t>
            </a:r>
            <a:r>
              <a:rPr lang="en-US" altLang="zh-CN" baseline="-25000" dirty="0"/>
              <a:t>A    </a:t>
            </a:r>
            <a:r>
              <a:rPr lang="en-US" altLang="zh-CN" dirty="0"/>
              <a:t>R</a:t>
            </a:r>
            <a:endParaRPr lang="zh-CN" altLang="en-US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</a:t>
            </a:r>
            <a:r>
              <a:rPr lang="zh-CN" altLang="zh-CN" dirty="0"/>
              <a:t>②</a:t>
            </a:r>
            <a:r>
              <a:rPr lang="zh-CN" altLang="en-US" dirty="0"/>
              <a:t>任取</a:t>
            </a:r>
            <a:r>
              <a:rPr lang="en-US" altLang="zh-CN" dirty="0" err="1"/>
              <a:t>a∈A</a:t>
            </a:r>
            <a:r>
              <a:rPr lang="zh-CN" altLang="en-US" dirty="0"/>
              <a:t>，则</a:t>
            </a:r>
            <a:r>
              <a:rPr lang="en-US" altLang="zh-CN" b="1" dirty="0">
                <a:latin typeface="宋体" panose="02010600030101010101" pitchFamily="2" charset="-122"/>
              </a:rPr>
              <a:t>&lt;</a:t>
            </a:r>
            <a:r>
              <a:rPr lang="en-US" altLang="zh-CN" dirty="0" err="1"/>
              <a:t>a,a</a:t>
            </a:r>
            <a:r>
              <a:rPr lang="en-US" altLang="zh-CN" b="1" dirty="0">
                <a:latin typeface="宋体" panose="02010600030101010101" pitchFamily="2" charset="-122"/>
              </a:rPr>
              <a:t>&gt;</a:t>
            </a:r>
            <a:r>
              <a:rPr lang="en-US" altLang="zh-CN" dirty="0"/>
              <a:t>∈I</a:t>
            </a:r>
            <a:r>
              <a:rPr lang="en-US" altLang="zh-CN" baseline="-25000" dirty="0"/>
              <a:t>A</a:t>
            </a:r>
            <a:r>
              <a:rPr lang="zh-CN" altLang="en-US" dirty="0"/>
              <a:t>   </a:t>
            </a:r>
            <a:r>
              <a:rPr lang="en-US" altLang="zh-CN" dirty="0"/>
              <a:t>R∪I</a:t>
            </a:r>
            <a:r>
              <a:rPr lang="en-US" altLang="zh-CN" baseline="-25000" dirty="0"/>
              <a:t>A</a:t>
            </a:r>
            <a:endParaRPr lang="en-US" altLang="zh-CN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</a:t>
            </a:r>
            <a:r>
              <a:rPr lang="zh-CN" altLang="zh-CN" dirty="0"/>
              <a:t>③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自反且</a:t>
            </a: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   R</a:t>
            </a:r>
            <a:r>
              <a:rPr lang="zh-CN" altLang="en-US" dirty="0"/>
              <a:t>，则</a:t>
            </a: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  </a:t>
            </a: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   I</a:t>
            </a:r>
            <a:r>
              <a:rPr lang="en-US" altLang="zh-CN" baseline="-25000" dirty="0"/>
              <a:t>A</a:t>
            </a:r>
            <a:r>
              <a:rPr lang="zh-CN" altLang="en-US" dirty="0"/>
              <a:t>且</a:t>
            </a: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   R</a:t>
            </a:r>
            <a:r>
              <a:rPr lang="zh-CN" altLang="en-US" dirty="0"/>
              <a:t>          </a:t>
            </a:r>
            <a:r>
              <a:rPr lang="en-US" altLang="zh-CN" dirty="0"/>
              <a:t>R</a:t>
            </a:r>
            <a:r>
              <a:rPr lang="en-US" altLang="zh-CN" baseline="-25000" dirty="0"/>
              <a:t>1    </a:t>
            </a:r>
            <a:r>
              <a:rPr lang="en-US" altLang="zh-CN" dirty="0"/>
              <a:t>R∪I</a:t>
            </a:r>
            <a:r>
              <a:rPr lang="en-US" altLang="zh-CN" baseline="-25000" dirty="0"/>
              <a:t>A</a:t>
            </a:r>
            <a:endParaRPr lang="zh-CN" altLang="en-US" dirty="0"/>
          </a:p>
        </p:txBody>
      </p:sp>
      <p:graphicFrame>
        <p:nvGraphicFramePr>
          <p:cNvPr id="12292" name="Object 10">
            <a:extLst>
              <a:ext uri="{FF2B5EF4-FFF2-40B4-BE49-F238E27FC236}">
                <a16:creationId xmlns:a16="http://schemas.microsoft.com/office/drawing/2014/main" id="{6552EDFE-4312-6AD6-5A94-C3EF495ADB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5160963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160963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23">
            <a:extLst>
              <a:ext uri="{FF2B5EF4-FFF2-40B4-BE49-F238E27FC236}">
                <a16:creationId xmlns:a16="http://schemas.microsoft.com/office/drawing/2014/main" id="{D6128F4F-4017-DBD3-B545-BA58D09642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3838" y="3144838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838" y="3144838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24">
            <a:extLst>
              <a:ext uri="{FF2B5EF4-FFF2-40B4-BE49-F238E27FC236}">
                <a16:creationId xmlns:a16="http://schemas.microsoft.com/office/drawing/2014/main" id="{768AC494-9D12-2CD2-7AD5-CFC9452379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9863" y="6096000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9863" y="6096000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25">
            <a:extLst>
              <a:ext uri="{FF2B5EF4-FFF2-40B4-BE49-F238E27FC236}">
                <a16:creationId xmlns:a16="http://schemas.microsoft.com/office/drawing/2014/main" id="{B975EEA9-D931-10A5-F53B-5E0A05674C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3513" y="6096000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13" y="6096000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26">
            <a:extLst>
              <a:ext uri="{FF2B5EF4-FFF2-40B4-BE49-F238E27FC236}">
                <a16:creationId xmlns:a16="http://schemas.microsoft.com/office/drawing/2014/main" id="{912F911E-B207-8B3C-3A0F-7A0C5F7CED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4813" y="6096000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6096000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对象 1">
            <a:extLst>
              <a:ext uri="{FF2B5EF4-FFF2-40B4-BE49-F238E27FC236}">
                <a16:creationId xmlns:a16="http://schemas.microsoft.com/office/drawing/2014/main" id="{529492F3-A071-FF9F-815E-0255CD175D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2675" y="2227263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68" imgH="152268" progId="Equation.DSMT4">
                  <p:embed/>
                </p:oleObj>
              </mc:Choice>
              <mc:Fallback>
                <p:oleObj name="Equation" r:id="rId8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2675" y="2227263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对象 2">
            <a:extLst>
              <a:ext uri="{FF2B5EF4-FFF2-40B4-BE49-F238E27FC236}">
                <a16:creationId xmlns:a16="http://schemas.microsoft.com/office/drawing/2014/main" id="{A8084362-337A-C5C0-6EAC-E07DA4B6CF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8263" y="4159250"/>
          <a:ext cx="3857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268" imgH="152268" progId="Equation.DSMT4">
                  <p:embed/>
                </p:oleObj>
              </mc:Choice>
              <mc:Fallback>
                <p:oleObj name="Equation" r:id="rId10" imgW="152268" imgH="152268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263" y="4159250"/>
                        <a:ext cx="3857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>
            <a:extLst>
              <a:ext uri="{FF2B5EF4-FFF2-40B4-BE49-F238E27FC236}">
                <a16:creationId xmlns:a16="http://schemas.microsoft.com/office/drawing/2014/main" id="{F9949DD8-EAEF-5578-8772-EAC1483D6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3.10.2 </a:t>
            </a:r>
            <a:r>
              <a:rPr lang="zh-CN" altLang="en-US" sz="5400"/>
              <a:t>闭包的性质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83D62D-D9B9-4274-DAE8-678BDB86CF3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95288" y="2276475"/>
            <a:ext cx="4248150" cy="4581525"/>
          </a:xfrm>
        </p:spPr>
        <p:txBody>
          <a:bodyPr/>
          <a:lstStyle/>
          <a:p>
            <a:pPr eaLnBrk="1" hangingPunct="1">
              <a:lnSpc>
                <a:spcPct val="195000"/>
              </a:lnSpc>
            </a:pPr>
            <a:r>
              <a:rPr lang="zh-CN" altLang="en-US" b="1">
                <a:solidFill>
                  <a:schemeClr val="hlink"/>
                </a:solidFill>
              </a:rPr>
              <a:t>证明</a:t>
            </a:r>
            <a:r>
              <a:rPr lang="zh-CN" altLang="en-US" b="1"/>
              <a:t> </a:t>
            </a:r>
            <a:r>
              <a:rPr lang="en-US" altLang="zh-CN"/>
              <a:t>(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en-US" altLang="zh-CN"/>
              <a:t>)R∪R</a:t>
            </a:r>
            <a:r>
              <a:rPr lang="en-US" altLang="zh-CN" baseline="30000"/>
              <a:t>-1     </a:t>
            </a:r>
            <a:r>
              <a:rPr lang="en-US" altLang="zh-CN"/>
              <a:t>R</a:t>
            </a:r>
            <a:endParaRPr lang="zh-CN" altLang="en-US"/>
          </a:p>
          <a:p>
            <a:pPr eaLnBrk="1" hangingPunct="1">
              <a:lnSpc>
                <a:spcPct val="195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en-US" altLang="zh-CN"/>
              <a:t>)</a:t>
            </a:r>
            <a:r>
              <a:rPr lang="zh-CN" altLang="en-US"/>
              <a:t>设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a,b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∈R∪R</a:t>
            </a:r>
            <a:r>
              <a:rPr lang="en-US" altLang="zh-CN" baseline="30000"/>
              <a:t>-1</a:t>
            </a:r>
            <a:endParaRPr lang="en-US" altLang="zh-CN"/>
          </a:p>
          <a:p>
            <a:pPr eaLnBrk="1" hangingPunct="1">
              <a:lnSpc>
                <a:spcPct val="195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  &lt;</a:t>
            </a:r>
            <a:r>
              <a:rPr lang="en-US" altLang="zh-CN"/>
              <a:t>a,b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∈R</a:t>
            </a:r>
            <a:r>
              <a:rPr lang="zh-CN" altLang="en-US"/>
              <a:t>或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a,b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∈R</a:t>
            </a:r>
            <a:r>
              <a:rPr lang="en-US" altLang="zh-CN" baseline="30000"/>
              <a:t>-1</a:t>
            </a:r>
            <a:endParaRPr lang="en-US" altLang="zh-CN"/>
          </a:p>
          <a:p>
            <a:pPr eaLnBrk="1" hangingPunct="1">
              <a:lnSpc>
                <a:spcPct val="195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b,a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∈R</a:t>
            </a:r>
            <a:r>
              <a:rPr lang="en-US" altLang="zh-CN" baseline="30000"/>
              <a:t>-1</a:t>
            </a:r>
            <a:r>
              <a:rPr lang="zh-CN" altLang="en-US"/>
              <a:t>或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b,a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∈R</a:t>
            </a:r>
          </a:p>
          <a:p>
            <a:pPr eaLnBrk="1" hangingPunct="1">
              <a:lnSpc>
                <a:spcPct val="195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  &lt;</a:t>
            </a:r>
            <a:r>
              <a:rPr lang="en-US" altLang="zh-CN"/>
              <a:t>b,a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∈R∪R</a:t>
            </a:r>
            <a:r>
              <a:rPr lang="en-US" altLang="zh-CN" baseline="30000"/>
              <a:t>-1</a:t>
            </a:r>
            <a:endParaRPr lang="zh-CN" altLang="en-US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endParaRPr lang="en-US" altLang="zh-CN"/>
          </a:p>
        </p:txBody>
      </p:sp>
      <p:sp>
        <p:nvSpPr>
          <p:cNvPr id="13316" name="内容占位符 1">
            <a:extLst>
              <a:ext uri="{FF2B5EF4-FFF2-40B4-BE49-F238E27FC236}">
                <a16:creationId xmlns:a16="http://schemas.microsoft.com/office/drawing/2014/main" id="{085CCFE2-B409-EFE7-7BE1-EA15A7A5B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3438" y="3141663"/>
            <a:ext cx="4284662" cy="3716337"/>
          </a:xfrm>
        </p:spPr>
        <p:txBody>
          <a:bodyPr/>
          <a:lstStyle/>
          <a:p>
            <a:pPr eaLnBrk="1" hangingPunct="1">
              <a:lnSpc>
                <a:spcPct val="195000"/>
              </a:lnSpc>
              <a:buFont typeface="Wingdings" panose="05000000000000000000" pitchFamily="2" charset="2"/>
              <a:buNone/>
            </a:pPr>
            <a:r>
              <a:rPr lang="en-US" altLang="zh-CN"/>
              <a:t>(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en-US" altLang="zh-CN"/>
              <a:t>)</a:t>
            </a:r>
            <a:r>
              <a:rPr lang="zh-CN" altLang="en-US"/>
              <a:t>设</a:t>
            </a:r>
            <a:r>
              <a:rPr lang="en-US" altLang="zh-CN"/>
              <a:t>R</a:t>
            </a:r>
            <a:r>
              <a:rPr lang="en-US" altLang="zh-CN" baseline="-25000"/>
              <a:t>1</a:t>
            </a:r>
            <a:r>
              <a:rPr lang="zh-CN" altLang="en-US"/>
              <a:t>对称且</a:t>
            </a:r>
            <a:r>
              <a:rPr lang="en-US" altLang="zh-CN"/>
              <a:t>R</a:t>
            </a:r>
            <a:r>
              <a:rPr lang="en-US" altLang="zh-CN" baseline="-25000"/>
              <a:t>1    </a:t>
            </a:r>
            <a:r>
              <a:rPr lang="en-US" altLang="zh-CN"/>
              <a:t>R</a:t>
            </a:r>
          </a:p>
          <a:p>
            <a:pPr eaLnBrk="1" hangingPunct="1">
              <a:lnSpc>
                <a:spcPct val="195000"/>
              </a:lnSpc>
              <a:buFont typeface="Wingdings" panose="05000000000000000000" pitchFamily="2" charset="2"/>
              <a:buNone/>
            </a:pPr>
            <a:r>
              <a:rPr lang="en-US" altLang="zh-CN"/>
              <a:t>    (R</a:t>
            </a:r>
            <a:r>
              <a:rPr lang="en-US" altLang="zh-CN" baseline="-25000"/>
              <a:t>1</a:t>
            </a:r>
            <a:r>
              <a:rPr lang="en-US" altLang="zh-CN"/>
              <a:t>)</a:t>
            </a:r>
            <a:r>
              <a:rPr lang="en-US" altLang="zh-CN" baseline="30000"/>
              <a:t>-1</a:t>
            </a:r>
            <a:r>
              <a:rPr lang="zh-CN" altLang="en-US"/>
              <a:t>＝</a:t>
            </a:r>
            <a:r>
              <a:rPr lang="en-US" altLang="zh-CN"/>
              <a:t>R</a:t>
            </a:r>
            <a:r>
              <a:rPr lang="en-US" altLang="zh-CN" baseline="-25000"/>
              <a:t>1</a:t>
            </a:r>
            <a:r>
              <a:rPr lang="zh-CN" altLang="en-US"/>
              <a:t>且</a:t>
            </a:r>
            <a:r>
              <a:rPr lang="en-US" altLang="zh-CN"/>
              <a:t>(R</a:t>
            </a:r>
            <a:r>
              <a:rPr lang="en-US" altLang="zh-CN" baseline="-25000"/>
              <a:t>1</a:t>
            </a:r>
            <a:r>
              <a:rPr lang="en-US" altLang="zh-CN"/>
              <a:t>)</a:t>
            </a:r>
            <a:r>
              <a:rPr lang="en-US" altLang="zh-CN" baseline="30000"/>
              <a:t>-1     </a:t>
            </a:r>
            <a:r>
              <a:rPr lang="en-US" altLang="zh-CN"/>
              <a:t>R</a:t>
            </a:r>
            <a:r>
              <a:rPr lang="en-US" altLang="zh-CN" baseline="30000"/>
              <a:t>-1</a:t>
            </a:r>
            <a:endParaRPr lang="en-US" altLang="zh-CN"/>
          </a:p>
          <a:p>
            <a:pPr eaLnBrk="1" hangingPunct="1">
              <a:lnSpc>
                <a:spcPct val="195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R</a:t>
            </a:r>
            <a:r>
              <a:rPr lang="en-US" altLang="zh-CN" baseline="-25000"/>
              <a:t>1</a:t>
            </a:r>
            <a:r>
              <a:rPr lang="en-US" altLang="zh-CN"/>
              <a:t>∪(R</a:t>
            </a:r>
            <a:r>
              <a:rPr lang="en-US" altLang="zh-CN" baseline="-25000"/>
              <a:t>1</a:t>
            </a:r>
            <a:r>
              <a:rPr lang="en-US" altLang="zh-CN"/>
              <a:t>)</a:t>
            </a:r>
            <a:r>
              <a:rPr lang="en-US" altLang="zh-CN" baseline="30000"/>
              <a:t>-1      </a:t>
            </a:r>
            <a:r>
              <a:rPr lang="en-US" altLang="zh-CN"/>
              <a:t>R∪R</a:t>
            </a:r>
            <a:r>
              <a:rPr lang="en-US" altLang="zh-CN" baseline="30000"/>
              <a:t>-1</a:t>
            </a:r>
            <a:r>
              <a:rPr lang="en-US" altLang="zh-CN"/>
              <a:t> </a:t>
            </a:r>
          </a:p>
          <a:p>
            <a:pPr eaLnBrk="1" hangingPunct="1">
              <a:lnSpc>
                <a:spcPct val="195000"/>
              </a:lnSpc>
              <a:buFont typeface="Wingdings" panose="05000000000000000000" pitchFamily="2" charset="2"/>
              <a:buNone/>
            </a:pPr>
            <a:r>
              <a:rPr lang="en-US" altLang="zh-CN"/>
              <a:t>    R</a:t>
            </a:r>
            <a:r>
              <a:rPr lang="en-US" altLang="zh-CN" baseline="-25000"/>
              <a:t>1     </a:t>
            </a:r>
            <a:r>
              <a:rPr lang="en-US" altLang="zh-CN"/>
              <a:t>R∪R</a:t>
            </a:r>
            <a:r>
              <a:rPr lang="en-US" altLang="zh-CN" baseline="30000"/>
              <a:t>-1</a:t>
            </a:r>
            <a:r>
              <a:rPr lang="en-US" altLang="zh-CN"/>
              <a:t> </a:t>
            </a:r>
          </a:p>
        </p:txBody>
      </p:sp>
      <p:graphicFrame>
        <p:nvGraphicFramePr>
          <p:cNvPr id="13317" name="Object 10">
            <a:extLst>
              <a:ext uri="{FF2B5EF4-FFF2-40B4-BE49-F238E27FC236}">
                <a16:creationId xmlns:a16="http://schemas.microsoft.com/office/drawing/2014/main" id="{97D94A68-33EA-376B-C4FE-DFF73CCBB1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2640013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640013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1">
            <a:extLst>
              <a:ext uri="{FF2B5EF4-FFF2-40B4-BE49-F238E27FC236}">
                <a16:creationId xmlns:a16="http://schemas.microsoft.com/office/drawing/2014/main" id="{5114B41B-2DAB-705A-6C1D-ACC3FB30E6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8625" y="5351463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25" y="5351463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3">
            <a:extLst>
              <a:ext uri="{FF2B5EF4-FFF2-40B4-BE49-F238E27FC236}">
                <a16:creationId xmlns:a16="http://schemas.microsoft.com/office/drawing/2014/main" id="{41E0B522-EF28-C04E-6E8F-C66FF9D18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1963" y="6240463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1963" y="6240463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14">
            <a:extLst>
              <a:ext uri="{FF2B5EF4-FFF2-40B4-BE49-F238E27FC236}">
                <a16:creationId xmlns:a16="http://schemas.microsoft.com/office/drawing/2014/main" id="{0805D0F1-C688-4940-BCFB-512A326317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96150" y="3454400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6150" y="3454400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15">
            <a:extLst>
              <a:ext uri="{FF2B5EF4-FFF2-40B4-BE49-F238E27FC236}">
                <a16:creationId xmlns:a16="http://schemas.microsoft.com/office/drawing/2014/main" id="{614ED574-1471-C408-6076-41EA492923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43850" y="4440238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3850" y="4440238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矩形 2">
            <a:extLst>
              <a:ext uri="{FF2B5EF4-FFF2-40B4-BE49-F238E27FC236}">
                <a16:creationId xmlns:a16="http://schemas.microsoft.com/office/drawing/2014/main" id="{B9810E10-0020-1E47-A5D4-C0728AAEF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44675"/>
            <a:ext cx="7239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lang="zh-CN" altLang="en-US" sz="3200">
                <a:solidFill>
                  <a:schemeClr val="hlink"/>
                </a:solidFill>
              </a:rPr>
              <a:t>定理</a:t>
            </a:r>
            <a:r>
              <a:rPr lang="en-US" altLang="zh-CN" sz="3200">
                <a:solidFill>
                  <a:schemeClr val="hlink"/>
                </a:solidFill>
              </a:rPr>
              <a:t>3.10.2</a:t>
            </a:r>
            <a:r>
              <a:rPr lang="zh-CN" altLang="en-US" sz="3200"/>
              <a:t>设</a:t>
            </a:r>
            <a:r>
              <a:rPr lang="en-US" altLang="zh-CN" sz="3200"/>
              <a:t>R</a:t>
            </a:r>
            <a:r>
              <a:rPr lang="zh-CN" altLang="en-US" sz="3200"/>
              <a:t>   </a:t>
            </a:r>
            <a:r>
              <a:rPr lang="en-US" altLang="zh-CN" sz="3200"/>
              <a:t>A×A</a:t>
            </a:r>
            <a:r>
              <a:rPr lang="zh-CN" altLang="en-US" sz="3200"/>
              <a:t>，则</a:t>
            </a:r>
            <a:r>
              <a:rPr lang="en-US" altLang="zh-CN" sz="3200">
                <a:solidFill>
                  <a:schemeClr val="accent1"/>
                </a:solidFill>
              </a:rPr>
              <a:t>s(R)</a:t>
            </a:r>
            <a:r>
              <a:rPr lang="zh-CN" altLang="en-US" sz="3200"/>
              <a:t>＝</a:t>
            </a:r>
            <a:r>
              <a:rPr lang="en-US" altLang="zh-CN" sz="3200"/>
              <a:t>R∪</a:t>
            </a:r>
            <a:r>
              <a:rPr lang="en-US" altLang="zh-CN" sz="3200">
                <a:solidFill>
                  <a:srgbClr val="FF00FF"/>
                </a:solidFill>
              </a:rPr>
              <a:t>R</a:t>
            </a:r>
            <a:r>
              <a:rPr lang="en-US" altLang="zh-CN" sz="3200" baseline="30000">
                <a:solidFill>
                  <a:srgbClr val="FF00FF"/>
                </a:solidFill>
              </a:rPr>
              <a:t>-1</a:t>
            </a:r>
            <a:endParaRPr lang="en-US" altLang="zh-CN" sz="3200" b="1">
              <a:solidFill>
                <a:srgbClr val="FF00FF"/>
              </a:solidFill>
            </a:endParaRPr>
          </a:p>
        </p:txBody>
      </p:sp>
      <p:graphicFrame>
        <p:nvGraphicFramePr>
          <p:cNvPr id="13323" name="对象 3">
            <a:extLst>
              <a:ext uri="{FF2B5EF4-FFF2-40B4-BE49-F238E27FC236}">
                <a16:creationId xmlns:a16="http://schemas.microsoft.com/office/drawing/2014/main" id="{D68160F9-E04C-1415-1A7A-4CB148ADF0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1916113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68" imgH="152268" progId="Equation.DSMT4">
                  <p:embed/>
                </p:oleObj>
              </mc:Choice>
              <mc:Fallback>
                <p:oleObj name="Equation" r:id="rId8" imgW="152268" imgH="152268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916113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>
            <a:extLst>
              <a:ext uri="{FF2B5EF4-FFF2-40B4-BE49-F238E27FC236}">
                <a16:creationId xmlns:a16="http://schemas.microsoft.com/office/drawing/2014/main" id="{5C21D451-210D-2C1B-66EE-14C76EFF0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3.10.2 </a:t>
            </a:r>
            <a:r>
              <a:rPr lang="zh-CN" altLang="en-US" sz="5400"/>
              <a:t>闭包的性质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6EB561C-AB86-DF1E-2A6C-108432DF476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30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3.10.3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   </a:t>
            </a:r>
            <a:r>
              <a:rPr lang="en-US" altLang="zh-CN" dirty="0"/>
              <a:t>A×A</a:t>
            </a:r>
            <a:r>
              <a:rPr lang="zh-CN" altLang="en-US" dirty="0"/>
              <a:t>，则</a:t>
            </a:r>
          </a:p>
          <a:p>
            <a:pPr eaLnBrk="1" hangingPunct="1">
              <a:lnSpc>
                <a:spcPct val="30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         </a:t>
            </a:r>
            <a:r>
              <a:rPr lang="en-US" altLang="zh-CN" dirty="0">
                <a:solidFill>
                  <a:schemeClr val="accent1"/>
                </a:solidFill>
              </a:rPr>
              <a:t>t(R)</a:t>
            </a:r>
            <a:r>
              <a:rPr lang="zh-CN" altLang="en-US" dirty="0"/>
              <a:t>＝</a:t>
            </a:r>
            <a:r>
              <a:rPr lang="en-US" altLang="zh-CN" dirty="0"/>
              <a:t>R∪R</a:t>
            </a:r>
            <a:r>
              <a:rPr lang="en-US" altLang="zh-CN" baseline="30000" dirty="0"/>
              <a:t>2</a:t>
            </a:r>
            <a:r>
              <a:rPr lang="en-US" altLang="zh-CN" dirty="0"/>
              <a:t>∪R</a:t>
            </a:r>
            <a:r>
              <a:rPr lang="en-US" altLang="zh-CN" baseline="30000" dirty="0"/>
              <a:t>3</a:t>
            </a:r>
            <a:r>
              <a:rPr lang="en-US" altLang="zh-CN" dirty="0"/>
              <a:t>∪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   </a:t>
            </a:r>
            <a:endParaRPr lang="zh-CN" altLang="en-US" dirty="0"/>
          </a:p>
        </p:txBody>
      </p:sp>
      <p:graphicFrame>
        <p:nvGraphicFramePr>
          <p:cNvPr id="14340" name="对象 1">
            <a:extLst>
              <a:ext uri="{FF2B5EF4-FFF2-40B4-BE49-F238E27FC236}">
                <a16:creationId xmlns:a16="http://schemas.microsoft.com/office/drawing/2014/main" id="{7751F38B-4590-A3ED-9D2C-8F341F6DD8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4438" y="2636838"/>
          <a:ext cx="3857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4438" y="2636838"/>
                        <a:ext cx="3857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>
            <a:extLst>
              <a:ext uri="{FF2B5EF4-FFF2-40B4-BE49-F238E27FC236}">
                <a16:creationId xmlns:a16="http://schemas.microsoft.com/office/drawing/2014/main" id="{EB6D6F03-9293-EC4C-FDB2-42C77C4DF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3.10.2 </a:t>
            </a:r>
            <a:r>
              <a:rPr lang="zh-CN" altLang="en-US" sz="5400"/>
              <a:t>闭包的性质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14EE319-FE47-D897-1EF3-6920E58C6C4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7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3.10.6</a:t>
            </a:r>
            <a:r>
              <a:rPr lang="zh-CN" altLang="en-US" dirty="0"/>
              <a:t>设 </a:t>
            </a:r>
            <a:r>
              <a:rPr lang="en-US" altLang="zh-CN" dirty="0"/>
              <a:t>R</a:t>
            </a:r>
            <a:r>
              <a:rPr lang="zh-CN" altLang="en-US" dirty="0"/>
              <a:t>   </a:t>
            </a:r>
            <a:r>
              <a:rPr lang="en-US" altLang="zh-CN" dirty="0"/>
              <a:t>A×A</a:t>
            </a:r>
          </a:p>
          <a:p>
            <a:pPr marL="0" indent="0" eaLnBrk="1" hangingPunct="1">
              <a:lnSpc>
                <a:spcPct val="17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则 </a:t>
            </a:r>
            <a:r>
              <a:rPr lang="en-US" altLang="zh-CN" dirty="0"/>
              <a:t>R∪R</a:t>
            </a:r>
            <a:r>
              <a:rPr lang="en-US" altLang="zh-CN" baseline="30000" dirty="0"/>
              <a:t>2</a:t>
            </a:r>
            <a:r>
              <a:rPr lang="en-US" altLang="zh-CN" dirty="0"/>
              <a:t>∪R</a:t>
            </a:r>
            <a:r>
              <a:rPr lang="en-US" altLang="zh-CN" baseline="30000" dirty="0"/>
              <a:t>3</a:t>
            </a:r>
            <a:r>
              <a:rPr lang="en-US" altLang="zh-CN" dirty="0"/>
              <a:t>∪</a:t>
            </a:r>
            <a:r>
              <a:rPr lang="en-US" altLang="zh-CN" dirty="0">
                <a:solidFill>
                  <a:srgbClr val="FF0000"/>
                </a:solidFill>
                <a:latin typeface="Arial" charset="0"/>
              </a:rPr>
              <a:t>…</a:t>
            </a:r>
            <a:r>
              <a:rPr lang="zh-CN" altLang="en-US" dirty="0">
                <a:latin typeface="Arial" charset="0"/>
              </a:rPr>
              <a:t>是传递关系。</a:t>
            </a:r>
            <a:endParaRPr lang="en-US" altLang="zh-CN" b="1" dirty="0"/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设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a</a:t>
            </a:r>
            <a:r>
              <a:rPr lang="en-US" altLang="zh-CN" dirty="0" err="1"/>
              <a:t>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b,</a:t>
            </a:r>
            <a:r>
              <a:rPr lang="en-US" altLang="zh-CN" dirty="0" err="1">
                <a:solidFill>
                  <a:srgbClr val="FF0000"/>
                </a:solidFill>
              </a:rPr>
              <a:t>c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∈R∪R</a:t>
            </a:r>
            <a:r>
              <a:rPr lang="en-US" altLang="zh-CN" baseline="30000" dirty="0"/>
              <a:t>2</a:t>
            </a:r>
            <a:r>
              <a:rPr lang="en-US" altLang="zh-CN" dirty="0"/>
              <a:t>∪R</a:t>
            </a:r>
            <a:r>
              <a:rPr lang="en-US" altLang="zh-CN" baseline="30000" dirty="0"/>
              <a:t>3</a:t>
            </a:r>
            <a:r>
              <a:rPr lang="en-US" altLang="zh-CN" dirty="0"/>
              <a:t>∪</a:t>
            </a:r>
            <a:r>
              <a:rPr lang="en-US" altLang="zh-CN" dirty="0">
                <a:latin typeface="Arial" charset="0"/>
              </a:rPr>
              <a:t>…</a:t>
            </a:r>
            <a:endParaRPr lang="en-US" altLang="zh-CN" dirty="0"/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存在正整数</a:t>
            </a:r>
            <a:r>
              <a:rPr lang="en-US" altLang="zh-CN" dirty="0"/>
              <a:t>s</a:t>
            </a:r>
            <a:r>
              <a:rPr lang="zh-CN" altLang="en-US" dirty="0"/>
              <a:t>与</a:t>
            </a:r>
            <a:r>
              <a:rPr lang="en-US" altLang="zh-CN" dirty="0"/>
              <a:t>t</a:t>
            </a:r>
            <a:r>
              <a:rPr lang="zh-CN" altLang="en-US" dirty="0"/>
              <a:t>使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</a:t>
            </a:r>
            <a:r>
              <a:rPr lang="en-US" altLang="zh-CN" dirty="0" err="1">
                <a:solidFill>
                  <a:schemeClr val="accent1"/>
                </a:solidFill>
              </a:rPr>
              <a:t>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s</a:t>
            </a:r>
            <a:r>
              <a:rPr lang="zh-CN" altLang="en-US" dirty="0"/>
              <a:t>且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b</a:t>
            </a:r>
            <a:r>
              <a:rPr lang="en-US" altLang="zh-CN" dirty="0" err="1"/>
              <a:t>,c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t</a:t>
            </a:r>
            <a:endParaRPr lang="en-US" altLang="zh-CN" dirty="0"/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a</a:t>
            </a:r>
            <a:r>
              <a:rPr lang="en-US" altLang="zh-CN" dirty="0" err="1"/>
              <a:t>,</a:t>
            </a:r>
            <a:r>
              <a:rPr lang="en-US" altLang="zh-CN" dirty="0" err="1">
                <a:solidFill>
                  <a:srgbClr val="FF0000"/>
                </a:solidFill>
              </a:rPr>
              <a:t>c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s</a:t>
            </a:r>
            <a:r>
              <a:rPr lang="en-US" altLang="zh-CN" dirty="0"/>
              <a:t>  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t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s+t</a:t>
            </a:r>
            <a:r>
              <a:rPr lang="en-US" altLang="zh-CN" dirty="0"/>
              <a:t>    R∪R</a:t>
            </a:r>
            <a:r>
              <a:rPr lang="en-US" altLang="zh-CN" baseline="30000" dirty="0"/>
              <a:t>2</a:t>
            </a:r>
            <a:r>
              <a:rPr lang="en-US" altLang="zh-CN" dirty="0"/>
              <a:t>∪R</a:t>
            </a:r>
            <a:r>
              <a:rPr lang="en-US" altLang="zh-CN" baseline="30000" dirty="0"/>
              <a:t>3</a:t>
            </a:r>
            <a:r>
              <a:rPr lang="en-US" altLang="zh-CN" dirty="0"/>
              <a:t>∪</a:t>
            </a:r>
            <a:r>
              <a:rPr lang="en-US" altLang="zh-CN" dirty="0">
                <a:latin typeface="Arial" charset="0"/>
              </a:rPr>
              <a:t>…</a:t>
            </a:r>
            <a:endParaRPr lang="zh-CN" altLang="en-US" dirty="0"/>
          </a:p>
        </p:txBody>
      </p:sp>
      <p:graphicFrame>
        <p:nvGraphicFramePr>
          <p:cNvPr id="15364" name="Object 4">
            <a:extLst>
              <a:ext uri="{FF2B5EF4-FFF2-40B4-BE49-F238E27FC236}">
                <a16:creationId xmlns:a16="http://schemas.microsoft.com/office/drawing/2014/main" id="{859AD29B-8A14-3E61-32AE-B8241741C635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643438" y="5986463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986463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12">
            <a:extLst>
              <a:ext uri="{FF2B5EF4-FFF2-40B4-BE49-F238E27FC236}">
                <a16:creationId xmlns:a16="http://schemas.microsoft.com/office/drawing/2014/main" id="{2C4CBC88-2D7D-D55F-2B1C-76A568D741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6081713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6081713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对象 1">
            <a:extLst>
              <a:ext uri="{FF2B5EF4-FFF2-40B4-BE49-F238E27FC236}">
                <a16:creationId xmlns:a16="http://schemas.microsoft.com/office/drawing/2014/main" id="{37F58AD5-5350-22D4-BB81-F6ADB7B925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2205038"/>
          <a:ext cx="3857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205038"/>
                        <a:ext cx="3857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5">
            <a:extLst>
              <a:ext uri="{FF2B5EF4-FFF2-40B4-BE49-F238E27FC236}">
                <a16:creationId xmlns:a16="http://schemas.microsoft.com/office/drawing/2014/main" id="{9274395E-AA2A-2871-71EE-749822E76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3.10.2 </a:t>
            </a:r>
            <a:r>
              <a:rPr lang="zh-CN" altLang="en-US"/>
              <a:t>闭包的性质</a:t>
            </a:r>
          </a:p>
        </p:txBody>
      </p:sp>
      <p:sp>
        <p:nvSpPr>
          <p:cNvPr id="15363" name="内容占位符 6">
            <a:extLst>
              <a:ext uri="{FF2B5EF4-FFF2-40B4-BE49-F238E27FC236}">
                <a16:creationId xmlns:a16="http://schemas.microsoft.com/office/drawing/2014/main" id="{175F871F-4111-4419-85A9-841ED11DB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844675"/>
            <a:ext cx="8640762" cy="5013325"/>
          </a:xfrm>
        </p:spPr>
        <p:txBody>
          <a:bodyPr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3.10.7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  </a:t>
            </a:r>
            <a:r>
              <a:rPr lang="en-US" altLang="zh-CN" dirty="0"/>
              <a:t>A×A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则对</a:t>
            </a:r>
            <a:r>
              <a:rPr lang="zh-CN" altLang="en-US" dirty="0">
                <a:solidFill>
                  <a:srgbClr val="FF0000"/>
                </a:solidFill>
                <a:sym typeface="Symbol" pitchFamily="18" charset="2"/>
              </a:rPr>
              <a:t></a:t>
            </a:r>
            <a:r>
              <a:rPr lang="zh-CN" altLang="en-US" dirty="0"/>
              <a:t>正整数</a:t>
            </a:r>
            <a:r>
              <a:rPr lang="en-US" altLang="zh-CN" dirty="0"/>
              <a:t>n</a:t>
            </a:r>
            <a:r>
              <a:rPr lang="zh-CN" altLang="en-US" dirty="0"/>
              <a:t>有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n</a:t>
            </a:r>
            <a:r>
              <a:rPr lang="en-US" altLang="zh-CN" dirty="0"/>
              <a:t>   t(R)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证明</a:t>
            </a:r>
            <a:r>
              <a:rPr lang="zh-CN" altLang="en-US" dirty="0"/>
              <a:t> </a:t>
            </a:r>
            <a:r>
              <a:rPr lang="en-US" altLang="zh-CN" dirty="0"/>
              <a:t>n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时，</a:t>
            </a:r>
            <a:r>
              <a:rPr lang="en-US" altLang="zh-CN" dirty="0"/>
              <a:t>R   t(R)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</a:t>
            </a:r>
            <a:r>
              <a:rPr lang="zh-CN" altLang="en-US" dirty="0"/>
              <a:t>假设</a:t>
            </a:r>
            <a:r>
              <a:rPr lang="en-US" altLang="zh-CN" dirty="0"/>
              <a:t>n≥1</a:t>
            </a:r>
            <a:r>
              <a:rPr lang="zh-CN" altLang="en-US" dirty="0"/>
              <a:t>时， </a:t>
            </a:r>
            <a:r>
              <a:rPr lang="en-US" altLang="zh-CN" dirty="0" err="1"/>
              <a:t>R</a:t>
            </a:r>
            <a:r>
              <a:rPr lang="en-US" altLang="zh-CN" baseline="30000" dirty="0" err="1">
                <a:solidFill>
                  <a:srgbClr val="FF0000"/>
                </a:solidFill>
              </a:rPr>
              <a:t>n</a:t>
            </a:r>
            <a:r>
              <a:rPr lang="en-US" altLang="zh-CN" dirty="0"/>
              <a:t>   t(R)</a:t>
            </a:r>
            <a:r>
              <a:rPr lang="zh-CN" altLang="en-US" dirty="0"/>
              <a:t>；</a:t>
            </a:r>
            <a:endParaRPr lang="en-US" altLang="zh-CN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任取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a,b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  <a:r>
              <a:rPr lang="en-US" altLang="zh-CN" baseline="30000" dirty="0"/>
              <a:t>n+1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n</a:t>
            </a:r>
            <a:r>
              <a:rPr lang="en-US" altLang="zh-CN" baseline="30000" dirty="0"/>
              <a:t>   </a:t>
            </a:r>
            <a:r>
              <a:rPr lang="en-US" altLang="zh-CN" dirty="0"/>
              <a:t>R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存在</a:t>
            </a:r>
            <a:r>
              <a:rPr lang="en-US" altLang="zh-CN" dirty="0" err="1"/>
              <a:t>x∈A</a:t>
            </a:r>
            <a:r>
              <a:rPr lang="zh-CN" altLang="en-US" dirty="0"/>
              <a:t>使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a,x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n</a:t>
            </a:r>
            <a:r>
              <a:rPr lang="zh-CN" altLang="en-US" dirty="0"/>
              <a:t>且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&lt;</a:t>
            </a:r>
            <a:r>
              <a:rPr lang="en-US" altLang="zh-CN" dirty="0" err="1"/>
              <a:t>a,x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∈t(R)</a:t>
            </a:r>
            <a:r>
              <a:rPr lang="zh-CN" altLang="en-US" dirty="0"/>
              <a:t>且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∈t(R)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a,b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dirty="0"/>
              <a:t>∈t(R)</a:t>
            </a:r>
            <a:r>
              <a:rPr lang="zh-CN" altLang="en-US" dirty="0"/>
              <a:t>，故</a:t>
            </a:r>
            <a:r>
              <a:rPr lang="en-US" altLang="zh-CN" dirty="0"/>
              <a:t>R</a:t>
            </a:r>
            <a:r>
              <a:rPr lang="en-US" altLang="zh-CN" baseline="30000" dirty="0">
                <a:solidFill>
                  <a:srgbClr val="FF0000"/>
                </a:solidFill>
              </a:rPr>
              <a:t>n+1</a:t>
            </a:r>
            <a:r>
              <a:rPr lang="en-US" altLang="zh-CN" dirty="0"/>
              <a:t>   t(R)</a:t>
            </a:r>
          </a:p>
        </p:txBody>
      </p:sp>
      <p:graphicFrame>
        <p:nvGraphicFramePr>
          <p:cNvPr id="16388" name="对象 7">
            <a:extLst>
              <a:ext uri="{FF2B5EF4-FFF2-40B4-BE49-F238E27FC236}">
                <a16:creationId xmlns:a16="http://schemas.microsoft.com/office/drawing/2014/main" id="{289FFEF3-0871-71D0-006F-7B5D2FD77C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6249988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6249988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对象 8">
            <a:extLst>
              <a:ext uri="{FF2B5EF4-FFF2-40B4-BE49-F238E27FC236}">
                <a16:creationId xmlns:a16="http://schemas.microsoft.com/office/drawing/2014/main" id="{7950F7C3-A0DA-F707-485B-7EC64226BA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7975" y="3429000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975" y="3429000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对象 9">
            <a:extLst>
              <a:ext uri="{FF2B5EF4-FFF2-40B4-BE49-F238E27FC236}">
                <a16:creationId xmlns:a16="http://schemas.microsoft.com/office/drawing/2014/main" id="{02549497-F9B7-27C1-07B6-C2D6CD5F88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2720975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720975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对象 10">
            <a:extLst>
              <a:ext uri="{FF2B5EF4-FFF2-40B4-BE49-F238E27FC236}">
                <a16:creationId xmlns:a16="http://schemas.microsoft.com/office/drawing/2014/main" id="{3D1F8817-0103-4D50-B706-4BCC71065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1989138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1989138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对象 11">
            <a:extLst>
              <a:ext uri="{FF2B5EF4-FFF2-40B4-BE49-F238E27FC236}">
                <a16:creationId xmlns:a16="http://schemas.microsoft.com/office/drawing/2014/main" id="{436D2B87-B477-0EC3-FE12-AB511C3AD5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1989138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989138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对象 12">
            <a:extLst>
              <a:ext uri="{FF2B5EF4-FFF2-40B4-BE49-F238E27FC236}">
                <a16:creationId xmlns:a16="http://schemas.microsoft.com/office/drawing/2014/main" id="{D99CC9E0-F418-8F88-8379-C161CF740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4221163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468" imgH="114151" progId="Equation.DSMT4">
                  <p:embed/>
                </p:oleObj>
              </mc:Choice>
              <mc:Fallback>
                <p:oleObj name="Equation" r:id="rId8" imgW="101468" imgH="114151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221163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>
            <a:extLst>
              <a:ext uri="{FF2B5EF4-FFF2-40B4-BE49-F238E27FC236}">
                <a16:creationId xmlns:a16="http://schemas.microsoft.com/office/drawing/2014/main" id="{D8F5FB5A-7B39-5DDB-85B2-865227ADA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3.10.2 </a:t>
            </a:r>
            <a:r>
              <a:rPr lang="zh-CN" altLang="en-US" sz="5400"/>
              <a:t>闭包的性质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E344831-290B-1911-726B-2CDD92112AC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4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3.10.3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   </a:t>
            </a:r>
            <a:r>
              <a:rPr lang="en-US" altLang="zh-CN" dirty="0"/>
              <a:t>A×A</a:t>
            </a:r>
            <a:r>
              <a:rPr lang="zh-CN" altLang="en-US" dirty="0"/>
              <a:t>，则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         </a:t>
            </a:r>
            <a:r>
              <a:rPr lang="en-US" altLang="zh-CN" dirty="0">
                <a:solidFill>
                  <a:schemeClr val="accent1"/>
                </a:solidFill>
              </a:rPr>
              <a:t>t(R)</a:t>
            </a:r>
            <a:r>
              <a:rPr lang="zh-CN" altLang="en-US" dirty="0"/>
              <a:t>＝</a:t>
            </a:r>
            <a:r>
              <a:rPr lang="en-US" altLang="zh-CN" dirty="0"/>
              <a:t>R∪R</a:t>
            </a:r>
            <a:r>
              <a:rPr lang="en-US" altLang="zh-CN" baseline="30000" dirty="0"/>
              <a:t>2</a:t>
            </a:r>
            <a:r>
              <a:rPr lang="en-US" altLang="zh-CN" dirty="0"/>
              <a:t>∪R</a:t>
            </a:r>
            <a:r>
              <a:rPr lang="en-US" altLang="zh-CN" baseline="30000" dirty="0"/>
              <a:t>3</a:t>
            </a:r>
            <a:r>
              <a:rPr lang="en-US" altLang="zh-CN" dirty="0"/>
              <a:t>∪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 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en-US" altLang="zh-CN" dirty="0">
                <a:solidFill>
                  <a:srgbClr val="339933"/>
                </a:solidFill>
              </a:rPr>
              <a:t>(1)</a:t>
            </a:r>
            <a:r>
              <a:rPr lang="zh-CN" altLang="en-US" dirty="0"/>
              <a:t>因</a:t>
            </a:r>
            <a:r>
              <a:rPr lang="en-US" altLang="zh-CN" dirty="0"/>
              <a:t>R∪R</a:t>
            </a:r>
            <a:r>
              <a:rPr lang="en-US" altLang="zh-CN" baseline="30000" dirty="0"/>
              <a:t>2</a:t>
            </a:r>
            <a:r>
              <a:rPr lang="en-US" altLang="zh-CN" dirty="0"/>
              <a:t>∪R</a:t>
            </a:r>
            <a:r>
              <a:rPr lang="en-US" altLang="zh-CN" baseline="30000" dirty="0"/>
              <a:t>3</a:t>
            </a:r>
            <a:r>
              <a:rPr lang="en-US" altLang="zh-CN" dirty="0"/>
              <a:t>∪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zh-CN" altLang="en-US" dirty="0">
                <a:latin typeface="Arial" panose="020B0604020202020204" pitchFamily="34" charset="0"/>
              </a:rPr>
              <a:t>传递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Arial" panose="020B0604020202020204" pitchFamily="34" charset="0"/>
              </a:rPr>
              <a:t>               故</a:t>
            </a:r>
            <a:r>
              <a:rPr lang="en-US" altLang="zh-CN" dirty="0">
                <a:solidFill>
                  <a:srgbClr val="CC0066"/>
                </a:solidFill>
              </a:rPr>
              <a:t>t(R)</a:t>
            </a:r>
            <a:r>
              <a:rPr lang="en-US" altLang="zh-CN" dirty="0"/>
              <a:t>   R∪R</a:t>
            </a:r>
            <a:r>
              <a:rPr lang="en-US" altLang="zh-CN" baseline="30000" dirty="0"/>
              <a:t>2</a:t>
            </a:r>
            <a:r>
              <a:rPr lang="en-US" altLang="zh-CN" dirty="0"/>
              <a:t>∪R</a:t>
            </a:r>
            <a:r>
              <a:rPr lang="en-US" altLang="zh-CN" baseline="30000" dirty="0"/>
              <a:t>3</a:t>
            </a:r>
            <a:r>
              <a:rPr lang="en-US" altLang="zh-CN" dirty="0"/>
              <a:t>∪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endParaRPr lang="en-US" altLang="zh-CN" dirty="0"/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(2)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rgbClr val="00B0F0"/>
                </a:solidFill>
              </a:rPr>
              <a:t>任意</a:t>
            </a:r>
            <a:r>
              <a:rPr lang="zh-CN" altLang="en-US" dirty="0"/>
              <a:t>正整数</a:t>
            </a:r>
            <a:r>
              <a:rPr lang="en-US" altLang="zh-CN" dirty="0"/>
              <a:t>n</a:t>
            </a:r>
            <a:r>
              <a:rPr lang="zh-CN" altLang="en-US" dirty="0"/>
              <a:t>有</a:t>
            </a:r>
            <a:r>
              <a:rPr lang="en-US" altLang="zh-CN" dirty="0"/>
              <a:t>R</a:t>
            </a:r>
            <a:r>
              <a:rPr lang="en-US" altLang="zh-CN" baseline="30000" dirty="0"/>
              <a:t>n</a:t>
            </a:r>
            <a:r>
              <a:rPr lang="en-US" altLang="zh-CN" dirty="0"/>
              <a:t>    t(R)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</a:t>
            </a:r>
            <a:r>
              <a:rPr lang="zh-CN" altLang="en-US" dirty="0"/>
              <a:t>故</a:t>
            </a:r>
            <a:r>
              <a:rPr lang="en-US" altLang="zh-CN" dirty="0"/>
              <a:t>R∪R</a:t>
            </a:r>
            <a:r>
              <a:rPr lang="en-US" altLang="zh-CN" baseline="30000" dirty="0"/>
              <a:t>2</a:t>
            </a:r>
            <a:r>
              <a:rPr lang="en-US" altLang="zh-CN" dirty="0"/>
              <a:t>∪R</a:t>
            </a:r>
            <a:r>
              <a:rPr lang="en-US" altLang="zh-CN" baseline="30000" dirty="0"/>
              <a:t>3</a:t>
            </a:r>
            <a:r>
              <a:rPr lang="en-US" altLang="zh-CN" dirty="0"/>
              <a:t>∪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rgbClr val="FF0066"/>
                </a:solidFill>
              </a:rPr>
              <a:t>t(R)</a:t>
            </a:r>
            <a:endParaRPr lang="zh-CN" altLang="en-US" dirty="0">
              <a:solidFill>
                <a:srgbClr val="FF0066"/>
              </a:solidFill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graphicFrame>
        <p:nvGraphicFramePr>
          <p:cNvPr id="17412" name="Object 4">
            <a:extLst>
              <a:ext uri="{FF2B5EF4-FFF2-40B4-BE49-F238E27FC236}">
                <a16:creationId xmlns:a16="http://schemas.microsoft.com/office/drawing/2014/main" id="{944B27E2-5268-B203-5A84-1E7AC2F0BD9C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322638" y="4500563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2638" y="4500563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对象 1">
            <a:extLst>
              <a:ext uri="{FF2B5EF4-FFF2-40B4-BE49-F238E27FC236}">
                <a16:creationId xmlns:a16="http://schemas.microsoft.com/office/drawing/2014/main" id="{4A71B1CE-3A92-A3B2-DE47-8E98771997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9975" y="2108200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9975" y="2108200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对象 1">
            <a:extLst>
              <a:ext uri="{FF2B5EF4-FFF2-40B4-BE49-F238E27FC236}">
                <a16:creationId xmlns:a16="http://schemas.microsoft.com/office/drawing/2014/main" id="{8E878C1F-6C84-0859-18FA-5D07C99B73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6105525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6105525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对象 2">
            <a:extLst>
              <a:ext uri="{FF2B5EF4-FFF2-40B4-BE49-F238E27FC236}">
                <a16:creationId xmlns:a16="http://schemas.microsoft.com/office/drawing/2014/main" id="{70C06E9A-3ECF-F696-8BB9-64278A99FE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70563" y="5291138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0563" y="5291138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>
            <a:extLst>
              <a:ext uri="{FF2B5EF4-FFF2-40B4-BE49-F238E27FC236}">
                <a16:creationId xmlns:a16="http://schemas.microsoft.com/office/drawing/2014/main" id="{902F3226-D386-D778-058A-7902AD423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3.10.2 </a:t>
            </a:r>
            <a:r>
              <a:rPr lang="zh-CN" altLang="en-US" sz="5400"/>
              <a:t>闭包的性质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002C8C4-6777-D574-D05F-5D8EBE4230A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71663"/>
            <a:ext cx="8640762" cy="4986337"/>
          </a:xfrm>
        </p:spPr>
        <p:txBody>
          <a:bodyPr/>
          <a:lstStyle/>
          <a:p>
            <a:pPr eaLnBrk="1" hangingPunct="1">
              <a:lnSpc>
                <a:spcPts val="69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推论</a:t>
            </a:r>
            <a:r>
              <a:rPr lang="en-US" altLang="zh-CN" dirty="0">
                <a:solidFill>
                  <a:schemeClr val="hlink"/>
                </a:solidFill>
              </a:rPr>
              <a:t>3.10.1</a:t>
            </a:r>
            <a:r>
              <a:rPr lang="zh-CN" altLang="en-US" dirty="0"/>
              <a:t>设有限集合</a:t>
            </a:r>
            <a:r>
              <a:rPr lang="en-US" altLang="zh-CN" dirty="0"/>
              <a:t>A</a:t>
            </a:r>
            <a:r>
              <a:rPr lang="zh-CN" altLang="en-US" dirty="0"/>
              <a:t>且</a:t>
            </a:r>
            <a:r>
              <a:rPr lang="en-US" altLang="zh-CN" dirty="0"/>
              <a:t>|A|</a:t>
            </a:r>
            <a:r>
              <a:rPr lang="zh-CN" altLang="en-US" dirty="0"/>
              <a:t>＝</a:t>
            </a:r>
            <a:r>
              <a:rPr lang="en-US" altLang="zh-CN" dirty="0"/>
              <a:t>n</a:t>
            </a:r>
            <a:r>
              <a:rPr lang="zh-CN" altLang="en-US" dirty="0"/>
              <a:t>，</a:t>
            </a:r>
            <a:r>
              <a:rPr lang="en-US" altLang="zh-CN" dirty="0"/>
              <a:t>R   A×A</a:t>
            </a:r>
            <a:r>
              <a:rPr lang="zh-CN" altLang="en-US" dirty="0"/>
              <a:t>，则存在正整数</a:t>
            </a:r>
            <a:r>
              <a:rPr lang="en-US" altLang="zh-CN" dirty="0" err="1"/>
              <a:t>k≤n</a:t>
            </a:r>
            <a:r>
              <a:rPr lang="zh-CN" altLang="en-US" dirty="0"/>
              <a:t>，使</a:t>
            </a:r>
            <a:endParaRPr lang="en-US" altLang="zh-CN" dirty="0"/>
          </a:p>
          <a:p>
            <a:pPr marL="0" indent="0" eaLnBrk="1" hangingPunct="1">
              <a:lnSpc>
                <a:spcPts val="69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           t(R)</a:t>
            </a:r>
            <a:r>
              <a:rPr lang="zh-CN" altLang="en-US" dirty="0"/>
              <a:t>＝</a:t>
            </a:r>
            <a:r>
              <a:rPr lang="en-US" altLang="zh-CN" dirty="0"/>
              <a:t>R∪R</a:t>
            </a:r>
            <a:r>
              <a:rPr lang="en-US" altLang="zh-CN" baseline="30000" dirty="0"/>
              <a:t>2</a:t>
            </a:r>
            <a:r>
              <a:rPr lang="en-US" altLang="zh-CN" dirty="0"/>
              <a:t>∪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∪</a:t>
            </a:r>
            <a:r>
              <a:rPr lang="en-US" altLang="zh-CN" dirty="0" err="1"/>
              <a:t>R</a:t>
            </a:r>
            <a:r>
              <a:rPr lang="en-US" altLang="zh-CN" baseline="30000" dirty="0" err="1">
                <a:solidFill>
                  <a:srgbClr val="FF0000"/>
                </a:solidFill>
              </a:rPr>
              <a:t>k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Clr>
                <a:srgbClr val="3333CC"/>
              </a:buClr>
              <a:defRPr/>
            </a:pPr>
            <a:r>
              <a:rPr lang="zh-CN" altLang="en-US" dirty="0">
                <a:solidFill>
                  <a:srgbClr val="FF00FF"/>
                </a:solidFill>
              </a:rPr>
              <a:t>推论</a:t>
            </a:r>
            <a:r>
              <a:rPr lang="en-US" altLang="zh-CN" dirty="0">
                <a:solidFill>
                  <a:srgbClr val="FF00FF"/>
                </a:solidFill>
              </a:rPr>
              <a:t>3.10.1</a:t>
            </a:r>
            <a:r>
              <a:rPr lang="zh-CN" altLang="en-US" dirty="0">
                <a:solidFill>
                  <a:srgbClr val="000000"/>
                </a:solidFill>
              </a:rPr>
              <a:t>设有限集合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且</a:t>
            </a:r>
            <a:r>
              <a:rPr lang="en-US" altLang="zh-CN" dirty="0">
                <a:solidFill>
                  <a:srgbClr val="000000"/>
                </a:solidFill>
              </a:rPr>
              <a:t>|A|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R   A×A</a:t>
            </a:r>
            <a:r>
              <a:rPr lang="zh-CN" altLang="en-US" dirty="0">
                <a:solidFill>
                  <a:srgbClr val="000000"/>
                </a:solidFill>
              </a:rPr>
              <a:t>，则       </a:t>
            </a:r>
            <a:r>
              <a:rPr lang="en-US" altLang="zh-CN" dirty="0">
                <a:solidFill>
                  <a:schemeClr val="accent1"/>
                </a:solidFill>
              </a:rPr>
              <a:t>t(R)</a:t>
            </a:r>
            <a:r>
              <a:rPr lang="zh-CN" altLang="en-US" dirty="0"/>
              <a:t>＝</a:t>
            </a:r>
            <a:r>
              <a:rPr lang="en-US" altLang="zh-CN" dirty="0"/>
              <a:t>R∪R</a:t>
            </a:r>
            <a:r>
              <a:rPr lang="en-US" altLang="zh-CN" baseline="30000" dirty="0"/>
              <a:t>2</a:t>
            </a:r>
            <a:r>
              <a:rPr lang="en-US" altLang="zh-CN" dirty="0"/>
              <a:t>∪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∪R</a:t>
            </a:r>
            <a:r>
              <a:rPr lang="en-US" altLang="zh-CN" baseline="30000" dirty="0">
                <a:solidFill>
                  <a:srgbClr val="FF0000"/>
                </a:solidFill>
              </a:rPr>
              <a:t>n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t(R)</a:t>
            </a:r>
            <a:r>
              <a:rPr lang="zh-CN" altLang="en-US" dirty="0"/>
              <a:t>＝</a:t>
            </a:r>
            <a:r>
              <a:rPr lang="en-US" altLang="zh-CN" dirty="0"/>
              <a:t>R∪R</a:t>
            </a:r>
            <a:r>
              <a:rPr lang="en-US" altLang="zh-CN" baseline="30000" dirty="0"/>
              <a:t>2</a:t>
            </a:r>
            <a:r>
              <a:rPr lang="en-US" altLang="zh-CN" dirty="0"/>
              <a:t>∪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∪</a:t>
            </a:r>
            <a:r>
              <a:rPr lang="en-US" altLang="zh-CN" dirty="0" err="1"/>
              <a:t>R</a:t>
            </a:r>
            <a:r>
              <a:rPr lang="en-US" altLang="zh-CN" baseline="30000" dirty="0" err="1">
                <a:solidFill>
                  <a:srgbClr val="FF0000"/>
                </a:solidFill>
              </a:rPr>
              <a:t>k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   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graphicFrame>
        <p:nvGraphicFramePr>
          <p:cNvPr id="18436" name="Object 12">
            <a:extLst>
              <a:ext uri="{FF2B5EF4-FFF2-40B4-BE49-F238E27FC236}">
                <a16:creationId xmlns:a16="http://schemas.microsoft.com/office/drawing/2014/main" id="{7F8FDFC9-7FDE-CED1-CF5E-44A6751367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8050" y="2208213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8050" y="2208213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对象 1">
            <a:extLst>
              <a:ext uri="{FF2B5EF4-FFF2-40B4-BE49-F238E27FC236}">
                <a16:creationId xmlns:a16="http://schemas.microsoft.com/office/drawing/2014/main" id="{53180547-5BAB-DA79-D6BA-D05609FADF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461819"/>
              </p:ext>
            </p:extLst>
          </p:nvPr>
        </p:nvGraphicFramePr>
        <p:xfrm>
          <a:off x="7270750" y="4941168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0" y="4941168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>
            <a:extLst>
              <a:ext uri="{FF2B5EF4-FFF2-40B4-BE49-F238E27FC236}">
                <a16:creationId xmlns:a16="http://schemas.microsoft.com/office/drawing/2014/main" id="{74A83B55-36F0-9220-EFA4-A2617AA6F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3.10.2 </a:t>
            </a:r>
            <a:r>
              <a:rPr lang="zh-CN" altLang="en-US" sz="5400"/>
              <a:t>闭包的性质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E6B750C-CCF9-70C5-0FEE-F6EC98EA5A6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7950" y="1871663"/>
            <a:ext cx="8964613" cy="4941887"/>
          </a:xfrm>
        </p:spPr>
        <p:txBody>
          <a:bodyPr/>
          <a:lstStyle/>
          <a:p>
            <a:pPr eaLnBrk="1" hangingPunct="1">
              <a:lnSpc>
                <a:spcPct val="147000"/>
              </a:lnSpc>
              <a:defRPr/>
            </a:pPr>
            <a:r>
              <a:rPr lang="zh-CN" altLang="en-US" sz="2800" b="1" dirty="0">
                <a:solidFill>
                  <a:schemeClr val="hlink"/>
                </a:solidFill>
              </a:rPr>
              <a:t>证明 </a:t>
            </a:r>
            <a:r>
              <a:rPr lang="zh-CN" altLang="en-US" sz="2800" dirty="0"/>
              <a:t>也就是要证</a:t>
            </a:r>
            <a:r>
              <a:rPr lang="zh-CN" altLang="en-US" sz="2800" b="1" dirty="0">
                <a:solidFill>
                  <a:schemeClr val="hlink"/>
                </a:solidFill>
              </a:rPr>
              <a:t> </a:t>
            </a:r>
            <a:r>
              <a:rPr lang="en-US" altLang="zh-CN" sz="2800" dirty="0">
                <a:solidFill>
                  <a:srgbClr val="000000"/>
                </a:solidFill>
              </a:rPr>
              <a:t>R∪R</a:t>
            </a:r>
            <a:r>
              <a:rPr lang="en-US" altLang="zh-CN" sz="2800" baseline="30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∪</a:t>
            </a:r>
            <a:r>
              <a:rPr lang="en-US" altLang="zh-CN" sz="2800" dirty="0">
                <a:solidFill>
                  <a:srgbClr val="000000"/>
                </a:solidFill>
                <a:latin typeface="Arial" charset="0"/>
              </a:rPr>
              <a:t>…</a:t>
            </a:r>
            <a:r>
              <a:rPr lang="zh-CN" altLang="en-US" sz="2800" dirty="0"/>
              <a:t>＝</a:t>
            </a:r>
            <a:r>
              <a:rPr lang="en-US" altLang="zh-CN" sz="2800" dirty="0"/>
              <a:t>R∪R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∪</a:t>
            </a:r>
            <a:r>
              <a:rPr lang="en-US" altLang="zh-CN" sz="2800" dirty="0">
                <a:latin typeface="Arial" charset="0"/>
              </a:rPr>
              <a:t>…</a:t>
            </a:r>
            <a:r>
              <a:rPr lang="en-US" altLang="zh-CN" sz="2800" dirty="0"/>
              <a:t>∪</a:t>
            </a:r>
            <a:r>
              <a:rPr lang="en-US" altLang="zh-CN" sz="2800" dirty="0" err="1"/>
              <a:t>R</a:t>
            </a:r>
            <a:r>
              <a:rPr lang="en-US" altLang="zh-CN" sz="2800" baseline="30000" dirty="0" err="1">
                <a:solidFill>
                  <a:srgbClr val="FF0000"/>
                </a:solidFill>
              </a:rPr>
              <a:t>n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47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   </a:t>
            </a:r>
            <a:r>
              <a:rPr lang="zh-CN" altLang="en-US" sz="2800" dirty="0"/>
              <a:t>任取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 err="1"/>
              <a:t>a,b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∈R∪R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∪</a:t>
            </a:r>
            <a:r>
              <a:rPr lang="en-US" altLang="zh-CN" sz="2800" dirty="0">
                <a:latin typeface="Arial" charset="0"/>
              </a:rPr>
              <a:t>…</a:t>
            </a:r>
            <a:r>
              <a:rPr lang="zh-CN" altLang="en-US" sz="2800" dirty="0">
                <a:latin typeface="Arial" charset="0"/>
              </a:rPr>
              <a:t>，</a:t>
            </a:r>
            <a:r>
              <a:rPr lang="zh-CN" altLang="en-US" sz="2800" dirty="0"/>
              <a:t>则</a:t>
            </a:r>
            <a:r>
              <a:rPr lang="zh-CN" altLang="en-US" sz="2800" dirty="0">
                <a:sym typeface="Symbol" pitchFamily="18" charset="2"/>
              </a:rPr>
              <a:t></a:t>
            </a:r>
            <a:r>
              <a:rPr lang="zh-CN" altLang="en-US" sz="2800" dirty="0">
                <a:solidFill>
                  <a:schemeClr val="accent1"/>
                </a:solidFill>
              </a:rPr>
              <a:t>最小</a:t>
            </a:r>
            <a:r>
              <a:rPr lang="zh-CN" altLang="en-US" sz="2800" dirty="0"/>
              <a:t>正整数</a:t>
            </a:r>
            <a:r>
              <a:rPr lang="en-US" altLang="zh-CN" sz="2800" dirty="0"/>
              <a:t>t</a:t>
            </a:r>
            <a:r>
              <a:rPr lang="zh-CN" altLang="en-US" sz="2800" dirty="0"/>
              <a:t>使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 err="1"/>
              <a:t>a,b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∈</a:t>
            </a:r>
            <a:r>
              <a:rPr lang="en-US" altLang="zh-CN" sz="2800" dirty="0" err="1"/>
              <a:t>R</a:t>
            </a:r>
            <a:r>
              <a:rPr lang="en-US" altLang="zh-CN" sz="2800" baseline="30000" dirty="0" err="1"/>
              <a:t>t</a:t>
            </a:r>
            <a:r>
              <a:rPr lang="en-US" altLang="zh-CN" sz="2800" dirty="0">
                <a:latin typeface="+mn-ea"/>
              </a:rPr>
              <a:t>,</a:t>
            </a:r>
            <a:r>
              <a:rPr lang="zh-CN" altLang="en-US" sz="2800" dirty="0">
                <a:solidFill>
                  <a:srgbClr val="FF0000"/>
                </a:solidFill>
              </a:rPr>
              <a:t>即</a:t>
            </a:r>
            <a:r>
              <a:rPr lang="en-US" altLang="zh-CN" sz="2800" dirty="0"/>
              <a:t>aRa</a:t>
            </a:r>
            <a:r>
              <a:rPr lang="en-US" altLang="zh-CN" sz="2800" baseline="-25000" dirty="0"/>
              <a:t>1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Ra</a:t>
            </a:r>
            <a:r>
              <a:rPr lang="en-US" altLang="zh-CN" sz="2800" baseline="-25000" dirty="0"/>
              <a:t>2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>
                <a:latin typeface="Arial" charset="0"/>
              </a:rPr>
              <a:t>…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p-1</a:t>
            </a:r>
            <a:r>
              <a:rPr lang="en-US" altLang="zh-CN" sz="2800" dirty="0"/>
              <a:t>R</a:t>
            </a:r>
            <a:r>
              <a:rPr lang="en-US" altLang="zh-CN" sz="2800" dirty="0">
                <a:solidFill>
                  <a:schemeClr val="accent1"/>
                </a:solidFill>
              </a:rPr>
              <a:t>a</a:t>
            </a:r>
            <a:r>
              <a:rPr lang="en-US" altLang="zh-CN" sz="2800" baseline="-25000" dirty="0">
                <a:solidFill>
                  <a:schemeClr val="accent1"/>
                </a:solidFill>
              </a:rPr>
              <a:t>p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>
                <a:latin typeface="Arial" charset="0"/>
              </a:rPr>
              <a:t>…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>
                <a:solidFill>
                  <a:schemeClr val="accent1"/>
                </a:solidFill>
              </a:rPr>
              <a:t>a</a:t>
            </a:r>
            <a:r>
              <a:rPr lang="en-US" altLang="zh-CN" sz="2800" baseline="-25000" dirty="0">
                <a:solidFill>
                  <a:schemeClr val="accent1"/>
                </a:solidFill>
              </a:rPr>
              <a:t>q</a:t>
            </a:r>
            <a:r>
              <a:rPr lang="en-US" altLang="zh-CN" sz="2800" dirty="0"/>
              <a:t>Ra</a:t>
            </a:r>
            <a:r>
              <a:rPr lang="en-US" altLang="zh-CN" sz="2800" baseline="-25000" dirty="0"/>
              <a:t>q+1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>
                <a:latin typeface="Arial" charset="0"/>
              </a:rPr>
              <a:t>…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t-1</a:t>
            </a:r>
            <a:r>
              <a:rPr lang="en-US" altLang="zh-CN" sz="2800" dirty="0"/>
              <a:t>Rb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 eaLnBrk="1" hangingPunct="1">
              <a:lnSpc>
                <a:spcPct val="147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于是</a:t>
            </a:r>
            <a:r>
              <a:rPr lang="en-US" altLang="zh-CN" sz="2800" dirty="0" err="1">
                <a:solidFill>
                  <a:srgbClr val="000000"/>
                </a:solidFill>
              </a:rPr>
              <a:t>t≤n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endParaRPr lang="en-US" altLang="zh-CN" sz="2800" dirty="0"/>
          </a:p>
          <a:p>
            <a:pPr marL="0" indent="0" eaLnBrk="1" hangingPunct="1">
              <a:lnSpc>
                <a:spcPct val="147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</a:t>
            </a:r>
            <a:r>
              <a:rPr lang="zh-CN" altLang="en-US" sz="2800" dirty="0">
                <a:solidFill>
                  <a:srgbClr val="FF00FF"/>
                </a:solidFill>
              </a:rPr>
              <a:t>否则</a:t>
            </a:r>
            <a:r>
              <a:rPr lang="zh-CN" altLang="en-US" sz="2800" dirty="0"/>
              <a:t>，若</a:t>
            </a:r>
            <a:r>
              <a:rPr lang="en-US" altLang="zh-CN" sz="2800" dirty="0"/>
              <a:t>t</a:t>
            </a:r>
            <a:r>
              <a:rPr lang="en-US" altLang="zh-CN" sz="2800" dirty="0">
                <a:solidFill>
                  <a:srgbClr val="FF0000"/>
                </a:solidFill>
              </a:rPr>
              <a:t>&gt;</a:t>
            </a:r>
            <a:r>
              <a:rPr lang="en-US" altLang="zh-CN" sz="2800" dirty="0"/>
              <a:t>n</a:t>
            </a:r>
            <a:r>
              <a:rPr lang="zh-CN" altLang="en-US" sz="2800" dirty="0"/>
              <a:t>，则存在</a:t>
            </a:r>
            <a:r>
              <a:rPr lang="en-US" altLang="zh-CN" sz="2800" dirty="0"/>
              <a:t>0≤p</a:t>
            </a:r>
            <a:r>
              <a:rPr lang="zh-CN" altLang="en-US" sz="2800" dirty="0"/>
              <a:t>＜</a:t>
            </a:r>
            <a:r>
              <a:rPr lang="en-US" altLang="zh-CN" sz="2800" dirty="0" err="1"/>
              <a:t>q≤t</a:t>
            </a:r>
            <a:r>
              <a:rPr lang="zh-CN" altLang="en-US" sz="2800" dirty="0"/>
              <a:t>使得</a:t>
            </a:r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p</a:t>
            </a:r>
            <a:r>
              <a:rPr lang="zh-CN" altLang="en-US" sz="2800" dirty="0"/>
              <a:t>＝</a:t>
            </a:r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q</a:t>
            </a:r>
            <a:r>
              <a:rPr lang="zh-CN" altLang="en-US" sz="2800" dirty="0">
                <a:solidFill>
                  <a:srgbClr val="000000"/>
                </a:solidFill>
              </a:rPr>
              <a:t>。从而</a:t>
            </a:r>
            <a:endParaRPr lang="zh-CN" altLang="en-US" sz="2800" dirty="0"/>
          </a:p>
          <a:p>
            <a:pPr eaLnBrk="1" hangingPunct="1">
              <a:lnSpc>
                <a:spcPct val="147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 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 err="1"/>
              <a:t>a,b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∈</a:t>
            </a:r>
            <a:r>
              <a:rPr lang="en-US" altLang="zh-CN" sz="2800" dirty="0" err="1"/>
              <a:t>R</a:t>
            </a:r>
            <a:r>
              <a:rPr lang="en-US" altLang="zh-CN" sz="2800" baseline="30000" dirty="0" err="1"/>
              <a:t>s</a:t>
            </a:r>
            <a:r>
              <a:rPr lang="zh-CN" altLang="en-US" sz="2800" dirty="0"/>
              <a:t>且</a:t>
            </a:r>
            <a:r>
              <a:rPr lang="en-US" altLang="zh-CN" sz="2800" dirty="0"/>
              <a:t>s</a:t>
            </a:r>
            <a:r>
              <a:rPr lang="zh-CN" altLang="en-US" sz="2800" dirty="0"/>
              <a:t>＝</a:t>
            </a:r>
            <a:r>
              <a:rPr lang="en-US" altLang="zh-CN" sz="2800" dirty="0"/>
              <a:t>p+ (t</a:t>
            </a:r>
            <a:r>
              <a:rPr lang="zh-CN" altLang="en-US" sz="2800" dirty="0"/>
              <a:t>－</a:t>
            </a:r>
            <a:r>
              <a:rPr lang="en-US" altLang="zh-CN" sz="2800" dirty="0"/>
              <a:t>q) </a:t>
            </a:r>
            <a:r>
              <a:rPr lang="zh-CN" altLang="en-US" sz="2800" dirty="0"/>
              <a:t>＝</a:t>
            </a:r>
            <a:r>
              <a:rPr lang="en-US" altLang="zh-CN" sz="2800" dirty="0"/>
              <a:t>t</a:t>
            </a:r>
            <a:r>
              <a:rPr lang="zh-CN" altLang="en-US" sz="2800" dirty="0"/>
              <a:t>－</a:t>
            </a:r>
            <a:r>
              <a:rPr lang="en-US" altLang="zh-CN" sz="2800" dirty="0"/>
              <a:t>(q</a:t>
            </a:r>
            <a:r>
              <a:rPr lang="zh-CN" altLang="en-US" sz="2800" dirty="0"/>
              <a:t>－</a:t>
            </a:r>
            <a:r>
              <a:rPr lang="en-US" altLang="zh-CN" sz="2800" dirty="0"/>
              <a:t>p)</a:t>
            </a:r>
            <a:r>
              <a:rPr lang="zh-CN" altLang="en-US" sz="2800" dirty="0"/>
              <a:t>＜</a:t>
            </a:r>
            <a:r>
              <a:rPr lang="en-US" altLang="zh-CN" sz="2800" dirty="0"/>
              <a:t>t     </a:t>
            </a:r>
            <a:r>
              <a:rPr lang="zh-CN" altLang="en-US" sz="2800" dirty="0">
                <a:solidFill>
                  <a:schemeClr val="accent1"/>
                </a:solidFill>
              </a:rPr>
              <a:t>矛盾</a:t>
            </a:r>
            <a:endParaRPr lang="en-US" altLang="zh-CN" sz="2800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47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chemeClr val="accent1"/>
                </a:solidFill>
              </a:rPr>
              <a:t>   </a:t>
            </a:r>
            <a:r>
              <a:rPr lang="zh-CN" altLang="en-US" sz="2800" dirty="0">
                <a:solidFill>
                  <a:schemeClr val="accent1"/>
                </a:solidFill>
              </a:rPr>
              <a:t>故</a:t>
            </a:r>
            <a:r>
              <a:rPr lang="en-US" altLang="zh-CN" sz="2800" dirty="0" err="1">
                <a:solidFill>
                  <a:srgbClr val="000000"/>
                </a:solidFill>
              </a:rPr>
              <a:t>R</a:t>
            </a:r>
            <a:r>
              <a:rPr lang="en-US" altLang="zh-CN" sz="2800" baseline="30000" dirty="0" err="1">
                <a:solidFill>
                  <a:srgbClr val="000000"/>
                </a:solidFill>
              </a:rPr>
              <a:t>t</a:t>
            </a:r>
            <a:r>
              <a:rPr lang="en-US" altLang="zh-CN" sz="2800" baseline="30000" dirty="0">
                <a:solidFill>
                  <a:srgbClr val="000000"/>
                </a:solidFill>
              </a:rPr>
              <a:t>      </a:t>
            </a:r>
            <a:r>
              <a:rPr lang="en-US" altLang="zh-CN" sz="2800" dirty="0">
                <a:solidFill>
                  <a:srgbClr val="000000"/>
                </a:solidFill>
              </a:rPr>
              <a:t>R∪R</a:t>
            </a:r>
            <a:r>
              <a:rPr lang="en-US" altLang="zh-CN" sz="2800" baseline="30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∪</a:t>
            </a:r>
            <a:r>
              <a:rPr lang="en-US" altLang="zh-CN" sz="2800" dirty="0">
                <a:solidFill>
                  <a:srgbClr val="000000"/>
                </a:solidFill>
                <a:latin typeface="Arial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</a:rPr>
              <a:t>∪</a:t>
            </a:r>
            <a:r>
              <a:rPr lang="en-US" altLang="zh-CN" sz="2800" dirty="0" err="1">
                <a:solidFill>
                  <a:srgbClr val="000000"/>
                </a:solidFill>
              </a:rPr>
              <a:t>R</a:t>
            </a:r>
            <a:r>
              <a:rPr lang="en-US" altLang="zh-CN" sz="2800" baseline="30000" dirty="0" err="1">
                <a:solidFill>
                  <a:srgbClr val="FF0000"/>
                </a:solidFill>
              </a:rPr>
              <a:t>n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9460" name="Object 12">
            <a:extLst>
              <a:ext uri="{FF2B5EF4-FFF2-40B4-BE49-F238E27FC236}">
                <a16:creationId xmlns:a16="http://schemas.microsoft.com/office/drawing/2014/main" id="{955C80EF-40AA-0DE6-79B1-0B37FCB60E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0" y="1174750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1174750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对象 2">
            <a:extLst>
              <a:ext uri="{FF2B5EF4-FFF2-40B4-BE49-F238E27FC236}">
                <a16:creationId xmlns:a16="http://schemas.microsoft.com/office/drawing/2014/main" id="{500966D9-DCAE-CD9B-F09A-415B591676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6237288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6237288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对象 4">
            <a:extLst>
              <a:ext uri="{FF2B5EF4-FFF2-40B4-BE49-F238E27FC236}">
                <a16:creationId xmlns:a16="http://schemas.microsoft.com/office/drawing/2014/main" id="{C8D02BE4-43BD-BFEA-DB70-3ECC8813C0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5150" y="1203325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5150" y="1203325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30">
            <a:extLst>
              <a:ext uri="{FF2B5EF4-FFF2-40B4-BE49-F238E27FC236}">
                <a16:creationId xmlns:a16="http://schemas.microsoft.com/office/drawing/2014/main" id="{700F4CEA-A427-214C-ACA5-47C4CCB82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6913" y="1628775"/>
            <a:ext cx="595312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？</a:t>
            </a:r>
            <a:endParaRPr lang="en-US" altLang="zh-CN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414B36A-BC59-5B5F-7621-866DE231E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3.10.2 </a:t>
            </a:r>
            <a:r>
              <a:rPr lang="zh-CN" altLang="en-US" sz="5400"/>
              <a:t>闭包的性质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31D99A2-2FFD-B4EB-1F11-20F963E04C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0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3.10.8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</a:t>
            </a:r>
            <a:r>
              <a:rPr lang="en-US" altLang="zh-CN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endParaRPr lang="en-US" altLang="zh-CN" b="1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>
                <a:solidFill>
                  <a:schemeClr val="hlink"/>
                </a:solidFill>
              </a:rPr>
              <a:t>则  </a:t>
            </a:r>
            <a:r>
              <a:rPr lang="en-US" altLang="zh-CN" dirty="0"/>
              <a:t>R</a:t>
            </a:r>
            <a:r>
              <a:rPr lang="en-US" altLang="zh-CN" baseline="30000" dirty="0"/>
              <a:t>2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R</a:t>
            </a:r>
            <a:r>
              <a:rPr lang="en-US" altLang="zh-CN" baseline="30000" dirty="0"/>
              <a:t>3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R</a:t>
            </a:r>
            <a:r>
              <a:rPr lang="en-US" altLang="zh-CN" baseline="30000" dirty="0"/>
              <a:t>4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</a:t>
            </a:r>
            <a:r>
              <a:rPr lang="en-US" altLang="zh-CN" dirty="0">
                <a:solidFill>
                  <a:schemeClr val="accent1"/>
                </a:solidFill>
              </a:rPr>
              <a:t>t(R)</a:t>
            </a:r>
            <a:r>
              <a:rPr lang="zh-CN" altLang="en-US" dirty="0"/>
              <a:t>＝</a:t>
            </a:r>
            <a:r>
              <a:rPr lang="en-US" altLang="zh-CN" dirty="0"/>
              <a:t>R∪R</a:t>
            </a:r>
            <a:r>
              <a:rPr lang="en-US" altLang="zh-CN" baseline="30000" dirty="0"/>
              <a:t>2</a:t>
            </a:r>
            <a:r>
              <a:rPr lang="en-US" altLang="zh-CN" dirty="0"/>
              <a:t>∪R</a:t>
            </a:r>
            <a:r>
              <a:rPr lang="en-US" altLang="zh-CN" baseline="30000" dirty="0"/>
              <a:t>3</a:t>
            </a:r>
            <a:r>
              <a:rPr lang="en-US" altLang="zh-CN" dirty="0"/>
              <a:t>∪</a:t>
            </a:r>
            <a:r>
              <a:rPr lang="en-US" altLang="zh-CN" dirty="0">
                <a:solidFill>
                  <a:srgbClr val="FF00FF"/>
                </a:solidFill>
              </a:rPr>
              <a:t>R</a:t>
            </a:r>
            <a:r>
              <a:rPr lang="en-US" altLang="zh-CN" baseline="30000" dirty="0">
                <a:solidFill>
                  <a:srgbClr val="FF00FF"/>
                </a:solidFill>
              </a:rPr>
              <a:t>4</a:t>
            </a:r>
            <a:endParaRPr lang="en-US" altLang="zh-CN" dirty="0">
              <a:solidFill>
                <a:srgbClr val="FF00FF"/>
              </a:solidFill>
            </a:endParaRP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          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F579582-C078-F679-22E8-8588AAA42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3.10.3 Warshall</a:t>
            </a:r>
            <a:r>
              <a:rPr lang="zh-CN" altLang="en-US" sz="5400"/>
              <a:t>算法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93BB1A7-4230-D795-D46F-9B941D788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89138"/>
            <a:ext cx="8532812" cy="48688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>
                <a:solidFill>
                  <a:schemeClr val="hlink"/>
                </a:solidFill>
              </a:rPr>
              <a:t>算法</a:t>
            </a:r>
            <a:r>
              <a:rPr lang="en-US" altLang="zh-CN" sz="2400">
                <a:solidFill>
                  <a:schemeClr val="hlink"/>
                </a:solidFill>
              </a:rPr>
              <a:t>3.10.1</a:t>
            </a:r>
            <a:r>
              <a:rPr lang="en-US" altLang="zh-CN" sz="2400"/>
              <a:t>  </a:t>
            </a:r>
            <a:r>
              <a:rPr lang="zh-CN" altLang="en-US" sz="2400"/>
              <a:t>计算</a:t>
            </a:r>
            <a:r>
              <a:rPr lang="zh-CN" altLang="en-US" sz="2400">
                <a:solidFill>
                  <a:schemeClr val="accent1"/>
                </a:solidFill>
              </a:rPr>
              <a:t>传递闭包</a:t>
            </a:r>
            <a:r>
              <a:rPr lang="zh-CN" altLang="en-US" sz="2400"/>
              <a:t>的</a:t>
            </a:r>
            <a:r>
              <a:rPr lang="en-US" altLang="zh-CN" sz="2400">
                <a:solidFill>
                  <a:srgbClr val="FF00FF"/>
                </a:solidFill>
              </a:rPr>
              <a:t>Warshall</a:t>
            </a:r>
            <a:r>
              <a:rPr lang="zh-CN" altLang="en-US" sz="2400">
                <a:solidFill>
                  <a:srgbClr val="FF00FF"/>
                </a:solidFill>
              </a:rPr>
              <a:t>算法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</a:t>
            </a:r>
            <a:r>
              <a:rPr lang="en-US" altLang="zh-CN" sz="2400" b="1"/>
              <a:t>procedure</a:t>
            </a:r>
            <a:r>
              <a:rPr lang="en-US" altLang="zh-CN" sz="2400"/>
              <a:t>   Warshall{M</a:t>
            </a:r>
            <a:r>
              <a:rPr lang="en-US" altLang="zh-CN" sz="2400" baseline="-25000"/>
              <a:t>R</a:t>
            </a:r>
            <a:r>
              <a:rPr lang="zh-CN" altLang="en-US" sz="2400"/>
              <a:t>为</a:t>
            </a:r>
            <a:r>
              <a:rPr lang="en-US" altLang="zh-CN" sz="2400"/>
              <a:t>R</a:t>
            </a:r>
            <a:r>
              <a:rPr lang="zh-CN" altLang="en-US" sz="2400"/>
              <a:t>的关系矩阵</a:t>
            </a:r>
            <a:r>
              <a:rPr lang="en-US" altLang="zh-CN" sz="2400"/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M</a:t>
            </a:r>
            <a:r>
              <a:rPr lang="zh-CN" altLang="en-US" sz="2400"/>
              <a:t>＝</a:t>
            </a:r>
            <a:r>
              <a:rPr lang="en-US" altLang="zh-CN" sz="2400"/>
              <a:t>M</a:t>
            </a:r>
            <a:r>
              <a:rPr lang="en-US" altLang="zh-CN" sz="2400" baseline="-25000"/>
              <a:t>R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</a:t>
            </a:r>
            <a:r>
              <a:rPr lang="en-US" altLang="zh-CN" sz="2400" b="1"/>
              <a:t>for</a:t>
            </a:r>
            <a:r>
              <a:rPr lang="en-US" altLang="zh-CN" sz="2400"/>
              <a:t>  </a:t>
            </a:r>
            <a:r>
              <a:rPr lang="en-US" altLang="zh-CN" sz="2400">
                <a:solidFill>
                  <a:srgbClr val="FF00FF"/>
                </a:solidFill>
              </a:rPr>
              <a:t>i</a:t>
            </a:r>
            <a:r>
              <a:rPr lang="zh-CN" altLang="en-US" sz="2400"/>
              <a:t>＝</a:t>
            </a:r>
            <a:r>
              <a:rPr lang="en-US" altLang="zh-CN" sz="2400"/>
              <a:t>1  </a:t>
            </a:r>
            <a:r>
              <a:rPr lang="en-US" altLang="zh-CN" sz="2400" b="1"/>
              <a:t>to</a:t>
            </a:r>
            <a:r>
              <a:rPr lang="en-US" altLang="zh-CN" sz="2400"/>
              <a:t>  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</a:t>
            </a:r>
            <a:r>
              <a:rPr lang="en-US" altLang="zh-CN" sz="2400" b="1"/>
              <a:t>begin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</a:t>
            </a:r>
            <a:r>
              <a:rPr lang="en-US" altLang="zh-CN" sz="2400" b="1"/>
              <a:t>for</a:t>
            </a:r>
            <a:r>
              <a:rPr lang="en-US" altLang="zh-CN" sz="2400"/>
              <a:t>  </a:t>
            </a:r>
            <a:r>
              <a:rPr lang="en-US" altLang="zh-CN" sz="2400">
                <a:solidFill>
                  <a:schemeClr val="accent1"/>
                </a:solidFill>
              </a:rPr>
              <a:t>j</a:t>
            </a:r>
            <a:r>
              <a:rPr lang="zh-CN" altLang="en-US" sz="2400"/>
              <a:t>＝</a:t>
            </a:r>
            <a:r>
              <a:rPr lang="en-US" altLang="zh-CN" sz="2400"/>
              <a:t>1  </a:t>
            </a:r>
            <a:r>
              <a:rPr lang="en-US" altLang="zh-CN" sz="2400" b="1"/>
              <a:t>to</a:t>
            </a:r>
            <a:r>
              <a:rPr lang="en-US" altLang="zh-CN" sz="2400"/>
              <a:t>  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</a:t>
            </a:r>
            <a:r>
              <a:rPr lang="en-US" altLang="zh-CN" sz="2400" b="1"/>
              <a:t>if</a:t>
            </a:r>
            <a:r>
              <a:rPr lang="en-US" altLang="zh-CN" sz="2400"/>
              <a:t>   m</a:t>
            </a:r>
            <a:r>
              <a:rPr lang="en-US" altLang="zh-CN" sz="2400" baseline="-25000"/>
              <a:t>ji</a:t>
            </a:r>
            <a:r>
              <a:rPr lang="zh-CN" altLang="en-US" sz="2400"/>
              <a:t>＝</a:t>
            </a:r>
            <a:r>
              <a:rPr lang="en-US" altLang="zh-CN" sz="2400"/>
              <a:t>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</a:t>
            </a:r>
            <a:r>
              <a:rPr lang="en-US" altLang="zh-CN" sz="2400" b="1"/>
              <a:t>begin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 </a:t>
            </a:r>
            <a:r>
              <a:rPr lang="en-US" altLang="zh-CN" sz="2400" b="1"/>
              <a:t>for</a:t>
            </a:r>
            <a:r>
              <a:rPr lang="en-US" altLang="zh-CN" sz="2400"/>
              <a:t>  k</a:t>
            </a:r>
            <a:r>
              <a:rPr lang="zh-CN" altLang="en-US" sz="2400"/>
              <a:t>＝</a:t>
            </a:r>
            <a:r>
              <a:rPr lang="en-US" altLang="zh-CN" sz="2400"/>
              <a:t>1  </a:t>
            </a:r>
            <a:r>
              <a:rPr lang="en-US" altLang="zh-CN" sz="2400" b="1"/>
              <a:t>to</a:t>
            </a:r>
            <a:r>
              <a:rPr lang="en-US" altLang="zh-CN" sz="2400"/>
              <a:t>  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 m</a:t>
            </a:r>
            <a:r>
              <a:rPr lang="en-US" altLang="zh-CN" sz="2400" baseline="-25000"/>
              <a:t>jk</a:t>
            </a:r>
            <a:r>
              <a:rPr lang="zh-CN" altLang="en-US" sz="2400"/>
              <a:t>＝</a:t>
            </a:r>
            <a:r>
              <a:rPr lang="en-US" altLang="zh-CN" sz="2400"/>
              <a:t>m</a:t>
            </a:r>
            <a:r>
              <a:rPr lang="en-US" altLang="zh-CN" sz="2400" baseline="-25000"/>
              <a:t>jk</a:t>
            </a:r>
            <a:r>
              <a:rPr lang="en-US" altLang="zh-CN" sz="2400"/>
              <a:t>∨m</a:t>
            </a:r>
            <a:r>
              <a:rPr lang="en-US" altLang="zh-CN" sz="2400" baseline="-25000"/>
              <a:t>ik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</a:t>
            </a:r>
            <a:r>
              <a:rPr lang="en-US" altLang="zh-CN" sz="2400" b="1"/>
              <a:t>end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</a:t>
            </a:r>
            <a:r>
              <a:rPr lang="en-US" altLang="zh-CN" sz="2400" b="1"/>
              <a:t>end</a:t>
            </a:r>
            <a:r>
              <a:rPr lang="en-US" altLang="zh-CN" sz="2400"/>
              <a:t>{M</a:t>
            </a:r>
            <a:r>
              <a:rPr lang="zh-CN" altLang="en-US" sz="2400"/>
              <a:t>＝</a:t>
            </a:r>
            <a:r>
              <a:rPr lang="en-US" altLang="zh-CN" sz="2400"/>
              <a:t>(m</a:t>
            </a:r>
            <a:r>
              <a:rPr lang="en-US" altLang="zh-CN" sz="2400" baseline="-25000">
                <a:solidFill>
                  <a:schemeClr val="accent1"/>
                </a:solidFill>
              </a:rPr>
              <a:t>j</a:t>
            </a:r>
            <a:r>
              <a:rPr lang="en-US" altLang="zh-CN" sz="2400" baseline="-25000">
                <a:solidFill>
                  <a:srgbClr val="FF00FF"/>
                </a:solidFill>
              </a:rPr>
              <a:t>i</a:t>
            </a:r>
            <a:r>
              <a:rPr lang="en-US" altLang="zh-CN" sz="2400"/>
              <a:t>)</a:t>
            </a:r>
            <a:r>
              <a:rPr lang="zh-CN" altLang="en-US" sz="2400"/>
              <a:t>为</a:t>
            </a:r>
            <a:r>
              <a:rPr lang="en-US" altLang="zh-CN" sz="2400"/>
              <a:t>t(R)</a:t>
            </a:r>
            <a:r>
              <a:rPr lang="zh-CN" altLang="en-US" sz="2400"/>
              <a:t>的关系矩阵</a:t>
            </a:r>
            <a:r>
              <a:rPr lang="en-US" altLang="zh-CN" sz="2400"/>
              <a:t>}</a:t>
            </a:r>
          </a:p>
        </p:txBody>
      </p:sp>
      <p:sp>
        <p:nvSpPr>
          <p:cNvPr id="21508" name="Oval 4">
            <a:extLst>
              <a:ext uri="{FF2B5EF4-FFF2-40B4-BE49-F238E27FC236}">
                <a16:creationId xmlns:a16="http://schemas.microsoft.com/office/drawing/2014/main" id="{3ABA6D14-BBDD-B535-7A20-D91C435E3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5373688"/>
            <a:ext cx="2160587" cy="914400"/>
          </a:xfrm>
          <a:prstGeom prst="ellips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/>
              <a:t>i</a:t>
            </a:r>
            <a:r>
              <a:rPr lang="zh-CN" altLang="en-US"/>
              <a:t>行</a:t>
            </a:r>
            <a:r>
              <a:rPr lang="zh-CN" altLang="en-US">
                <a:solidFill>
                  <a:schemeClr val="accent1"/>
                </a:solidFill>
              </a:rPr>
              <a:t>对应</a:t>
            </a:r>
            <a:r>
              <a:rPr lang="zh-CN" altLang="en-US">
                <a:solidFill>
                  <a:srgbClr val="FF00FF"/>
                </a:solidFill>
              </a:rPr>
              <a:t>逻辑加</a:t>
            </a:r>
            <a:r>
              <a:rPr lang="zh-CN" altLang="en-US"/>
              <a:t>到</a:t>
            </a:r>
            <a:r>
              <a:rPr lang="en-US" altLang="zh-CN"/>
              <a:t>j</a:t>
            </a:r>
            <a:r>
              <a:rPr lang="zh-CN" altLang="en-US"/>
              <a:t>行</a:t>
            </a:r>
          </a:p>
        </p:txBody>
      </p:sp>
      <p:sp>
        <p:nvSpPr>
          <p:cNvPr id="21509" name="Rectangle 7">
            <a:extLst>
              <a:ext uri="{FF2B5EF4-FFF2-40B4-BE49-F238E27FC236}">
                <a16:creationId xmlns:a16="http://schemas.microsoft.com/office/drawing/2014/main" id="{3E2632EF-C8A9-C803-C2C6-8382A5DE5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5648325"/>
            <a:ext cx="1943100" cy="4318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0" name="Line 9">
            <a:extLst>
              <a:ext uri="{FF2B5EF4-FFF2-40B4-BE49-F238E27FC236}">
                <a16:creationId xmlns:a16="http://schemas.microsoft.com/office/drawing/2014/main" id="{E1628E56-44FB-4B5E-BF90-9FDFD2B1D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8700" y="5864225"/>
            <a:ext cx="1152525" cy="0"/>
          </a:xfrm>
          <a:prstGeom prst="line">
            <a:avLst/>
          </a:prstGeom>
          <a:noFill/>
          <a:ln w="38100">
            <a:solidFill>
              <a:srgbClr val="FF99CC"/>
            </a:solidFill>
            <a:round/>
            <a:headEnd type="triangle"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5DA1E2A6-8051-BFD0-E793-51A15123C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3.10.3 Warshall</a:t>
            </a:r>
            <a:r>
              <a:rPr lang="zh-CN" altLang="en-US" sz="5400"/>
              <a:t>算法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6691783-1A05-7B39-042A-E98D069663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844675"/>
            <a:ext cx="8424863" cy="4968875"/>
          </a:xfrm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hlink"/>
                </a:solidFill>
              </a:rPr>
              <a:t>例</a:t>
            </a:r>
            <a:r>
              <a:rPr lang="en-US" altLang="zh-CN" sz="2800">
                <a:solidFill>
                  <a:schemeClr val="hlink"/>
                </a:solidFill>
              </a:rPr>
              <a:t>3.10.9</a:t>
            </a:r>
          </a:p>
        </p:txBody>
      </p:sp>
      <p:sp>
        <p:nvSpPr>
          <p:cNvPr id="22532" name="Rectangle 5">
            <a:extLst>
              <a:ext uri="{FF2B5EF4-FFF2-40B4-BE49-F238E27FC236}">
                <a16:creationId xmlns:a16="http://schemas.microsoft.com/office/drawing/2014/main" id="{A1F04650-03A1-FE31-EFC8-33A933D3E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14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3" name="Rectangle 7">
            <a:extLst>
              <a:ext uri="{FF2B5EF4-FFF2-40B4-BE49-F238E27FC236}">
                <a16:creationId xmlns:a16="http://schemas.microsoft.com/office/drawing/2014/main" id="{E3BE590B-DF3B-F6E6-011D-E33D1929B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14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4" name="Rectangle 9">
            <a:extLst>
              <a:ext uri="{FF2B5EF4-FFF2-40B4-BE49-F238E27FC236}">
                <a16:creationId xmlns:a16="http://schemas.microsoft.com/office/drawing/2014/main" id="{C741F6E9-BA13-0401-B80A-699F66159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14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2535" name="Object 8">
            <a:extLst>
              <a:ext uri="{FF2B5EF4-FFF2-40B4-BE49-F238E27FC236}">
                <a16:creationId xmlns:a16="http://schemas.microsoft.com/office/drawing/2014/main" id="{DF91D36E-4E28-D8C6-29E8-32A273E078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4588" y="2389188"/>
          <a:ext cx="2120900" cy="219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800" imgH="1625600" progId="Equation.DSMT4">
                  <p:embed/>
                </p:oleObj>
              </mc:Choice>
              <mc:Fallback>
                <p:oleObj name="Equation" r:id="rId2" imgW="1574800" imgH="1625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2389188"/>
                        <a:ext cx="2120900" cy="219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Rectangle 11">
            <a:extLst>
              <a:ext uri="{FF2B5EF4-FFF2-40B4-BE49-F238E27FC236}">
                <a16:creationId xmlns:a16="http://schemas.microsoft.com/office/drawing/2014/main" id="{76AEEDB5-E3E6-FBA1-B830-B466298E8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14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2537" name="Object 10">
            <a:extLst>
              <a:ext uri="{FF2B5EF4-FFF2-40B4-BE49-F238E27FC236}">
                <a16:creationId xmlns:a16="http://schemas.microsoft.com/office/drawing/2014/main" id="{FD7C055D-1256-C754-E496-CF0EF8D3FD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5650" y="2384425"/>
          <a:ext cx="2039938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300" imgH="1625600" progId="Equation.DSMT4">
                  <p:embed/>
                </p:oleObj>
              </mc:Choice>
              <mc:Fallback>
                <p:oleObj name="Equation" r:id="rId4" imgW="1511300" imgH="1625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2384425"/>
                        <a:ext cx="2039938" cy="219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Rectangle 13">
            <a:extLst>
              <a:ext uri="{FF2B5EF4-FFF2-40B4-BE49-F238E27FC236}">
                <a16:creationId xmlns:a16="http://schemas.microsoft.com/office/drawing/2014/main" id="{73AE7A7A-7484-F12E-F310-A7469C818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14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2539" name="Object 12">
            <a:extLst>
              <a:ext uri="{FF2B5EF4-FFF2-40B4-BE49-F238E27FC236}">
                <a16:creationId xmlns:a16="http://schemas.microsoft.com/office/drawing/2014/main" id="{9249754F-9F2E-0195-123A-33E52BC038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1575" y="4616450"/>
          <a:ext cx="2038350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300" imgH="1625600" progId="Equation.DSMT4">
                  <p:embed/>
                </p:oleObj>
              </mc:Choice>
              <mc:Fallback>
                <p:oleObj name="Equation" r:id="rId6" imgW="1511300" imgH="1625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4616450"/>
                        <a:ext cx="2038350" cy="219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Rectangle 15">
            <a:extLst>
              <a:ext uri="{FF2B5EF4-FFF2-40B4-BE49-F238E27FC236}">
                <a16:creationId xmlns:a16="http://schemas.microsoft.com/office/drawing/2014/main" id="{B523BCA9-4908-2221-54F5-F9D85023E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14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2541" name="Object 14">
            <a:extLst>
              <a:ext uri="{FF2B5EF4-FFF2-40B4-BE49-F238E27FC236}">
                <a16:creationId xmlns:a16="http://schemas.microsoft.com/office/drawing/2014/main" id="{3A5AF2AA-8CB9-E7DF-EF49-9319BB0A19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5650" y="4616450"/>
          <a:ext cx="2039938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11300" imgH="1625600" progId="Equation.DSMT4">
                  <p:embed/>
                </p:oleObj>
              </mc:Choice>
              <mc:Fallback>
                <p:oleObj name="Equation" r:id="rId8" imgW="1511300" imgH="1625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4616450"/>
                        <a:ext cx="2039938" cy="219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Freeform 21">
            <a:extLst>
              <a:ext uri="{FF2B5EF4-FFF2-40B4-BE49-F238E27FC236}">
                <a16:creationId xmlns:a16="http://schemas.microsoft.com/office/drawing/2014/main" id="{76025AF1-E9D8-A472-31DA-D9F9948DBED6}"/>
              </a:ext>
            </a:extLst>
          </p:cNvPr>
          <p:cNvSpPr>
            <a:spLocks/>
          </p:cNvSpPr>
          <p:nvPr/>
        </p:nvSpPr>
        <p:spPr bwMode="auto">
          <a:xfrm>
            <a:off x="1247775" y="2430463"/>
            <a:ext cx="158750" cy="252412"/>
          </a:xfrm>
          <a:custGeom>
            <a:avLst/>
            <a:gdLst>
              <a:gd name="T0" fmla="*/ 2147483647 w 100"/>
              <a:gd name="T1" fmla="*/ 2147483647 h 159"/>
              <a:gd name="T2" fmla="*/ 2147483647 w 100"/>
              <a:gd name="T3" fmla="*/ 2147483647 h 159"/>
              <a:gd name="T4" fmla="*/ 2147483647 w 100"/>
              <a:gd name="T5" fmla="*/ 2147483647 h 159"/>
              <a:gd name="T6" fmla="*/ 2147483647 w 100"/>
              <a:gd name="T7" fmla="*/ 2147483647 h 159"/>
              <a:gd name="T8" fmla="*/ 2147483647 w 100"/>
              <a:gd name="T9" fmla="*/ 2147483647 h 1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0" h="159">
                <a:moveTo>
                  <a:pt x="6" y="61"/>
                </a:moveTo>
                <a:cubicBezTo>
                  <a:pt x="21" y="0"/>
                  <a:pt x="13" y="2"/>
                  <a:pt x="78" y="13"/>
                </a:cubicBezTo>
                <a:cubicBezTo>
                  <a:pt x="73" y="91"/>
                  <a:pt x="100" y="159"/>
                  <a:pt x="22" y="133"/>
                </a:cubicBezTo>
                <a:cubicBezTo>
                  <a:pt x="17" y="125"/>
                  <a:pt x="7" y="119"/>
                  <a:pt x="6" y="109"/>
                </a:cubicBezTo>
                <a:cubicBezTo>
                  <a:pt x="0" y="58"/>
                  <a:pt x="33" y="61"/>
                  <a:pt x="6" y="61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Freeform 23">
            <a:extLst>
              <a:ext uri="{FF2B5EF4-FFF2-40B4-BE49-F238E27FC236}">
                <a16:creationId xmlns:a16="http://schemas.microsoft.com/office/drawing/2014/main" id="{0CD6806F-4404-E4A4-7868-46C458EC1695}"/>
              </a:ext>
            </a:extLst>
          </p:cNvPr>
          <p:cNvSpPr>
            <a:spLocks/>
          </p:cNvSpPr>
          <p:nvPr/>
        </p:nvSpPr>
        <p:spPr bwMode="auto">
          <a:xfrm>
            <a:off x="1257300" y="2741613"/>
            <a:ext cx="169863" cy="242887"/>
          </a:xfrm>
          <a:custGeom>
            <a:avLst/>
            <a:gdLst>
              <a:gd name="T0" fmla="*/ 2147483647 w 107"/>
              <a:gd name="T1" fmla="*/ 2147483647 h 153"/>
              <a:gd name="T2" fmla="*/ 2147483647 w 107"/>
              <a:gd name="T3" fmla="*/ 2147483647 h 153"/>
              <a:gd name="T4" fmla="*/ 0 w 107"/>
              <a:gd name="T5" fmla="*/ 2147483647 h 153"/>
              <a:gd name="T6" fmla="*/ 2147483647 w 107"/>
              <a:gd name="T7" fmla="*/ 2147483647 h 15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7" h="153">
                <a:moveTo>
                  <a:pt x="8" y="17"/>
                </a:moveTo>
                <a:cubicBezTo>
                  <a:pt x="107" y="0"/>
                  <a:pt x="71" y="49"/>
                  <a:pt x="64" y="153"/>
                </a:cubicBezTo>
                <a:cubicBezTo>
                  <a:pt x="26" y="144"/>
                  <a:pt x="12" y="134"/>
                  <a:pt x="0" y="97"/>
                </a:cubicBezTo>
                <a:cubicBezTo>
                  <a:pt x="9" y="33"/>
                  <a:pt x="8" y="60"/>
                  <a:pt x="8" y="17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Freeform 24">
            <a:extLst>
              <a:ext uri="{FF2B5EF4-FFF2-40B4-BE49-F238E27FC236}">
                <a16:creationId xmlns:a16="http://schemas.microsoft.com/office/drawing/2014/main" id="{7B06E817-BFFB-9958-5C48-3E00264DFFDE}"/>
              </a:ext>
            </a:extLst>
          </p:cNvPr>
          <p:cNvSpPr>
            <a:spLocks/>
          </p:cNvSpPr>
          <p:nvPr/>
        </p:nvSpPr>
        <p:spPr bwMode="auto">
          <a:xfrm>
            <a:off x="1257300" y="3640138"/>
            <a:ext cx="193675" cy="246062"/>
          </a:xfrm>
          <a:custGeom>
            <a:avLst/>
            <a:gdLst>
              <a:gd name="T0" fmla="*/ 2147483647 w 122"/>
              <a:gd name="T1" fmla="*/ 2147483647 h 155"/>
              <a:gd name="T2" fmla="*/ 2147483647 w 122"/>
              <a:gd name="T3" fmla="*/ 2147483647 h 155"/>
              <a:gd name="T4" fmla="*/ 0 w 122"/>
              <a:gd name="T5" fmla="*/ 2147483647 h 155"/>
              <a:gd name="T6" fmla="*/ 2147483647 w 122"/>
              <a:gd name="T7" fmla="*/ 2147483647 h 155"/>
              <a:gd name="T8" fmla="*/ 2147483647 w 122"/>
              <a:gd name="T9" fmla="*/ 2147483647 h 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2" h="155">
                <a:moveTo>
                  <a:pt x="16" y="35"/>
                </a:moveTo>
                <a:cubicBezTo>
                  <a:pt x="122" y="0"/>
                  <a:pt x="81" y="89"/>
                  <a:pt x="64" y="155"/>
                </a:cubicBezTo>
                <a:cubicBezTo>
                  <a:pt x="7" y="136"/>
                  <a:pt x="25" y="153"/>
                  <a:pt x="0" y="115"/>
                </a:cubicBezTo>
                <a:cubicBezTo>
                  <a:pt x="3" y="102"/>
                  <a:pt x="6" y="88"/>
                  <a:pt x="8" y="75"/>
                </a:cubicBezTo>
                <a:cubicBezTo>
                  <a:pt x="16" y="29"/>
                  <a:pt x="16" y="10"/>
                  <a:pt x="16" y="35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5" name="Freeform 26">
            <a:extLst>
              <a:ext uri="{FF2B5EF4-FFF2-40B4-BE49-F238E27FC236}">
                <a16:creationId xmlns:a16="http://schemas.microsoft.com/office/drawing/2014/main" id="{754367CB-656B-B26C-6DAA-D0E6F9E1030A}"/>
              </a:ext>
            </a:extLst>
          </p:cNvPr>
          <p:cNvSpPr>
            <a:spLocks/>
          </p:cNvSpPr>
          <p:nvPr/>
        </p:nvSpPr>
        <p:spPr bwMode="auto">
          <a:xfrm>
            <a:off x="1268413" y="3987800"/>
            <a:ext cx="153987" cy="203200"/>
          </a:xfrm>
          <a:custGeom>
            <a:avLst/>
            <a:gdLst>
              <a:gd name="T0" fmla="*/ 2147483647 w 97"/>
              <a:gd name="T1" fmla="*/ 0 h 128"/>
              <a:gd name="T2" fmla="*/ 2147483647 w 97"/>
              <a:gd name="T3" fmla="*/ 2147483647 h 128"/>
              <a:gd name="T4" fmla="*/ 2147483647 w 97"/>
              <a:gd name="T5" fmla="*/ 2147483647 h 128"/>
              <a:gd name="T6" fmla="*/ 2147483647 w 97"/>
              <a:gd name="T7" fmla="*/ 2147483647 h 128"/>
              <a:gd name="T8" fmla="*/ 2147483647 w 97"/>
              <a:gd name="T9" fmla="*/ 0 h 1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7" h="128">
                <a:moveTo>
                  <a:pt x="1" y="0"/>
                </a:moveTo>
                <a:cubicBezTo>
                  <a:pt x="50" y="7"/>
                  <a:pt x="71" y="1"/>
                  <a:pt x="97" y="40"/>
                </a:cubicBezTo>
                <a:cubicBezTo>
                  <a:pt x="89" y="88"/>
                  <a:pt x="88" y="102"/>
                  <a:pt x="49" y="128"/>
                </a:cubicBezTo>
                <a:cubicBezTo>
                  <a:pt x="38" y="125"/>
                  <a:pt x="26" y="127"/>
                  <a:pt x="17" y="120"/>
                </a:cubicBezTo>
                <a:cubicBezTo>
                  <a:pt x="0" y="106"/>
                  <a:pt x="1" y="24"/>
                  <a:pt x="1" y="0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6" name="Freeform 27">
            <a:extLst>
              <a:ext uri="{FF2B5EF4-FFF2-40B4-BE49-F238E27FC236}">
                <a16:creationId xmlns:a16="http://schemas.microsoft.com/office/drawing/2014/main" id="{2313EA2D-C52F-4175-8CBA-C9DDA79BE65F}"/>
              </a:ext>
            </a:extLst>
          </p:cNvPr>
          <p:cNvSpPr>
            <a:spLocks/>
          </p:cNvSpPr>
          <p:nvPr/>
        </p:nvSpPr>
        <p:spPr bwMode="auto">
          <a:xfrm>
            <a:off x="1228725" y="4303713"/>
            <a:ext cx="168275" cy="192087"/>
          </a:xfrm>
          <a:custGeom>
            <a:avLst/>
            <a:gdLst>
              <a:gd name="T0" fmla="*/ 2147483647 w 106"/>
              <a:gd name="T1" fmla="*/ 2147483647 h 121"/>
              <a:gd name="T2" fmla="*/ 2147483647 w 106"/>
              <a:gd name="T3" fmla="*/ 2147483647 h 121"/>
              <a:gd name="T4" fmla="*/ 2147483647 w 106"/>
              <a:gd name="T5" fmla="*/ 2147483647 h 121"/>
              <a:gd name="T6" fmla="*/ 2147483647 w 106"/>
              <a:gd name="T7" fmla="*/ 2147483647 h 121"/>
              <a:gd name="T8" fmla="*/ 2147483647 w 106"/>
              <a:gd name="T9" fmla="*/ 2147483647 h 1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" h="121">
                <a:moveTo>
                  <a:pt x="26" y="1"/>
                </a:moveTo>
                <a:cubicBezTo>
                  <a:pt x="50" y="4"/>
                  <a:pt x="76" y="0"/>
                  <a:pt x="98" y="9"/>
                </a:cubicBezTo>
                <a:cubicBezTo>
                  <a:pt x="106" y="12"/>
                  <a:pt x="106" y="25"/>
                  <a:pt x="106" y="33"/>
                </a:cubicBezTo>
                <a:cubicBezTo>
                  <a:pt x="106" y="78"/>
                  <a:pt x="101" y="87"/>
                  <a:pt x="90" y="121"/>
                </a:cubicBezTo>
                <a:cubicBezTo>
                  <a:pt x="0" y="108"/>
                  <a:pt x="26" y="102"/>
                  <a:pt x="26" y="1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7" name="Freeform 29">
            <a:extLst>
              <a:ext uri="{FF2B5EF4-FFF2-40B4-BE49-F238E27FC236}">
                <a16:creationId xmlns:a16="http://schemas.microsoft.com/office/drawing/2014/main" id="{91E7E1F9-EED0-5CFB-A026-5385500B7053}"/>
              </a:ext>
            </a:extLst>
          </p:cNvPr>
          <p:cNvSpPr>
            <a:spLocks/>
          </p:cNvSpPr>
          <p:nvPr/>
        </p:nvSpPr>
        <p:spPr bwMode="auto">
          <a:xfrm>
            <a:off x="1230313" y="2384425"/>
            <a:ext cx="1909762" cy="322263"/>
          </a:xfrm>
          <a:custGeom>
            <a:avLst/>
            <a:gdLst>
              <a:gd name="T0" fmla="*/ 2147483647 w 1203"/>
              <a:gd name="T1" fmla="*/ 2147483647 h 203"/>
              <a:gd name="T2" fmla="*/ 2147483647 w 1203"/>
              <a:gd name="T3" fmla="*/ 2147483647 h 203"/>
              <a:gd name="T4" fmla="*/ 2147483647 w 1203"/>
              <a:gd name="T5" fmla="*/ 2147483647 h 203"/>
              <a:gd name="T6" fmla="*/ 2147483647 w 1203"/>
              <a:gd name="T7" fmla="*/ 2147483647 h 203"/>
              <a:gd name="T8" fmla="*/ 2147483647 w 1203"/>
              <a:gd name="T9" fmla="*/ 2147483647 h 203"/>
              <a:gd name="T10" fmla="*/ 2147483647 w 1203"/>
              <a:gd name="T11" fmla="*/ 2147483647 h 203"/>
              <a:gd name="T12" fmla="*/ 2147483647 w 1203"/>
              <a:gd name="T13" fmla="*/ 2147483647 h 203"/>
              <a:gd name="T14" fmla="*/ 2147483647 w 1203"/>
              <a:gd name="T15" fmla="*/ 2147483647 h 20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203" h="203">
                <a:moveTo>
                  <a:pt x="9" y="170"/>
                </a:moveTo>
                <a:cubicBezTo>
                  <a:pt x="6" y="162"/>
                  <a:pt x="0" y="154"/>
                  <a:pt x="1" y="146"/>
                </a:cubicBezTo>
                <a:cubicBezTo>
                  <a:pt x="3" y="129"/>
                  <a:pt x="17" y="98"/>
                  <a:pt x="17" y="98"/>
                </a:cubicBezTo>
                <a:cubicBezTo>
                  <a:pt x="29" y="0"/>
                  <a:pt x="18" y="17"/>
                  <a:pt x="113" y="18"/>
                </a:cubicBezTo>
                <a:cubicBezTo>
                  <a:pt x="457" y="23"/>
                  <a:pt x="801" y="23"/>
                  <a:pt x="1145" y="26"/>
                </a:cubicBezTo>
                <a:cubicBezTo>
                  <a:pt x="1203" y="65"/>
                  <a:pt x="1174" y="110"/>
                  <a:pt x="1169" y="186"/>
                </a:cubicBezTo>
                <a:cubicBezTo>
                  <a:pt x="822" y="181"/>
                  <a:pt x="496" y="169"/>
                  <a:pt x="153" y="178"/>
                </a:cubicBezTo>
                <a:cubicBezTo>
                  <a:pt x="70" y="188"/>
                  <a:pt x="86" y="203"/>
                  <a:pt x="9" y="170"/>
                </a:cubicBezTo>
                <a:close/>
              </a:path>
            </a:pathLst>
          </a:cu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8" name="Freeform 31">
            <a:extLst>
              <a:ext uri="{FF2B5EF4-FFF2-40B4-BE49-F238E27FC236}">
                <a16:creationId xmlns:a16="http://schemas.microsoft.com/office/drawing/2014/main" id="{1984D67E-235A-37FC-0BCF-645A9E103B89}"/>
              </a:ext>
            </a:extLst>
          </p:cNvPr>
          <p:cNvSpPr>
            <a:spLocks/>
          </p:cNvSpPr>
          <p:nvPr/>
        </p:nvSpPr>
        <p:spPr bwMode="auto">
          <a:xfrm>
            <a:off x="4918075" y="2446338"/>
            <a:ext cx="176213" cy="207962"/>
          </a:xfrm>
          <a:custGeom>
            <a:avLst/>
            <a:gdLst>
              <a:gd name="T0" fmla="*/ 2147483647 w 111"/>
              <a:gd name="T1" fmla="*/ 2147483647 h 131"/>
              <a:gd name="T2" fmla="*/ 2147483647 w 111"/>
              <a:gd name="T3" fmla="*/ 2147483647 h 131"/>
              <a:gd name="T4" fmla="*/ 2147483647 w 111"/>
              <a:gd name="T5" fmla="*/ 2147483647 h 131"/>
              <a:gd name="T6" fmla="*/ 2147483647 w 111"/>
              <a:gd name="T7" fmla="*/ 2147483647 h 131"/>
              <a:gd name="T8" fmla="*/ 2147483647 w 111"/>
              <a:gd name="T9" fmla="*/ 2147483647 h 1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1" h="131">
                <a:moveTo>
                  <a:pt x="6" y="11"/>
                </a:moveTo>
                <a:cubicBezTo>
                  <a:pt x="40" y="0"/>
                  <a:pt x="68" y="8"/>
                  <a:pt x="102" y="19"/>
                </a:cubicBezTo>
                <a:cubicBezTo>
                  <a:pt x="94" y="102"/>
                  <a:pt x="111" y="109"/>
                  <a:pt x="46" y="131"/>
                </a:cubicBezTo>
                <a:cubicBezTo>
                  <a:pt x="40" y="125"/>
                  <a:pt x="7" y="95"/>
                  <a:pt x="6" y="83"/>
                </a:cubicBezTo>
                <a:cubicBezTo>
                  <a:pt x="0" y="8"/>
                  <a:pt x="40" y="11"/>
                  <a:pt x="6" y="11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9" name="Freeform 33">
            <a:extLst>
              <a:ext uri="{FF2B5EF4-FFF2-40B4-BE49-F238E27FC236}">
                <a16:creationId xmlns:a16="http://schemas.microsoft.com/office/drawing/2014/main" id="{4957498D-9C0A-4573-3583-283B632A73A6}"/>
              </a:ext>
            </a:extLst>
          </p:cNvPr>
          <p:cNvSpPr>
            <a:spLocks/>
          </p:cNvSpPr>
          <p:nvPr/>
        </p:nvSpPr>
        <p:spPr bwMode="auto">
          <a:xfrm>
            <a:off x="4914900" y="2755900"/>
            <a:ext cx="204788" cy="203200"/>
          </a:xfrm>
          <a:custGeom>
            <a:avLst/>
            <a:gdLst>
              <a:gd name="T0" fmla="*/ 0 w 129"/>
              <a:gd name="T1" fmla="*/ 2147483647 h 128"/>
              <a:gd name="T2" fmla="*/ 2147483647 w 129"/>
              <a:gd name="T3" fmla="*/ 0 h 128"/>
              <a:gd name="T4" fmla="*/ 2147483647 w 129"/>
              <a:gd name="T5" fmla="*/ 2147483647 h 128"/>
              <a:gd name="T6" fmla="*/ 2147483647 w 129"/>
              <a:gd name="T7" fmla="*/ 2147483647 h 128"/>
              <a:gd name="T8" fmla="*/ 2147483647 w 129"/>
              <a:gd name="T9" fmla="*/ 2147483647 h 128"/>
              <a:gd name="T10" fmla="*/ 0 w 129"/>
              <a:gd name="T11" fmla="*/ 2147483647 h 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9" h="128">
                <a:moveTo>
                  <a:pt x="0" y="8"/>
                </a:moveTo>
                <a:cubicBezTo>
                  <a:pt x="8" y="5"/>
                  <a:pt x="16" y="0"/>
                  <a:pt x="24" y="0"/>
                </a:cubicBezTo>
                <a:cubicBezTo>
                  <a:pt x="129" y="0"/>
                  <a:pt x="88" y="11"/>
                  <a:pt x="80" y="128"/>
                </a:cubicBezTo>
                <a:cubicBezTo>
                  <a:pt x="61" y="125"/>
                  <a:pt x="41" y="128"/>
                  <a:pt x="24" y="120"/>
                </a:cubicBezTo>
                <a:cubicBezTo>
                  <a:pt x="16" y="116"/>
                  <a:pt x="18" y="104"/>
                  <a:pt x="16" y="96"/>
                </a:cubicBezTo>
                <a:cubicBezTo>
                  <a:pt x="10" y="67"/>
                  <a:pt x="6" y="37"/>
                  <a:pt x="0" y="8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0" name="Freeform 34">
            <a:extLst>
              <a:ext uri="{FF2B5EF4-FFF2-40B4-BE49-F238E27FC236}">
                <a16:creationId xmlns:a16="http://schemas.microsoft.com/office/drawing/2014/main" id="{D0F93777-7B2C-1792-BC91-E4EBB6BB3931}"/>
              </a:ext>
            </a:extLst>
          </p:cNvPr>
          <p:cNvSpPr>
            <a:spLocks/>
          </p:cNvSpPr>
          <p:nvPr/>
        </p:nvSpPr>
        <p:spPr bwMode="auto">
          <a:xfrm>
            <a:off x="4908550" y="3667125"/>
            <a:ext cx="193675" cy="220663"/>
          </a:xfrm>
          <a:custGeom>
            <a:avLst/>
            <a:gdLst>
              <a:gd name="T0" fmla="*/ 2147483647 w 122"/>
              <a:gd name="T1" fmla="*/ 2147483647 h 139"/>
              <a:gd name="T2" fmla="*/ 2147483647 w 122"/>
              <a:gd name="T3" fmla="*/ 2147483647 h 139"/>
              <a:gd name="T4" fmla="*/ 2147483647 w 122"/>
              <a:gd name="T5" fmla="*/ 2147483647 h 139"/>
              <a:gd name="T6" fmla="*/ 2147483647 w 122"/>
              <a:gd name="T7" fmla="*/ 2147483647 h 139"/>
              <a:gd name="T8" fmla="*/ 2147483647 w 122"/>
              <a:gd name="T9" fmla="*/ 2147483647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2" h="139">
                <a:moveTo>
                  <a:pt x="12" y="10"/>
                </a:moveTo>
                <a:cubicBezTo>
                  <a:pt x="43" y="0"/>
                  <a:pt x="62" y="8"/>
                  <a:pt x="92" y="18"/>
                </a:cubicBezTo>
                <a:cubicBezTo>
                  <a:pt x="102" y="47"/>
                  <a:pt x="122" y="97"/>
                  <a:pt x="92" y="122"/>
                </a:cubicBezTo>
                <a:cubicBezTo>
                  <a:pt x="71" y="139"/>
                  <a:pt x="39" y="117"/>
                  <a:pt x="12" y="114"/>
                </a:cubicBezTo>
                <a:cubicBezTo>
                  <a:pt x="0" y="78"/>
                  <a:pt x="12" y="47"/>
                  <a:pt x="12" y="10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1" name="Freeform 35">
            <a:extLst>
              <a:ext uri="{FF2B5EF4-FFF2-40B4-BE49-F238E27FC236}">
                <a16:creationId xmlns:a16="http://schemas.microsoft.com/office/drawing/2014/main" id="{3B1FEDFA-2AC7-8AEF-F2C6-9DAEEFAD533E}"/>
              </a:ext>
            </a:extLst>
          </p:cNvPr>
          <p:cNvSpPr>
            <a:spLocks/>
          </p:cNvSpPr>
          <p:nvPr/>
        </p:nvSpPr>
        <p:spPr bwMode="auto">
          <a:xfrm>
            <a:off x="4889500" y="3960813"/>
            <a:ext cx="188913" cy="242887"/>
          </a:xfrm>
          <a:custGeom>
            <a:avLst/>
            <a:gdLst>
              <a:gd name="T0" fmla="*/ 2147483647 w 119"/>
              <a:gd name="T1" fmla="*/ 2147483647 h 153"/>
              <a:gd name="T2" fmla="*/ 2147483647 w 119"/>
              <a:gd name="T3" fmla="*/ 2147483647 h 153"/>
              <a:gd name="T4" fmla="*/ 2147483647 w 119"/>
              <a:gd name="T5" fmla="*/ 2147483647 h 153"/>
              <a:gd name="T6" fmla="*/ 2147483647 w 119"/>
              <a:gd name="T7" fmla="*/ 2147483647 h 153"/>
              <a:gd name="T8" fmla="*/ 2147483647 w 119"/>
              <a:gd name="T9" fmla="*/ 2147483647 h 153"/>
              <a:gd name="T10" fmla="*/ 2147483647 w 119"/>
              <a:gd name="T11" fmla="*/ 2147483647 h 153"/>
              <a:gd name="T12" fmla="*/ 2147483647 w 119"/>
              <a:gd name="T13" fmla="*/ 2147483647 h 153"/>
              <a:gd name="T14" fmla="*/ 2147483647 w 119"/>
              <a:gd name="T15" fmla="*/ 2147483647 h 15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153">
                <a:moveTo>
                  <a:pt x="24" y="25"/>
                </a:moveTo>
                <a:cubicBezTo>
                  <a:pt x="61" y="0"/>
                  <a:pt x="72" y="12"/>
                  <a:pt x="112" y="25"/>
                </a:cubicBezTo>
                <a:cubicBezTo>
                  <a:pt x="109" y="62"/>
                  <a:pt x="119" y="103"/>
                  <a:pt x="104" y="137"/>
                </a:cubicBezTo>
                <a:cubicBezTo>
                  <a:pt x="97" y="152"/>
                  <a:pt x="56" y="153"/>
                  <a:pt x="56" y="153"/>
                </a:cubicBezTo>
                <a:cubicBezTo>
                  <a:pt x="48" y="150"/>
                  <a:pt x="37" y="152"/>
                  <a:pt x="32" y="145"/>
                </a:cubicBezTo>
                <a:cubicBezTo>
                  <a:pt x="22" y="131"/>
                  <a:pt x="16" y="97"/>
                  <a:pt x="16" y="97"/>
                </a:cubicBezTo>
                <a:cubicBezTo>
                  <a:pt x="20" y="61"/>
                  <a:pt x="0" y="9"/>
                  <a:pt x="48" y="9"/>
                </a:cubicBezTo>
                <a:cubicBezTo>
                  <a:pt x="59" y="9"/>
                  <a:pt x="69" y="17"/>
                  <a:pt x="80" y="17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2" name="Freeform 36">
            <a:extLst>
              <a:ext uri="{FF2B5EF4-FFF2-40B4-BE49-F238E27FC236}">
                <a16:creationId xmlns:a16="http://schemas.microsoft.com/office/drawing/2014/main" id="{847D1439-65C6-FF87-D374-F1BEC45B48A7}"/>
              </a:ext>
            </a:extLst>
          </p:cNvPr>
          <p:cNvSpPr>
            <a:spLocks/>
          </p:cNvSpPr>
          <p:nvPr/>
        </p:nvSpPr>
        <p:spPr bwMode="auto">
          <a:xfrm>
            <a:off x="4911725" y="4279900"/>
            <a:ext cx="158750" cy="277813"/>
          </a:xfrm>
          <a:custGeom>
            <a:avLst/>
            <a:gdLst>
              <a:gd name="T0" fmla="*/ 2147483647 w 100"/>
              <a:gd name="T1" fmla="*/ 2147483647 h 175"/>
              <a:gd name="T2" fmla="*/ 2147483647 w 100"/>
              <a:gd name="T3" fmla="*/ 2147483647 h 175"/>
              <a:gd name="T4" fmla="*/ 2147483647 w 100"/>
              <a:gd name="T5" fmla="*/ 2147483647 h 175"/>
              <a:gd name="T6" fmla="*/ 2147483647 w 100"/>
              <a:gd name="T7" fmla="*/ 2147483647 h 175"/>
              <a:gd name="T8" fmla="*/ 2147483647 w 100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0" h="175">
                <a:moveTo>
                  <a:pt x="10" y="24"/>
                </a:moveTo>
                <a:cubicBezTo>
                  <a:pt x="46" y="0"/>
                  <a:pt x="73" y="3"/>
                  <a:pt x="98" y="40"/>
                </a:cubicBezTo>
                <a:cubicBezTo>
                  <a:pt x="95" y="77"/>
                  <a:pt x="100" y="116"/>
                  <a:pt x="90" y="152"/>
                </a:cubicBezTo>
                <a:cubicBezTo>
                  <a:pt x="84" y="175"/>
                  <a:pt x="18" y="144"/>
                  <a:pt x="18" y="144"/>
                </a:cubicBezTo>
                <a:cubicBezTo>
                  <a:pt x="0" y="90"/>
                  <a:pt x="10" y="128"/>
                  <a:pt x="10" y="24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3" name="Freeform 37">
            <a:extLst>
              <a:ext uri="{FF2B5EF4-FFF2-40B4-BE49-F238E27FC236}">
                <a16:creationId xmlns:a16="http://schemas.microsoft.com/office/drawing/2014/main" id="{D4523362-7048-CA15-567D-0FDDB3E5A92B}"/>
              </a:ext>
            </a:extLst>
          </p:cNvPr>
          <p:cNvSpPr>
            <a:spLocks/>
          </p:cNvSpPr>
          <p:nvPr/>
        </p:nvSpPr>
        <p:spPr bwMode="auto">
          <a:xfrm>
            <a:off x="4660900" y="2657475"/>
            <a:ext cx="1870075" cy="352425"/>
          </a:xfrm>
          <a:custGeom>
            <a:avLst/>
            <a:gdLst>
              <a:gd name="T0" fmla="*/ 2147483647 w 1178"/>
              <a:gd name="T1" fmla="*/ 2147483647 h 222"/>
              <a:gd name="T2" fmla="*/ 0 w 1178"/>
              <a:gd name="T3" fmla="*/ 2147483647 h 222"/>
              <a:gd name="T4" fmla="*/ 2147483647 w 1178"/>
              <a:gd name="T5" fmla="*/ 2147483647 h 222"/>
              <a:gd name="T6" fmla="*/ 2147483647 w 1178"/>
              <a:gd name="T7" fmla="*/ 2147483647 h 222"/>
              <a:gd name="T8" fmla="*/ 2147483647 w 1178"/>
              <a:gd name="T9" fmla="*/ 2147483647 h 222"/>
              <a:gd name="T10" fmla="*/ 2147483647 w 1178"/>
              <a:gd name="T11" fmla="*/ 2147483647 h 222"/>
              <a:gd name="T12" fmla="*/ 2147483647 w 1178"/>
              <a:gd name="T13" fmla="*/ 2147483647 h 222"/>
              <a:gd name="T14" fmla="*/ 2147483647 w 1178"/>
              <a:gd name="T15" fmla="*/ 2147483647 h 222"/>
              <a:gd name="T16" fmla="*/ 2147483647 w 1178"/>
              <a:gd name="T17" fmla="*/ 2147483647 h 222"/>
              <a:gd name="T18" fmla="*/ 2147483647 w 1178"/>
              <a:gd name="T19" fmla="*/ 2147483647 h 222"/>
              <a:gd name="T20" fmla="*/ 2147483647 w 1178"/>
              <a:gd name="T21" fmla="*/ 2147483647 h 222"/>
              <a:gd name="T22" fmla="*/ 2147483647 w 1178"/>
              <a:gd name="T23" fmla="*/ 2147483647 h 22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178" h="222">
                <a:moveTo>
                  <a:pt x="8" y="174"/>
                </a:moveTo>
                <a:cubicBezTo>
                  <a:pt x="5" y="166"/>
                  <a:pt x="0" y="158"/>
                  <a:pt x="0" y="150"/>
                </a:cubicBezTo>
                <a:cubicBezTo>
                  <a:pt x="0" y="123"/>
                  <a:pt x="0" y="95"/>
                  <a:pt x="8" y="70"/>
                </a:cubicBezTo>
                <a:cubicBezTo>
                  <a:pt x="17" y="44"/>
                  <a:pt x="181" y="39"/>
                  <a:pt x="192" y="38"/>
                </a:cubicBezTo>
                <a:cubicBezTo>
                  <a:pt x="506" y="55"/>
                  <a:pt x="826" y="0"/>
                  <a:pt x="1136" y="54"/>
                </a:cubicBezTo>
                <a:cubicBezTo>
                  <a:pt x="1178" y="61"/>
                  <a:pt x="1144" y="142"/>
                  <a:pt x="1128" y="182"/>
                </a:cubicBezTo>
                <a:cubicBezTo>
                  <a:pt x="1128" y="183"/>
                  <a:pt x="1036" y="202"/>
                  <a:pt x="1024" y="206"/>
                </a:cubicBezTo>
                <a:cubicBezTo>
                  <a:pt x="794" y="196"/>
                  <a:pt x="786" y="191"/>
                  <a:pt x="512" y="198"/>
                </a:cubicBezTo>
                <a:cubicBezTo>
                  <a:pt x="485" y="201"/>
                  <a:pt x="458" y="201"/>
                  <a:pt x="432" y="206"/>
                </a:cubicBezTo>
                <a:cubicBezTo>
                  <a:pt x="415" y="209"/>
                  <a:pt x="384" y="222"/>
                  <a:pt x="384" y="222"/>
                </a:cubicBezTo>
                <a:cubicBezTo>
                  <a:pt x="325" y="220"/>
                  <a:pt x="180" y="221"/>
                  <a:pt x="96" y="206"/>
                </a:cubicBezTo>
                <a:cubicBezTo>
                  <a:pt x="64" y="200"/>
                  <a:pt x="42" y="181"/>
                  <a:pt x="8" y="174"/>
                </a:cubicBezTo>
                <a:close/>
              </a:path>
            </a:pathLst>
          </a:cu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4" name="Freeform 38">
            <a:extLst>
              <a:ext uri="{FF2B5EF4-FFF2-40B4-BE49-F238E27FC236}">
                <a16:creationId xmlns:a16="http://schemas.microsoft.com/office/drawing/2014/main" id="{92F84096-48A2-2865-89CF-7B811CF03E47}"/>
              </a:ext>
            </a:extLst>
          </p:cNvPr>
          <p:cNvSpPr>
            <a:spLocks/>
          </p:cNvSpPr>
          <p:nvPr/>
        </p:nvSpPr>
        <p:spPr bwMode="auto">
          <a:xfrm>
            <a:off x="1806575" y="4675188"/>
            <a:ext cx="190500" cy="249237"/>
          </a:xfrm>
          <a:custGeom>
            <a:avLst/>
            <a:gdLst>
              <a:gd name="T0" fmla="*/ 2147483647 w 120"/>
              <a:gd name="T1" fmla="*/ 2147483647 h 157"/>
              <a:gd name="T2" fmla="*/ 2147483647 w 120"/>
              <a:gd name="T3" fmla="*/ 2147483647 h 157"/>
              <a:gd name="T4" fmla="*/ 2147483647 w 120"/>
              <a:gd name="T5" fmla="*/ 2147483647 h 157"/>
              <a:gd name="T6" fmla="*/ 2147483647 w 120"/>
              <a:gd name="T7" fmla="*/ 2147483647 h 157"/>
              <a:gd name="T8" fmla="*/ 2147483647 w 120"/>
              <a:gd name="T9" fmla="*/ 2147483647 h 1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" h="157">
                <a:moveTo>
                  <a:pt x="22" y="119"/>
                </a:moveTo>
                <a:cubicBezTo>
                  <a:pt x="30" y="9"/>
                  <a:pt x="9" y="0"/>
                  <a:pt x="102" y="15"/>
                </a:cubicBezTo>
                <a:cubicBezTo>
                  <a:pt x="99" y="55"/>
                  <a:pt x="120" y="105"/>
                  <a:pt x="94" y="135"/>
                </a:cubicBezTo>
                <a:cubicBezTo>
                  <a:pt x="75" y="157"/>
                  <a:pt x="35" y="133"/>
                  <a:pt x="6" y="127"/>
                </a:cubicBezTo>
                <a:cubicBezTo>
                  <a:pt x="0" y="126"/>
                  <a:pt x="17" y="122"/>
                  <a:pt x="22" y="119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5" name="Freeform 39">
            <a:extLst>
              <a:ext uri="{FF2B5EF4-FFF2-40B4-BE49-F238E27FC236}">
                <a16:creationId xmlns:a16="http://schemas.microsoft.com/office/drawing/2014/main" id="{49C51C8E-4D02-9B7C-7E76-EC01436AAF57}"/>
              </a:ext>
            </a:extLst>
          </p:cNvPr>
          <p:cNvSpPr>
            <a:spLocks/>
          </p:cNvSpPr>
          <p:nvPr/>
        </p:nvSpPr>
        <p:spPr bwMode="auto">
          <a:xfrm>
            <a:off x="1830388" y="4972050"/>
            <a:ext cx="160337" cy="266700"/>
          </a:xfrm>
          <a:custGeom>
            <a:avLst/>
            <a:gdLst>
              <a:gd name="T0" fmla="*/ 2147483647 w 101"/>
              <a:gd name="T1" fmla="*/ 2147483647 h 168"/>
              <a:gd name="T2" fmla="*/ 2147483647 w 101"/>
              <a:gd name="T3" fmla="*/ 2147483647 h 168"/>
              <a:gd name="T4" fmla="*/ 2147483647 w 101"/>
              <a:gd name="T5" fmla="*/ 2147483647 h 168"/>
              <a:gd name="T6" fmla="*/ 2147483647 w 101"/>
              <a:gd name="T7" fmla="*/ 2147483647 h 16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1" h="168">
                <a:moveTo>
                  <a:pt x="15" y="20"/>
                </a:moveTo>
                <a:cubicBezTo>
                  <a:pt x="101" y="9"/>
                  <a:pt x="80" y="0"/>
                  <a:pt x="95" y="76"/>
                </a:cubicBezTo>
                <a:cubicBezTo>
                  <a:pt x="88" y="138"/>
                  <a:pt x="99" y="168"/>
                  <a:pt x="39" y="148"/>
                </a:cubicBezTo>
                <a:cubicBezTo>
                  <a:pt x="0" y="95"/>
                  <a:pt x="7" y="93"/>
                  <a:pt x="15" y="20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6" name="Freeform 40">
            <a:extLst>
              <a:ext uri="{FF2B5EF4-FFF2-40B4-BE49-F238E27FC236}">
                <a16:creationId xmlns:a16="http://schemas.microsoft.com/office/drawing/2014/main" id="{4EFEE639-49CD-930E-9895-0BB32A19E1C7}"/>
              </a:ext>
            </a:extLst>
          </p:cNvPr>
          <p:cNvSpPr>
            <a:spLocks/>
          </p:cNvSpPr>
          <p:nvPr/>
        </p:nvSpPr>
        <p:spPr bwMode="auto">
          <a:xfrm>
            <a:off x="1839913" y="5287963"/>
            <a:ext cx="169862" cy="230187"/>
          </a:xfrm>
          <a:custGeom>
            <a:avLst/>
            <a:gdLst>
              <a:gd name="T0" fmla="*/ 2147483647 w 107"/>
              <a:gd name="T1" fmla="*/ 2147483647 h 145"/>
              <a:gd name="T2" fmla="*/ 2147483647 w 107"/>
              <a:gd name="T3" fmla="*/ 2147483647 h 145"/>
              <a:gd name="T4" fmla="*/ 2147483647 w 107"/>
              <a:gd name="T5" fmla="*/ 2147483647 h 145"/>
              <a:gd name="T6" fmla="*/ 2147483647 w 107"/>
              <a:gd name="T7" fmla="*/ 2147483647 h 145"/>
              <a:gd name="T8" fmla="*/ 2147483647 w 107"/>
              <a:gd name="T9" fmla="*/ 2147483647 h 1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7" h="145">
                <a:moveTo>
                  <a:pt x="9" y="5"/>
                </a:moveTo>
                <a:cubicBezTo>
                  <a:pt x="33" y="8"/>
                  <a:pt x="61" y="0"/>
                  <a:pt x="81" y="13"/>
                </a:cubicBezTo>
                <a:cubicBezTo>
                  <a:pt x="95" y="22"/>
                  <a:pt x="97" y="61"/>
                  <a:pt x="97" y="61"/>
                </a:cubicBezTo>
                <a:cubicBezTo>
                  <a:pt x="86" y="136"/>
                  <a:pt x="107" y="145"/>
                  <a:pt x="33" y="133"/>
                </a:cubicBezTo>
                <a:cubicBezTo>
                  <a:pt x="0" y="83"/>
                  <a:pt x="1" y="62"/>
                  <a:pt x="9" y="5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7" name="Freeform 41">
            <a:extLst>
              <a:ext uri="{FF2B5EF4-FFF2-40B4-BE49-F238E27FC236}">
                <a16:creationId xmlns:a16="http://schemas.microsoft.com/office/drawing/2014/main" id="{B7E10914-BB55-5087-029D-E90017246853}"/>
              </a:ext>
            </a:extLst>
          </p:cNvPr>
          <p:cNvSpPr>
            <a:spLocks/>
          </p:cNvSpPr>
          <p:nvPr/>
        </p:nvSpPr>
        <p:spPr bwMode="auto">
          <a:xfrm>
            <a:off x="1828800" y="5884863"/>
            <a:ext cx="233363" cy="236537"/>
          </a:xfrm>
          <a:custGeom>
            <a:avLst/>
            <a:gdLst>
              <a:gd name="T0" fmla="*/ 2147483647 w 147"/>
              <a:gd name="T1" fmla="*/ 2147483647 h 149"/>
              <a:gd name="T2" fmla="*/ 2147483647 w 147"/>
              <a:gd name="T3" fmla="*/ 2147483647 h 149"/>
              <a:gd name="T4" fmla="*/ 2147483647 w 147"/>
              <a:gd name="T5" fmla="*/ 2147483647 h 149"/>
              <a:gd name="T6" fmla="*/ 2147483647 w 147"/>
              <a:gd name="T7" fmla="*/ 2147483647 h 149"/>
              <a:gd name="T8" fmla="*/ 0 w 147"/>
              <a:gd name="T9" fmla="*/ 2147483647 h 149"/>
              <a:gd name="T10" fmla="*/ 2147483647 w 147"/>
              <a:gd name="T11" fmla="*/ 2147483647 h 1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7" h="149">
                <a:moveTo>
                  <a:pt x="24" y="13"/>
                </a:moveTo>
                <a:cubicBezTo>
                  <a:pt x="51" y="16"/>
                  <a:pt x="87" y="0"/>
                  <a:pt x="104" y="21"/>
                </a:cubicBezTo>
                <a:cubicBezTo>
                  <a:pt x="147" y="73"/>
                  <a:pt x="79" y="136"/>
                  <a:pt x="40" y="149"/>
                </a:cubicBezTo>
                <a:cubicBezTo>
                  <a:pt x="32" y="144"/>
                  <a:pt x="21" y="141"/>
                  <a:pt x="16" y="133"/>
                </a:cubicBezTo>
                <a:cubicBezTo>
                  <a:pt x="7" y="119"/>
                  <a:pt x="0" y="85"/>
                  <a:pt x="0" y="85"/>
                </a:cubicBezTo>
                <a:cubicBezTo>
                  <a:pt x="5" y="61"/>
                  <a:pt x="6" y="31"/>
                  <a:pt x="24" y="13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8" name="Freeform 43">
            <a:extLst>
              <a:ext uri="{FF2B5EF4-FFF2-40B4-BE49-F238E27FC236}">
                <a16:creationId xmlns:a16="http://schemas.microsoft.com/office/drawing/2014/main" id="{7F75E8D0-E712-6065-F932-12472534D60B}"/>
              </a:ext>
            </a:extLst>
          </p:cNvPr>
          <p:cNvSpPr>
            <a:spLocks/>
          </p:cNvSpPr>
          <p:nvPr/>
        </p:nvSpPr>
        <p:spPr bwMode="auto">
          <a:xfrm>
            <a:off x="1811338" y="6223000"/>
            <a:ext cx="169862" cy="203200"/>
          </a:xfrm>
          <a:custGeom>
            <a:avLst/>
            <a:gdLst>
              <a:gd name="T0" fmla="*/ 2147483647 w 107"/>
              <a:gd name="T1" fmla="*/ 2147483647 h 128"/>
              <a:gd name="T2" fmla="*/ 2147483647 w 107"/>
              <a:gd name="T3" fmla="*/ 0 h 128"/>
              <a:gd name="T4" fmla="*/ 2147483647 w 107"/>
              <a:gd name="T5" fmla="*/ 2147483647 h 128"/>
              <a:gd name="T6" fmla="*/ 2147483647 w 107"/>
              <a:gd name="T7" fmla="*/ 2147483647 h 128"/>
              <a:gd name="T8" fmla="*/ 2147483647 w 107"/>
              <a:gd name="T9" fmla="*/ 2147483647 h 128"/>
              <a:gd name="T10" fmla="*/ 2147483647 w 107"/>
              <a:gd name="T11" fmla="*/ 2147483647 h 128"/>
              <a:gd name="T12" fmla="*/ 2147483647 w 107"/>
              <a:gd name="T13" fmla="*/ 2147483647 h 1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7" h="128">
                <a:moveTo>
                  <a:pt x="11" y="104"/>
                </a:moveTo>
                <a:cubicBezTo>
                  <a:pt x="16" y="55"/>
                  <a:pt x="4" y="16"/>
                  <a:pt x="51" y="0"/>
                </a:cubicBezTo>
                <a:cubicBezTo>
                  <a:pt x="90" y="10"/>
                  <a:pt x="95" y="19"/>
                  <a:pt x="107" y="56"/>
                </a:cubicBezTo>
                <a:cubicBezTo>
                  <a:pt x="98" y="109"/>
                  <a:pt x="98" y="112"/>
                  <a:pt x="51" y="128"/>
                </a:cubicBezTo>
                <a:cubicBezTo>
                  <a:pt x="43" y="125"/>
                  <a:pt x="34" y="125"/>
                  <a:pt x="27" y="120"/>
                </a:cubicBezTo>
                <a:cubicBezTo>
                  <a:pt x="18" y="114"/>
                  <a:pt x="11" y="104"/>
                  <a:pt x="3" y="96"/>
                </a:cubicBezTo>
                <a:cubicBezTo>
                  <a:pt x="0" y="93"/>
                  <a:pt x="8" y="101"/>
                  <a:pt x="11" y="104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9" name="Freeform 44">
            <a:extLst>
              <a:ext uri="{FF2B5EF4-FFF2-40B4-BE49-F238E27FC236}">
                <a16:creationId xmlns:a16="http://schemas.microsoft.com/office/drawing/2014/main" id="{620301EF-4296-7182-98BF-AA6A006B3924}"/>
              </a:ext>
            </a:extLst>
          </p:cNvPr>
          <p:cNvSpPr>
            <a:spLocks/>
          </p:cNvSpPr>
          <p:nvPr/>
        </p:nvSpPr>
        <p:spPr bwMode="auto">
          <a:xfrm>
            <a:off x="1795463" y="6511925"/>
            <a:ext cx="355600" cy="288925"/>
          </a:xfrm>
          <a:custGeom>
            <a:avLst/>
            <a:gdLst>
              <a:gd name="T0" fmla="*/ 2147483647 w 224"/>
              <a:gd name="T1" fmla="*/ 2147483647 h 182"/>
              <a:gd name="T2" fmla="*/ 2147483647 w 224"/>
              <a:gd name="T3" fmla="*/ 2147483647 h 182"/>
              <a:gd name="T4" fmla="*/ 2147483647 w 224"/>
              <a:gd name="T5" fmla="*/ 2147483647 h 182"/>
              <a:gd name="T6" fmla="*/ 2147483647 w 224"/>
              <a:gd name="T7" fmla="*/ 2147483647 h 18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24" h="182">
                <a:moveTo>
                  <a:pt x="21" y="18"/>
                </a:moveTo>
                <a:cubicBezTo>
                  <a:pt x="53" y="21"/>
                  <a:pt x="99" y="0"/>
                  <a:pt x="117" y="26"/>
                </a:cubicBezTo>
                <a:cubicBezTo>
                  <a:pt x="224" y="182"/>
                  <a:pt x="86" y="143"/>
                  <a:pt x="45" y="138"/>
                </a:cubicBezTo>
                <a:cubicBezTo>
                  <a:pt x="0" y="70"/>
                  <a:pt x="11" y="109"/>
                  <a:pt x="21" y="18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60" name="Freeform 46">
            <a:extLst>
              <a:ext uri="{FF2B5EF4-FFF2-40B4-BE49-F238E27FC236}">
                <a16:creationId xmlns:a16="http://schemas.microsoft.com/office/drawing/2014/main" id="{A1CC110E-CCFB-124D-1CF1-FCD35D9DD210}"/>
              </a:ext>
            </a:extLst>
          </p:cNvPr>
          <p:cNvSpPr>
            <a:spLocks/>
          </p:cNvSpPr>
          <p:nvPr/>
        </p:nvSpPr>
        <p:spPr bwMode="auto">
          <a:xfrm>
            <a:off x="1206500" y="5213350"/>
            <a:ext cx="1889125" cy="336550"/>
          </a:xfrm>
          <a:custGeom>
            <a:avLst/>
            <a:gdLst>
              <a:gd name="T0" fmla="*/ 2147483647 w 1190"/>
              <a:gd name="T1" fmla="*/ 2147483647 h 212"/>
              <a:gd name="T2" fmla="*/ 2147483647 w 1190"/>
              <a:gd name="T3" fmla="*/ 2147483647 h 212"/>
              <a:gd name="T4" fmla="*/ 2147483647 w 1190"/>
              <a:gd name="T5" fmla="*/ 2147483647 h 212"/>
              <a:gd name="T6" fmla="*/ 2147483647 w 1190"/>
              <a:gd name="T7" fmla="*/ 2147483647 h 212"/>
              <a:gd name="T8" fmla="*/ 2147483647 w 1190"/>
              <a:gd name="T9" fmla="*/ 2147483647 h 212"/>
              <a:gd name="T10" fmla="*/ 2147483647 w 1190"/>
              <a:gd name="T11" fmla="*/ 2147483647 h 212"/>
              <a:gd name="T12" fmla="*/ 2147483647 w 1190"/>
              <a:gd name="T13" fmla="*/ 2147483647 h 2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90" h="212">
                <a:moveTo>
                  <a:pt x="40" y="188"/>
                </a:moveTo>
                <a:cubicBezTo>
                  <a:pt x="43" y="140"/>
                  <a:pt x="0" y="51"/>
                  <a:pt x="48" y="44"/>
                </a:cubicBezTo>
                <a:cubicBezTo>
                  <a:pt x="329" y="0"/>
                  <a:pt x="823" y="27"/>
                  <a:pt x="1184" y="44"/>
                </a:cubicBezTo>
                <a:cubicBezTo>
                  <a:pt x="1181" y="92"/>
                  <a:pt x="1190" y="142"/>
                  <a:pt x="1176" y="188"/>
                </a:cubicBezTo>
                <a:cubicBezTo>
                  <a:pt x="1172" y="201"/>
                  <a:pt x="1149" y="192"/>
                  <a:pt x="1136" y="196"/>
                </a:cubicBezTo>
                <a:cubicBezTo>
                  <a:pt x="1120" y="200"/>
                  <a:pt x="1088" y="212"/>
                  <a:pt x="1088" y="212"/>
                </a:cubicBezTo>
                <a:cubicBezTo>
                  <a:pt x="658" y="195"/>
                  <a:pt x="674" y="188"/>
                  <a:pt x="40" y="188"/>
                </a:cubicBezTo>
                <a:close/>
              </a:path>
            </a:pathLst>
          </a:cu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61" name="Freeform 47">
            <a:extLst>
              <a:ext uri="{FF2B5EF4-FFF2-40B4-BE49-F238E27FC236}">
                <a16:creationId xmlns:a16="http://schemas.microsoft.com/office/drawing/2014/main" id="{2337F75D-10F6-0DA1-2B89-8DF382C299D0}"/>
              </a:ext>
            </a:extLst>
          </p:cNvPr>
          <p:cNvSpPr>
            <a:spLocks/>
          </p:cNvSpPr>
          <p:nvPr/>
        </p:nvSpPr>
        <p:spPr bwMode="auto">
          <a:xfrm>
            <a:off x="5424488" y="4632325"/>
            <a:ext cx="234950" cy="284163"/>
          </a:xfrm>
          <a:custGeom>
            <a:avLst/>
            <a:gdLst>
              <a:gd name="T0" fmla="*/ 2147483647 w 148"/>
              <a:gd name="T1" fmla="*/ 2147483647 h 179"/>
              <a:gd name="T2" fmla="*/ 2147483647 w 148"/>
              <a:gd name="T3" fmla="*/ 2147483647 h 179"/>
              <a:gd name="T4" fmla="*/ 2147483647 w 148"/>
              <a:gd name="T5" fmla="*/ 2147483647 h 179"/>
              <a:gd name="T6" fmla="*/ 2147483647 w 148"/>
              <a:gd name="T7" fmla="*/ 2147483647 h 179"/>
              <a:gd name="T8" fmla="*/ 2147483647 w 148"/>
              <a:gd name="T9" fmla="*/ 2147483647 h 1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8" h="179">
                <a:moveTo>
                  <a:pt x="47" y="66"/>
                </a:moveTo>
                <a:cubicBezTo>
                  <a:pt x="50" y="55"/>
                  <a:pt x="45" y="39"/>
                  <a:pt x="55" y="34"/>
                </a:cubicBezTo>
                <a:cubicBezTo>
                  <a:pt x="117" y="0"/>
                  <a:pt x="129" y="31"/>
                  <a:pt x="143" y="74"/>
                </a:cubicBezTo>
                <a:cubicBezTo>
                  <a:pt x="133" y="179"/>
                  <a:pt x="148" y="175"/>
                  <a:pt x="47" y="162"/>
                </a:cubicBezTo>
                <a:cubicBezTo>
                  <a:pt x="31" y="138"/>
                  <a:pt x="0" y="19"/>
                  <a:pt x="47" y="66"/>
                </a:cubicBez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62" name="AutoShape 48">
            <a:extLst>
              <a:ext uri="{FF2B5EF4-FFF2-40B4-BE49-F238E27FC236}">
                <a16:creationId xmlns:a16="http://schemas.microsoft.com/office/drawing/2014/main" id="{8A205767-6A81-E89C-B0A1-C1509FA46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1225" y="32131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FF99CC"/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63" name="AutoShape 49">
            <a:extLst>
              <a:ext uri="{FF2B5EF4-FFF2-40B4-BE49-F238E27FC236}">
                <a16:creationId xmlns:a16="http://schemas.microsoft.com/office/drawing/2014/main" id="{531F9D6E-CB45-B187-FFEF-EE6A51D1B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4338" y="3213100"/>
            <a:ext cx="976312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FF99CC"/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64" name="AutoShape 50">
            <a:extLst>
              <a:ext uri="{FF2B5EF4-FFF2-40B4-BE49-F238E27FC236}">
                <a16:creationId xmlns:a16="http://schemas.microsoft.com/office/drawing/2014/main" id="{C323AEB9-837E-1D29-87FA-CFB216746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1225" y="5445125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FF99CC"/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286B989-C851-A4C4-EFE2-77C1DEE02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3.10.4 </a:t>
            </a:r>
            <a:r>
              <a:rPr lang="zh-CN" altLang="en-US" sz="5400"/>
              <a:t>闭包的复合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61F4FF1-3057-931B-6748-0A848FC720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651375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sz="3600" b="1">
                <a:solidFill>
                  <a:schemeClr val="hlink"/>
                </a:solidFill>
              </a:rPr>
              <a:t>思考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</a:t>
            </a:r>
            <a:r>
              <a:rPr lang="en-US" altLang="zh-CN" sz="3600"/>
              <a:t>(1)</a:t>
            </a:r>
            <a:r>
              <a:rPr lang="zh-CN" altLang="en-US" sz="3600"/>
              <a:t>如何</a:t>
            </a:r>
            <a:r>
              <a:rPr lang="zh-CN" altLang="en-US" sz="3600">
                <a:solidFill>
                  <a:schemeClr val="accent1"/>
                </a:solidFill>
              </a:rPr>
              <a:t>定义</a:t>
            </a:r>
            <a:r>
              <a:rPr lang="en-US" altLang="zh-CN" sz="3600"/>
              <a:t>R</a:t>
            </a:r>
            <a:r>
              <a:rPr lang="zh-CN" altLang="en-US" sz="3600"/>
              <a:t>的</a:t>
            </a:r>
            <a:r>
              <a:rPr lang="zh-CN" altLang="en-US" sz="3600">
                <a:solidFill>
                  <a:srgbClr val="FF00FF"/>
                </a:solidFill>
              </a:rPr>
              <a:t>等价闭包</a:t>
            </a:r>
            <a:r>
              <a:rPr lang="zh-CN" altLang="en-US" sz="3600"/>
              <a:t>？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</a:t>
            </a:r>
            <a:r>
              <a:rPr lang="en-US" altLang="zh-CN" sz="3600"/>
              <a:t>(2)</a:t>
            </a:r>
            <a:r>
              <a:rPr lang="zh-CN" altLang="en-US" sz="3600"/>
              <a:t>如何</a:t>
            </a:r>
            <a:r>
              <a:rPr lang="zh-CN" altLang="en-US" sz="3600">
                <a:solidFill>
                  <a:schemeClr val="accent1"/>
                </a:solidFill>
              </a:rPr>
              <a:t>求解</a:t>
            </a:r>
            <a:r>
              <a:rPr lang="en-US" altLang="zh-CN" sz="3600"/>
              <a:t>R</a:t>
            </a:r>
            <a:r>
              <a:rPr lang="zh-CN" altLang="en-US" sz="3600"/>
              <a:t>的</a:t>
            </a:r>
            <a:r>
              <a:rPr lang="zh-CN" altLang="en-US" sz="3600">
                <a:solidFill>
                  <a:srgbClr val="FF00FF"/>
                </a:solidFill>
              </a:rPr>
              <a:t>等价闭包</a:t>
            </a:r>
            <a:r>
              <a:rPr lang="zh-CN" altLang="en-US" sz="3600"/>
              <a:t>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>
            <a:extLst>
              <a:ext uri="{FF2B5EF4-FFF2-40B4-BE49-F238E27FC236}">
                <a16:creationId xmlns:a16="http://schemas.microsoft.com/office/drawing/2014/main" id="{60004195-6CE6-0664-7C0E-2ACCF9E25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3.10.4 </a:t>
            </a:r>
            <a:r>
              <a:rPr lang="zh-CN" altLang="en-US" sz="5400"/>
              <a:t>闭包的复合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01C2D6D-F866-8907-B2E8-2416ACF1F7D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640762" cy="5013325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3.10.10</a:t>
            </a:r>
            <a:r>
              <a:rPr lang="zh-CN" altLang="en-US"/>
              <a:t>设</a:t>
            </a:r>
            <a:r>
              <a:rPr lang="en-US" altLang="zh-CN"/>
              <a:t>R</a:t>
            </a:r>
            <a:r>
              <a:rPr lang="zh-CN" altLang="en-US"/>
              <a:t>为</a:t>
            </a:r>
            <a:r>
              <a:rPr lang="en-US" altLang="zh-CN"/>
              <a:t>A</a:t>
            </a:r>
            <a:r>
              <a:rPr lang="zh-CN" altLang="en-US"/>
              <a:t>上的对称关系，则</a:t>
            </a:r>
            <a:r>
              <a:rPr lang="en-US" altLang="zh-CN"/>
              <a:t>t(R)</a:t>
            </a:r>
            <a:r>
              <a:rPr lang="zh-CN" altLang="en-US"/>
              <a:t>也是</a:t>
            </a:r>
            <a:r>
              <a:rPr lang="en-US" altLang="zh-CN"/>
              <a:t>A</a:t>
            </a:r>
            <a:r>
              <a:rPr lang="zh-CN" altLang="en-US"/>
              <a:t>上的对称关系。</a:t>
            </a:r>
            <a:endParaRPr lang="zh-CN" altLang="en-US" b="1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  <a:r>
              <a:rPr lang="zh-CN" altLang="en-US" b="1">
                <a:solidFill>
                  <a:schemeClr val="hlink"/>
                </a:solidFill>
              </a:rPr>
              <a:t>证明</a:t>
            </a:r>
            <a:r>
              <a:rPr lang="zh-CN" altLang="en-US"/>
              <a:t>设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>
                <a:solidFill>
                  <a:srgbClr val="FF00FF"/>
                </a:solidFill>
              </a:rPr>
              <a:t>a,b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</a:t>
            </a:r>
            <a:r>
              <a:rPr lang="en-US" altLang="zh-CN">
                <a:solidFill>
                  <a:schemeClr val="accent1"/>
                </a:solidFill>
              </a:rPr>
              <a:t>t(R)</a:t>
            </a:r>
            <a:r>
              <a:rPr lang="zh-CN" altLang="en-US"/>
              <a:t>＝</a:t>
            </a:r>
            <a:r>
              <a:rPr lang="en-US" altLang="zh-CN"/>
              <a:t>R∪R</a:t>
            </a:r>
            <a:r>
              <a:rPr lang="en-US" altLang="zh-CN" baseline="30000"/>
              <a:t>2</a:t>
            </a:r>
            <a:r>
              <a:rPr lang="en-US" altLang="zh-CN"/>
              <a:t>∪R</a:t>
            </a:r>
            <a:r>
              <a:rPr lang="en-US" altLang="zh-CN" baseline="30000"/>
              <a:t>3</a:t>
            </a:r>
            <a:r>
              <a:rPr lang="en-US" altLang="zh-CN"/>
              <a:t>∪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endParaRPr lang="en-US" altLang="zh-CN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存在正整数</a:t>
            </a:r>
            <a:r>
              <a:rPr lang="en-US" altLang="zh-CN"/>
              <a:t>n</a:t>
            </a:r>
            <a:r>
              <a:rPr lang="zh-CN" altLang="en-US"/>
              <a:t>使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a,b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∈R</a:t>
            </a:r>
            <a:r>
              <a:rPr lang="en-US" altLang="zh-CN" baseline="30000"/>
              <a:t>n</a:t>
            </a:r>
            <a:r>
              <a:rPr lang="zh-CN" altLang="en-US"/>
              <a:t> </a:t>
            </a:r>
            <a:endParaRPr lang="en-US" altLang="zh-CN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aRa</a:t>
            </a:r>
            <a:r>
              <a:rPr lang="en-US" altLang="zh-CN" baseline="-25000"/>
              <a:t>1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/>
              <a:t>Ra</a:t>
            </a:r>
            <a:r>
              <a:rPr lang="en-US" altLang="zh-CN" baseline="-25000"/>
              <a:t>2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/>
              <a:t>a</a:t>
            </a:r>
            <a:r>
              <a:rPr lang="en-US" altLang="zh-CN" baseline="-25000"/>
              <a:t>n-1</a:t>
            </a:r>
            <a:r>
              <a:rPr lang="en-US" altLang="zh-CN"/>
              <a:t>Rb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bRa</a:t>
            </a:r>
            <a:r>
              <a:rPr lang="en-US" altLang="zh-CN" baseline="-25000"/>
              <a:t>n-1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/>
              <a:t> a</a:t>
            </a:r>
            <a:r>
              <a:rPr lang="en-US" altLang="zh-CN" baseline="-25000"/>
              <a:t>n-1</a:t>
            </a:r>
            <a:r>
              <a:rPr lang="en-US" altLang="zh-CN"/>
              <a:t>Ra</a:t>
            </a:r>
            <a:r>
              <a:rPr lang="en-US" altLang="zh-CN" baseline="-25000"/>
              <a:t>n-2</a:t>
            </a:r>
            <a:r>
              <a:rPr lang="zh-CN" altLang="en-US">
                <a:latin typeface="宋体" panose="02010600030101010101" pitchFamily="2" charset="-122"/>
              </a:rPr>
              <a:t>， 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/>
              <a:t>a</a:t>
            </a:r>
            <a:r>
              <a:rPr lang="en-US" altLang="zh-CN" baseline="-25000"/>
              <a:t>2</a:t>
            </a:r>
            <a:r>
              <a:rPr lang="en-US" altLang="zh-CN"/>
              <a:t>Ra</a:t>
            </a:r>
            <a:r>
              <a:rPr lang="en-US" altLang="zh-CN" baseline="-25000"/>
              <a:t>1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/>
              <a:t>Ra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>
                <a:solidFill>
                  <a:srgbClr val="FF00FF"/>
                </a:solidFill>
              </a:rPr>
              <a:t>b,a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∈R</a:t>
            </a:r>
            <a:r>
              <a:rPr lang="en-US" altLang="zh-CN" baseline="30000"/>
              <a:t>n</a:t>
            </a: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en-US" altLang="zh-CN"/>
              <a:t>  t(R)</a:t>
            </a:r>
          </a:p>
        </p:txBody>
      </p:sp>
      <p:graphicFrame>
        <p:nvGraphicFramePr>
          <p:cNvPr id="24580" name="Object 4">
            <a:extLst>
              <a:ext uri="{FF2B5EF4-FFF2-40B4-BE49-F238E27FC236}">
                <a16:creationId xmlns:a16="http://schemas.microsoft.com/office/drawing/2014/main" id="{FED7D797-0321-B6C7-007A-A67497A5018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563938" y="6308725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6308725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48CC7F2-E026-6023-4B4A-0BC882A1C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3.10.4 </a:t>
            </a:r>
            <a:r>
              <a:rPr lang="zh-CN" altLang="en-US" sz="5400"/>
              <a:t>闭包的复合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EC4A2C2-C986-01AE-79CA-7BD4012DA5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3.10.4</a:t>
            </a:r>
            <a:r>
              <a:rPr lang="zh-CN" altLang="en-US"/>
              <a:t>设</a:t>
            </a:r>
            <a:r>
              <a:rPr lang="en-US" altLang="zh-CN"/>
              <a:t>R</a:t>
            </a:r>
            <a:r>
              <a:rPr lang="zh-CN" altLang="en-US"/>
              <a:t>   </a:t>
            </a:r>
            <a:r>
              <a:rPr lang="en-US" altLang="zh-CN"/>
              <a:t>A×A</a:t>
            </a:r>
            <a:r>
              <a:rPr lang="zh-CN" altLang="en-US"/>
              <a:t>，</a:t>
            </a:r>
            <a:r>
              <a:rPr lang="zh-CN" altLang="en-US">
                <a:solidFill>
                  <a:schemeClr val="hlink"/>
                </a:solidFill>
              </a:rPr>
              <a:t>则</a:t>
            </a:r>
            <a:r>
              <a:rPr lang="en-US" altLang="zh-CN">
                <a:solidFill>
                  <a:schemeClr val="accent1"/>
                </a:solidFill>
              </a:rPr>
              <a:t>r</a:t>
            </a:r>
            <a:r>
              <a:rPr lang="en-US" altLang="zh-CN"/>
              <a:t>(</a:t>
            </a:r>
            <a:r>
              <a:rPr lang="en-US" altLang="zh-CN">
                <a:solidFill>
                  <a:srgbClr val="FF00FF"/>
                </a:solidFill>
              </a:rPr>
              <a:t>s</a:t>
            </a:r>
            <a:r>
              <a:rPr lang="en-US" altLang="zh-CN"/>
              <a:t>(R))</a:t>
            </a:r>
            <a:r>
              <a:rPr lang="zh-CN" altLang="en-US"/>
              <a:t>＝</a:t>
            </a:r>
            <a:r>
              <a:rPr lang="en-US" altLang="zh-CN">
                <a:solidFill>
                  <a:srgbClr val="FF00FF"/>
                </a:solidFill>
              </a:rPr>
              <a:t>s</a:t>
            </a:r>
            <a:r>
              <a:rPr lang="en-US" altLang="zh-CN"/>
              <a:t>(</a:t>
            </a:r>
            <a:r>
              <a:rPr lang="en-US" altLang="zh-CN">
                <a:solidFill>
                  <a:schemeClr val="accent1"/>
                </a:solidFill>
              </a:rPr>
              <a:t>r</a:t>
            </a:r>
            <a:r>
              <a:rPr lang="en-US" altLang="zh-CN"/>
              <a:t>(R))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</a:t>
            </a:r>
            <a:r>
              <a:rPr lang="zh-CN" altLang="en-US" b="1">
                <a:solidFill>
                  <a:schemeClr val="hlink"/>
                </a:solidFill>
              </a:rPr>
              <a:t>证明</a:t>
            </a:r>
            <a:r>
              <a:rPr lang="zh-CN" altLang="en-US"/>
              <a:t> </a:t>
            </a:r>
            <a:r>
              <a:rPr lang="en-US" altLang="zh-CN"/>
              <a:t>r(s(R))</a:t>
            </a:r>
            <a:r>
              <a:rPr lang="zh-CN" altLang="en-US"/>
              <a:t>＝</a:t>
            </a:r>
            <a:r>
              <a:rPr lang="en-US" altLang="zh-CN"/>
              <a:t>s(R)∪I</a:t>
            </a:r>
            <a:r>
              <a:rPr lang="en-US" altLang="zh-CN" baseline="-25000"/>
              <a:t>A</a:t>
            </a:r>
            <a:endParaRPr lang="en-US" altLang="zh-CN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      </a:t>
            </a:r>
            <a:r>
              <a:rPr lang="zh-CN" altLang="en-US"/>
              <a:t>＝</a:t>
            </a:r>
            <a:r>
              <a:rPr lang="en-US" altLang="zh-CN"/>
              <a:t>R∪R</a:t>
            </a:r>
            <a:r>
              <a:rPr lang="en-US" altLang="zh-CN" baseline="30000"/>
              <a:t>-1</a:t>
            </a:r>
            <a:r>
              <a:rPr lang="en-US" altLang="zh-CN"/>
              <a:t>∪I</a:t>
            </a:r>
            <a:r>
              <a:rPr lang="en-US" altLang="zh-CN" baseline="-25000"/>
              <a:t>A</a:t>
            </a:r>
            <a:endParaRPr lang="en-US" altLang="zh-CN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      </a:t>
            </a:r>
            <a:r>
              <a:rPr lang="zh-CN" altLang="en-US"/>
              <a:t>＝</a:t>
            </a:r>
            <a:r>
              <a:rPr lang="en-US" altLang="zh-CN"/>
              <a:t>(R∪I</a:t>
            </a:r>
            <a:r>
              <a:rPr lang="en-US" altLang="zh-CN" baseline="-25000"/>
              <a:t>A</a:t>
            </a:r>
            <a:r>
              <a:rPr lang="en-US" altLang="zh-CN"/>
              <a:t>)∪(R</a:t>
            </a:r>
            <a:r>
              <a:rPr lang="en-US" altLang="zh-CN" baseline="30000"/>
              <a:t>-1</a:t>
            </a:r>
            <a:r>
              <a:rPr lang="en-US" altLang="zh-CN"/>
              <a:t>∪I</a:t>
            </a:r>
            <a:r>
              <a:rPr lang="en-US" altLang="zh-CN" baseline="-25000"/>
              <a:t>A</a:t>
            </a:r>
            <a:r>
              <a:rPr lang="en-US" altLang="zh-CN"/>
              <a:t>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      </a:t>
            </a:r>
            <a:r>
              <a:rPr lang="zh-CN" altLang="en-US"/>
              <a:t>＝</a:t>
            </a:r>
            <a:r>
              <a:rPr lang="en-US" altLang="zh-CN"/>
              <a:t>(R∪I</a:t>
            </a:r>
            <a:r>
              <a:rPr lang="en-US" altLang="zh-CN" baseline="-25000"/>
              <a:t>A</a:t>
            </a:r>
            <a:r>
              <a:rPr lang="en-US" altLang="zh-CN"/>
              <a:t>)∪(R∪I</a:t>
            </a:r>
            <a:r>
              <a:rPr lang="en-US" altLang="zh-CN" baseline="-25000"/>
              <a:t>A</a:t>
            </a:r>
            <a:r>
              <a:rPr lang="en-US" altLang="zh-CN"/>
              <a:t>)</a:t>
            </a:r>
            <a:r>
              <a:rPr lang="en-US" altLang="zh-CN" baseline="30000"/>
              <a:t>-1</a:t>
            </a:r>
            <a:endParaRPr lang="en-US" altLang="zh-CN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      </a:t>
            </a:r>
            <a:r>
              <a:rPr lang="zh-CN" altLang="en-US"/>
              <a:t>＝</a:t>
            </a:r>
            <a:r>
              <a:rPr lang="en-US" altLang="zh-CN"/>
              <a:t>s(R∪I</a:t>
            </a:r>
            <a:r>
              <a:rPr lang="en-US" altLang="zh-CN" baseline="-25000"/>
              <a:t>A</a:t>
            </a:r>
            <a:r>
              <a:rPr lang="en-US" altLang="zh-CN"/>
              <a:t>)</a:t>
            </a:r>
            <a:r>
              <a:rPr lang="zh-CN" altLang="en-US"/>
              <a:t>＝</a:t>
            </a:r>
            <a:r>
              <a:rPr lang="en-US" altLang="zh-CN"/>
              <a:t>s(r(R)) </a:t>
            </a:r>
          </a:p>
        </p:txBody>
      </p:sp>
      <p:graphicFrame>
        <p:nvGraphicFramePr>
          <p:cNvPr id="25604" name="对象 1">
            <a:extLst>
              <a:ext uri="{FF2B5EF4-FFF2-40B4-BE49-F238E27FC236}">
                <a16:creationId xmlns:a16="http://schemas.microsoft.com/office/drawing/2014/main" id="{8FB73BE6-803B-D7F5-A9CE-86EF4EF979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4075" y="2085975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5" y="2085975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>
            <a:extLst>
              <a:ext uri="{FF2B5EF4-FFF2-40B4-BE49-F238E27FC236}">
                <a16:creationId xmlns:a16="http://schemas.microsoft.com/office/drawing/2014/main" id="{E8B7B5E3-0AD0-619D-7DB2-C2B0454207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3.10.4 </a:t>
            </a:r>
            <a:r>
              <a:rPr lang="zh-CN" altLang="en-US" sz="5400"/>
              <a:t>闭包的复合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6B27E4C-394E-977B-FEF2-DBC3DF1E2A9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3.10.5</a:t>
            </a:r>
            <a:r>
              <a:rPr lang="zh-CN" altLang="en-US" dirty="0"/>
              <a:t>设</a:t>
            </a:r>
            <a:r>
              <a:rPr lang="en-US" altLang="zh-CN" dirty="0"/>
              <a:t>R   A×A</a:t>
            </a:r>
            <a:r>
              <a:rPr lang="zh-CN" altLang="en-US" dirty="0"/>
              <a:t>，则</a:t>
            </a:r>
            <a:r>
              <a:rPr lang="en-US" altLang="zh-CN" dirty="0">
                <a:solidFill>
                  <a:schemeClr val="accent1"/>
                </a:solidFill>
              </a:rPr>
              <a:t>r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FF"/>
                </a:solidFill>
              </a:rPr>
              <a:t>t</a:t>
            </a:r>
            <a:r>
              <a:rPr lang="en-US" altLang="zh-CN" dirty="0"/>
              <a:t>(R))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FF00FF"/>
                </a:solidFill>
              </a:rPr>
              <a:t>t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r</a:t>
            </a:r>
            <a:r>
              <a:rPr lang="en-US" altLang="zh-CN" dirty="0"/>
              <a:t>(R))</a:t>
            </a: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</a:t>
            </a:r>
            <a:r>
              <a:rPr lang="en-US" altLang="zh-CN" dirty="0"/>
              <a:t>t(r(R))</a:t>
            </a:r>
            <a:r>
              <a:rPr lang="zh-CN" altLang="en-US" dirty="0"/>
              <a:t>＝</a:t>
            </a:r>
            <a:r>
              <a:rPr lang="en-US" altLang="zh-CN" dirty="0"/>
              <a:t>t(I</a:t>
            </a:r>
            <a:r>
              <a:rPr lang="en-US" altLang="zh-CN" baseline="-25000" dirty="0"/>
              <a:t>A</a:t>
            </a:r>
            <a:r>
              <a:rPr lang="en-US" altLang="zh-CN" dirty="0"/>
              <a:t>∪R)</a:t>
            </a: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     </a:t>
            </a:r>
            <a:r>
              <a:rPr lang="zh-CN" altLang="en-US" dirty="0"/>
              <a:t>＝</a:t>
            </a: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        ＝ </a:t>
            </a:r>
            <a:endParaRPr lang="en-US" altLang="zh-CN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     </a:t>
            </a:r>
            <a:r>
              <a:rPr lang="zh-CN" altLang="en-US" dirty="0"/>
              <a:t>＝</a:t>
            </a:r>
            <a:r>
              <a:rPr lang="en-US" altLang="zh-CN" dirty="0"/>
              <a:t>I</a:t>
            </a:r>
            <a:r>
              <a:rPr lang="en-US" altLang="zh-CN" baseline="-25000" dirty="0"/>
              <a:t>A</a:t>
            </a:r>
            <a:r>
              <a:rPr lang="en-US" altLang="zh-CN" dirty="0"/>
              <a:t>∪</a:t>
            </a:r>
            <a:r>
              <a:rPr lang="en-US" altLang="zh-CN" sz="2400" dirty="0"/>
              <a:t>       </a:t>
            </a:r>
            <a:r>
              <a:rPr lang="zh-CN" altLang="en-US" dirty="0"/>
              <a:t>＝</a:t>
            </a:r>
            <a:r>
              <a:rPr lang="en-US" altLang="zh-CN" dirty="0"/>
              <a:t>r(t(R))</a:t>
            </a:r>
          </a:p>
        </p:txBody>
      </p:sp>
      <p:graphicFrame>
        <p:nvGraphicFramePr>
          <p:cNvPr id="26628" name="Object 4">
            <a:extLst>
              <a:ext uri="{FF2B5EF4-FFF2-40B4-BE49-F238E27FC236}">
                <a16:creationId xmlns:a16="http://schemas.microsoft.com/office/drawing/2014/main" id="{9FA63A0A-E14F-E120-DBAB-0A4CE0C74FFF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348038" y="3921125"/>
          <a:ext cx="160813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500" imgH="381000" progId="Equation.DSMT4">
                  <p:embed/>
                </p:oleObj>
              </mc:Choice>
              <mc:Fallback>
                <p:oleObj name="Equation" r:id="rId2" imgW="698500" imgH="381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921125"/>
                        <a:ext cx="160813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7">
            <a:extLst>
              <a:ext uri="{FF2B5EF4-FFF2-40B4-BE49-F238E27FC236}">
                <a16:creationId xmlns:a16="http://schemas.microsoft.com/office/drawing/2014/main" id="{0E5E89BB-90DB-6642-9271-7E0E2878F8CC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348038" y="4930775"/>
          <a:ext cx="196850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25" imgH="380835" progId="Equation.DSMT4">
                  <p:embed/>
                </p:oleObj>
              </mc:Choice>
              <mc:Fallback>
                <p:oleObj name="Equation" r:id="rId4" imgW="863225" imgH="38083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930775"/>
                        <a:ext cx="1968500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0">
            <a:extLst>
              <a:ext uri="{FF2B5EF4-FFF2-40B4-BE49-F238E27FC236}">
                <a16:creationId xmlns:a16="http://schemas.microsoft.com/office/drawing/2014/main" id="{19222F5D-FC13-1739-C39F-DFCA211340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5876925"/>
          <a:ext cx="73025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225" imgH="380670" progId="Equation.DSMT4">
                  <p:embed/>
                </p:oleObj>
              </mc:Choice>
              <mc:Fallback>
                <p:oleObj name="Equation" r:id="rId6" imgW="317225" imgH="38067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876925"/>
                        <a:ext cx="73025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对象 1">
            <a:extLst>
              <a:ext uri="{FF2B5EF4-FFF2-40B4-BE49-F238E27FC236}">
                <a16:creationId xmlns:a16="http://schemas.microsoft.com/office/drawing/2014/main" id="{C772C42B-F949-D2E7-5E82-3B1681B972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2205038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68" imgH="152268" progId="Equation.DSMT4">
                  <p:embed/>
                </p:oleObj>
              </mc:Choice>
              <mc:Fallback>
                <p:oleObj name="Equation" r:id="rId8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205038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>
            <a:extLst>
              <a:ext uri="{FF2B5EF4-FFF2-40B4-BE49-F238E27FC236}">
                <a16:creationId xmlns:a16="http://schemas.microsoft.com/office/drawing/2014/main" id="{5B773047-447F-A977-B786-072AAA943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3.10.4 </a:t>
            </a:r>
            <a:r>
              <a:rPr lang="zh-CN" altLang="en-US" sz="5400"/>
              <a:t>闭包的复合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C41DB9E-6FB4-951B-9CE4-6E43ECEDE34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916113"/>
            <a:ext cx="8748712" cy="4941887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3.10.6</a:t>
            </a:r>
            <a:r>
              <a:rPr lang="zh-CN" altLang="en-US" dirty="0"/>
              <a:t>设</a:t>
            </a:r>
            <a:r>
              <a:rPr lang="en-US" altLang="zh-CN" dirty="0"/>
              <a:t>R   A×A</a:t>
            </a:r>
            <a:r>
              <a:rPr lang="zh-CN" altLang="en-US" dirty="0"/>
              <a:t>，则</a:t>
            </a:r>
            <a:r>
              <a:rPr lang="en-US" altLang="zh-CN" dirty="0">
                <a:solidFill>
                  <a:schemeClr val="accent1"/>
                </a:solidFill>
              </a:rPr>
              <a:t>s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FF"/>
                </a:solidFill>
              </a:rPr>
              <a:t>t</a:t>
            </a:r>
            <a:r>
              <a:rPr lang="en-US" altLang="zh-CN" dirty="0"/>
              <a:t>(R))    </a:t>
            </a:r>
            <a:r>
              <a:rPr lang="en-US" altLang="zh-CN" dirty="0">
                <a:solidFill>
                  <a:srgbClr val="FF00FF"/>
                </a:solidFill>
              </a:rPr>
              <a:t>t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s</a:t>
            </a:r>
            <a:r>
              <a:rPr lang="en-US" altLang="zh-CN" dirty="0"/>
              <a:t>(R))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  </a:t>
            </a:r>
            <a:r>
              <a:rPr lang="en-US" altLang="zh-CN" dirty="0"/>
              <a:t>R    s(R)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t(R)    t(s(R))</a:t>
            </a:r>
            <a:endParaRPr lang="zh-CN" altLang="en-US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s(t(R))    s(t(s(R)))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FF00FF"/>
                </a:solidFill>
              </a:rPr>
              <a:t>t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FF"/>
                </a:solidFill>
              </a:rPr>
              <a:t>s(R)</a:t>
            </a:r>
            <a:r>
              <a:rPr lang="en-US" altLang="zh-CN" dirty="0"/>
              <a:t>) </a:t>
            </a:r>
            <a:r>
              <a:rPr lang="en-US" altLang="zh-CN" dirty="0">
                <a:solidFill>
                  <a:srgbClr val="FF00FF"/>
                </a:solidFill>
              </a:rPr>
              <a:t>  </a:t>
            </a:r>
            <a:r>
              <a:rPr lang="en-US" altLang="zh-CN" dirty="0"/>
              <a:t>(t(s(R))</a:t>
            </a:r>
            <a:r>
              <a:rPr lang="zh-CN" altLang="en-US" dirty="0">
                <a:solidFill>
                  <a:schemeClr val="accent1"/>
                </a:solidFill>
              </a:rPr>
              <a:t>对称</a:t>
            </a:r>
            <a:r>
              <a:rPr lang="en-US" altLang="zh-CN" dirty="0"/>
              <a:t>)</a:t>
            </a:r>
            <a:endParaRPr lang="en-US" altLang="zh-CN" sz="2400" dirty="0"/>
          </a:p>
        </p:txBody>
      </p:sp>
      <p:graphicFrame>
        <p:nvGraphicFramePr>
          <p:cNvPr id="27652" name="Object 10">
            <a:extLst>
              <a:ext uri="{FF2B5EF4-FFF2-40B4-BE49-F238E27FC236}">
                <a16:creationId xmlns:a16="http://schemas.microsoft.com/office/drawing/2014/main" id="{D14D74C4-0CD2-C461-8320-C23537F641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4575" y="3429000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3429000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11">
            <a:extLst>
              <a:ext uri="{FF2B5EF4-FFF2-40B4-BE49-F238E27FC236}">
                <a16:creationId xmlns:a16="http://schemas.microsoft.com/office/drawing/2014/main" id="{7302D86F-00E9-247B-5AAE-E6D56910B3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2327275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327275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12">
            <a:extLst>
              <a:ext uri="{FF2B5EF4-FFF2-40B4-BE49-F238E27FC236}">
                <a16:creationId xmlns:a16="http://schemas.microsoft.com/office/drawing/2014/main" id="{BAE18006-CEB4-8B66-95B9-7E2C50F563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4488" y="2352675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4488" y="2352675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13">
            <a:extLst>
              <a:ext uri="{FF2B5EF4-FFF2-40B4-BE49-F238E27FC236}">
                <a16:creationId xmlns:a16="http://schemas.microsoft.com/office/drawing/2014/main" id="{E3BB1207-E84B-6B43-9DE3-D032F546FA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5600700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600700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14">
            <a:extLst>
              <a:ext uri="{FF2B5EF4-FFF2-40B4-BE49-F238E27FC236}">
                <a16:creationId xmlns:a16="http://schemas.microsoft.com/office/drawing/2014/main" id="{6D19833F-4915-1E64-F57E-5059BE5F80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2513" y="4475163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4475163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C4CD283-5F6B-05BD-E278-65B22AB1D3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3.10.4 </a:t>
            </a:r>
            <a:r>
              <a:rPr lang="zh-CN" altLang="en-US" sz="5400"/>
              <a:t>闭包的复合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0C40145E-D503-29B7-3742-3D97EFB5AB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640762" cy="50133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3.10.11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，先对称后传递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</a:t>
            </a:r>
            <a:r>
              <a:rPr lang="en-US" altLang="zh-CN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r>
              <a:rPr lang="zh-CN" altLang="en-US" b="1" dirty="0">
                <a:solidFill>
                  <a:schemeClr val="hlink"/>
                </a:solidFill>
              </a:rPr>
              <a:t>则</a:t>
            </a:r>
            <a:endParaRPr lang="en-US" altLang="zh-CN" b="1" dirty="0">
              <a:solidFill>
                <a:schemeClr val="hlink"/>
              </a:solidFill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  s(R)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>
                <a:solidFill>
                  <a:srgbClr val="FF00FF"/>
                </a:solidFill>
              </a:rPr>
              <a:t>t</a:t>
            </a:r>
            <a:r>
              <a:rPr lang="en-US" altLang="zh-CN" dirty="0" err="1">
                <a:solidFill>
                  <a:schemeClr val="accent1"/>
                </a:solidFill>
              </a:rPr>
              <a:t>s</a:t>
            </a:r>
            <a:r>
              <a:rPr lang="en-US" altLang="zh-CN" dirty="0">
                <a:solidFill>
                  <a:schemeClr val="accent1"/>
                </a:solidFill>
              </a:rPr>
              <a:t>(R)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+mn-ea"/>
              </a:rPr>
              <a:t>&lt;</a:t>
            </a:r>
            <a:r>
              <a:rPr lang="en-US" altLang="zh-CN" b="1" dirty="0">
                <a:latin typeface="宋体" pitchFamily="2" charset="-122"/>
              </a:rPr>
              <a:t>4,2&gt;,&lt;</a:t>
            </a:r>
            <a:r>
              <a:rPr lang="en-US" altLang="zh-CN" dirty="0"/>
              <a:t>3,3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/>
              <a:t>r</a:t>
            </a:r>
            <a:r>
              <a:rPr lang="en-US" altLang="zh-CN" dirty="0" err="1">
                <a:solidFill>
                  <a:srgbClr val="FF00FF"/>
                </a:solidFill>
              </a:rPr>
              <a:t>t</a:t>
            </a:r>
            <a:r>
              <a:rPr lang="en-US" altLang="zh-CN" dirty="0" err="1">
                <a:solidFill>
                  <a:schemeClr val="accent1"/>
                </a:solidFill>
              </a:rPr>
              <a:t>s</a:t>
            </a:r>
            <a:r>
              <a:rPr lang="en-US" altLang="zh-CN" dirty="0">
                <a:solidFill>
                  <a:schemeClr val="accent1"/>
                </a:solidFill>
              </a:rPr>
              <a:t>(R)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   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b="1" dirty="0">
                <a:latin typeface="+mn-ea"/>
              </a:rPr>
              <a:t>,&lt;4,2&gt;,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261420B-AFB9-7F98-98BE-AC0D2950163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上的关系，下列论断中（     ）不正确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F7F40F-318C-279D-96F3-5E793357568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上的自反关系，则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s(R)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t(R)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都是自反关系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21EA41-75D6-C02B-77D5-F0975111FF6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上的对称关系，则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t(R)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r(R)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都是对称关系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4613983-3384-E978-A378-F7480CE36F5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上的传递关系，则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s(R)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r(R)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都是传递关系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BFA8A6-54D9-E668-9AE1-50D1BE078C4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上的传递关系，则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t(R)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r(R)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都是传递关系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8E99B3A-CBD4-6153-C46F-B106AFAD950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F53A485-DC91-E5B4-A3E1-CF2BDCEBE2F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56C5780-0E81-D792-0732-09B102C80E6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62DC38-30B0-E184-7742-05912BC494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483DAE4-5A45-E1C9-9F38-8467A3C9FD5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140AAF7-6EFC-1319-5ED7-0A35D573867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E80FC300-0CDB-F353-C5CF-7B7277315DA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7BFFF491-95D5-2D5B-5439-D17C1E4BA11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F126F6C3-F346-093D-AA61-20FC687CE38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00B60C30-7C60-CAE0-2720-992EB02EF85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113D0FF-92B1-EC37-741C-F7555A8924F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90992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2D84C1A-4BAF-4DA4-6DE2-95B9AF446ED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A={1,2,3,4},R={&lt;1,2&gt;,&lt;2,1&gt;,&lt;3,4&gt;,&lt;4,3&gt;},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rst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(R)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为（     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F170E2-72D5-9F8F-6627-014481FE403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367B2A-95C8-2F96-BFED-12A0FA4871D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baseline="-25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650036-7D17-77B3-B145-6C25F2B1DBC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A×A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AD9D4D-1BF5-26F2-0217-645AC4B4E6C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R∪I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baseline="-25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AEEDB7F-CB30-58CA-8702-6189806632B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F0C15F2-8A2D-F05C-7063-313302F0CEC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E337DA6-EEDB-C688-0163-A6716DFDF5A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EC34327-6805-1769-E934-31467D8980B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ADE625B-DCAE-94CC-1187-448A8F0875B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FA4C363-E12C-73B0-8BE5-1C4C30A7373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819F5480-91D2-7736-8697-A291CF9971F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BA4915EA-EE2E-AAD4-B0C8-B26475E75A9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BFBDB03B-1D97-30B5-6B37-CA43AFD38C8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B224B608-D3E8-0927-0DE9-C0210852133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1E6F37F-8876-0D89-53DE-079C793E857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1144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398C7E5-49EA-F66F-E3A7-D4DB065ED37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55576" y="2204864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3.10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第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 （写出计算过程）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第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32EEFFC-97FA-10A5-CD18-CA2E0D39314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81D87C5-3890-59C4-7DCD-DD32A0A1EB1E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16B6C20F-9721-E9B6-79A8-8613E8FD911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B4FE2916-18E3-CC38-6365-34F0A8D5F48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FA5A0669-D6D1-3031-BE2F-026E015E632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70770D97-E119-CA14-E7C2-A188E71AB3C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B688D80-4193-0714-90AD-92F842114524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30338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2073</TotalTime>
  <Words>2167</Words>
  <Application>Microsoft Office PowerPoint</Application>
  <PresentationFormat>全屏显示(4:3)</PresentationFormat>
  <Paragraphs>211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6" baseType="lpstr">
      <vt:lpstr>宋体</vt:lpstr>
      <vt:lpstr>Microsoft Yahei</vt:lpstr>
      <vt:lpstr>Arial</vt:lpstr>
      <vt:lpstr>Tahoma</vt:lpstr>
      <vt:lpstr>Wingdings</vt:lpstr>
      <vt:lpstr>Blends</vt:lpstr>
      <vt:lpstr>Equation</vt:lpstr>
      <vt:lpstr>3.10 关系的闭包运算 </vt:lpstr>
      <vt:lpstr>3.10.1 闭包的定义</vt:lpstr>
      <vt:lpstr>3.10.1 闭包的定义</vt:lpstr>
      <vt:lpstr>3.10.1 闭包的定义</vt:lpstr>
      <vt:lpstr>3.10.1 闭包的定义</vt:lpstr>
      <vt:lpstr>3.10.1 闭包的定义</vt:lpstr>
      <vt:lpstr>3.10.1 闭包的定义</vt:lpstr>
      <vt:lpstr>3.10.1 闭包的定义</vt:lpstr>
      <vt:lpstr>3.10.2 闭包的性质</vt:lpstr>
      <vt:lpstr>3.10.2 闭包的性质</vt:lpstr>
      <vt:lpstr>3.10.2 闭包的性质</vt:lpstr>
      <vt:lpstr>3.10.2 闭包的性质</vt:lpstr>
      <vt:lpstr>3.10.2 闭包的性质</vt:lpstr>
      <vt:lpstr>3.10.2 闭包的性质</vt:lpstr>
      <vt:lpstr>3.10.2 闭包的性质</vt:lpstr>
      <vt:lpstr>3.10.2 闭包的性质</vt:lpstr>
      <vt:lpstr>3.10.2 闭包的性质</vt:lpstr>
      <vt:lpstr>3.10.2 闭包的性质</vt:lpstr>
      <vt:lpstr>3.10.3 Warshall算法</vt:lpstr>
      <vt:lpstr>3.10.3 Warshall算法</vt:lpstr>
      <vt:lpstr>3.10.4 闭包的复合</vt:lpstr>
      <vt:lpstr>3.10.4 闭包的复合</vt:lpstr>
      <vt:lpstr>3.10.4 闭包的复合</vt:lpstr>
      <vt:lpstr>3.10.4 闭包的复合</vt:lpstr>
      <vt:lpstr>3.10.4 闭包的复合</vt:lpstr>
      <vt:lpstr>3.10.4 闭包的复合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Duoduo</cp:lastModifiedBy>
  <cp:revision>71</cp:revision>
  <dcterms:created xsi:type="dcterms:W3CDTF">2010-04-09T13:44:14Z</dcterms:created>
  <dcterms:modified xsi:type="dcterms:W3CDTF">2023-11-15T14:36:49Z</dcterms:modified>
</cp:coreProperties>
</file>