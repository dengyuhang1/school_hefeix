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48" r:id="rId2"/>
    <p:sldId id="337" r:id="rId3"/>
    <p:sldId id="350" r:id="rId4"/>
    <p:sldId id="340" r:id="rId5"/>
    <p:sldId id="345" r:id="rId6"/>
    <p:sldId id="307" r:id="rId7"/>
    <p:sldId id="308" r:id="rId8"/>
    <p:sldId id="342" r:id="rId9"/>
    <p:sldId id="343" r:id="rId10"/>
    <p:sldId id="351" r:id="rId11"/>
    <p:sldId id="352" r:id="rId12"/>
    <p:sldId id="354" r:id="rId13"/>
    <p:sldId id="353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66FF"/>
    <a:srgbClr val="FF00FF"/>
    <a:srgbClr val="FF0066"/>
    <a:srgbClr val="CC0066"/>
    <a:srgbClr val="008080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0738" autoAdjust="0"/>
  </p:normalViewPr>
  <p:slideViewPr>
    <p:cSldViewPr>
      <p:cViewPr varScale="1">
        <p:scale>
          <a:sx n="62" d="100"/>
          <a:sy n="62" d="100"/>
        </p:scale>
        <p:origin x="1404" y="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1B47B1E-7787-53C1-E4F6-6BD8CB3C0B9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3C1E82BC-5E10-D2FF-0FA5-505BEC43F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DF07FB1-9C8E-08BC-A8D6-013E2ADEC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97C765E1-C2BA-6447-C084-3ABC4C49E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014CA42-C30D-99FD-B3A2-56CCA61B62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1F78192-DEBD-6CD6-9FCF-4FE6FDC37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5D6835-A6DF-6E95-98A8-6D121493A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ED14653B-4FA0-6539-0071-8BE4C2878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35B15AA7-7B8C-72DE-4882-4BF82F0FA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49F5624-7321-242F-5318-A32831E9BD2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7409949-0385-C122-529E-AF2A6DC685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0640AFC-C8E7-9FC9-045E-BE0900CEA1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B740C890-F7E6-E1A8-1E66-57442E57CA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CC8E7D5-B510-47C1-971E-17A2AF5DE10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668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623F3A2-132E-5009-5D92-FAACF4461E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63FC456-3964-61F2-D60C-2E6247CB22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5D936F-11FF-4153-265E-6755451B8E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8214A5-8B09-470D-8AAD-2B449E7ABB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2320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E6992A4-93C6-661E-81AA-F23A0FF248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086036B-6178-CACC-D411-08638FA47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D2C6E53-A56F-5B01-1CB7-08D51994EB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2FBC4-5B1E-413B-823C-44F6003A7D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258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15A5ECF-A446-A10C-782B-CFBC07FBF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46E5539-54E9-B2DD-A1DB-77F76B9D12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DB831A5-1090-C0C5-91A4-4B924F9A08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1ED092-93F6-4D2A-993D-74FC17A2EC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993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2C4B80B-F3C6-1406-3755-2B266C86D0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CC764B0A-E025-3D69-3923-8782A254B9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3A112D58-3A96-1FB9-92AD-6DEBE608A1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60DDE-8B55-4F54-968C-2FFB3C6C18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3642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F418AAAD-F639-30D8-535C-8A2A9D1026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6E099E2F-4E67-7E6D-474F-A1A90374B8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6DFE8CD-353A-71B4-34D6-DC85F139E0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A54595-5F4D-4046-80DD-758E1616B3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031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4713142-699C-3B54-4BD5-8AA009F96C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B5DACE9-EFC5-6F45-878A-E81EF8DD70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70D547F6-7030-74DC-9872-F3E17C651C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405F73-367C-4A6F-AF90-AF162A3381E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9208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1174F0A-ACD7-89F4-ACD8-2F91BBFE29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923C64D-3323-DA79-4EB3-1E894AB6BA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675E06F-86ED-4182-7F24-07662DF7F3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0A863E-2E35-4777-BB69-EBB8382F343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74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703345D-DBC8-C0B7-2411-CE7BB7A92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F05D260-FC66-B41C-F623-6A3DC698A6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B0C9B47-A694-94C6-F981-699778D3F8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F35900-9B72-4CAF-A36E-F2205EA587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967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A1DABDF-8F3C-FB60-B9B8-92738EE54E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80819FA-3D2D-2911-2750-B22875E73E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824AAAE-150A-33C8-5F3A-550032D226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B8C9EF-8C20-4E59-A5EC-930A739C54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65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AA53074-8E78-0419-740B-07BB867062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21EF6B3-3029-DD1A-31CB-8ACADB81BC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9E308C9-E13F-D785-B5D4-A947F176DE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772438-58F7-451E-AA58-4ACF31043E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229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3B913A2-C634-B19B-2D68-7BE9241A73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A6D645-3608-BCC8-9915-7130056E9B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62EE15-7974-A78C-E595-81CDB87DCE7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ABC357-BB78-F6FE-6E08-278DC03DF7D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E8CDEF9-FC79-199F-E60A-F405572B48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38092BBB-E7DB-242D-9084-0CECB0EDED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F38671D8-E5DD-6A5A-8003-1BC325F674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1B9F1AFA-B3F7-3815-B006-B4DE11BC5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1AE4EF8F-44F1-46E5-28D1-1CAAB3F75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D0CE7768-4512-A659-E75D-F827670B8E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2E0AD1A5-B272-F57B-4EDD-82448902C5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579E6FD8-A459-5009-02FF-90415F2CFB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7632709-E0DD-4060-BA36-5F1155F350C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.tmp"/><Relationship Id="rId5" Type="http://schemas.openxmlformats.org/officeDocument/2006/relationships/tags" Target="../tags/tag3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3FC2E5B-9105-3FB6-CB6D-7076CA194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  谓词逻辑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DA4DFE-B029-126B-2B78-8A1BEA65475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68313" y="1844675"/>
            <a:ext cx="4745037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命题逻辑</a:t>
            </a:r>
            <a:r>
              <a:rPr lang="zh-CN" altLang="en-US" dirty="0"/>
              <a:t>  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原子命题  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原子命题之间的逻辑运算    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sz="3600" dirty="0"/>
              <a:t>+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 原子命题的内部结构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谓词逻辑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predication logic</a:t>
            </a:r>
            <a:r>
              <a:rPr lang="en-US" altLang="zh-CN" dirty="0"/>
              <a:t>)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B8C1AC6-7B14-5EBA-43B4-1EA73F4CC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5" y="1844675"/>
            <a:ext cx="360045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000000"/>
                </a:solidFill>
              </a:rPr>
              <a:t>命题逻辑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P→┐Q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en-US" altLang="zh-CN" dirty="0"/>
              <a:t>P</a:t>
            </a:r>
            <a:r>
              <a:rPr lang="zh-CN" altLang="en-US" dirty="0"/>
              <a:t>：</a:t>
            </a:r>
            <a:r>
              <a:rPr lang="en-US" altLang="zh-CN" dirty="0"/>
              <a:t>5</a:t>
            </a:r>
            <a:r>
              <a:rPr lang="zh-CN" altLang="en-US" dirty="0"/>
              <a:t>大于</a:t>
            </a:r>
            <a:r>
              <a:rPr lang="en-US" altLang="zh-CN" dirty="0"/>
              <a:t>6.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：</a:t>
            </a:r>
            <a:r>
              <a:rPr lang="en-US" altLang="zh-CN" dirty="0"/>
              <a:t>6</a:t>
            </a:r>
            <a:r>
              <a:rPr lang="zh-CN" altLang="en-US" dirty="0"/>
              <a:t>大于</a:t>
            </a:r>
            <a:r>
              <a:rPr lang="en-US" altLang="zh-CN" dirty="0"/>
              <a:t>5.</a:t>
            </a: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lang="zh-CN" altLang="en-US" dirty="0">
                <a:solidFill>
                  <a:srgbClr val="000000"/>
                </a:solidFill>
              </a:rPr>
              <a:t>谓词逻辑</a:t>
            </a:r>
            <a:r>
              <a:rPr lang="en-US" altLang="zh-CN" dirty="0">
                <a:solidFill>
                  <a:srgbClr val="FF0000"/>
                </a:solidFill>
              </a:rPr>
              <a:t>L(5,6)→┐L(6,5)</a:t>
            </a:r>
            <a:r>
              <a:rPr lang="zh-CN" altLang="en-US" dirty="0">
                <a:solidFill>
                  <a:srgbClr val="000000"/>
                </a:solidFill>
              </a:rPr>
              <a:t>，其中</a:t>
            </a:r>
            <a:r>
              <a:rPr lang="en-US" altLang="zh-CN" dirty="0">
                <a:solidFill>
                  <a:srgbClr val="000000"/>
                </a:solidFill>
              </a:rPr>
              <a:t>L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大于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…</a:t>
            </a:r>
            <a:endParaRPr lang="zh-CN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3333CC"/>
              </a:buClr>
              <a:defRPr/>
            </a:pPr>
            <a:endParaRPr lang="zh-CN" altLang="en-US" b="1" dirty="0">
              <a:solidFill>
                <a:srgbClr val="FF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A160789-06F9-637B-4997-7AF1752EAE51}"/>
              </a:ext>
            </a:extLst>
          </p:cNvPr>
          <p:cNvCxnSpPr/>
          <p:nvPr/>
        </p:nvCxnSpPr>
        <p:spPr>
          <a:xfrm>
            <a:off x="1547813" y="4292600"/>
            <a:ext cx="0" cy="1584325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3F856EA6-9D72-FA9A-4935-FACECEE63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章   谓词逻辑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BF6BAA7-2824-36FA-C191-0331A5140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844675"/>
            <a:ext cx="812800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2.1 </a:t>
            </a:r>
            <a:r>
              <a:rPr lang="zh-CN" altLang="en-US" sz="3600" b="1"/>
              <a:t>个体与谓词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2.2 </a:t>
            </a:r>
            <a:r>
              <a:rPr lang="zh-CN" altLang="en-US" sz="3600" b="1"/>
              <a:t>命题函数与量词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2.3 </a:t>
            </a:r>
            <a:r>
              <a:rPr lang="zh-CN" altLang="en-US" sz="3600" b="1"/>
              <a:t>谓词公式与约束变元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2.4 </a:t>
            </a:r>
            <a:r>
              <a:rPr lang="zh-CN" altLang="en-US" sz="3600" b="1"/>
              <a:t>谓词演算等价式与蕴含式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2.5 </a:t>
            </a:r>
            <a:r>
              <a:rPr lang="zh-CN" altLang="en-US" sz="3600" b="1"/>
              <a:t>谓词演算的推理理论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3FF16BD-7478-A061-41AD-4486C464F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348A7CE-9985-5197-95C6-FEC1701D4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532812" cy="4968875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原子命题 </a:t>
            </a:r>
            <a:r>
              <a:rPr lang="zh-CN" altLang="en-US" dirty="0"/>
              <a:t>？</a:t>
            </a:r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zh-CN" altLang="en-US" b="1" dirty="0">
                <a:solidFill>
                  <a:srgbClr val="339933"/>
                </a:solidFill>
              </a:rPr>
              <a:t>陈强的表妹</a:t>
            </a:r>
            <a:r>
              <a:rPr lang="zh-CN" altLang="en-US" dirty="0"/>
              <a:t>是美国总统。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FF00FF"/>
                </a:solidFill>
              </a:rPr>
              <a:t>个体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discourse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原子命题的主体部分</a:t>
            </a:r>
            <a:endParaRPr lang="en-US" altLang="zh-CN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具体事物</a:t>
            </a:r>
            <a:r>
              <a:rPr lang="zh-CN" altLang="en-US" dirty="0">
                <a:solidFill>
                  <a:srgbClr val="C00000"/>
                </a:solidFill>
              </a:rPr>
              <a:t>或</a:t>
            </a:r>
            <a:r>
              <a:rPr lang="zh-CN" altLang="en-US" dirty="0"/>
              <a:t>抽象概念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FF00FF"/>
                </a:solidFill>
              </a:rPr>
              <a:t>                           谓词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FF00FF"/>
                </a:solidFill>
              </a:rPr>
              <a:t>predication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</a:t>
            </a:r>
            <a:r>
              <a:rPr lang="zh-CN" altLang="en-US" dirty="0"/>
              <a:t>刻画</a:t>
            </a:r>
            <a:r>
              <a:rPr lang="zh-CN" altLang="en-US" dirty="0">
                <a:solidFill>
                  <a:schemeClr val="hlink"/>
                </a:solidFill>
              </a:rPr>
              <a:t>个体</a:t>
            </a:r>
            <a:r>
              <a:rPr lang="zh-CN" altLang="en-US" dirty="0">
                <a:solidFill>
                  <a:srgbClr val="0000FF"/>
                </a:solidFill>
              </a:rPr>
              <a:t>性质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关系</a:t>
            </a:r>
            <a:endParaRPr lang="zh-CN" altLang="en-US" sz="20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198BA9E-E880-130D-9B8B-53BFB12DBB1B}"/>
              </a:ext>
            </a:extLst>
          </p:cNvPr>
          <p:cNvCxnSpPr/>
          <p:nvPr/>
        </p:nvCxnSpPr>
        <p:spPr>
          <a:xfrm flipH="1">
            <a:off x="2700338" y="2492375"/>
            <a:ext cx="2159000" cy="7921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D4D80E4-1DE9-A292-434D-54ABEAF3085C}"/>
              </a:ext>
            </a:extLst>
          </p:cNvPr>
          <p:cNvCxnSpPr/>
          <p:nvPr/>
        </p:nvCxnSpPr>
        <p:spPr>
          <a:xfrm>
            <a:off x="6516688" y="2565400"/>
            <a:ext cx="0" cy="295116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4F92CFB-6542-20E2-E504-B74C6054E5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C3D8CEC-2FA2-9388-ECC3-9DFD44432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840287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2.1.1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1"/>
                </a:solidFill>
              </a:rPr>
              <a:t>他</a:t>
            </a:r>
            <a:r>
              <a:rPr lang="zh-CN" altLang="en-US" dirty="0"/>
              <a:t>是三好学生。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chemeClr val="accent1"/>
                </a:solidFill>
              </a:rPr>
              <a:t>7</a:t>
            </a:r>
            <a:r>
              <a:rPr lang="zh-CN" altLang="en-US" dirty="0"/>
              <a:t>是质数。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1"/>
                </a:solidFill>
              </a:rPr>
              <a:t>每天早晨锻炼身体</a:t>
            </a:r>
            <a:r>
              <a:rPr lang="zh-CN" altLang="en-US" dirty="0"/>
              <a:t>是好习惯。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chemeClr val="accent1"/>
                </a:solidFill>
              </a:rPr>
              <a:t>5</a:t>
            </a:r>
            <a:r>
              <a:rPr lang="zh-CN" altLang="en-US" dirty="0"/>
              <a:t>大于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r>
              <a:rPr lang="en-US" altLang="zh-CN" dirty="0">
                <a:solidFill>
                  <a:schemeClr val="accent1"/>
                </a:solidFill>
              </a:rPr>
              <a:t>9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accent1"/>
                </a:solidFill>
              </a:rPr>
              <a:t>6</a:t>
            </a:r>
            <a:r>
              <a:rPr lang="zh-CN" altLang="en-US" dirty="0"/>
              <a:t>＋</a:t>
            </a:r>
            <a:r>
              <a:rPr lang="en-US" altLang="zh-CN" dirty="0">
                <a:solidFill>
                  <a:schemeClr val="accent1"/>
                </a:solidFill>
              </a:rPr>
              <a:t>5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chemeClr val="accent1"/>
                </a:solidFill>
              </a:rPr>
              <a:t>上海</a:t>
            </a:r>
            <a:r>
              <a:rPr lang="zh-CN" altLang="en-US" dirty="0"/>
              <a:t>位于</a:t>
            </a:r>
            <a:r>
              <a:rPr lang="zh-CN" altLang="en-US" dirty="0">
                <a:solidFill>
                  <a:schemeClr val="accent1"/>
                </a:solidFill>
              </a:rPr>
              <a:t>杭州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chemeClr val="accent1"/>
                </a:solidFill>
              </a:rPr>
              <a:t>北京</a:t>
            </a:r>
            <a:r>
              <a:rPr lang="zh-CN" altLang="en-US" dirty="0"/>
              <a:t>之间。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388953E-6606-7F75-EE86-116F160E1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52366ACB-CCA8-E848-7B4C-9260F4EEC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8270875" cy="4941887"/>
          </a:xfrm>
        </p:spPr>
        <p:txBody>
          <a:bodyPr/>
          <a:lstStyle/>
          <a:p>
            <a:pPr marL="0" indent="0"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zh-CN" altLang="en-US" sz="3600" b="1" dirty="0">
                <a:solidFill>
                  <a:srgbClr val="FF0000"/>
                </a:solidFill>
              </a:rPr>
              <a:t>命题标识符</a:t>
            </a:r>
            <a:r>
              <a:rPr lang="zh-CN" altLang="en-US" sz="3600" dirty="0"/>
              <a:t>的变化</a:t>
            </a:r>
            <a:r>
              <a:rPr lang="en-US" altLang="zh-CN" sz="3600" dirty="0"/>
              <a:t> 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   A</a:t>
            </a:r>
            <a:r>
              <a:rPr lang="zh-CN" altLang="en-US" dirty="0"/>
              <a:t>：他是三好学生。</a:t>
            </a:r>
            <a:endParaRPr lang="en-US" altLang="zh-CN" dirty="0"/>
          </a:p>
          <a:p>
            <a:pPr marL="0" indent="0" eaLnBrk="1" hangingPunct="1">
              <a:lnSpc>
                <a:spcPct val="11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  L(a)</a:t>
            </a:r>
            <a:r>
              <a:rPr lang="zh-CN" altLang="en-US" dirty="0"/>
              <a:t>：他是三好学生。其中</a:t>
            </a:r>
            <a:endParaRPr lang="en-US" altLang="zh-CN" dirty="0"/>
          </a:p>
          <a:p>
            <a:pPr marL="0" indent="0" eaLnBrk="1" hangingPunct="1">
              <a:lnSpc>
                <a:spcPct val="11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   L</a:t>
            </a:r>
            <a:r>
              <a:rPr lang="zh-CN" altLang="en-US" dirty="0">
                <a:solidFill>
                  <a:srgbClr val="000000"/>
                </a:solidFill>
              </a:rPr>
              <a:t>：是三好学生。</a:t>
            </a:r>
            <a:r>
              <a:rPr lang="en-US" altLang="zh-CN" dirty="0">
                <a:solidFill>
                  <a:srgbClr val="000000"/>
                </a:solidFill>
              </a:rPr>
              <a:t> a</a:t>
            </a:r>
            <a:r>
              <a:rPr lang="zh-CN" altLang="en-US" dirty="0">
                <a:solidFill>
                  <a:srgbClr val="000000"/>
                </a:solidFill>
              </a:rPr>
              <a:t>：他</a:t>
            </a:r>
            <a:endParaRPr lang="en-US" altLang="zh-CN" dirty="0"/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dirty="0">
                <a:solidFill>
                  <a:srgbClr val="FF0000"/>
                </a:solidFill>
              </a:rPr>
              <a:t>       B</a:t>
            </a:r>
            <a:r>
              <a:rPr lang="zh-CN" altLang="en-US" dirty="0"/>
              <a:t>：</a:t>
            </a:r>
            <a:r>
              <a:rPr lang="en-US" altLang="zh-CN" dirty="0"/>
              <a:t>5</a:t>
            </a:r>
            <a:r>
              <a:rPr lang="zh-CN" altLang="en-US" dirty="0"/>
              <a:t>大于</a:t>
            </a:r>
            <a:r>
              <a:rPr lang="en-US" altLang="zh-CN" dirty="0"/>
              <a:t>2</a:t>
            </a:r>
            <a:r>
              <a:rPr lang="zh-CN" altLang="en-US" dirty="0"/>
              <a:t>。 </a:t>
            </a:r>
            <a:endParaRPr lang="en-US" altLang="zh-CN" dirty="0"/>
          </a:p>
          <a:p>
            <a:pPr marL="0" indent="0" eaLnBrk="1" hangingPunct="1">
              <a:lnSpc>
                <a:spcPct val="11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 P(5,2)</a:t>
            </a:r>
            <a:r>
              <a:rPr lang="zh-CN" altLang="en-US" dirty="0"/>
              <a:t>：</a:t>
            </a:r>
            <a:r>
              <a:rPr lang="en-US" altLang="zh-CN" dirty="0"/>
              <a:t>5</a:t>
            </a:r>
            <a:r>
              <a:rPr lang="zh-CN" altLang="en-US" dirty="0"/>
              <a:t>大于</a:t>
            </a:r>
            <a:r>
              <a:rPr lang="en-US" altLang="zh-CN" dirty="0"/>
              <a:t>2</a:t>
            </a:r>
            <a:r>
              <a:rPr lang="zh-CN" altLang="en-US" dirty="0"/>
              <a:t>。其中</a:t>
            </a:r>
            <a:endParaRPr lang="en-US" altLang="zh-CN" dirty="0"/>
          </a:p>
          <a:p>
            <a:pPr marL="0" indent="0" eaLnBrk="1" hangingPunct="1">
              <a:lnSpc>
                <a:spcPct val="11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        P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大于</a:t>
            </a:r>
            <a:r>
              <a:rPr lang="en-US" altLang="zh-CN" dirty="0">
                <a:solidFill>
                  <a:srgbClr val="000000"/>
                </a:solidFill>
                <a:latin typeface="Arial"/>
              </a:rPr>
              <a:t>…</a:t>
            </a:r>
            <a:endParaRPr lang="zh-CN" altLang="en-US" dirty="0"/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01FF15C5-8564-686F-9512-B6FE47F03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59BAADEA-37C6-9791-C80E-FCBA469DC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426450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个体标识符</a:t>
            </a:r>
            <a:r>
              <a:rPr lang="zh-CN" altLang="en-US" b="1" dirty="0"/>
              <a:t>    </a:t>
            </a:r>
            <a:r>
              <a:rPr lang="zh-CN" altLang="en-US" dirty="0"/>
              <a:t>表示个体的符号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         个体常量</a:t>
            </a:r>
            <a:r>
              <a:rPr lang="zh-CN" altLang="en-US" b="1" dirty="0"/>
              <a:t>        </a:t>
            </a:r>
            <a:r>
              <a:rPr lang="zh-CN" altLang="en-US" dirty="0"/>
              <a:t>表示</a:t>
            </a:r>
            <a:r>
              <a:rPr lang="zh-CN" altLang="en-US" dirty="0">
                <a:solidFill>
                  <a:srgbClr val="FF00FF"/>
                </a:solidFill>
              </a:rPr>
              <a:t>具体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FF"/>
                </a:solidFill>
              </a:rPr>
              <a:t>特定</a:t>
            </a:r>
            <a:r>
              <a:rPr lang="zh-CN" altLang="en-US" dirty="0"/>
              <a:t>个体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</a:t>
            </a:r>
            <a:r>
              <a:rPr lang="zh-CN" altLang="en-US" b="1" dirty="0">
                <a:solidFill>
                  <a:schemeClr val="accent1"/>
                </a:solidFill>
              </a:rPr>
              <a:t>个体变量</a:t>
            </a:r>
            <a:r>
              <a:rPr lang="zh-CN" altLang="en-US" b="1" dirty="0"/>
              <a:t>       </a:t>
            </a:r>
            <a:r>
              <a:rPr lang="zh-CN" altLang="en-US" dirty="0"/>
              <a:t>表示任意个体的位置标志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谓词标识符</a:t>
            </a:r>
            <a:r>
              <a:rPr lang="zh-CN" altLang="en-US" b="1" dirty="0"/>
              <a:t>   </a:t>
            </a:r>
            <a:r>
              <a:rPr lang="zh-CN" altLang="en-US" dirty="0"/>
              <a:t>表示谓词的符号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      </a:t>
            </a:r>
            <a:r>
              <a:rPr lang="zh-CN" altLang="en-US" b="1" dirty="0">
                <a:solidFill>
                  <a:srgbClr val="0000FF"/>
                </a:solidFill>
              </a:rPr>
              <a:t>谓词常量</a:t>
            </a:r>
            <a:r>
              <a:rPr lang="zh-CN" altLang="en-US" b="1" dirty="0"/>
              <a:t>        </a:t>
            </a:r>
            <a:r>
              <a:rPr lang="zh-CN" altLang="en-US" dirty="0"/>
              <a:t>表示</a:t>
            </a:r>
            <a:r>
              <a:rPr lang="zh-CN" altLang="en-US" dirty="0">
                <a:solidFill>
                  <a:srgbClr val="FF00FF"/>
                </a:solidFill>
              </a:rPr>
              <a:t>具体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FF00FF"/>
                </a:solidFill>
              </a:rPr>
              <a:t>特定</a:t>
            </a:r>
            <a:r>
              <a:rPr lang="zh-CN" altLang="en-US" dirty="0"/>
              <a:t>谓词</a:t>
            </a:r>
            <a:endParaRPr lang="zh-CN" altLang="en-US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/>
              <a:t>   </a:t>
            </a:r>
            <a:r>
              <a:rPr lang="zh-CN" altLang="en-US" b="1" dirty="0">
                <a:solidFill>
                  <a:srgbClr val="0000FF"/>
                </a:solidFill>
              </a:rPr>
              <a:t>谓词变量</a:t>
            </a:r>
            <a:r>
              <a:rPr lang="zh-CN" altLang="en-US" b="1" dirty="0"/>
              <a:t>      </a:t>
            </a:r>
            <a:r>
              <a:rPr lang="zh-CN" altLang="en-US" dirty="0"/>
              <a:t>表示任意谓词的位置标志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7A5264F-2EED-EC30-7894-A98D7257DF3F}"/>
              </a:ext>
            </a:extLst>
          </p:cNvPr>
          <p:cNvCxnSpPr/>
          <p:nvPr/>
        </p:nvCxnSpPr>
        <p:spPr>
          <a:xfrm>
            <a:off x="1403350" y="2565400"/>
            <a:ext cx="0" cy="115093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8958C27-47B2-439B-18EE-E57E1F4FC61F}"/>
              </a:ext>
            </a:extLst>
          </p:cNvPr>
          <p:cNvCxnSpPr/>
          <p:nvPr/>
        </p:nvCxnSpPr>
        <p:spPr>
          <a:xfrm>
            <a:off x="1476375" y="5013325"/>
            <a:ext cx="0" cy="115252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A1FCE1F-440E-63D7-AC9F-9818725B5F0F}"/>
              </a:ext>
            </a:extLst>
          </p:cNvPr>
          <p:cNvCxnSpPr/>
          <p:nvPr/>
        </p:nvCxnSpPr>
        <p:spPr>
          <a:xfrm>
            <a:off x="1403350" y="2565400"/>
            <a:ext cx="360363" cy="431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58B7529-D7E0-3753-5471-F77A16CEE7CA}"/>
              </a:ext>
            </a:extLst>
          </p:cNvPr>
          <p:cNvCxnSpPr/>
          <p:nvPr/>
        </p:nvCxnSpPr>
        <p:spPr>
          <a:xfrm>
            <a:off x="1476375" y="5013325"/>
            <a:ext cx="287338" cy="4318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A1D753F-841A-F801-316E-951B8488A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A5CB57D-2FEE-5E74-486A-02E48C872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208962" cy="5013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hlink"/>
                </a:solidFill>
              </a:rPr>
              <a:t>    </a:t>
            </a:r>
            <a:r>
              <a:rPr lang="zh-CN" altLang="en-US" b="1">
                <a:solidFill>
                  <a:schemeClr val="hlink"/>
                </a:solidFill>
              </a:rPr>
              <a:t>约   定</a:t>
            </a:r>
          </a:p>
          <a:p>
            <a:pPr eaLnBrk="1" hangingPunct="1"/>
            <a:r>
              <a:rPr lang="zh-CN" altLang="en-US"/>
              <a:t>个体常量或个体变量</a:t>
            </a:r>
            <a:r>
              <a:rPr lang="en-US" altLang="zh-CN"/>
              <a:t>a</a:t>
            </a:r>
            <a:r>
              <a:rPr lang="zh-CN" altLang="en-US"/>
              <a:t>具有</a:t>
            </a:r>
            <a:r>
              <a:rPr lang="zh-CN" altLang="en-US">
                <a:solidFill>
                  <a:schemeClr val="accent1"/>
                </a:solidFill>
              </a:rPr>
              <a:t>性质</a:t>
            </a:r>
            <a:r>
              <a:rPr lang="en-US" altLang="zh-CN"/>
              <a:t>P</a:t>
            </a:r>
            <a:r>
              <a:rPr lang="zh-CN" altLang="en-US"/>
              <a:t>，记作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/>
              <a:t>P(a)</a:t>
            </a:r>
            <a:r>
              <a:rPr lang="zh-CN" altLang="en-US"/>
              <a:t>，其中</a:t>
            </a:r>
            <a:r>
              <a:rPr lang="en-US" altLang="zh-CN"/>
              <a:t>P</a:t>
            </a:r>
            <a:r>
              <a:rPr lang="zh-CN" altLang="en-US"/>
              <a:t>为谓词常量或谓词变量；</a:t>
            </a:r>
          </a:p>
          <a:p>
            <a:pPr eaLnBrk="1" hangingPunct="1"/>
            <a:r>
              <a:rPr lang="zh-CN" altLang="en-US"/>
              <a:t>个体常量或个体变量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en-US" altLang="zh-CN"/>
              <a:t>,a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,a</a:t>
            </a:r>
            <a:r>
              <a:rPr lang="en-US" altLang="zh-CN" baseline="-25000"/>
              <a:t>n</a:t>
            </a:r>
            <a:r>
              <a:rPr lang="zh-CN" altLang="en-US"/>
              <a:t>具有</a:t>
            </a:r>
            <a:r>
              <a:rPr lang="zh-CN" altLang="en-US">
                <a:solidFill>
                  <a:schemeClr val="accent1"/>
                </a:solidFill>
              </a:rPr>
              <a:t>关系</a:t>
            </a:r>
            <a:r>
              <a:rPr lang="zh-CN" altLang="en-US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L</a:t>
            </a:r>
            <a:r>
              <a:rPr lang="zh-CN" altLang="en-US"/>
              <a:t>，记作</a:t>
            </a:r>
            <a:r>
              <a:rPr lang="en-US" altLang="zh-CN"/>
              <a:t>L(a</a:t>
            </a:r>
            <a:r>
              <a:rPr lang="en-US" altLang="zh-CN" baseline="-25000"/>
              <a:t>1</a:t>
            </a:r>
            <a:r>
              <a:rPr lang="en-US" altLang="zh-CN"/>
              <a:t>,a</a:t>
            </a:r>
            <a:r>
              <a:rPr lang="en-US" altLang="zh-CN" baseline="-25000"/>
              <a:t>2</a:t>
            </a:r>
            <a:r>
              <a:rPr lang="en-US" altLang="zh-CN"/>
              <a:t>,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/>
              <a:t>,a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zh-CN" altLang="en-US"/>
              <a:t>，其中</a:t>
            </a:r>
            <a:r>
              <a:rPr lang="en-US" altLang="zh-CN"/>
              <a:t>L</a:t>
            </a:r>
            <a:r>
              <a:rPr lang="zh-CN" altLang="en-US"/>
              <a:t>为谓词常量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或谓词变量；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/>
              <a:t>有个体与谓词的概念，命题符号化时，必须</a:t>
            </a:r>
            <a:r>
              <a:rPr lang="zh-CN" altLang="en-US">
                <a:solidFill>
                  <a:schemeClr val="accent1"/>
                </a:solidFill>
              </a:rPr>
              <a:t>明确指出</a:t>
            </a:r>
            <a:r>
              <a:rPr lang="zh-CN" altLang="en-US"/>
              <a:t>其</a:t>
            </a:r>
            <a:r>
              <a:rPr lang="zh-CN" altLang="en-US">
                <a:solidFill>
                  <a:srgbClr val="FF00FF"/>
                </a:solidFill>
              </a:rPr>
              <a:t>个体</a:t>
            </a:r>
            <a:r>
              <a:rPr lang="zh-CN" altLang="en-US"/>
              <a:t>与</a:t>
            </a:r>
            <a:r>
              <a:rPr lang="zh-CN" altLang="en-US">
                <a:solidFill>
                  <a:srgbClr val="FF00FF"/>
                </a:solidFill>
              </a:rPr>
              <a:t>谓词</a:t>
            </a:r>
            <a:r>
              <a:rPr lang="zh-CN" altLang="en-US"/>
              <a:t>。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D336305-A94A-C8EF-8C32-3AEF64B7B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2BAD51F-6741-F64E-F989-B460E8555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2.1.2</a:t>
            </a:r>
            <a:r>
              <a:rPr lang="en-US" altLang="zh-CN" sz="2800"/>
              <a:t> </a:t>
            </a:r>
            <a:r>
              <a:rPr lang="zh-CN" altLang="en-US" sz="2800"/>
              <a:t>翻译下列命题。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en-US" altLang="zh-CN" sz="2800"/>
              <a:t>(1)</a:t>
            </a:r>
            <a:r>
              <a:rPr lang="zh-CN" altLang="en-US" sz="2800"/>
              <a:t>黄山位于安徽境内。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hlink"/>
                </a:solidFill>
              </a:rPr>
              <a:t>          </a:t>
            </a:r>
            <a:r>
              <a:rPr lang="en-US" altLang="zh-CN" sz="2800"/>
              <a:t>L</a:t>
            </a:r>
            <a:r>
              <a:rPr lang="zh-CN" altLang="en-US" sz="2800"/>
              <a:t>：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zh-CN" altLang="en-US" sz="2800"/>
              <a:t>位于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zh-CN" altLang="en-US" sz="2800"/>
              <a:t>境内    </a:t>
            </a:r>
            <a:r>
              <a:rPr lang="en-US" altLang="zh-CN" sz="2800"/>
              <a:t>a</a:t>
            </a:r>
            <a:r>
              <a:rPr lang="zh-CN" altLang="en-US" sz="2800"/>
              <a:t>：黄山   </a:t>
            </a:r>
            <a:r>
              <a:rPr lang="en-US" altLang="zh-CN" sz="2800"/>
              <a:t>b</a:t>
            </a:r>
            <a:r>
              <a:rPr lang="zh-CN" altLang="en-US" sz="2800"/>
              <a:t>：安徽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>
                <a:solidFill>
                  <a:srgbClr val="0066FF"/>
                </a:solidFill>
              </a:rPr>
              <a:t>         </a:t>
            </a:r>
            <a:r>
              <a:rPr lang="en-US" altLang="zh-CN" sz="2800">
                <a:solidFill>
                  <a:srgbClr val="0066FF"/>
                </a:solidFill>
              </a:rPr>
              <a:t>L(a,b)</a:t>
            </a:r>
            <a:r>
              <a:rPr lang="zh-CN" altLang="en-US" sz="2800"/>
              <a:t>：黄山位于安徽境内。</a:t>
            </a:r>
            <a:endParaRPr lang="en-US" altLang="zh-CN" sz="28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FF"/>
                </a:solidFill>
              </a:rPr>
              <a:t>    </a:t>
            </a:r>
            <a:r>
              <a:rPr lang="en-US" altLang="zh-CN" sz="2800"/>
              <a:t>(2)</a:t>
            </a:r>
            <a:r>
              <a:rPr lang="zh-CN" altLang="en-US" sz="2800"/>
              <a:t>哥白尼指出地球绕太阳转。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    A</a:t>
            </a:r>
            <a:r>
              <a:rPr lang="zh-CN" altLang="en-US" sz="2800"/>
              <a:t>：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zh-CN" altLang="en-US" sz="2800"/>
              <a:t>指出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zh-CN" altLang="en-US" sz="2800"/>
              <a:t>绕</a:t>
            </a:r>
            <a:r>
              <a:rPr lang="en-US" altLang="zh-CN" sz="2800">
                <a:latin typeface="Arial" panose="020B0604020202020204" pitchFamily="34" charset="0"/>
              </a:rPr>
              <a:t>…</a:t>
            </a:r>
            <a:r>
              <a:rPr lang="zh-CN" altLang="en-US" sz="2800"/>
              <a:t>转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</a:t>
            </a:r>
            <a:r>
              <a:rPr lang="en-US" altLang="zh-CN" sz="2800"/>
              <a:t>c</a:t>
            </a:r>
            <a:r>
              <a:rPr lang="zh-CN" altLang="en-US" sz="2800"/>
              <a:t>：哥白尼   </a:t>
            </a:r>
            <a:r>
              <a:rPr lang="en-US" altLang="zh-CN" sz="2800"/>
              <a:t>d</a:t>
            </a:r>
            <a:r>
              <a:rPr lang="zh-CN" altLang="en-US" sz="2800"/>
              <a:t>：地球    </a:t>
            </a:r>
            <a:r>
              <a:rPr lang="en-US" altLang="zh-CN" sz="2800"/>
              <a:t>e</a:t>
            </a:r>
            <a:r>
              <a:rPr lang="zh-CN" altLang="en-US" sz="2800"/>
              <a:t>：太阳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</a:t>
            </a:r>
            <a:r>
              <a:rPr lang="en-US" altLang="zh-CN">
                <a:solidFill>
                  <a:srgbClr val="0066FF"/>
                </a:solidFill>
              </a:rPr>
              <a:t>A(c,d,e)</a:t>
            </a:r>
            <a:r>
              <a:rPr lang="zh-CN" altLang="en-US"/>
              <a:t>：哥白尼指出地球绕太阳转。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3B1E36F-C935-4EB8-7486-99B9AAA3D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2.1 </a:t>
            </a:r>
            <a:r>
              <a:rPr lang="zh-CN" altLang="en-US" sz="4800" b="1"/>
              <a:t>个体与谓词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D150A1B-8028-DA53-4974-529E6AFE6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424862" cy="4941887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800">
                <a:solidFill>
                  <a:schemeClr val="hlink"/>
                </a:solidFill>
              </a:rPr>
              <a:t>例</a:t>
            </a:r>
            <a:r>
              <a:rPr lang="en-US" altLang="zh-CN" sz="2800">
                <a:solidFill>
                  <a:schemeClr val="hlink"/>
                </a:solidFill>
              </a:rPr>
              <a:t>2.1.3</a:t>
            </a:r>
            <a:r>
              <a:rPr lang="en-US" altLang="zh-CN" sz="2800"/>
              <a:t> </a:t>
            </a:r>
            <a:r>
              <a:rPr lang="zh-CN" altLang="en-US" sz="2800"/>
              <a:t>翻译下列命题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王菲年满</a:t>
            </a:r>
            <a:r>
              <a:rPr lang="en-US" altLang="zh-CN" sz="2800"/>
              <a:t>18</a:t>
            </a:r>
            <a:r>
              <a:rPr lang="zh-CN" altLang="en-US" sz="2800"/>
              <a:t>岁，身体健康，无色盲，大学毕业，可以参加公务员考试。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</a:t>
            </a:r>
            <a:r>
              <a:rPr lang="zh-CN" altLang="en-US" sz="2800">
                <a:solidFill>
                  <a:schemeClr val="hlink"/>
                </a:solidFill>
              </a:rPr>
              <a:t>解</a:t>
            </a:r>
            <a:r>
              <a:rPr lang="zh-CN" altLang="en-US" sz="2800"/>
              <a:t>设</a:t>
            </a:r>
            <a:r>
              <a:rPr lang="en-US" altLang="zh-CN" sz="2800"/>
              <a:t>a</a:t>
            </a:r>
            <a:r>
              <a:rPr lang="zh-CN" altLang="en-US" sz="2800"/>
              <a:t>：王菲             </a:t>
            </a:r>
            <a:r>
              <a:rPr lang="en-US" altLang="zh-CN" sz="2800"/>
              <a:t>A</a:t>
            </a:r>
            <a:r>
              <a:rPr lang="zh-CN" altLang="en-US" sz="2800"/>
              <a:t>：年满</a:t>
            </a:r>
            <a:r>
              <a:rPr lang="en-US" altLang="zh-CN" sz="2800"/>
              <a:t>18</a:t>
            </a:r>
            <a:r>
              <a:rPr lang="zh-CN" altLang="en-US" sz="2800"/>
              <a:t>岁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   </a:t>
            </a:r>
            <a:r>
              <a:rPr lang="en-US" altLang="zh-CN" sz="2800"/>
              <a:t>B</a:t>
            </a:r>
            <a:r>
              <a:rPr lang="zh-CN" altLang="en-US" sz="2800"/>
              <a:t>：身体健康      </a:t>
            </a:r>
            <a:r>
              <a:rPr lang="en-US" altLang="zh-CN" sz="2800"/>
              <a:t>C</a:t>
            </a:r>
            <a:r>
              <a:rPr lang="zh-CN" altLang="en-US" sz="2800"/>
              <a:t>：色盲       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    </a:t>
            </a:r>
            <a:r>
              <a:rPr lang="en-US" altLang="zh-CN" sz="2800"/>
              <a:t>D</a:t>
            </a:r>
            <a:r>
              <a:rPr lang="zh-CN" altLang="en-US" sz="2800"/>
              <a:t>：大学毕业      </a:t>
            </a:r>
            <a:r>
              <a:rPr lang="en-US" altLang="zh-CN" sz="2800"/>
              <a:t>E</a:t>
            </a:r>
            <a:r>
              <a:rPr lang="zh-CN" altLang="en-US" sz="2800"/>
              <a:t>：参加公务员考试         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命题翻译为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800"/>
              <a:t>       </a:t>
            </a:r>
            <a:r>
              <a:rPr lang="en-US" altLang="zh-CN" sz="2800"/>
              <a:t>(A(a)∧B(a)∧┐C(a)∧D(a))→E(a)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A5042EE-E5CE-E74E-8E17-168536F94D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命题“李明是王芳和王菲的教练。”的个体为（  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26BB65A-2D82-D991-0D9A-C617D9177E9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李明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C38A44-1E22-EBE6-53CC-EEE81E30208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王芳、王菲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9E773A-F5AE-7076-E43C-BC9A28220DE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王菲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5F153C-3AA3-8A8D-1251-C13C6E4E2BE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李明、王芳、王菲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FF9B0BF-BD14-5E8F-2B18-0A01FC1C9DD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DB7E5FE-25F6-F6BA-1D3E-8B4B3D7996C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011F6E9-3B88-46CE-8413-68FE0EB3AD0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06F92AC-B0EF-3992-E14F-0A71E7A6E24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1B258DA-3F1D-985F-5077-A4BFFB78744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CE2E51E-65EE-8DEA-A887-D16847401F3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3B7C8F6-7F7B-5138-A8CC-85752C77A17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74D0EA70-D77C-8DFC-B280-48B25A3E618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F7F78D12-1386-5CB3-1D74-87E374E961B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C0DB80B5-C5DB-D422-38D4-06AB98B619B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61319960-64B6-F497-3AC2-69D8678C1E7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5395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3E71880-FA20-F194-D730-F5627E09FF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命题“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5+6=11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”的个体为（    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1C60FD-A908-61EF-5A6C-66E457AE54D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EFDB2A-FE59-9627-E72F-C0778969EA2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F71408-CCF3-ACC6-B254-6EFC0E60D9C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1BA4DD-77A5-5279-E423-A2CD23DB65C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B00BE46-0EB0-DB7D-99DF-82B85020836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57CAED1-1754-19BB-63B9-A3ECBC36BD2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3395F21-5986-CEAF-95DE-2871095197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BDE9DDF-B60B-97EF-DBD7-165D3CA37EB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C45BA8B-2520-A31B-DEED-EE3C0FC1FDF4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7A10625-8204-F41A-741A-488BBAE2F9F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F29A067F-67F2-2BF3-7880-3FF36156922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64541391-3CD8-3240-E54F-06F6DF8ABE8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DE582655-B785-87BF-CAE7-BD9EA33F5B4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93BE3A8A-E321-73A5-25E9-634A63A5C1C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A37BC5D-73D3-ED92-ACAA-FF347F67223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698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88039516-B80D-F75C-E500-3719C7CB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作  业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A75A51C8-E2AA-132B-7FDE-B8E00B803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 </a:t>
            </a:r>
            <a:r>
              <a:rPr lang="zh-CN" altLang="en-US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翻译下列命题</a:t>
            </a:r>
            <a:endParaRPr lang="en-US" altLang="zh-CN" sz="3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）上海不是中国的最大城市</a:t>
            </a:r>
            <a:endParaRPr lang="en-US" altLang="zh-CN" sz="3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3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）外星人曾访问过地球且今天是雨天</a:t>
            </a:r>
          </a:p>
          <a:p>
            <a:pPr marL="0" indent="0">
              <a:lnSpc>
                <a:spcPct val="300000"/>
              </a:lnSpc>
              <a:buNone/>
            </a:pP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2539692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7C51AD-71F4-EC17-F90A-0525FD778C1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2060848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翻译命题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）如果王芳和王菲是朋友，那么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2+5=6.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）王菲是优秀共产党员或三好学生。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4E2C29C-71C2-67A0-45AA-2DFC0C5AE42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46C825D-00B3-D083-DA12-6A2B5BEB35FF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C8CA3B49-DE9F-14AE-1F07-C4C4E7CA300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21C0F57C-9497-DA15-17E0-73FEF8ADF61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93F6A6F8-145B-275E-6D86-780E4DB51187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D22CCE7E-48A1-02EF-D5BA-BA7E80591A7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100F1BE-3012-E782-BC67-04574867A107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02811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1785</TotalTime>
  <Words>704</Words>
  <Application>Microsoft Office PowerPoint</Application>
  <PresentationFormat>全屏显示(4:3)</PresentationFormat>
  <Paragraphs>114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Arial</vt:lpstr>
      <vt:lpstr>Tahoma</vt:lpstr>
      <vt:lpstr>Wingdings</vt:lpstr>
      <vt:lpstr>Blends</vt:lpstr>
      <vt:lpstr>第2章   谓词逻辑</vt:lpstr>
      <vt:lpstr>第2章   谓词逻辑</vt:lpstr>
      <vt:lpstr>2.1 个体与谓词</vt:lpstr>
      <vt:lpstr>2.1 个体与谓词</vt:lpstr>
      <vt:lpstr>2.1 个体与谓词</vt:lpstr>
      <vt:lpstr>2.1 个体与谓词</vt:lpstr>
      <vt:lpstr>2.1 个体与谓词</vt:lpstr>
      <vt:lpstr>2.1 个体与谓词</vt:lpstr>
      <vt:lpstr>2.1 个体与谓词</vt:lpstr>
      <vt:lpstr>PowerPoint 演示文稿</vt:lpstr>
      <vt:lpstr>PowerPoint 演示文稿</vt:lpstr>
      <vt:lpstr>作 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45</cp:revision>
  <dcterms:created xsi:type="dcterms:W3CDTF">2010-04-09T13:44:14Z</dcterms:created>
  <dcterms:modified xsi:type="dcterms:W3CDTF">2023-10-06T11:11:16Z</dcterms:modified>
</cp:coreProperties>
</file>