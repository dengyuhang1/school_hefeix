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61" r:id="rId2"/>
    <p:sldId id="411" r:id="rId3"/>
    <p:sldId id="412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422" r:id="rId12"/>
    <p:sldId id="423" r:id="rId13"/>
    <p:sldId id="424" r:id="rId14"/>
    <p:sldId id="425" r:id="rId15"/>
    <p:sldId id="426" r:id="rId16"/>
    <p:sldId id="428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FF0066"/>
    <a:srgbClr val="0000FF"/>
    <a:srgbClr val="339933"/>
    <a:srgbClr val="CC0066"/>
    <a:srgbClr val="0066FF"/>
    <a:srgbClr val="FF00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3037C2-4E57-B712-8B72-93DF90DE308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36037BF-0B1E-C809-1D30-1FEA4E5C4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00934C8-A9AA-77FA-729A-636093D85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D96B6FC-F7FE-D178-536D-CE71339B4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7AF458E0-2AA8-765E-B198-4B86B95B9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936A187-F80F-6E9C-73E4-6B5E96D09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AC85470-013C-B3C4-EFF3-4A7D0B480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8036BE1-64E6-CEB0-3554-AB955C19B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B4981D7-1B5E-BCF9-05D5-FAA4D63FB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89C138C0-45FA-E555-D5AD-18B9FDF345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3D20EA5-7E08-9E75-1B02-DBEA1A501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0310159-5A8C-D743-317C-9AAA5319C6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907D835-F434-9126-FEE7-A196F0FD91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12B88F6-DA19-4527-B104-208F54F899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41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0BD6E29-8027-B74F-A11D-7616B92DA7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3F30D7-99BB-96A2-64CC-D91A4A540E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2E24B32-F401-43E8-D814-152D18A7C1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1E4C8-61A3-4D63-85A6-8DD39D5F89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0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9442E91-E686-5C26-2858-40B7E77681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5AE3386-7BE5-1045-D42A-07E86DCD6E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B964178-A212-7934-490D-BCA8D601A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F09C73-ECC4-4880-BF70-D4D41EACC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96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D738790-637B-8C08-5CA8-262ADE3B0E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EDE9CCD-8728-EAF7-E8FD-432051B0A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7B7D396-3961-5498-865C-7BCE3D5347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33F9C-DDE5-421A-AA80-F5DBE64501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12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C8CA2E2-8ED2-7B78-3D7F-064B8071C3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D43C39D-7DE3-1A61-D59A-C595C36D6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4FDE3AE-715F-D923-1E8A-B73373BE37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92BC6-16D8-4FD0-9AB2-CF18E2248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39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4C642A7-9F38-D933-2259-93C877260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9B50A99-5B03-7BEE-50E4-790F7ACCB5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C274E11-FF5A-E795-F953-282923A36F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19E0D-ABCA-4986-ABC2-2E87DE97F3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782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A00A42E-9BD4-F801-00F3-72CE097D96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C173A89-598C-2D9A-D9D3-30B80CAB2C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699DAB0-1C3B-5DC7-90D2-9A4D64E9B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9E7F9-B750-4100-8A04-5FF67F01F2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6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FA8816C-5D10-095F-450A-352F620E7D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EBAFA57-3BC3-53EE-424E-473F5A75C8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5618EF0-713F-5476-A044-0E52B394AF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A895B-7543-42EB-90D5-3F8929F9BE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72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F1D19A1-C16A-E12B-4E86-189C0351AE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1CA6263-1291-A017-52DC-7ACBE70DCD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B59550E-6696-780B-0E8D-5D515BEA5D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0099D-1449-4751-9A8C-130A47DE49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509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7AE9537-2E14-F86F-0480-F82CDC37E4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743E33C-F14C-E2C5-198C-2D67AB2EF6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1701D40-3BAC-6ADB-F04B-AC1ED4E14F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1C5C7-8214-49A8-8E0C-ECD6FD3650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18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0D4D115-3330-549C-97C8-3E3EA5B35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50FE110-5240-19FE-35E4-71FD205336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E3DE38B-1F33-D65C-4D22-5C34E1259A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08EC0-B81C-41A3-BDF5-8E0E474274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7984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56CFDD3-0760-4E9E-7300-3A00D23839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15027A0-C644-2040-9B64-0CEB317E88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E7A3BBC-5C03-6FB8-2308-D74B24932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73705-2E6A-4051-8DBB-519A4C9BBA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61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53AA3C-A0A0-E464-04A8-E39A1DAAC3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73D565-6AB0-A438-ECE8-FED05A40AB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225515-9184-97AD-AE97-E2F7440DC1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F109F8-E882-FB78-4F92-5F64C9A388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68489C5-5B67-B626-EB84-C4FA0329F1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4CD1154-539A-233B-0919-5EDDCD3AA5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71F1156-30C1-7226-5E4F-5DCECE007C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CF0F41C1-DA3C-D9C6-2C6C-D71FFA89B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7C474F5B-F383-9D91-CF91-A9F2FA9E5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4A2B0655-A6E8-2230-787C-3B9769524D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FDB9AC8-D5A7-B5ED-BCDC-DEA91461FA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1D7D774D-8731-D2ED-6A0F-481B478B9E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AD7686C4-9FBB-498C-95F9-BEC1A3F6EB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C3D86F0-6585-F3F5-12F4-FFBEA5784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8.1 </a:t>
            </a:r>
            <a:r>
              <a:rPr lang="zh-CN" altLang="en-US" sz="5400"/>
              <a:t>欧拉图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0C5FA8B-DD87-BE7F-8915-2A6982B1F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6815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8.1.1 </a:t>
            </a:r>
            <a:r>
              <a:rPr lang="zh-CN" altLang="en-US" sz="4400" b="1"/>
              <a:t>问题的提出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8.1.2 </a:t>
            </a:r>
            <a:r>
              <a:rPr lang="zh-CN" altLang="en-US" sz="4400" b="1"/>
              <a:t>欧拉图的概念</a:t>
            </a:r>
            <a:r>
              <a:rPr lang="zh-CN" altLang="en-US" sz="44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8.1.3 Fleury</a:t>
            </a:r>
            <a:r>
              <a:rPr lang="zh-CN" altLang="en-US" sz="4400" b="1"/>
              <a:t>算法</a:t>
            </a:r>
            <a:endParaRPr lang="en-US" altLang="zh-CN" sz="4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/>
              <a:t>8.1.4 </a:t>
            </a:r>
            <a:r>
              <a:rPr lang="zh-CN" altLang="en-US" sz="4400" b="1"/>
              <a:t>中国邮路问题</a:t>
            </a:r>
            <a:endParaRPr lang="en-US" altLang="zh-CN" sz="4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endParaRPr lang="zh-CN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A72DBFDD-B3DE-A6C9-E595-18E3DB1DE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8.1.1 </a:t>
            </a:r>
            <a:r>
              <a:rPr lang="zh-CN" altLang="en-US" b="1"/>
              <a:t>问题的提出</a:t>
            </a:r>
            <a:r>
              <a:rPr lang="zh-CN" altLang="en-US"/>
              <a:t> </a:t>
            </a:r>
          </a:p>
        </p:txBody>
      </p:sp>
      <p:sp>
        <p:nvSpPr>
          <p:cNvPr id="4099" name="内容占位符 2">
            <a:extLst>
              <a:ext uri="{FF2B5EF4-FFF2-40B4-BE49-F238E27FC236}">
                <a16:creationId xmlns:a16="http://schemas.microsoft.com/office/drawing/2014/main" id="{3F847480-BA8A-1E7D-78E1-D5229207DF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773238"/>
            <a:ext cx="8893175" cy="50847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七桥问题  </a:t>
            </a:r>
            <a:r>
              <a:rPr lang="zh-CN" altLang="zh-CN"/>
              <a:t>欧拉</a:t>
            </a:r>
            <a:r>
              <a:rPr lang="en-US" altLang="zh-CN"/>
              <a:t>(Euler,1707-1783)  1736</a:t>
            </a:r>
            <a:r>
              <a:rPr lang="zh-CN" altLang="zh-CN"/>
              <a:t>年</a:t>
            </a:r>
            <a:endParaRPr lang="zh-CN" altLang="en-US"/>
          </a:p>
        </p:txBody>
      </p:sp>
      <p:sp>
        <p:nvSpPr>
          <p:cNvPr id="4100" name="Rectangle 33">
            <a:extLst>
              <a:ext uri="{FF2B5EF4-FFF2-40B4-BE49-F238E27FC236}">
                <a16:creationId xmlns:a16="http://schemas.microsoft.com/office/drawing/2014/main" id="{FD31E799-2B10-A764-4376-A387E9E53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4101" name="Group 1">
            <a:extLst>
              <a:ext uri="{FF2B5EF4-FFF2-40B4-BE49-F238E27FC236}">
                <a16:creationId xmlns:a16="http://schemas.microsoft.com/office/drawing/2014/main" id="{74D646B6-0161-C171-430A-39629101173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0825" y="2708275"/>
            <a:ext cx="9288463" cy="3984625"/>
            <a:chOff x="2347" y="7767"/>
            <a:chExt cx="8707" cy="3734"/>
          </a:xfrm>
        </p:grpSpPr>
        <p:sp>
          <p:nvSpPr>
            <p:cNvPr id="4102" name="AutoShape 32">
              <a:extLst>
                <a:ext uri="{FF2B5EF4-FFF2-40B4-BE49-F238E27FC236}">
                  <a16:creationId xmlns:a16="http://schemas.microsoft.com/office/drawing/2014/main" id="{3A79F706-7BD7-F656-8908-6F0D7C215A1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47" y="7767"/>
              <a:ext cx="8610" cy="3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" name="Text Box 31">
              <a:extLst>
                <a:ext uri="{FF2B5EF4-FFF2-40B4-BE49-F238E27FC236}">
                  <a16:creationId xmlns:a16="http://schemas.microsoft.com/office/drawing/2014/main" id="{BC43383A-042F-E8DF-F988-A7CEC25A9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0" y="782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4104" name="Text Box 30">
              <a:extLst>
                <a:ext uri="{FF2B5EF4-FFF2-40B4-BE49-F238E27FC236}">
                  <a16:creationId xmlns:a16="http://schemas.microsoft.com/office/drawing/2014/main" id="{57DA2F88-4C06-E9EB-D4B2-136D993D2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12" y="90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4105" name="Text Box 29">
              <a:extLst>
                <a:ext uri="{FF2B5EF4-FFF2-40B4-BE49-F238E27FC236}">
                  <a16:creationId xmlns:a16="http://schemas.microsoft.com/office/drawing/2014/main" id="{6B05E2A8-918C-F3B7-9F89-55B6DA2AF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3" y="90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4106" name="Text Box 28">
              <a:extLst>
                <a:ext uri="{FF2B5EF4-FFF2-40B4-BE49-F238E27FC236}">
                  <a16:creationId xmlns:a16="http://schemas.microsoft.com/office/drawing/2014/main" id="{CCE2B0B0-FD57-A228-0DFC-13A273B61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3" y="1066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4107" name="Oval 27">
              <a:extLst>
                <a:ext uri="{FF2B5EF4-FFF2-40B4-BE49-F238E27FC236}">
                  <a16:creationId xmlns:a16="http://schemas.microsoft.com/office/drawing/2014/main" id="{B81263E6-7F7D-4835-7F69-C7B387F73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9045"/>
              <a:ext cx="1439" cy="10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08" name="Oval 26">
              <a:extLst>
                <a:ext uri="{FF2B5EF4-FFF2-40B4-BE49-F238E27FC236}">
                  <a16:creationId xmlns:a16="http://schemas.microsoft.com/office/drawing/2014/main" id="{FE412C9F-2674-D06D-9402-E2707CEC2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" y="9150"/>
              <a:ext cx="1110" cy="8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09" name="Freeform 25">
              <a:extLst>
                <a:ext uri="{FF2B5EF4-FFF2-40B4-BE49-F238E27FC236}">
                  <a16:creationId xmlns:a16="http://schemas.microsoft.com/office/drawing/2014/main" id="{35FE4941-5E6F-9220-C736-0E8904317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8041"/>
              <a:ext cx="4620" cy="590"/>
            </a:xfrm>
            <a:custGeom>
              <a:avLst/>
              <a:gdLst>
                <a:gd name="T0" fmla="*/ 0 w 4620"/>
                <a:gd name="T1" fmla="*/ 0 h 590"/>
                <a:gd name="T2" fmla="*/ 135 w 4620"/>
                <a:gd name="T3" fmla="*/ 90 h 590"/>
                <a:gd name="T4" fmla="*/ 225 w 4620"/>
                <a:gd name="T5" fmla="*/ 150 h 590"/>
                <a:gd name="T6" fmla="*/ 270 w 4620"/>
                <a:gd name="T7" fmla="*/ 195 h 590"/>
                <a:gd name="T8" fmla="*/ 360 w 4620"/>
                <a:gd name="T9" fmla="*/ 225 h 590"/>
                <a:gd name="T10" fmla="*/ 570 w 4620"/>
                <a:gd name="T11" fmla="*/ 315 h 590"/>
                <a:gd name="T12" fmla="*/ 1095 w 4620"/>
                <a:gd name="T13" fmla="*/ 330 h 590"/>
                <a:gd name="T14" fmla="*/ 1410 w 4620"/>
                <a:gd name="T15" fmla="*/ 435 h 590"/>
                <a:gd name="T16" fmla="*/ 1650 w 4620"/>
                <a:gd name="T17" fmla="*/ 465 h 590"/>
                <a:gd name="T18" fmla="*/ 2115 w 4620"/>
                <a:gd name="T19" fmla="*/ 510 h 590"/>
                <a:gd name="T20" fmla="*/ 3015 w 4620"/>
                <a:gd name="T21" fmla="*/ 420 h 590"/>
                <a:gd name="T22" fmla="*/ 3375 w 4620"/>
                <a:gd name="T23" fmla="*/ 405 h 590"/>
                <a:gd name="T24" fmla="*/ 4170 w 4620"/>
                <a:gd name="T25" fmla="*/ 375 h 590"/>
                <a:gd name="T26" fmla="*/ 4350 w 4620"/>
                <a:gd name="T27" fmla="*/ 315 h 590"/>
                <a:gd name="T28" fmla="*/ 4560 w 4620"/>
                <a:gd name="T29" fmla="*/ 300 h 590"/>
                <a:gd name="T30" fmla="*/ 4620 w 4620"/>
                <a:gd name="T31" fmla="*/ 285 h 59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20" h="590">
                  <a:moveTo>
                    <a:pt x="0" y="0"/>
                  </a:moveTo>
                  <a:cubicBezTo>
                    <a:pt x="62" y="21"/>
                    <a:pt x="84" y="51"/>
                    <a:pt x="135" y="90"/>
                  </a:cubicBezTo>
                  <a:cubicBezTo>
                    <a:pt x="163" y="112"/>
                    <a:pt x="200" y="125"/>
                    <a:pt x="225" y="150"/>
                  </a:cubicBezTo>
                  <a:cubicBezTo>
                    <a:pt x="240" y="165"/>
                    <a:pt x="251" y="185"/>
                    <a:pt x="270" y="195"/>
                  </a:cubicBezTo>
                  <a:cubicBezTo>
                    <a:pt x="298" y="210"/>
                    <a:pt x="330" y="215"/>
                    <a:pt x="360" y="225"/>
                  </a:cubicBezTo>
                  <a:cubicBezTo>
                    <a:pt x="436" y="250"/>
                    <a:pt x="484" y="311"/>
                    <a:pt x="570" y="315"/>
                  </a:cubicBezTo>
                  <a:cubicBezTo>
                    <a:pt x="745" y="324"/>
                    <a:pt x="920" y="325"/>
                    <a:pt x="1095" y="330"/>
                  </a:cubicBezTo>
                  <a:cubicBezTo>
                    <a:pt x="1200" y="365"/>
                    <a:pt x="1305" y="400"/>
                    <a:pt x="1410" y="435"/>
                  </a:cubicBezTo>
                  <a:cubicBezTo>
                    <a:pt x="1468" y="454"/>
                    <a:pt x="1613" y="462"/>
                    <a:pt x="1650" y="465"/>
                  </a:cubicBezTo>
                  <a:cubicBezTo>
                    <a:pt x="1801" y="503"/>
                    <a:pt x="2115" y="510"/>
                    <a:pt x="2115" y="510"/>
                  </a:cubicBezTo>
                  <a:cubicBezTo>
                    <a:pt x="2437" y="590"/>
                    <a:pt x="2709" y="454"/>
                    <a:pt x="3015" y="420"/>
                  </a:cubicBezTo>
                  <a:cubicBezTo>
                    <a:pt x="3142" y="378"/>
                    <a:pt x="3238" y="395"/>
                    <a:pt x="3375" y="405"/>
                  </a:cubicBezTo>
                  <a:cubicBezTo>
                    <a:pt x="3385" y="405"/>
                    <a:pt x="4073" y="386"/>
                    <a:pt x="4170" y="375"/>
                  </a:cubicBezTo>
                  <a:cubicBezTo>
                    <a:pt x="4223" y="369"/>
                    <a:pt x="4297" y="333"/>
                    <a:pt x="4350" y="315"/>
                  </a:cubicBezTo>
                  <a:cubicBezTo>
                    <a:pt x="4417" y="293"/>
                    <a:pt x="4490" y="305"/>
                    <a:pt x="4560" y="300"/>
                  </a:cubicBezTo>
                  <a:cubicBezTo>
                    <a:pt x="4610" y="283"/>
                    <a:pt x="4589" y="285"/>
                    <a:pt x="4620" y="2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110" name="AutoShape 24">
              <a:extLst>
                <a:ext uri="{FF2B5EF4-FFF2-40B4-BE49-F238E27FC236}">
                  <a16:creationId xmlns:a16="http://schemas.microsoft.com/office/drawing/2014/main" id="{08A0B3E4-11CE-F967-8645-4E363FF5A7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213" y="8551"/>
              <a:ext cx="257" cy="6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1" name="AutoShape 23">
              <a:extLst>
                <a:ext uri="{FF2B5EF4-FFF2-40B4-BE49-F238E27FC236}">
                  <a16:creationId xmlns:a16="http://schemas.microsoft.com/office/drawing/2014/main" id="{81628870-1DA3-F4C8-6FA7-B0826F0D27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25" y="8356"/>
              <a:ext cx="780" cy="68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2" name="AutoShape 22">
              <a:extLst>
                <a:ext uri="{FF2B5EF4-FFF2-40B4-BE49-F238E27FC236}">
                  <a16:creationId xmlns:a16="http://schemas.microsoft.com/office/drawing/2014/main" id="{6F005918-4792-FC75-C9E6-2E3FE07138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24" y="9555"/>
              <a:ext cx="901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3" name="AutoShape 21">
              <a:extLst>
                <a:ext uri="{FF2B5EF4-FFF2-40B4-BE49-F238E27FC236}">
                  <a16:creationId xmlns:a16="http://schemas.microsoft.com/office/drawing/2014/main" id="{C30C101E-F20F-2989-E8B1-FAA3D67347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90" y="10065"/>
              <a:ext cx="31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4" name="AutoShape 20">
              <a:extLst>
                <a:ext uri="{FF2B5EF4-FFF2-40B4-BE49-F238E27FC236}">
                  <a16:creationId xmlns:a16="http://schemas.microsoft.com/office/drawing/2014/main" id="{5B94CD3C-33AB-1AC9-BEC5-920A961122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13" y="9916"/>
              <a:ext cx="152" cy="9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5" name="AutoShape 19">
              <a:extLst>
                <a:ext uri="{FF2B5EF4-FFF2-40B4-BE49-F238E27FC236}">
                  <a16:creationId xmlns:a16="http://schemas.microsoft.com/office/drawing/2014/main" id="{51EFCC07-34ED-8C16-0534-420A7BBE5C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0" y="10020"/>
              <a:ext cx="105" cy="7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16" name="AutoShape 18">
              <a:extLst>
                <a:ext uri="{FF2B5EF4-FFF2-40B4-BE49-F238E27FC236}">
                  <a16:creationId xmlns:a16="http://schemas.microsoft.com/office/drawing/2014/main" id="{639D8A0D-154F-5A8F-1D7B-DF02A5FBB5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30" y="8446"/>
              <a:ext cx="150" cy="7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7" name="Freeform 17">
              <a:extLst>
                <a:ext uri="{FF2B5EF4-FFF2-40B4-BE49-F238E27FC236}">
                  <a16:creationId xmlns:a16="http://schemas.microsoft.com/office/drawing/2014/main" id="{DC8098AC-DD59-6CD6-21B4-4E4EC1169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10741"/>
              <a:ext cx="4594" cy="375"/>
            </a:xfrm>
            <a:custGeom>
              <a:avLst/>
              <a:gdLst>
                <a:gd name="T0" fmla="*/ 0 w 4594"/>
                <a:gd name="T1" fmla="*/ 240 h 375"/>
                <a:gd name="T2" fmla="*/ 255 w 4594"/>
                <a:gd name="T3" fmla="*/ 150 h 375"/>
                <a:gd name="T4" fmla="*/ 525 w 4594"/>
                <a:gd name="T5" fmla="*/ 75 h 375"/>
                <a:gd name="T6" fmla="*/ 840 w 4594"/>
                <a:gd name="T7" fmla="*/ 60 h 375"/>
                <a:gd name="T8" fmla="*/ 1755 w 4594"/>
                <a:gd name="T9" fmla="*/ 75 h 375"/>
                <a:gd name="T10" fmla="*/ 1845 w 4594"/>
                <a:gd name="T11" fmla="*/ 30 h 375"/>
                <a:gd name="T12" fmla="*/ 1980 w 4594"/>
                <a:gd name="T13" fmla="*/ 0 h 375"/>
                <a:gd name="T14" fmla="*/ 2745 w 4594"/>
                <a:gd name="T15" fmla="*/ 60 h 375"/>
                <a:gd name="T16" fmla="*/ 3375 w 4594"/>
                <a:gd name="T17" fmla="*/ 45 h 375"/>
                <a:gd name="T18" fmla="*/ 3585 w 4594"/>
                <a:gd name="T19" fmla="*/ 60 h 375"/>
                <a:gd name="T20" fmla="*/ 3630 w 4594"/>
                <a:gd name="T21" fmla="*/ 75 h 375"/>
                <a:gd name="T22" fmla="*/ 4050 w 4594"/>
                <a:gd name="T23" fmla="*/ 135 h 375"/>
                <a:gd name="T24" fmla="*/ 4320 w 4594"/>
                <a:gd name="T25" fmla="*/ 255 h 375"/>
                <a:gd name="T26" fmla="*/ 4545 w 4594"/>
                <a:gd name="T27" fmla="*/ 330 h 375"/>
                <a:gd name="T28" fmla="*/ 4590 w 4594"/>
                <a:gd name="T29" fmla="*/ 375 h 3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594" h="375">
                  <a:moveTo>
                    <a:pt x="0" y="240"/>
                  </a:moveTo>
                  <a:cubicBezTo>
                    <a:pt x="81" y="200"/>
                    <a:pt x="169" y="179"/>
                    <a:pt x="255" y="150"/>
                  </a:cubicBezTo>
                  <a:cubicBezTo>
                    <a:pt x="341" y="121"/>
                    <a:pt x="434" y="82"/>
                    <a:pt x="525" y="75"/>
                  </a:cubicBezTo>
                  <a:cubicBezTo>
                    <a:pt x="630" y="67"/>
                    <a:pt x="735" y="65"/>
                    <a:pt x="840" y="60"/>
                  </a:cubicBezTo>
                  <a:cubicBezTo>
                    <a:pt x="1151" y="72"/>
                    <a:pt x="1445" y="90"/>
                    <a:pt x="1755" y="75"/>
                  </a:cubicBezTo>
                  <a:cubicBezTo>
                    <a:pt x="1868" y="37"/>
                    <a:pt x="1729" y="88"/>
                    <a:pt x="1845" y="30"/>
                  </a:cubicBezTo>
                  <a:cubicBezTo>
                    <a:pt x="1882" y="12"/>
                    <a:pt x="1945" y="6"/>
                    <a:pt x="1980" y="0"/>
                  </a:cubicBezTo>
                  <a:cubicBezTo>
                    <a:pt x="2236" y="20"/>
                    <a:pt x="2488" y="48"/>
                    <a:pt x="2745" y="60"/>
                  </a:cubicBezTo>
                  <a:cubicBezTo>
                    <a:pt x="2945" y="127"/>
                    <a:pt x="3169" y="71"/>
                    <a:pt x="3375" y="45"/>
                  </a:cubicBezTo>
                  <a:cubicBezTo>
                    <a:pt x="3445" y="50"/>
                    <a:pt x="3515" y="52"/>
                    <a:pt x="3585" y="60"/>
                  </a:cubicBezTo>
                  <a:cubicBezTo>
                    <a:pt x="3601" y="62"/>
                    <a:pt x="3614" y="73"/>
                    <a:pt x="3630" y="75"/>
                  </a:cubicBezTo>
                  <a:cubicBezTo>
                    <a:pt x="3770" y="95"/>
                    <a:pt x="3912" y="101"/>
                    <a:pt x="4050" y="135"/>
                  </a:cubicBezTo>
                  <a:cubicBezTo>
                    <a:pt x="4154" y="161"/>
                    <a:pt x="4225" y="213"/>
                    <a:pt x="4320" y="255"/>
                  </a:cubicBezTo>
                  <a:cubicBezTo>
                    <a:pt x="4390" y="286"/>
                    <a:pt x="4472" y="306"/>
                    <a:pt x="4545" y="330"/>
                  </a:cubicBezTo>
                  <a:cubicBezTo>
                    <a:pt x="4594" y="346"/>
                    <a:pt x="4590" y="347"/>
                    <a:pt x="4590" y="37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Oval 16">
              <a:extLst>
                <a:ext uri="{FF2B5EF4-FFF2-40B4-BE49-F238E27FC236}">
                  <a16:creationId xmlns:a16="http://schemas.microsoft.com/office/drawing/2014/main" id="{9EAA4DA4-400A-86F4-0DD6-A4D72FC8D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" y="10485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19" name="Oval 15">
              <a:extLst>
                <a:ext uri="{FF2B5EF4-FFF2-40B4-BE49-F238E27FC236}">
                  <a16:creationId xmlns:a16="http://schemas.microsoft.com/office/drawing/2014/main" id="{99F3625C-67DA-2F51-2A87-B8417C74A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" y="8100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20" name="Oval 14">
              <a:extLst>
                <a:ext uri="{FF2B5EF4-FFF2-40B4-BE49-F238E27FC236}">
                  <a16:creationId xmlns:a16="http://schemas.microsoft.com/office/drawing/2014/main" id="{2AEE8D3A-45BA-2D86-17BB-70216FDCA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7" y="932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21" name="Oval 13">
              <a:extLst>
                <a:ext uri="{FF2B5EF4-FFF2-40B4-BE49-F238E27FC236}">
                  <a16:creationId xmlns:a16="http://schemas.microsoft.com/office/drawing/2014/main" id="{8968DF44-8EB8-6CB6-38BC-0B0D5B3BB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0" y="929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4122" name="AutoShape 12">
              <a:extLst>
                <a:ext uri="{FF2B5EF4-FFF2-40B4-BE49-F238E27FC236}">
                  <a16:creationId xmlns:a16="http://schemas.microsoft.com/office/drawing/2014/main" id="{AAE4E0CC-A7CC-D184-B36A-809983837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578" y="8319"/>
              <a:ext cx="509" cy="10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23" name="AutoShape 11">
              <a:extLst>
                <a:ext uri="{FF2B5EF4-FFF2-40B4-BE49-F238E27FC236}">
                  <a16:creationId xmlns:a16="http://schemas.microsoft.com/office/drawing/2014/main" id="{D95E7F96-B99A-011A-47D8-9F2CD7A1F0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8" y="9555"/>
              <a:ext cx="599" cy="9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24" name="AutoShape 10">
              <a:extLst>
                <a:ext uri="{FF2B5EF4-FFF2-40B4-BE49-F238E27FC236}">
                  <a16:creationId xmlns:a16="http://schemas.microsoft.com/office/drawing/2014/main" id="{5D152E23-B99D-ECB7-A489-467C0E403D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15" y="9427"/>
              <a:ext cx="1412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25" name="AutoShape 9">
              <a:extLst>
                <a:ext uri="{FF2B5EF4-FFF2-40B4-BE49-F238E27FC236}">
                  <a16:creationId xmlns:a16="http://schemas.microsoft.com/office/drawing/2014/main" id="{E8E9D44F-A1C9-316E-BBB2-0DD196E9B3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68" y="8319"/>
              <a:ext cx="887" cy="10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26" name="AutoShape 8">
              <a:extLst>
                <a:ext uri="{FF2B5EF4-FFF2-40B4-BE49-F238E27FC236}">
                  <a16:creationId xmlns:a16="http://schemas.microsoft.com/office/drawing/2014/main" id="{3D712DB0-7FAD-A17B-1A60-EFC66694D9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268" y="9585"/>
              <a:ext cx="887" cy="9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27" name="Freeform 7">
              <a:extLst>
                <a:ext uri="{FF2B5EF4-FFF2-40B4-BE49-F238E27FC236}">
                  <a16:creationId xmlns:a16="http://schemas.microsoft.com/office/drawing/2014/main" id="{953D7C6C-6E60-F88C-C321-D617CC105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9" y="8281"/>
              <a:ext cx="711" cy="1021"/>
            </a:xfrm>
            <a:custGeom>
              <a:avLst/>
              <a:gdLst>
                <a:gd name="T0" fmla="*/ 711 w 711"/>
                <a:gd name="T1" fmla="*/ 0 h 1021"/>
                <a:gd name="T2" fmla="*/ 321 w 711"/>
                <a:gd name="T3" fmla="*/ 180 h 1021"/>
                <a:gd name="T4" fmla="*/ 276 w 711"/>
                <a:gd name="T5" fmla="*/ 225 h 1021"/>
                <a:gd name="T6" fmla="*/ 186 w 711"/>
                <a:gd name="T7" fmla="*/ 285 h 1021"/>
                <a:gd name="T8" fmla="*/ 96 w 711"/>
                <a:gd name="T9" fmla="*/ 405 h 1021"/>
                <a:gd name="T10" fmla="*/ 36 w 711"/>
                <a:gd name="T11" fmla="*/ 615 h 1021"/>
                <a:gd name="T12" fmla="*/ 36 w 711"/>
                <a:gd name="T13" fmla="*/ 840 h 1021"/>
                <a:gd name="T14" fmla="*/ 66 w 711"/>
                <a:gd name="T15" fmla="*/ 885 h 1021"/>
                <a:gd name="T16" fmla="*/ 96 w 711"/>
                <a:gd name="T17" fmla="*/ 975 h 1021"/>
                <a:gd name="T18" fmla="*/ 111 w 711"/>
                <a:gd name="T19" fmla="*/ 1020 h 1021"/>
                <a:gd name="T20" fmla="*/ 156 w 711"/>
                <a:gd name="T21" fmla="*/ 990 h 10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11" h="1021">
                  <a:moveTo>
                    <a:pt x="711" y="0"/>
                  </a:moveTo>
                  <a:cubicBezTo>
                    <a:pt x="571" y="28"/>
                    <a:pt x="439" y="101"/>
                    <a:pt x="321" y="180"/>
                  </a:cubicBezTo>
                  <a:cubicBezTo>
                    <a:pt x="303" y="192"/>
                    <a:pt x="293" y="212"/>
                    <a:pt x="276" y="225"/>
                  </a:cubicBezTo>
                  <a:cubicBezTo>
                    <a:pt x="248" y="247"/>
                    <a:pt x="186" y="285"/>
                    <a:pt x="186" y="285"/>
                  </a:cubicBezTo>
                  <a:cubicBezTo>
                    <a:pt x="160" y="363"/>
                    <a:pt x="127" y="335"/>
                    <a:pt x="96" y="405"/>
                  </a:cubicBezTo>
                  <a:cubicBezTo>
                    <a:pt x="66" y="473"/>
                    <a:pt x="59" y="545"/>
                    <a:pt x="36" y="615"/>
                  </a:cubicBezTo>
                  <a:cubicBezTo>
                    <a:pt x="29" y="700"/>
                    <a:pt x="0" y="767"/>
                    <a:pt x="36" y="840"/>
                  </a:cubicBezTo>
                  <a:cubicBezTo>
                    <a:pt x="44" y="856"/>
                    <a:pt x="59" y="869"/>
                    <a:pt x="66" y="885"/>
                  </a:cubicBezTo>
                  <a:cubicBezTo>
                    <a:pt x="79" y="914"/>
                    <a:pt x="86" y="945"/>
                    <a:pt x="96" y="975"/>
                  </a:cubicBezTo>
                  <a:cubicBezTo>
                    <a:pt x="101" y="990"/>
                    <a:pt x="111" y="1020"/>
                    <a:pt x="111" y="1020"/>
                  </a:cubicBezTo>
                  <a:cubicBezTo>
                    <a:pt x="161" y="1003"/>
                    <a:pt x="156" y="1021"/>
                    <a:pt x="156" y="9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8" name="Freeform 6">
              <a:extLst>
                <a:ext uri="{FF2B5EF4-FFF2-40B4-BE49-F238E27FC236}">
                  <a16:creationId xmlns:a16="http://schemas.microsoft.com/office/drawing/2014/main" id="{65FA0DB4-2D97-746B-5EDA-AEE360065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5" y="9556"/>
              <a:ext cx="660" cy="1096"/>
            </a:xfrm>
            <a:custGeom>
              <a:avLst/>
              <a:gdLst>
                <a:gd name="T0" fmla="*/ 75 w 660"/>
                <a:gd name="T1" fmla="*/ 0 h 1096"/>
                <a:gd name="T2" fmla="*/ 15 w 660"/>
                <a:gd name="T3" fmla="*/ 135 h 1096"/>
                <a:gd name="T4" fmla="*/ 0 w 660"/>
                <a:gd name="T5" fmla="*/ 180 h 1096"/>
                <a:gd name="T6" fmla="*/ 15 w 660"/>
                <a:gd name="T7" fmla="*/ 585 h 1096"/>
                <a:gd name="T8" fmla="*/ 120 w 660"/>
                <a:gd name="T9" fmla="*/ 810 h 1096"/>
                <a:gd name="T10" fmla="*/ 180 w 660"/>
                <a:gd name="T11" fmla="*/ 945 h 1096"/>
                <a:gd name="T12" fmla="*/ 225 w 660"/>
                <a:gd name="T13" fmla="*/ 960 h 1096"/>
                <a:gd name="T14" fmla="*/ 660 w 660"/>
                <a:gd name="T15" fmla="*/ 1050 h 10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0" h="1096">
                  <a:moveTo>
                    <a:pt x="75" y="0"/>
                  </a:moveTo>
                  <a:cubicBezTo>
                    <a:pt x="27" y="71"/>
                    <a:pt x="51" y="28"/>
                    <a:pt x="15" y="135"/>
                  </a:cubicBezTo>
                  <a:cubicBezTo>
                    <a:pt x="10" y="150"/>
                    <a:pt x="0" y="180"/>
                    <a:pt x="0" y="180"/>
                  </a:cubicBezTo>
                  <a:cubicBezTo>
                    <a:pt x="5" y="315"/>
                    <a:pt x="3" y="450"/>
                    <a:pt x="15" y="585"/>
                  </a:cubicBezTo>
                  <a:cubicBezTo>
                    <a:pt x="22" y="665"/>
                    <a:pt x="86" y="741"/>
                    <a:pt x="120" y="810"/>
                  </a:cubicBezTo>
                  <a:cubicBezTo>
                    <a:pt x="132" y="835"/>
                    <a:pt x="164" y="929"/>
                    <a:pt x="180" y="945"/>
                  </a:cubicBezTo>
                  <a:cubicBezTo>
                    <a:pt x="191" y="956"/>
                    <a:pt x="210" y="955"/>
                    <a:pt x="225" y="960"/>
                  </a:cubicBezTo>
                  <a:cubicBezTo>
                    <a:pt x="361" y="1096"/>
                    <a:pt x="433" y="1050"/>
                    <a:pt x="660" y="105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9" name="Text Box 5">
              <a:extLst>
                <a:ext uri="{FF2B5EF4-FFF2-40B4-BE49-F238E27FC236}">
                  <a16:creationId xmlns:a16="http://schemas.microsoft.com/office/drawing/2014/main" id="{6FCD7DA8-3744-7E8D-454B-B6F701B0D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7" y="9269"/>
              <a:ext cx="528" cy="62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4130" name="Text Box 4">
              <a:extLst>
                <a:ext uri="{FF2B5EF4-FFF2-40B4-BE49-F238E27FC236}">
                  <a16:creationId xmlns:a16="http://schemas.microsoft.com/office/drawing/2014/main" id="{F659E849-25AC-5DCB-BEF2-33AB93473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0" y="9302"/>
              <a:ext cx="742" cy="6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4131" name="Text Box 3">
              <a:extLst>
                <a:ext uri="{FF2B5EF4-FFF2-40B4-BE49-F238E27FC236}">
                  <a16:creationId xmlns:a16="http://schemas.microsoft.com/office/drawing/2014/main" id="{FD1FD0C9-9DED-B7F5-7CB2-5C6512EE5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3" y="10892"/>
              <a:ext cx="742" cy="6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4132" name="Text Box 2">
              <a:extLst>
                <a:ext uri="{FF2B5EF4-FFF2-40B4-BE49-F238E27FC236}">
                  <a16:creationId xmlns:a16="http://schemas.microsoft.com/office/drawing/2014/main" id="{202E9E76-5B8F-A2F6-3733-56DED6C2D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7775"/>
              <a:ext cx="742" cy="64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174836AA-186B-6BA6-69D8-97C7523E3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1667B163-3326-8D76-391A-E9E3222927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5588" y="1773238"/>
            <a:ext cx="8888412" cy="5084762"/>
          </a:xfrm>
        </p:spPr>
        <p:txBody>
          <a:bodyPr/>
          <a:lstStyle/>
          <a:p>
            <a:pPr>
              <a:lnSpc>
                <a:spcPct val="139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8.1.1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给定</a:t>
            </a:r>
            <a:r>
              <a:rPr lang="zh-CN" altLang="zh-CN">
                <a:solidFill>
                  <a:srgbClr val="0000FF"/>
                </a:solidFill>
              </a:rPr>
              <a:t>无向</a:t>
            </a:r>
            <a:r>
              <a:rPr lang="zh-CN" altLang="zh-CN"/>
              <a:t>图</a:t>
            </a:r>
            <a:r>
              <a:rPr lang="en-US" altLang="zh-CN"/>
              <a:t>G</a:t>
            </a:r>
            <a:r>
              <a:rPr lang="zh-CN" altLang="zh-CN"/>
              <a:t>，经过图</a:t>
            </a:r>
            <a:r>
              <a:rPr lang="en-US" altLang="zh-CN"/>
              <a:t>G</a:t>
            </a:r>
            <a:r>
              <a:rPr lang="zh-CN" altLang="zh-CN"/>
              <a:t>每边一次且仅一次的迹称为</a:t>
            </a:r>
            <a:r>
              <a:rPr lang="zh-CN" altLang="zh-CN" b="1">
                <a:solidFill>
                  <a:srgbClr val="FF0000"/>
                </a:solidFill>
              </a:rPr>
              <a:t>欧拉路</a:t>
            </a:r>
            <a:r>
              <a:rPr lang="zh-CN" altLang="zh-CN"/>
              <a:t>。经过图</a:t>
            </a:r>
            <a:r>
              <a:rPr lang="en-US" altLang="zh-CN"/>
              <a:t>G</a:t>
            </a:r>
            <a:r>
              <a:rPr lang="zh-CN" altLang="zh-CN"/>
              <a:t>每边一次且仅一次的闭迹称为</a:t>
            </a:r>
            <a:r>
              <a:rPr lang="zh-CN" altLang="zh-CN" b="1">
                <a:solidFill>
                  <a:srgbClr val="00CC99"/>
                </a:solidFill>
              </a:rPr>
              <a:t>欧拉回路</a:t>
            </a:r>
            <a:r>
              <a:rPr lang="zh-CN" altLang="zh-CN"/>
              <a:t>。</a:t>
            </a:r>
          </a:p>
          <a:p>
            <a:pPr>
              <a:lnSpc>
                <a:spcPct val="139000"/>
              </a:lnSpc>
            </a:pPr>
            <a:r>
              <a:rPr lang="zh-CN" altLang="zh-CN" b="1">
                <a:solidFill>
                  <a:srgbClr val="FF0000"/>
                </a:solidFill>
              </a:rPr>
              <a:t>定理</a:t>
            </a:r>
            <a:r>
              <a:rPr lang="en-US" altLang="zh-CN" b="1">
                <a:solidFill>
                  <a:srgbClr val="FF0000"/>
                </a:solidFill>
              </a:rPr>
              <a:t>8.1.1</a:t>
            </a:r>
            <a:r>
              <a:rPr lang="zh-CN" altLang="zh-CN"/>
              <a:t>连通图</a:t>
            </a:r>
            <a:r>
              <a:rPr lang="en-US" altLang="zh-CN"/>
              <a:t>G</a:t>
            </a:r>
            <a:r>
              <a:rPr lang="zh-CN" altLang="zh-CN"/>
              <a:t>具有欧拉回路当且仅当它的每个顶点都有偶数度。</a:t>
            </a:r>
            <a:endParaRPr lang="en-US" altLang="zh-CN"/>
          </a:p>
          <a:p>
            <a:pPr>
              <a:lnSpc>
                <a:spcPct val="139000"/>
              </a:lnSpc>
            </a:pPr>
            <a:r>
              <a:rPr lang="zh-CN" altLang="zh-CN" b="1">
                <a:solidFill>
                  <a:srgbClr val="FF0000"/>
                </a:solidFill>
              </a:rPr>
              <a:t>定理</a:t>
            </a:r>
            <a:r>
              <a:rPr lang="en-US" altLang="zh-CN" b="1">
                <a:solidFill>
                  <a:srgbClr val="FF0000"/>
                </a:solidFill>
              </a:rPr>
              <a:t>8.1.2 </a:t>
            </a:r>
            <a:r>
              <a:rPr lang="zh-CN" altLang="zh-CN"/>
              <a:t>连通图</a:t>
            </a:r>
            <a:r>
              <a:rPr lang="en-US" altLang="zh-CN"/>
              <a:t>G</a:t>
            </a:r>
            <a:r>
              <a:rPr lang="zh-CN" altLang="zh-CN"/>
              <a:t>具有欧拉路而无欧拉回路，当且仅当</a:t>
            </a:r>
            <a:r>
              <a:rPr lang="en-US" altLang="zh-CN"/>
              <a:t>G</a:t>
            </a:r>
            <a:r>
              <a:rPr lang="zh-CN" altLang="zh-CN"/>
              <a:t>恰有两个奇数度结点。</a:t>
            </a:r>
            <a:endParaRPr lang="en-US" altLang="zh-CN"/>
          </a:p>
          <a:p>
            <a:pPr>
              <a:lnSpc>
                <a:spcPct val="20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DF3148E1-E097-A9B8-6813-14985B6BE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6147" name="内容占位符 2">
            <a:extLst>
              <a:ext uri="{FF2B5EF4-FFF2-40B4-BE49-F238E27FC236}">
                <a16:creationId xmlns:a16="http://schemas.microsoft.com/office/drawing/2014/main" id="{F10C4F97-E7D0-C7C0-EAC1-82C9030C33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824"/>
            <a:ext cx="8893175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8.1.1  </a:t>
            </a:r>
            <a:r>
              <a:rPr lang="zh-CN" altLang="en-US"/>
              <a:t>欧拉路  欧拉回路  欧拉图</a:t>
            </a:r>
          </a:p>
        </p:txBody>
      </p:sp>
      <p:sp>
        <p:nvSpPr>
          <p:cNvPr id="6148" name="Rectangle 40">
            <a:extLst>
              <a:ext uri="{FF2B5EF4-FFF2-40B4-BE49-F238E27FC236}">
                <a16:creationId xmlns:a16="http://schemas.microsoft.com/office/drawing/2014/main" id="{8E2B9382-D453-DCC9-082D-3C1E3A515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6149" name="Group 1">
            <a:extLst>
              <a:ext uri="{FF2B5EF4-FFF2-40B4-BE49-F238E27FC236}">
                <a16:creationId xmlns:a16="http://schemas.microsoft.com/office/drawing/2014/main" id="{323AABF4-66BE-BC05-7C20-BA7D273607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213" y="3789363"/>
            <a:ext cx="8093075" cy="1935162"/>
            <a:chOff x="2384" y="7373"/>
            <a:chExt cx="7588" cy="1814"/>
          </a:xfrm>
        </p:grpSpPr>
        <p:sp>
          <p:nvSpPr>
            <p:cNvPr id="6150" name="AutoShape 39">
              <a:extLst>
                <a:ext uri="{FF2B5EF4-FFF2-40B4-BE49-F238E27FC236}">
                  <a16:creationId xmlns:a16="http://schemas.microsoft.com/office/drawing/2014/main" id="{BD586A7C-049F-AB22-D285-BB4B2171F9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84" y="7373"/>
              <a:ext cx="7588" cy="1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" name="Oval 38">
              <a:extLst>
                <a:ext uri="{FF2B5EF4-FFF2-40B4-BE49-F238E27FC236}">
                  <a16:creationId xmlns:a16="http://schemas.microsoft.com/office/drawing/2014/main" id="{9D93B2EB-0931-F29E-62B5-1D7F621AF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7" y="821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2" name="Oval 37">
              <a:extLst>
                <a:ext uri="{FF2B5EF4-FFF2-40B4-BE49-F238E27FC236}">
                  <a16:creationId xmlns:a16="http://schemas.microsoft.com/office/drawing/2014/main" id="{AB883EE4-D281-C369-6CE0-B5A7714D9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3" name="Oval 36">
              <a:extLst>
                <a:ext uri="{FF2B5EF4-FFF2-40B4-BE49-F238E27FC236}">
                  <a16:creationId xmlns:a16="http://schemas.microsoft.com/office/drawing/2014/main" id="{69A7F348-2E60-0F1B-6636-1C4101D0F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738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4" name="Oval 35">
              <a:extLst>
                <a:ext uri="{FF2B5EF4-FFF2-40B4-BE49-F238E27FC236}">
                  <a16:creationId xmlns:a16="http://schemas.microsoft.com/office/drawing/2014/main" id="{431175BD-38DA-6773-F532-3CBCEC5AD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8956"/>
              <a:ext cx="220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5" name="Oval 34">
              <a:extLst>
                <a:ext uri="{FF2B5EF4-FFF2-40B4-BE49-F238E27FC236}">
                  <a16:creationId xmlns:a16="http://schemas.microsoft.com/office/drawing/2014/main" id="{AC7F1A25-84D2-0330-F5CF-859953221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" y="895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6" name="Oval 33">
              <a:extLst>
                <a:ext uri="{FF2B5EF4-FFF2-40B4-BE49-F238E27FC236}">
                  <a16:creationId xmlns:a16="http://schemas.microsoft.com/office/drawing/2014/main" id="{E4DB4A42-D771-8F22-55E2-7D68EEA7E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" y="894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7" name="Oval 32">
              <a:extLst>
                <a:ext uri="{FF2B5EF4-FFF2-40B4-BE49-F238E27FC236}">
                  <a16:creationId xmlns:a16="http://schemas.microsoft.com/office/drawing/2014/main" id="{AF9CF410-DC10-53DB-E755-A1AD5578D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3" y="738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8" name="Oval 31">
              <a:extLst>
                <a:ext uri="{FF2B5EF4-FFF2-40B4-BE49-F238E27FC236}">
                  <a16:creationId xmlns:a16="http://schemas.microsoft.com/office/drawing/2014/main" id="{CBBBD96F-3DE9-498C-4A44-373C93B55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59" name="Oval 30">
              <a:extLst>
                <a:ext uri="{FF2B5EF4-FFF2-40B4-BE49-F238E27FC236}">
                  <a16:creationId xmlns:a16="http://schemas.microsoft.com/office/drawing/2014/main" id="{35A7CD5F-835E-0E85-AF02-78E632837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0" y="8957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0" name="Oval 29">
              <a:extLst>
                <a:ext uri="{FF2B5EF4-FFF2-40B4-BE49-F238E27FC236}">
                  <a16:creationId xmlns:a16="http://schemas.microsoft.com/office/drawing/2014/main" id="{01001899-48BC-33FF-B5E3-707211CFA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2" y="8210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1" name="Oval 28">
              <a:extLst>
                <a:ext uri="{FF2B5EF4-FFF2-40B4-BE49-F238E27FC236}">
                  <a16:creationId xmlns:a16="http://schemas.microsoft.com/office/drawing/2014/main" id="{7802D04C-EAF9-F5BE-DC9C-1015BDBD1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895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2" name="Oval 27">
              <a:extLst>
                <a:ext uri="{FF2B5EF4-FFF2-40B4-BE49-F238E27FC236}">
                  <a16:creationId xmlns:a16="http://schemas.microsoft.com/office/drawing/2014/main" id="{3B16C3E5-6A47-75C1-C617-60B45AC53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3" name="Oval 26">
              <a:extLst>
                <a:ext uri="{FF2B5EF4-FFF2-40B4-BE49-F238E27FC236}">
                  <a16:creationId xmlns:a16="http://schemas.microsoft.com/office/drawing/2014/main" id="{3AE9E0CA-990A-DE1E-1992-0D683EE9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4" y="7381"/>
              <a:ext cx="220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4" name="Oval 25">
              <a:extLst>
                <a:ext uri="{FF2B5EF4-FFF2-40B4-BE49-F238E27FC236}">
                  <a16:creationId xmlns:a16="http://schemas.microsoft.com/office/drawing/2014/main" id="{521B09AD-1B93-D080-2EBC-371EF8B01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3" y="8957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6165" name="Oval 24">
              <a:extLst>
                <a:ext uri="{FF2B5EF4-FFF2-40B4-BE49-F238E27FC236}">
                  <a16:creationId xmlns:a16="http://schemas.microsoft.com/office/drawing/2014/main" id="{EF1A6727-BB4B-1887-8818-5FDBF8463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8" y="895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6166" name="AutoShape 23">
              <a:extLst>
                <a:ext uri="{FF2B5EF4-FFF2-40B4-BE49-F238E27FC236}">
                  <a16:creationId xmlns:a16="http://schemas.microsoft.com/office/drawing/2014/main" id="{B1EB05F9-CD99-A4FE-29F6-F9407A1FD1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3" y="7493"/>
              <a:ext cx="116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7" name="AutoShape 22">
              <a:extLst>
                <a:ext uri="{FF2B5EF4-FFF2-40B4-BE49-F238E27FC236}">
                  <a16:creationId xmlns:a16="http://schemas.microsoft.com/office/drawing/2014/main" id="{68BB41F1-8987-70F7-87B4-72A15CE65B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2" y="9068"/>
              <a:ext cx="115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8" name="AutoShape 21">
              <a:extLst>
                <a:ext uri="{FF2B5EF4-FFF2-40B4-BE49-F238E27FC236}">
                  <a16:creationId xmlns:a16="http://schemas.microsoft.com/office/drawing/2014/main" id="{7E7861AC-1825-3C92-ED48-F36212EE80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81" y="7571"/>
              <a:ext cx="488" cy="6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9" name="AutoShape 20">
              <a:extLst>
                <a:ext uri="{FF2B5EF4-FFF2-40B4-BE49-F238E27FC236}">
                  <a16:creationId xmlns:a16="http://schemas.microsoft.com/office/drawing/2014/main" id="{AE03B3E9-04B3-AF57-F244-5B12275618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26" y="8399"/>
              <a:ext cx="577" cy="5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0" name="AutoShape 19">
              <a:extLst>
                <a:ext uri="{FF2B5EF4-FFF2-40B4-BE49-F238E27FC236}">
                  <a16:creationId xmlns:a16="http://schemas.microsoft.com/office/drawing/2014/main" id="{CA720A5D-4ED8-3C4F-493C-A216B8E818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26" y="7571"/>
              <a:ext cx="579" cy="6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1" name="AutoShape 18">
              <a:extLst>
                <a:ext uri="{FF2B5EF4-FFF2-40B4-BE49-F238E27FC236}">
                  <a16:creationId xmlns:a16="http://schemas.microsoft.com/office/drawing/2014/main" id="{E8174017-E0A9-9884-FE56-D34DF204E7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80" y="8399"/>
              <a:ext cx="489" cy="5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2" name="AutoShape 17">
              <a:extLst>
                <a:ext uri="{FF2B5EF4-FFF2-40B4-BE49-F238E27FC236}">
                  <a16:creationId xmlns:a16="http://schemas.microsoft.com/office/drawing/2014/main" id="{41A63286-2D4A-212B-295F-5F1C48C1BA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14" y="7492"/>
              <a:ext cx="112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3" name="AutoShape 16">
              <a:extLst>
                <a:ext uri="{FF2B5EF4-FFF2-40B4-BE49-F238E27FC236}">
                  <a16:creationId xmlns:a16="http://schemas.microsoft.com/office/drawing/2014/main" id="{056C7FD1-F2DD-A73D-5D2A-AE0D5F37FF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04" y="7604"/>
              <a:ext cx="29" cy="134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4" name="AutoShape 15">
              <a:extLst>
                <a:ext uri="{FF2B5EF4-FFF2-40B4-BE49-F238E27FC236}">
                  <a16:creationId xmlns:a16="http://schemas.microsoft.com/office/drawing/2014/main" id="{D039A5A5-398B-F3E3-0B10-6DBFB7C6C8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44" y="9058"/>
              <a:ext cx="1086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5" name="AutoShape 14">
              <a:extLst>
                <a:ext uri="{FF2B5EF4-FFF2-40B4-BE49-F238E27FC236}">
                  <a16:creationId xmlns:a16="http://schemas.microsoft.com/office/drawing/2014/main" id="{BE435817-CB84-257C-7A1E-30FCD8A228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840" y="7603"/>
              <a:ext cx="14" cy="13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6" name="AutoShape 13">
              <a:extLst>
                <a:ext uri="{FF2B5EF4-FFF2-40B4-BE49-F238E27FC236}">
                  <a16:creationId xmlns:a16="http://schemas.microsoft.com/office/drawing/2014/main" id="{44803486-133C-1256-234E-13796DD5A3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82" y="7571"/>
              <a:ext cx="562" cy="6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7" name="AutoShape 12">
              <a:extLst>
                <a:ext uri="{FF2B5EF4-FFF2-40B4-BE49-F238E27FC236}">
                  <a16:creationId xmlns:a16="http://schemas.microsoft.com/office/drawing/2014/main" id="{F097D19E-1881-8246-1341-BB93E67C63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00" y="8399"/>
              <a:ext cx="462" cy="5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8" name="AutoShape 11">
              <a:extLst>
                <a:ext uri="{FF2B5EF4-FFF2-40B4-BE49-F238E27FC236}">
                  <a16:creationId xmlns:a16="http://schemas.microsoft.com/office/drawing/2014/main" id="{01F035D1-86DC-3BD0-AD01-85E212B640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300" y="7570"/>
              <a:ext cx="475" cy="6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9" name="AutoShape 10">
              <a:extLst>
                <a:ext uri="{FF2B5EF4-FFF2-40B4-BE49-F238E27FC236}">
                  <a16:creationId xmlns:a16="http://schemas.microsoft.com/office/drawing/2014/main" id="{D664F90E-4E31-6547-25D0-311AB0DD95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611" y="8399"/>
              <a:ext cx="533" cy="5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0" name="AutoShape 9">
              <a:extLst>
                <a:ext uri="{FF2B5EF4-FFF2-40B4-BE49-F238E27FC236}">
                  <a16:creationId xmlns:a16="http://schemas.microsoft.com/office/drawing/2014/main" id="{2E245350-3E92-9890-92B9-D5F19DB04B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74" y="7493"/>
              <a:ext cx="10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1" name="AutoShape 8">
              <a:extLst>
                <a:ext uri="{FF2B5EF4-FFF2-40B4-BE49-F238E27FC236}">
                  <a16:creationId xmlns:a16="http://schemas.microsoft.com/office/drawing/2014/main" id="{66697940-1445-7D44-685E-A0BD3F425A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04" y="9068"/>
              <a:ext cx="109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2" name="AutoShape 7">
              <a:extLst>
                <a:ext uri="{FF2B5EF4-FFF2-40B4-BE49-F238E27FC236}">
                  <a16:creationId xmlns:a16="http://schemas.microsoft.com/office/drawing/2014/main" id="{744B7177-AE33-C01D-E045-9E93D246FA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4" y="7604"/>
              <a:ext cx="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3" name="AutoShape 6">
              <a:extLst>
                <a:ext uri="{FF2B5EF4-FFF2-40B4-BE49-F238E27FC236}">
                  <a16:creationId xmlns:a16="http://schemas.microsoft.com/office/drawing/2014/main" id="{C0B0B867-D8C5-B862-76E6-AEADACE8EE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64" y="7604"/>
              <a:ext cx="30" cy="1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4" name="AutoShape 5">
              <a:extLst>
                <a:ext uri="{FF2B5EF4-FFF2-40B4-BE49-F238E27FC236}">
                  <a16:creationId xmlns:a16="http://schemas.microsoft.com/office/drawing/2014/main" id="{0ABDFB7E-95F2-CE78-7D22-3EAB7252D0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54" y="7604"/>
              <a:ext cx="59" cy="13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5" name="AutoShape 4">
              <a:extLst>
                <a:ext uri="{FF2B5EF4-FFF2-40B4-BE49-F238E27FC236}">
                  <a16:creationId xmlns:a16="http://schemas.microsoft.com/office/drawing/2014/main" id="{1796B0C5-C818-F49A-3A26-31D689C011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42" y="7571"/>
              <a:ext cx="1193" cy="14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6" name="AutoShape 3">
              <a:extLst>
                <a:ext uri="{FF2B5EF4-FFF2-40B4-BE49-F238E27FC236}">
                  <a16:creationId xmlns:a16="http://schemas.microsoft.com/office/drawing/2014/main" id="{37D0A8B9-6106-1FCE-8A5E-20D73A59C6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22" y="9068"/>
              <a:ext cx="96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7" name="AutoShape 2">
              <a:extLst>
                <a:ext uri="{FF2B5EF4-FFF2-40B4-BE49-F238E27FC236}">
                  <a16:creationId xmlns:a16="http://schemas.microsoft.com/office/drawing/2014/main" id="{C11A65B9-74D9-7B3C-D469-10A98153AC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32" y="7571"/>
              <a:ext cx="1167" cy="13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5F83CAF2-B69C-7CFB-81F5-F9472CFD2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54B83-560A-0B78-1B67-CB40F9B57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18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</a:rPr>
              <a:t>8.1.2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>
                <a:solidFill>
                  <a:srgbClr val="0000FF"/>
                </a:solidFill>
              </a:rPr>
              <a:t>有向图</a:t>
            </a:r>
            <a:r>
              <a:rPr lang="en-US" altLang="zh-CN" dirty="0"/>
              <a:t>D</a:t>
            </a:r>
            <a:r>
              <a:rPr lang="zh-CN" altLang="zh-CN" dirty="0"/>
              <a:t>，经过</a:t>
            </a:r>
            <a:r>
              <a:rPr lang="en-US" altLang="zh-CN" dirty="0"/>
              <a:t>D</a:t>
            </a:r>
            <a:r>
              <a:rPr lang="zh-CN" altLang="zh-CN" dirty="0"/>
              <a:t>中每条边一次且仅一次的有向迹称为</a:t>
            </a:r>
            <a:r>
              <a:rPr lang="zh-CN" altLang="zh-CN" b="1" dirty="0">
                <a:solidFill>
                  <a:srgbClr val="FF0000"/>
                </a:solidFill>
              </a:rPr>
              <a:t>有向欧拉路</a:t>
            </a:r>
            <a:r>
              <a:rPr lang="zh-CN" altLang="zh-CN" dirty="0"/>
              <a:t>。经过</a:t>
            </a:r>
            <a:r>
              <a:rPr lang="en-US" altLang="zh-CN" dirty="0"/>
              <a:t>D</a:t>
            </a:r>
            <a:r>
              <a:rPr lang="zh-CN" altLang="zh-CN" dirty="0"/>
              <a:t>中每边一次且仅一次的有向闭迹称为</a:t>
            </a:r>
            <a:r>
              <a:rPr lang="zh-CN" altLang="zh-CN" b="1" dirty="0">
                <a:solidFill>
                  <a:srgbClr val="339933"/>
                </a:solidFill>
              </a:rPr>
              <a:t>有向欧拉回路</a:t>
            </a:r>
            <a:r>
              <a:rPr lang="zh-CN" altLang="zh-CN" dirty="0"/>
              <a:t>。</a:t>
            </a:r>
          </a:p>
          <a:p>
            <a:pPr>
              <a:lnSpc>
                <a:spcPct val="118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8.1.3</a:t>
            </a:r>
            <a:r>
              <a:rPr lang="zh-CN" altLang="zh-CN" dirty="0"/>
              <a:t>有向图</a:t>
            </a:r>
            <a:r>
              <a:rPr lang="en-US" altLang="zh-CN" dirty="0"/>
              <a:t>D</a:t>
            </a:r>
            <a:r>
              <a:rPr lang="zh-CN" altLang="zh-CN" dirty="0"/>
              <a:t>有有向欧拉回路，当且仅当</a:t>
            </a:r>
            <a:r>
              <a:rPr lang="en-US" altLang="zh-CN" dirty="0"/>
              <a:t>D</a:t>
            </a:r>
            <a:r>
              <a:rPr lang="zh-CN" altLang="zh-CN" dirty="0"/>
              <a:t>的每个结点的入度等于出度。</a:t>
            </a:r>
            <a:endParaRPr lang="en-US" altLang="zh-CN" dirty="0"/>
          </a:p>
          <a:p>
            <a:pPr marL="0" indent="0">
              <a:lnSpc>
                <a:spcPct val="118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有向图</a:t>
            </a:r>
            <a:r>
              <a:rPr lang="en-US" altLang="zh-CN" dirty="0"/>
              <a:t>D</a:t>
            </a:r>
            <a:r>
              <a:rPr lang="zh-CN" altLang="zh-CN" dirty="0"/>
              <a:t>有有向欧拉路，当且仅当</a:t>
            </a:r>
            <a:r>
              <a:rPr lang="en-US" altLang="zh-CN" dirty="0"/>
              <a:t>D</a:t>
            </a:r>
            <a:r>
              <a:rPr lang="zh-CN" altLang="zh-CN" dirty="0"/>
              <a:t>中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18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一个结点的入度比出度大</a:t>
            </a:r>
            <a:r>
              <a:rPr lang="en-US" altLang="zh-CN" dirty="0"/>
              <a:t>1</a:t>
            </a:r>
            <a:r>
              <a:rPr lang="zh-CN" altLang="zh-CN" dirty="0"/>
              <a:t>，另一个结点的入度</a:t>
            </a:r>
            <a:endParaRPr lang="en-US" altLang="zh-CN" dirty="0"/>
          </a:p>
          <a:p>
            <a:pPr marL="0" indent="0">
              <a:lnSpc>
                <a:spcPct val="118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比出度小</a:t>
            </a:r>
            <a:r>
              <a:rPr lang="en-US" altLang="zh-CN" dirty="0"/>
              <a:t>1</a:t>
            </a:r>
            <a:r>
              <a:rPr lang="zh-CN" altLang="zh-CN" dirty="0"/>
              <a:t>，而其余每个结点的入度等于出度。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3C532CEC-8E15-FF1E-7845-EBC6CC6E6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3E210D1E-2846-0881-00A8-AE44DBF53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8.1.2  </a:t>
            </a:r>
            <a:r>
              <a:rPr lang="zh-CN" altLang="en-US"/>
              <a:t>有向欧拉路  有向欧拉回路  欧拉图</a:t>
            </a:r>
          </a:p>
        </p:txBody>
      </p:sp>
      <p:sp>
        <p:nvSpPr>
          <p:cNvPr id="8196" name="Rectangle 35">
            <a:extLst>
              <a:ext uri="{FF2B5EF4-FFF2-40B4-BE49-F238E27FC236}">
                <a16:creationId xmlns:a16="http://schemas.microsoft.com/office/drawing/2014/main" id="{0166F2DD-27CF-C550-8862-50A14CD84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8197" name="Group 1">
            <a:extLst>
              <a:ext uri="{FF2B5EF4-FFF2-40B4-BE49-F238E27FC236}">
                <a16:creationId xmlns:a16="http://schemas.microsoft.com/office/drawing/2014/main" id="{10D6CEB9-E952-C28B-773D-571947E8CB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213" y="3644900"/>
            <a:ext cx="8093075" cy="1936750"/>
            <a:chOff x="2384" y="7373"/>
            <a:chExt cx="7588" cy="1814"/>
          </a:xfrm>
        </p:grpSpPr>
        <p:sp>
          <p:nvSpPr>
            <p:cNvPr id="8198" name="AutoShape 34">
              <a:extLst>
                <a:ext uri="{FF2B5EF4-FFF2-40B4-BE49-F238E27FC236}">
                  <a16:creationId xmlns:a16="http://schemas.microsoft.com/office/drawing/2014/main" id="{9F8BA59D-E69C-5D84-727D-2A9528C6575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384" y="7373"/>
              <a:ext cx="7588" cy="1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" name="Oval 33">
              <a:extLst>
                <a:ext uri="{FF2B5EF4-FFF2-40B4-BE49-F238E27FC236}">
                  <a16:creationId xmlns:a16="http://schemas.microsoft.com/office/drawing/2014/main" id="{F6B87724-4FEF-CD85-14EE-74589F9A5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" y="821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0" name="Oval 32">
              <a:extLst>
                <a:ext uri="{FF2B5EF4-FFF2-40B4-BE49-F238E27FC236}">
                  <a16:creationId xmlns:a16="http://schemas.microsoft.com/office/drawing/2014/main" id="{4E9D384C-FC01-F658-B0AB-98BFC1AAB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1" name="Oval 31">
              <a:extLst>
                <a:ext uri="{FF2B5EF4-FFF2-40B4-BE49-F238E27FC236}">
                  <a16:creationId xmlns:a16="http://schemas.microsoft.com/office/drawing/2014/main" id="{527E6CEA-27CC-F1CC-85FB-93153E01A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738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2" name="Oval 30">
              <a:extLst>
                <a:ext uri="{FF2B5EF4-FFF2-40B4-BE49-F238E27FC236}">
                  <a16:creationId xmlns:a16="http://schemas.microsoft.com/office/drawing/2014/main" id="{10D1CC5F-211B-0D20-0295-4AE8D1951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8956"/>
              <a:ext cx="220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3" name="Oval 29">
              <a:extLst>
                <a:ext uri="{FF2B5EF4-FFF2-40B4-BE49-F238E27FC236}">
                  <a16:creationId xmlns:a16="http://schemas.microsoft.com/office/drawing/2014/main" id="{2529A3BC-190D-D92F-FC1B-55714A139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" y="895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4" name="Oval 28">
              <a:extLst>
                <a:ext uri="{FF2B5EF4-FFF2-40B4-BE49-F238E27FC236}">
                  <a16:creationId xmlns:a16="http://schemas.microsoft.com/office/drawing/2014/main" id="{19BBA7B7-8369-DB02-37D1-AF9950722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" y="894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5" name="Oval 27">
              <a:extLst>
                <a:ext uri="{FF2B5EF4-FFF2-40B4-BE49-F238E27FC236}">
                  <a16:creationId xmlns:a16="http://schemas.microsoft.com/office/drawing/2014/main" id="{E03ADEF7-2512-ED46-D78A-CFE5AABEF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3" y="738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6" name="Oval 26">
              <a:extLst>
                <a:ext uri="{FF2B5EF4-FFF2-40B4-BE49-F238E27FC236}">
                  <a16:creationId xmlns:a16="http://schemas.microsoft.com/office/drawing/2014/main" id="{349018FE-620A-F3E2-16A3-67BC23695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7" name="Oval 25">
              <a:extLst>
                <a:ext uri="{FF2B5EF4-FFF2-40B4-BE49-F238E27FC236}">
                  <a16:creationId xmlns:a16="http://schemas.microsoft.com/office/drawing/2014/main" id="{EAEEA6F9-BFC3-1505-BE1C-022A3801C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0" y="8957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8" name="Oval 24">
              <a:extLst>
                <a:ext uri="{FF2B5EF4-FFF2-40B4-BE49-F238E27FC236}">
                  <a16:creationId xmlns:a16="http://schemas.microsoft.com/office/drawing/2014/main" id="{B14975DC-D4C4-126F-2C93-F0D43294A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7" y="8210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09" name="Oval 23">
              <a:extLst>
                <a:ext uri="{FF2B5EF4-FFF2-40B4-BE49-F238E27FC236}">
                  <a16:creationId xmlns:a16="http://schemas.microsoft.com/office/drawing/2014/main" id="{D2E7F1B7-FDDD-638C-C3A6-46BB08D15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3" y="820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10" name="Oval 22">
              <a:extLst>
                <a:ext uri="{FF2B5EF4-FFF2-40B4-BE49-F238E27FC236}">
                  <a16:creationId xmlns:a16="http://schemas.microsoft.com/office/drawing/2014/main" id="{1A71C038-B814-C236-5ED2-006FC8431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3" y="7382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11" name="Oval 21">
              <a:extLst>
                <a:ext uri="{FF2B5EF4-FFF2-40B4-BE49-F238E27FC236}">
                  <a16:creationId xmlns:a16="http://schemas.microsoft.com/office/drawing/2014/main" id="{3D8529BD-0F2C-73D8-F8CC-7586C249C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9" y="7381"/>
              <a:ext cx="220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12" name="Oval 20">
              <a:extLst>
                <a:ext uri="{FF2B5EF4-FFF2-40B4-BE49-F238E27FC236}">
                  <a16:creationId xmlns:a16="http://schemas.microsoft.com/office/drawing/2014/main" id="{68B07297-6BE5-7B1B-8A5E-736D3A13A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8" y="8957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8213" name="Oval 19">
              <a:extLst>
                <a:ext uri="{FF2B5EF4-FFF2-40B4-BE49-F238E27FC236}">
                  <a16:creationId xmlns:a16="http://schemas.microsoft.com/office/drawing/2014/main" id="{3A45B42F-6CE1-02FE-243D-08BFA45C7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" y="895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8214" name="AutoShape 18">
              <a:extLst>
                <a:ext uri="{FF2B5EF4-FFF2-40B4-BE49-F238E27FC236}">
                  <a16:creationId xmlns:a16="http://schemas.microsoft.com/office/drawing/2014/main" id="{43D82088-A41A-1A07-15B2-F4B310B5F5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3" y="7493"/>
              <a:ext cx="116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AutoShape 17">
              <a:extLst>
                <a:ext uri="{FF2B5EF4-FFF2-40B4-BE49-F238E27FC236}">
                  <a16:creationId xmlns:a16="http://schemas.microsoft.com/office/drawing/2014/main" id="{F4FFD768-C803-AD4E-DD52-815406E564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12" y="9068"/>
              <a:ext cx="115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6" name="AutoShape 16">
              <a:extLst>
                <a:ext uri="{FF2B5EF4-FFF2-40B4-BE49-F238E27FC236}">
                  <a16:creationId xmlns:a16="http://schemas.microsoft.com/office/drawing/2014/main" id="{161FD261-853C-FEEB-3BC9-B7B473B468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02" y="7604"/>
              <a:ext cx="1" cy="1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7" name="AutoShape 15">
              <a:extLst>
                <a:ext uri="{FF2B5EF4-FFF2-40B4-BE49-F238E27FC236}">
                  <a16:creationId xmlns:a16="http://schemas.microsoft.com/office/drawing/2014/main" id="{4B43110F-FB5D-B47E-6728-989715BF82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81" y="7604"/>
              <a:ext cx="2" cy="1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8" name="AutoShape 14">
              <a:extLst>
                <a:ext uri="{FF2B5EF4-FFF2-40B4-BE49-F238E27FC236}">
                  <a16:creationId xmlns:a16="http://schemas.microsoft.com/office/drawing/2014/main" id="{CD44974F-526A-535C-C67C-36A7831AB2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14" y="7492"/>
              <a:ext cx="112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9" name="AutoShape 13">
              <a:extLst>
                <a:ext uri="{FF2B5EF4-FFF2-40B4-BE49-F238E27FC236}">
                  <a16:creationId xmlns:a16="http://schemas.microsoft.com/office/drawing/2014/main" id="{B2243A65-0A99-B97D-BA9F-7D3DA197A0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44" y="9058"/>
              <a:ext cx="1086" cy="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0" name="AutoShape 12">
              <a:extLst>
                <a:ext uri="{FF2B5EF4-FFF2-40B4-BE49-F238E27FC236}">
                  <a16:creationId xmlns:a16="http://schemas.microsoft.com/office/drawing/2014/main" id="{941F759C-F2FB-4763-4DD7-D25251827C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04" y="7604"/>
              <a:ext cx="29" cy="134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1" name="AutoShape 11">
              <a:extLst>
                <a:ext uri="{FF2B5EF4-FFF2-40B4-BE49-F238E27FC236}">
                  <a16:creationId xmlns:a16="http://schemas.microsoft.com/office/drawing/2014/main" id="{C6EEC31D-CD33-B13C-5304-D04471F3C6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840" y="7603"/>
              <a:ext cx="14" cy="13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2" name="AutoShape 10">
              <a:extLst>
                <a:ext uri="{FF2B5EF4-FFF2-40B4-BE49-F238E27FC236}">
                  <a16:creationId xmlns:a16="http://schemas.microsoft.com/office/drawing/2014/main" id="{B0645418-B90A-2915-2DDA-061B328231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582" y="7571"/>
              <a:ext cx="1180" cy="14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3" name="AutoShape 9">
              <a:extLst>
                <a:ext uri="{FF2B5EF4-FFF2-40B4-BE49-F238E27FC236}">
                  <a16:creationId xmlns:a16="http://schemas.microsoft.com/office/drawing/2014/main" id="{09733CEC-61F7-AC82-200F-1D51E2F0BF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24" y="7571"/>
              <a:ext cx="491" cy="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4" name="AutoShape 8">
              <a:extLst>
                <a:ext uri="{FF2B5EF4-FFF2-40B4-BE49-F238E27FC236}">
                  <a16:creationId xmlns:a16="http://schemas.microsoft.com/office/drawing/2014/main" id="{6FA768C1-67A3-9674-6DAA-C157FF2968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72" y="7571"/>
              <a:ext cx="517" cy="67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5" name="AutoShape 7">
              <a:extLst>
                <a:ext uri="{FF2B5EF4-FFF2-40B4-BE49-F238E27FC236}">
                  <a16:creationId xmlns:a16="http://schemas.microsoft.com/office/drawing/2014/main" id="{75F6B10A-B3A7-9D37-58D4-CFFDBC408E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68" y="7571"/>
              <a:ext cx="523" cy="6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6" name="AutoShape 6">
              <a:extLst>
                <a:ext uri="{FF2B5EF4-FFF2-40B4-BE49-F238E27FC236}">
                  <a16:creationId xmlns:a16="http://schemas.microsoft.com/office/drawing/2014/main" id="{12A5B084-2C06-A8D5-948F-50FBD4F310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947" y="7571"/>
              <a:ext cx="460" cy="6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7" name="AutoShape 5">
              <a:extLst>
                <a:ext uri="{FF2B5EF4-FFF2-40B4-BE49-F238E27FC236}">
                  <a16:creationId xmlns:a16="http://schemas.microsoft.com/office/drawing/2014/main" id="{4FD9B90B-3AE2-90BE-DF63-1302C11C40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78" y="8321"/>
              <a:ext cx="91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8" name="AutoShape 4">
              <a:extLst>
                <a:ext uri="{FF2B5EF4-FFF2-40B4-BE49-F238E27FC236}">
                  <a16:creationId xmlns:a16="http://schemas.microsoft.com/office/drawing/2014/main" id="{974B2264-88C2-8944-6862-42A31DBB40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102" y="8396"/>
              <a:ext cx="458" cy="5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9" name="AutoShape 3">
              <a:extLst>
                <a:ext uri="{FF2B5EF4-FFF2-40B4-BE49-F238E27FC236}">
                  <a16:creationId xmlns:a16="http://schemas.microsoft.com/office/drawing/2014/main" id="{7D2C8894-7BD3-1463-C52A-16A7B9B7B9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47" y="9068"/>
              <a:ext cx="102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30" name="AutoShape 2">
              <a:extLst>
                <a:ext uri="{FF2B5EF4-FFF2-40B4-BE49-F238E27FC236}">
                  <a16:creationId xmlns:a16="http://schemas.microsoft.com/office/drawing/2014/main" id="{0F1F5A4E-9B5B-74F5-89F0-A019E4C737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8" y="8432"/>
              <a:ext cx="537" cy="5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3C2AA4C-A297-E196-C0B0-310C1FEE1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24154A82-C763-CF7C-A5C9-8D6A762AC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773238"/>
            <a:ext cx="8893175" cy="5084762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8.1.3</a:t>
            </a:r>
            <a:r>
              <a:rPr lang="zh-CN" altLang="zh-CN"/>
              <a:t>含欧拉回路的无向图与含有向欧拉回路的有向图统称为</a:t>
            </a:r>
            <a:r>
              <a:rPr lang="zh-CN" altLang="zh-CN" b="1">
                <a:solidFill>
                  <a:srgbClr val="FF0000"/>
                </a:solidFill>
              </a:rPr>
              <a:t>欧拉图</a:t>
            </a:r>
            <a:r>
              <a:rPr lang="zh-CN" altLang="zh-CN"/>
              <a:t>。</a:t>
            </a:r>
            <a:endParaRPr lang="en-US" altLang="zh-CN"/>
          </a:p>
          <a:p>
            <a:pPr>
              <a:lnSpc>
                <a:spcPct val="250000"/>
              </a:lnSpc>
            </a:pPr>
            <a:r>
              <a:rPr lang="zh-CN" altLang="en-US"/>
              <a:t>中国古代一笔画问题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6E6A09EC-892D-9470-32B1-DADD20C78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2B4EB567-BE8A-CFBC-22C6-2A33833AB6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8.1.3</a:t>
            </a:r>
            <a:r>
              <a:rPr lang="zh-CN" altLang="zh-CN"/>
              <a:t>一编码盘等分</a:t>
            </a:r>
            <a:r>
              <a:rPr lang="en-US" altLang="zh-CN"/>
              <a:t>2</a:t>
            </a:r>
            <a:r>
              <a:rPr lang="en-US" altLang="zh-CN" baseline="30000"/>
              <a:t>4</a:t>
            </a:r>
            <a:r>
              <a:rPr lang="zh-CN" altLang="zh-CN"/>
              <a:t>等份，每份用绝缘体</a:t>
            </a:r>
            <a:r>
              <a:rPr lang="en-US" altLang="zh-CN"/>
              <a:t>0</a:t>
            </a:r>
            <a:r>
              <a:rPr lang="zh-CN" altLang="zh-CN"/>
              <a:t>和导体</a:t>
            </a:r>
            <a:r>
              <a:rPr lang="en-US" altLang="zh-CN"/>
              <a:t>1</a:t>
            </a:r>
            <a:r>
              <a:rPr lang="zh-CN" altLang="zh-CN"/>
              <a:t>组成，其中</a:t>
            </a:r>
            <a:r>
              <a:rPr lang="en-US" altLang="zh-CN"/>
              <a:t>a,b,c,d</a:t>
            </a:r>
            <a:r>
              <a:rPr lang="zh-CN" altLang="zh-CN"/>
              <a:t>四个位置的扇面组成一个二进制输出，问</a:t>
            </a:r>
            <a:r>
              <a:rPr lang="zh-CN" altLang="en-US"/>
              <a:t>：</a:t>
            </a:r>
            <a:r>
              <a:rPr lang="zh-CN" altLang="zh-CN"/>
              <a:t>这</a:t>
            </a:r>
            <a:r>
              <a:rPr lang="en-US" altLang="zh-CN"/>
              <a:t>16</a:t>
            </a:r>
            <a:r>
              <a:rPr lang="zh-CN" altLang="zh-CN"/>
              <a:t>个二进制数如何排列，使圆盘顺时针每旋转一</a:t>
            </a:r>
            <a:r>
              <a:rPr lang="zh-CN" altLang="en-US"/>
              <a:t>等</a:t>
            </a:r>
            <a:r>
              <a:rPr lang="zh-CN" altLang="zh-CN"/>
              <a:t>分，恰好组成</a:t>
            </a:r>
            <a:r>
              <a:rPr lang="en-US" altLang="zh-CN"/>
              <a:t>0000</a:t>
            </a:r>
            <a:r>
              <a:rPr lang="zh-CN" altLang="zh-CN"/>
              <a:t>到</a:t>
            </a:r>
            <a:r>
              <a:rPr lang="en-US" altLang="zh-CN"/>
              <a:t>1111</a:t>
            </a:r>
            <a:r>
              <a:rPr lang="zh-CN" altLang="zh-CN"/>
              <a:t>的</a:t>
            </a:r>
            <a:r>
              <a:rPr lang="en-US" altLang="zh-CN"/>
              <a:t>16</a:t>
            </a:r>
            <a:r>
              <a:rPr lang="zh-CN" altLang="zh-CN"/>
              <a:t>组四位二进制输出，同时旋转一周又返回到</a:t>
            </a:r>
            <a:r>
              <a:rPr lang="en-US" altLang="zh-CN"/>
              <a:t>0000</a:t>
            </a:r>
            <a:r>
              <a:rPr lang="zh-CN" altLang="zh-CN"/>
              <a:t>状态？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DEBBF6FE-5525-817D-09FE-27DBFB6A2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576654EF-37C2-6410-D6C4-832E74D19E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8.1.3</a:t>
            </a:r>
            <a:endParaRPr lang="zh-CN" altLang="en-US"/>
          </a:p>
        </p:txBody>
      </p:sp>
      <p:sp>
        <p:nvSpPr>
          <p:cNvPr id="11268" name="Rectangle 47">
            <a:extLst>
              <a:ext uri="{FF2B5EF4-FFF2-40B4-BE49-F238E27FC236}">
                <a16:creationId xmlns:a16="http://schemas.microsoft.com/office/drawing/2014/main" id="{440A8130-94B8-9085-6CA0-FB046AE80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1269" name="Group 1">
            <a:extLst>
              <a:ext uri="{FF2B5EF4-FFF2-40B4-BE49-F238E27FC236}">
                <a16:creationId xmlns:a16="http://schemas.microsoft.com/office/drawing/2014/main" id="{71A44FA3-6B15-F9F0-1F28-8EBA0F9DF9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31913" y="2205038"/>
            <a:ext cx="7561262" cy="4441825"/>
            <a:chOff x="4403" y="10019"/>
            <a:chExt cx="5766" cy="3387"/>
          </a:xfrm>
        </p:grpSpPr>
        <p:sp>
          <p:nvSpPr>
            <p:cNvPr id="11270" name="AutoShape 46">
              <a:extLst>
                <a:ext uri="{FF2B5EF4-FFF2-40B4-BE49-F238E27FC236}">
                  <a16:creationId xmlns:a16="http://schemas.microsoft.com/office/drawing/2014/main" id="{20153D77-BFB6-EC99-5B4F-50C1C549A3B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403" y="10019"/>
              <a:ext cx="5662" cy="3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" name="Text Box 45">
              <a:extLst>
                <a:ext uri="{FF2B5EF4-FFF2-40B4-BE49-F238E27FC236}">
                  <a16:creationId xmlns:a16="http://schemas.microsoft.com/office/drawing/2014/main" id="{5C2E12CC-1A44-F0FD-10B3-B986DCC18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7" y="1241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1272" name="Text Box 44">
              <a:extLst>
                <a:ext uri="{FF2B5EF4-FFF2-40B4-BE49-F238E27FC236}">
                  <a16:creationId xmlns:a16="http://schemas.microsoft.com/office/drawing/2014/main" id="{9DFA4B95-E9E8-51C2-3A4B-A95DCCA7E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2" y="1159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1273" name="Text Box 43">
              <a:extLst>
                <a:ext uri="{FF2B5EF4-FFF2-40B4-BE49-F238E27FC236}">
                  <a16:creationId xmlns:a16="http://schemas.microsoft.com/office/drawing/2014/main" id="{D8304AB2-80DD-F204-8D70-CF77AA532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2" y="1104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400"/>
            </a:p>
          </p:txBody>
        </p:sp>
        <p:sp>
          <p:nvSpPr>
            <p:cNvPr id="11274" name="Text Box 42">
              <a:extLst>
                <a:ext uri="{FF2B5EF4-FFF2-40B4-BE49-F238E27FC236}">
                  <a16:creationId xmlns:a16="http://schemas.microsoft.com/office/drawing/2014/main" id="{2D8DAAC3-3FE1-2643-5D15-CBAE1337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7" y="1038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1275" name="Oval 41">
              <a:extLst>
                <a:ext uri="{FF2B5EF4-FFF2-40B4-BE49-F238E27FC236}">
                  <a16:creationId xmlns:a16="http://schemas.microsoft.com/office/drawing/2014/main" id="{04CFB4BC-2905-F0EC-C63E-61C9314836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1" y="10027"/>
              <a:ext cx="3368" cy="33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1276" name="Oval 40">
              <a:extLst>
                <a:ext uri="{FF2B5EF4-FFF2-40B4-BE49-F238E27FC236}">
                  <a16:creationId xmlns:a16="http://schemas.microsoft.com/office/drawing/2014/main" id="{CE2CF4CB-7FED-7CE3-8086-A512EBCD3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" y="11017"/>
              <a:ext cx="1440" cy="14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1277" name="AutoShape 39">
              <a:extLst>
                <a:ext uri="{FF2B5EF4-FFF2-40B4-BE49-F238E27FC236}">
                  <a16:creationId xmlns:a16="http://schemas.microsoft.com/office/drawing/2014/main" id="{41922122-F6FE-D3CF-4C9D-D5F7515211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95" y="10027"/>
              <a:ext cx="25" cy="9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8" name="AutoShape 38">
              <a:extLst>
                <a:ext uri="{FF2B5EF4-FFF2-40B4-BE49-F238E27FC236}">
                  <a16:creationId xmlns:a16="http://schemas.microsoft.com/office/drawing/2014/main" id="{5789160F-6809-FA08-F4D3-C3AB7E0BDD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095" y="12457"/>
              <a:ext cx="25" cy="9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9" name="AutoShape 37">
              <a:extLst>
                <a:ext uri="{FF2B5EF4-FFF2-40B4-BE49-F238E27FC236}">
                  <a16:creationId xmlns:a16="http://schemas.microsoft.com/office/drawing/2014/main" id="{E8F37CA3-B2A3-2730-BADE-D8192A5393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40" y="11713"/>
              <a:ext cx="939" cy="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0" name="AutoShape 36">
              <a:extLst>
                <a:ext uri="{FF2B5EF4-FFF2-40B4-BE49-F238E27FC236}">
                  <a16:creationId xmlns:a16="http://schemas.microsoft.com/office/drawing/2014/main" id="{F39558BC-A303-5550-0139-430E2DEB52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411" y="11713"/>
              <a:ext cx="989" cy="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1" name="AutoShape 35">
              <a:extLst>
                <a:ext uri="{FF2B5EF4-FFF2-40B4-BE49-F238E27FC236}">
                  <a16:creationId xmlns:a16="http://schemas.microsoft.com/office/drawing/2014/main" id="{2AE864FA-752D-AEE0-5D90-4C98174E9B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29" y="10521"/>
              <a:ext cx="657" cy="7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2" name="AutoShape 34">
              <a:extLst>
                <a:ext uri="{FF2B5EF4-FFF2-40B4-BE49-F238E27FC236}">
                  <a16:creationId xmlns:a16="http://schemas.microsoft.com/office/drawing/2014/main" id="{F6476358-1250-1F7A-E095-C4EE757748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904" y="10521"/>
              <a:ext cx="707" cy="7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3" name="AutoShape 33">
              <a:extLst>
                <a:ext uri="{FF2B5EF4-FFF2-40B4-BE49-F238E27FC236}">
                  <a16:creationId xmlns:a16="http://schemas.microsoft.com/office/drawing/2014/main" id="{B103C499-0563-40A1-53DC-80B6A19D19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04" y="12246"/>
              <a:ext cx="707" cy="6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4" name="AutoShape 32">
              <a:extLst>
                <a:ext uri="{FF2B5EF4-FFF2-40B4-BE49-F238E27FC236}">
                  <a16:creationId xmlns:a16="http://schemas.microsoft.com/office/drawing/2014/main" id="{112ECA09-DE5B-479D-3938-7A90A1974A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29" y="12246"/>
              <a:ext cx="657" cy="6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5" name="AutoShape 31">
              <a:extLst>
                <a:ext uri="{FF2B5EF4-FFF2-40B4-BE49-F238E27FC236}">
                  <a16:creationId xmlns:a16="http://schemas.microsoft.com/office/drawing/2014/main" id="{2913CD72-7919-8935-82C7-EB512A667B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29" y="10521"/>
              <a:ext cx="657" cy="7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6" name="AutoShape 30">
              <a:extLst>
                <a:ext uri="{FF2B5EF4-FFF2-40B4-BE49-F238E27FC236}">
                  <a16:creationId xmlns:a16="http://schemas.microsoft.com/office/drawing/2014/main" id="{792F0E67-1A1D-58F8-62E9-82428851B2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87" y="10156"/>
              <a:ext cx="303" cy="9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7" name="AutoShape 29">
              <a:extLst>
                <a:ext uri="{FF2B5EF4-FFF2-40B4-BE49-F238E27FC236}">
                  <a16:creationId xmlns:a16="http://schemas.microsoft.com/office/drawing/2014/main" id="{88B27467-EA8A-6516-1333-7CA120B673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02" y="12376"/>
              <a:ext cx="303" cy="9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8" name="AutoShape 28">
              <a:extLst>
                <a:ext uri="{FF2B5EF4-FFF2-40B4-BE49-F238E27FC236}">
                  <a16:creationId xmlns:a16="http://schemas.microsoft.com/office/drawing/2014/main" id="{BE4B6E55-04B3-472C-2020-F263E837A0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64" y="11056"/>
              <a:ext cx="852" cy="3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9" name="AutoShape 27">
              <a:extLst>
                <a:ext uri="{FF2B5EF4-FFF2-40B4-BE49-F238E27FC236}">
                  <a16:creationId xmlns:a16="http://schemas.microsoft.com/office/drawing/2014/main" id="{FDDE4975-42EA-F1D2-E65F-33C84252F3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59" y="11971"/>
              <a:ext cx="931" cy="4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0" name="AutoShape 26">
              <a:extLst>
                <a:ext uri="{FF2B5EF4-FFF2-40B4-BE49-F238E27FC236}">
                  <a16:creationId xmlns:a16="http://schemas.microsoft.com/office/drawing/2014/main" id="{AC6E9BA2-5E89-1A45-53BD-B999230130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779" y="12021"/>
              <a:ext cx="837" cy="3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1" name="AutoShape 25">
              <a:extLst>
                <a:ext uri="{FF2B5EF4-FFF2-40B4-BE49-F238E27FC236}">
                  <a16:creationId xmlns:a16="http://schemas.microsoft.com/office/drawing/2014/main" id="{CDC4A5E3-F6D1-3D1A-211B-E865A8E325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29" y="11121"/>
              <a:ext cx="916" cy="3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2" name="AutoShape 24">
              <a:extLst>
                <a:ext uri="{FF2B5EF4-FFF2-40B4-BE49-F238E27FC236}">
                  <a16:creationId xmlns:a16="http://schemas.microsoft.com/office/drawing/2014/main" id="{E4EEC0AF-71CE-FDC3-BC5B-F1D9F8E15A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74" y="12426"/>
              <a:ext cx="406" cy="8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3" name="AutoShape 23">
              <a:extLst>
                <a:ext uri="{FF2B5EF4-FFF2-40B4-BE49-F238E27FC236}">
                  <a16:creationId xmlns:a16="http://schemas.microsoft.com/office/drawing/2014/main" id="{28D1E1FC-1BCE-8C54-A04C-F1DC6AC209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59" y="10206"/>
              <a:ext cx="406" cy="8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4" name="AutoShape 22">
              <a:extLst>
                <a:ext uri="{FF2B5EF4-FFF2-40B4-BE49-F238E27FC236}">
                  <a16:creationId xmlns:a16="http://schemas.microsoft.com/office/drawing/2014/main" id="{8C628496-E867-3026-3F96-A1954BED20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75" y="10651"/>
              <a:ext cx="1442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5" name="AutoShape 21">
              <a:extLst>
                <a:ext uri="{FF2B5EF4-FFF2-40B4-BE49-F238E27FC236}">
                  <a16:creationId xmlns:a16="http://schemas.microsoft.com/office/drawing/2014/main" id="{209AEE66-930F-AD30-7997-CB3D0538BE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05" y="11266"/>
              <a:ext cx="1425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6" name="AutoShape 20">
              <a:extLst>
                <a:ext uri="{FF2B5EF4-FFF2-40B4-BE49-F238E27FC236}">
                  <a16:creationId xmlns:a16="http://schemas.microsoft.com/office/drawing/2014/main" id="{DFFD6224-2353-6CD3-5961-9B7E9D8645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50" y="11881"/>
              <a:ext cx="1425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7" name="AutoShape 19">
              <a:extLst>
                <a:ext uri="{FF2B5EF4-FFF2-40B4-BE49-F238E27FC236}">
                  <a16:creationId xmlns:a16="http://schemas.microsoft.com/office/drawing/2014/main" id="{5A721785-4AB7-6556-FBBD-461A305F800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80" y="12631"/>
              <a:ext cx="1425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8" name="AutoShape 18">
              <a:extLst>
                <a:ext uri="{FF2B5EF4-FFF2-40B4-BE49-F238E27FC236}">
                  <a16:creationId xmlns:a16="http://schemas.microsoft.com/office/drawing/2014/main" id="{8185F598-DD8F-B4F4-9F30-31DFBE0A6B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30" y="10651"/>
              <a:ext cx="75" cy="19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9" name="Text Box 17">
              <a:extLst>
                <a:ext uri="{FF2B5EF4-FFF2-40B4-BE49-F238E27FC236}">
                  <a16:creationId xmlns:a16="http://schemas.microsoft.com/office/drawing/2014/main" id="{A6489939-0453-B0E3-F901-8C9DE4385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0378"/>
              <a:ext cx="270" cy="3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0" name="Text Box 16">
              <a:extLst>
                <a:ext uri="{FF2B5EF4-FFF2-40B4-BE49-F238E27FC236}">
                  <a16:creationId xmlns:a16="http://schemas.microsoft.com/office/drawing/2014/main" id="{A4EC82AE-6DC8-EE61-07EF-A4CE50AD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" y="10168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01" name="Text Box 15">
              <a:extLst>
                <a:ext uri="{FF2B5EF4-FFF2-40B4-BE49-F238E27FC236}">
                  <a16:creationId xmlns:a16="http://schemas.microsoft.com/office/drawing/2014/main" id="{7E00CC92-9171-5B39-58A5-C9FAC226B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" y="10168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2" name="Text Box 14">
              <a:extLst>
                <a:ext uri="{FF2B5EF4-FFF2-40B4-BE49-F238E27FC236}">
                  <a16:creationId xmlns:a16="http://schemas.microsoft.com/office/drawing/2014/main" id="{6DCF4AAA-EFAA-C3DB-C800-21BC3DDDA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" y="10360"/>
              <a:ext cx="192" cy="3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03" name="Text Box 13">
              <a:extLst>
                <a:ext uri="{FF2B5EF4-FFF2-40B4-BE49-F238E27FC236}">
                  <a16:creationId xmlns:a16="http://schemas.microsoft.com/office/drawing/2014/main" id="{232ED5D9-19C0-86D4-E5EC-F879A779E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" y="12631"/>
              <a:ext cx="254" cy="3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04" name="Text Box 12">
              <a:extLst>
                <a:ext uri="{FF2B5EF4-FFF2-40B4-BE49-F238E27FC236}">
                  <a16:creationId xmlns:a16="http://schemas.microsoft.com/office/drawing/2014/main" id="{3D4A813B-ED03-3AD1-4091-2467A8D8F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7" y="12246"/>
              <a:ext cx="233" cy="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5" name="Text Box 11">
              <a:extLst>
                <a:ext uri="{FF2B5EF4-FFF2-40B4-BE49-F238E27FC236}">
                  <a16:creationId xmlns:a16="http://schemas.microsoft.com/office/drawing/2014/main" id="{4617843E-02DD-7DFF-623E-28D48DA6C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6" y="11748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6" name="Text Box 10">
              <a:extLst>
                <a:ext uri="{FF2B5EF4-FFF2-40B4-BE49-F238E27FC236}">
                  <a16:creationId xmlns:a16="http://schemas.microsoft.com/office/drawing/2014/main" id="{113D83E6-58A6-30B4-0316-BB15EA277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6" y="11230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7" name="Text Box 9">
              <a:extLst>
                <a:ext uri="{FF2B5EF4-FFF2-40B4-BE49-F238E27FC236}">
                  <a16:creationId xmlns:a16="http://schemas.microsoft.com/office/drawing/2014/main" id="{13121432-4564-01CC-95A6-77CB5F86E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2" y="10741"/>
              <a:ext cx="147" cy="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08" name="Text Box 8">
              <a:extLst>
                <a:ext uri="{FF2B5EF4-FFF2-40B4-BE49-F238E27FC236}">
                  <a16:creationId xmlns:a16="http://schemas.microsoft.com/office/drawing/2014/main" id="{502B22F7-429D-C40B-14BB-EE511C92B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11748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09" name="Text Box 7">
              <a:extLst>
                <a:ext uri="{FF2B5EF4-FFF2-40B4-BE49-F238E27FC236}">
                  <a16:creationId xmlns:a16="http://schemas.microsoft.com/office/drawing/2014/main" id="{1C9A314B-BA1A-0649-33F2-CA5E83091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11302"/>
              <a:ext cx="289" cy="4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10" name="Text Box 6">
              <a:extLst>
                <a:ext uri="{FF2B5EF4-FFF2-40B4-BE49-F238E27FC236}">
                  <a16:creationId xmlns:a16="http://schemas.microsoft.com/office/drawing/2014/main" id="{E40D00DE-7268-DAB2-6E88-682F4F8E1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9" y="10741"/>
              <a:ext cx="256" cy="3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  <p:sp>
          <p:nvSpPr>
            <p:cNvPr id="11311" name="Text Box 5">
              <a:extLst>
                <a:ext uri="{FF2B5EF4-FFF2-40B4-BE49-F238E27FC236}">
                  <a16:creationId xmlns:a16="http://schemas.microsoft.com/office/drawing/2014/main" id="{BDE14A81-A476-B0D0-84CB-5D933AC72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2631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12" name="Text Box 4">
              <a:extLst>
                <a:ext uri="{FF2B5EF4-FFF2-40B4-BE49-F238E27FC236}">
                  <a16:creationId xmlns:a16="http://schemas.microsoft.com/office/drawing/2014/main" id="{47A29C00-9186-AA7F-5860-E4AA1F186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2" y="12763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13" name="Text Box 3">
              <a:extLst>
                <a:ext uri="{FF2B5EF4-FFF2-40B4-BE49-F238E27FC236}">
                  <a16:creationId xmlns:a16="http://schemas.microsoft.com/office/drawing/2014/main" id="{777B3920-F58C-1E51-0CF6-9FF4E8A3E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" y="12829"/>
              <a:ext cx="289" cy="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/>
            </a:p>
          </p:txBody>
        </p:sp>
        <p:sp>
          <p:nvSpPr>
            <p:cNvPr id="11314" name="Text Box 2">
              <a:extLst>
                <a:ext uri="{FF2B5EF4-FFF2-40B4-BE49-F238E27FC236}">
                  <a16:creationId xmlns:a16="http://schemas.microsoft.com/office/drawing/2014/main" id="{ACD133B3-85B2-FD11-4002-E77ECADAA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" y="12270"/>
              <a:ext cx="171" cy="3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77706B41-7125-4ACD-6D08-C324AFB10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7BD6F-E3AB-6C0D-5D08-C93E46495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解</a:t>
            </a:r>
            <a:r>
              <a:rPr lang="zh-CN" altLang="zh-CN" dirty="0"/>
              <a:t> 定义</a:t>
            </a:r>
            <a:r>
              <a:rPr lang="zh-CN" altLang="zh-CN" dirty="0">
                <a:solidFill>
                  <a:srgbClr val="FF0000"/>
                </a:solidFill>
              </a:rPr>
              <a:t>有向图</a:t>
            </a:r>
            <a:r>
              <a:rPr lang="en-US" altLang="zh-CN" dirty="0"/>
              <a:t>G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 err="1"/>
              <a:t>V,E,φ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zh-CN" dirty="0"/>
              <a:t>，其中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V</a:t>
            </a:r>
            <a:r>
              <a:rPr lang="zh-CN" altLang="zh-CN" dirty="0"/>
              <a:t>＝</a:t>
            </a:r>
            <a:r>
              <a:rPr lang="en-US" altLang="zh-CN" dirty="0"/>
              <a:t>{x</a:t>
            </a:r>
            <a:r>
              <a:rPr lang="en-US" altLang="zh-CN" baseline="-25000" dirty="0"/>
              <a:t>1</a:t>
            </a:r>
            <a:r>
              <a:rPr lang="en-US" altLang="zh-CN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x</a:t>
            </a:r>
            <a:r>
              <a:rPr lang="en-US" altLang="zh-CN" baseline="-25000" dirty="0"/>
              <a:t>3</a:t>
            </a:r>
            <a:r>
              <a:rPr lang="zh-CN" altLang="zh-CN" dirty="0"/>
              <a:t>︱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zh-CN" altLang="zh-CN" dirty="0"/>
              <a:t>∈</a:t>
            </a:r>
            <a:r>
              <a:rPr lang="en-US" altLang="zh-CN" dirty="0"/>
              <a:t>{0,1}</a:t>
            </a:r>
            <a:r>
              <a:rPr lang="zh-CN" altLang="zh-CN" dirty="0"/>
              <a:t>，</a:t>
            </a:r>
            <a:r>
              <a:rPr lang="en-US" altLang="zh-CN" dirty="0" err="1"/>
              <a:t>i</a:t>
            </a:r>
            <a:r>
              <a:rPr lang="zh-CN" altLang="zh-CN" dirty="0"/>
              <a:t>＝</a:t>
            </a:r>
            <a:r>
              <a:rPr lang="en-US" altLang="zh-CN" dirty="0"/>
              <a:t>1,2,3}</a:t>
            </a:r>
            <a:endParaRPr lang="zh-CN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E</a:t>
            </a:r>
            <a:r>
              <a:rPr lang="zh-CN" altLang="zh-CN" dirty="0"/>
              <a:t>＝</a:t>
            </a:r>
            <a:r>
              <a:rPr lang="en-US" altLang="zh-CN" dirty="0"/>
              <a:t>{x</a:t>
            </a:r>
            <a:r>
              <a:rPr lang="en-US" altLang="zh-CN" baseline="-25000" dirty="0"/>
              <a:t>1</a:t>
            </a:r>
            <a:r>
              <a:rPr lang="en-US" altLang="zh-CN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x</a:t>
            </a:r>
            <a:r>
              <a:rPr lang="en-US" altLang="zh-CN" baseline="-25000" dirty="0"/>
              <a:t>3</a:t>
            </a:r>
            <a:r>
              <a:rPr lang="en-US" altLang="zh-CN" dirty="0"/>
              <a:t>x</a:t>
            </a:r>
            <a:r>
              <a:rPr lang="en-US" altLang="zh-CN" baseline="-25000" dirty="0"/>
              <a:t>4</a:t>
            </a:r>
            <a:r>
              <a:rPr lang="zh-CN" altLang="zh-CN" dirty="0"/>
              <a:t>︱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zh-CN" altLang="zh-CN" dirty="0"/>
              <a:t>∈</a:t>
            </a:r>
            <a:r>
              <a:rPr lang="en-US" altLang="zh-CN" dirty="0"/>
              <a:t>{0,1}</a:t>
            </a:r>
            <a:r>
              <a:rPr lang="zh-CN" altLang="zh-CN" dirty="0"/>
              <a:t>，</a:t>
            </a:r>
            <a:r>
              <a:rPr lang="en-US" altLang="zh-CN" dirty="0" err="1"/>
              <a:t>i</a:t>
            </a:r>
            <a:r>
              <a:rPr lang="zh-CN" altLang="zh-CN" dirty="0"/>
              <a:t>＝</a:t>
            </a:r>
            <a:r>
              <a:rPr lang="en-US" altLang="zh-CN" dirty="0"/>
              <a:t>1,2,3,4}</a:t>
            </a:r>
            <a:endParaRPr lang="zh-CN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φ</a:t>
            </a:r>
            <a:r>
              <a:rPr lang="zh-CN" altLang="zh-CN" dirty="0"/>
              <a:t>：</a:t>
            </a:r>
            <a:r>
              <a:rPr lang="en-US" altLang="zh-CN" dirty="0"/>
              <a:t>E</a:t>
            </a:r>
            <a:r>
              <a:rPr lang="zh-CN" altLang="zh-CN" dirty="0"/>
              <a:t>→</a:t>
            </a:r>
            <a:r>
              <a:rPr lang="en-US" altLang="zh-CN" dirty="0"/>
              <a:t>V</a:t>
            </a:r>
            <a:r>
              <a:rPr lang="zh-CN" altLang="zh-CN" dirty="0"/>
              <a:t>×</a:t>
            </a:r>
            <a:r>
              <a:rPr lang="en-US" altLang="zh-CN" dirty="0"/>
              <a:t>V</a:t>
            </a:r>
            <a:r>
              <a:rPr lang="zh-CN" altLang="zh-CN" dirty="0"/>
              <a:t>，且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φ(x</a:t>
            </a:r>
            <a:r>
              <a:rPr lang="en-US" altLang="zh-CN" baseline="-25000" dirty="0"/>
              <a:t>i-1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</a:t>
            </a:r>
            <a:r>
              <a:rPr lang="en-US" altLang="zh-CN" dirty="0"/>
              <a:t>0)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x</a:t>
            </a:r>
            <a:r>
              <a:rPr lang="en-US" altLang="zh-CN" baseline="-25000" dirty="0"/>
              <a:t>i-1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</a:t>
            </a:r>
            <a:r>
              <a:rPr lang="en-US" altLang="zh-CN" dirty="0"/>
              <a:t>0</a:t>
            </a:r>
            <a:r>
              <a:rPr lang="en-US" altLang="zh-CN" dirty="0">
                <a:latin typeface="+mn-ea"/>
              </a:rPr>
              <a:t>&gt;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φ(x</a:t>
            </a:r>
            <a:r>
              <a:rPr lang="en-US" altLang="zh-CN" baseline="-25000" dirty="0"/>
              <a:t>i-1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</a:t>
            </a:r>
            <a:r>
              <a:rPr lang="en-US" altLang="zh-CN" dirty="0"/>
              <a:t>1)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x</a:t>
            </a:r>
            <a:r>
              <a:rPr lang="en-US" altLang="zh-CN" baseline="-25000" dirty="0"/>
              <a:t>i-1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 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x</a:t>
            </a:r>
            <a:r>
              <a:rPr lang="en-US" altLang="zh-CN" baseline="-25000" dirty="0"/>
              <a:t>i+1</a:t>
            </a:r>
            <a:r>
              <a:rPr lang="en-US" altLang="zh-CN" dirty="0"/>
              <a:t>1</a:t>
            </a:r>
            <a:r>
              <a:rPr lang="en-US" altLang="zh-CN" dirty="0">
                <a:latin typeface="+mn-ea"/>
              </a:rPr>
              <a:t>&gt;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8E840F36-6E3A-FFD4-040C-9A64B5079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8.1.2 </a:t>
            </a:r>
            <a:r>
              <a:rPr lang="zh-CN" altLang="en-US" b="1"/>
              <a:t>欧拉图的概念</a:t>
            </a:r>
            <a:r>
              <a:rPr lang="zh-CN" altLang="en-US"/>
              <a:t> 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084B6998-0135-88E8-1BC9-3B0005C7B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>
                <a:solidFill>
                  <a:srgbClr val="FF0000"/>
                </a:solidFill>
              </a:rPr>
              <a:t>图</a:t>
            </a:r>
            <a:r>
              <a:rPr lang="en-US" altLang="zh-CN">
                <a:solidFill>
                  <a:srgbClr val="FF0000"/>
                </a:solidFill>
              </a:rPr>
              <a:t>G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316" name="Rectangle 57">
            <a:extLst>
              <a:ext uri="{FF2B5EF4-FFF2-40B4-BE49-F238E27FC236}">
                <a16:creationId xmlns:a16="http://schemas.microsoft.com/office/drawing/2014/main" id="{0B7C2577-90A9-7497-EAF6-0FD1A5D1E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3317" name="Group 1">
            <a:extLst>
              <a:ext uri="{FF2B5EF4-FFF2-40B4-BE49-F238E27FC236}">
                <a16:creationId xmlns:a16="http://schemas.microsoft.com/office/drawing/2014/main" id="{1EC42245-EC7E-F628-1806-1630FF4E4B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7950" y="2060575"/>
            <a:ext cx="9166225" cy="4725988"/>
            <a:chOff x="1856" y="3205"/>
            <a:chExt cx="8592" cy="4429"/>
          </a:xfrm>
        </p:grpSpPr>
        <p:sp>
          <p:nvSpPr>
            <p:cNvPr id="13318" name="AutoShape 56">
              <a:extLst>
                <a:ext uri="{FF2B5EF4-FFF2-40B4-BE49-F238E27FC236}">
                  <a16:creationId xmlns:a16="http://schemas.microsoft.com/office/drawing/2014/main" id="{F7DD7120-C5BB-DDEB-A63D-62F3908902F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56" y="3205"/>
              <a:ext cx="8592" cy="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Text Box 55">
              <a:extLst>
                <a:ext uri="{FF2B5EF4-FFF2-40B4-BE49-F238E27FC236}">
                  <a16:creationId xmlns:a16="http://schemas.microsoft.com/office/drawing/2014/main" id="{A31D2B2F-FB45-6EE5-BA45-643C7B10C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1" y="5881"/>
              <a:ext cx="979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1111</a:t>
              </a:r>
              <a:endParaRPr lang="en-US" altLang="zh-CN" sz="2800"/>
            </a:p>
          </p:txBody>
        </p:sp>
        <p:sp>
          <p:nvSpPr>
            <p:cNvPr id="13320" name="Text Box 54">
              <a:extLst>
                <a:ext uri="{FF2B5EF4-FFF2-40B4-BE49-F238E27FC236}">
                  <a16:creationId xmlns:a16="http://schemas.microsoft.com/office/drawing/2014/main" id="{830F6D8C-E618-A25F-DBB4-85E034248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4690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sz="2800"/>
            </a:p>
          </p:txBody>
        </p:sp>
        <p:sp>
          <p:nvSpPr>
            <p:cNvPr id="13321" name="Text Box 53">
              <a:extLst>
                <a:ext uri="{FF2B5EF4-FFF2-40B4-BE49-F238E27FC236}">
                  <a16:creationId xmlns:a16="http://schemas.microsoft.com/office/drawing/2014/main" id="{786BF8A3-8EE3-15BE-1787-CD20DC957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5121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sz="2800"/>
            </a:p>
          </p:txBody>
        </p:sp>
        <p:sp>
          <p:nvSpPr>
            <p:cNvPr id="13322" name="Text Box 52">
              <a:extLst>
                <a:ext uri="{FF2B5EF4-FFF2-40B4-BE49-F238E27FC236}">
                  <a16:creationId xmlns:a16="http://schemas.microsoft.com/office/drawing/2014/main" id="{E2EF272D-39B4-B1B3-59B6-0EFE64651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3" y="6057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sz="2800"/>
            </a:p>
          </p:txBody>
        </p:sp>
        <p:sp>
          <p:nvSpPr>
            <p:cNvPr id="13323" name="Text Box 51">
              <a:extLst>
                <a:ext uri="{FF2B5EF4-FFF2-40B4-BE49-F238E27FC236}">
                  <a16:creationId xmlns:a16="http://schemas.microsoft.com/office/drawing/2014/main" id="{19450AB8-F893-4A4B-9F77-9D7EE8A1E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4" y="4176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sz="2800"/>
            </a:p>
          </p:txBody>
        </p:sp>
        <p:sp>
          <p:nvSpPr>
            <p:cNvPr id="13324" name="Text Box 50">
              <a:extLst>
                <a:ext uri="{FF2B5EF4-FFF2-40B4-BE49-F238E27FC236}">
                  <a16:creationId xmlns:a16="http://schemas.microsoft.com/office/drawing/2014/main" id="{710AA042-15BE-57F8-96D2-3965002D5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7" y="6090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sz="2800"/>
            </a:p>
          </p:txBody>
        </p:sp>
        <p:sp>
          <p:nvSpPr>
            <p:cNvPr id="13325" name="Text Box 49">
              <a:extLst>
                <a:ext uri="{FF2B5EF4-FFF2-40B4-BE49-F238E27FC236}">
                  <a16:creationId xmlns:a16="http://schemas.microsoft.com/office/drawing/2014/main" id="{D8AF9F03-865C-00A2-106E-1C4E66296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2" y="4035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1110</a:t>
              </a:r>
              <a:endParaRPr lang="en-US" altLang="zh-CN" sz="2800"/>
            </a:p>
          </p:txBody>
        </p:sp>
        <p:sp>
          <p:nvSpPr>
            <p:cNvPr id="13326" name="Text Box 48">
              <a:extLst>
                <a:ext uri="{FF2B5EF4-FFF2-40B4-BE49-F238E27FC236}">
                  <a16:creationId xmlns:a16="http://schemas.microsoft.com/office/drawing/2014/main" id="{5DAA39B6-7D93-3B83-3AE9-73FF9958B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" y="5999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sz="1800"/>
            </a:p>
          </p:txBody>
        </p:sp>
        <p:sp>
          <p:nvSpPr>
            <p:cNvPr id="13327" name="Text Box 47">
              <a:extLst>
                <a:ext uri="{FF2B5EF4-FFF2-40B4-BE49-F238E27FC236}">
                  <a16:creationId xmlns:a16="http://schemas.microsoft.com/office/drawing/2014/main" id="{F529A0AF-F7A7-5044-BB47-68ECD543E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6066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sz="2800"/>
            </a:p>
          </p:txBody>
        </p:sp>
        <p:sp>
          <p:nvSpPr>
            <p:cNvPr id="13328" name="Text Box 46">
              <a:extLst>
                <a:ext uri="{FF2B5EF4-FFF2-40B4-BE49-F238E27FC236}">
                  <a16:creationId xmlns:a16="http://schemas.microsoft.com/office/drawing/2014/main" id="{1A4B44F0-1CB6-17D9-E4E8-0AF7D3086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3" y="4176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sz="2800"/>
            </a:p>
          </p:txBody>
        </p:sp>
        <p:sp>
          <p:nvSpPr>
            <p:cNvPr id="13329" name="Text Box 45">
              <a:extLst>
                <a:ext uri="{FF2B5EF4-FFF2-40B4-BE49-F238E27FC236}">
                  <a16:creationId xmlns:a16="http://schemas.microsoft.com/office/drawing/2014/main" id="{6427CA84-278C-B391-41AC-A2C9E17E4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8" y="5187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sz="2800"/>
            </a:p>
          </p:txBody>
        </p:sp>
        <p:sp>
          <p:nvSpPr>
            <p:cNvPr id="13330" name="Text Box 44">
              <a:extLst>
                <a:ext uri="{FF2B5EF4-FFF2-40B4-BE49-F238E27FC236}">
                  <a16:creationId xmlns:a16="http://schemas.microsoft.com/office/drawing/2014/main" id="{048F17FC-27E7-79CE-B982-EA585FDE5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" y="6066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1011</a:t>
              </a:r>
              <a:endParaRPr lang="en-US" altLang="zh-CN" sz="2800"/>
            </a:p>
          </p:txBody>
        </p:sp>
        <p:sp>
          <p:nvSpPr>
            <p:cNvPr id="13331" name="Text Box 43">
              <a:extLst>
                <a:ext uri="{FF2B5EF4-FFF2-40B4-BE49-F238E27FC236}">
                  <a16:creationId xmlns:a16="http://schemas.microsoft.com/office/drawing/2014/main" id="{4E1F6725-F5D1-3BB4-B28C-5EF82A557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" y="4176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1101</a:t>
              </a:r>
              <a:endParaRPr lang="en-US" altLang="zh-CN" sz="2800"/>
            </a:p>
          </p:txBody>
        </p:sp>
        <p:sp>
          <p:nvSpPr>
            <p:cNvPr id="13332" name="Text Box 42">
              <a:extLst>
                <a:ext uri="{FF2B5EF4-FFF2-40B4-BE49-F238E27FC236}">
                  <a16:creationId xmlns:a16="http://schemas.microsoft.com/office/drawing/2014/main" id="{F5EFA736-6531-4E78-0826-53CBBACB4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4" y="4678"/>
              <a:ext cx="1084" cy="6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sz="2800"/>
            </a:p>
          </p:txBody>
        </p:sp>
        <p:sp>
          <p:nvSpPr>
            <p:cNvPr id="13333" name="Text Box 41">
              <a:extLst>
                <a:ext uri="{FF2B5EF4-FFF2-40B4-BE49-F238E27FC236}">
                  <a16:creationId xmlns:a16="http://schemas.microsoft.com/office/drawing/2014/main" id="{C8B7CA05-4762-8E46-E013-622458639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4" y="5432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sz="2800"/>
            </a:p>
          </p:txBody>
        </p:sp>
        <p:sp>
          <p:nvSpPr>
            <p:cNvPr id="13334" name="Text Box 40">
              <a:extLst>
                <a:ext uri="{FF2B5EF4-FFF2-40B4-BE49-F238E27FC236}">
                  <a16:creationId xmlns:a16="http://schemas.microsoft.com/office/drawing/2014/main" id="{13649DCB-929A-120E-E5D5-989AA3A41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4" y="6943"/>
              <a:ext cx="1144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sz="2800"/>
            </a:p>
          </p:txBody>
        </p:sp>
        <p:sp>
          <p:nvSpPr>
            <p:cNvPr id="13335" name="Text Box 39">
              <a:extLst>
                <a:ext uri="{FF2B5EF4-FFF2-40B4-BE49-F238E27FC236}">
                  <a16:creationId xmlns:a16="http://schemas.microsoft.com/office/drawing/2014/main" id="{A5B6318C-9C36-5585-191F-5ED590E4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0" y="3501"/>
              <a:ext cx="1150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1100</a:t>
              </a:r>
              <a:endParaRPr lang="en-US" altLang="zh-CN" sz="2800"/>
            </a:p>
          </p:txBody>
        </p:sp>
        <p:sp>
          <p:nvSpPr>
            <p:cNvPr id="13336" name="Text Box 38">
              <a:extLst>
                <a:ext uri="{FF2B5EF4-FFF2-40B4-BE49-F238E27FC236}">
                  <a16:creationId xmlns:a16="http://schemas.microsoft.com/office/drawing/2014/main" id="{9B068A5B-BE5F-2BB1-8F0F-9FD012A93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7" y="6960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CC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001</a:t>
              </a:r>
              <a:endParaRPr lang="en-US" altLang="zh-CN" sz="2800">
                <a:solidFill>
                  <a:srgbClr val="00CC99"/>
                </a:solidFill>
              </a:endParaRPr>
            </a:p>
          </p:txBody>
        </p:sp>
        <p:sp>
          <p:nvSpPr>
            <p:cNvPr id="13337" name="Text Box 37">
              <a:extLst>
                <a:ext uri="{FF2B5EF4-FFF2-40B4-BE49-F238E27FC236}">
                  <a16:creationId xmlns:a16="http://schemas.microsoft.com/office/drawing/2014/main" id="{50C24F54-451F-26C4-85E4-630B1D7C8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3" y="6985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en-US" altLang="zh-CN" sz="2800">
                <a:solidFill>
                  <a:srgbClr val="FF00FF"/>
                </a:solidFill>
              </a:endParaRPr>
            </a:p>
          </p:txBody>
        </p:sp>
        <p:sp>
          <p:nvSpPr>
            <p:cNvPr id="13338" name="Text Box 36">
              <a:extLst>
                <a:ext uri="{FF2B5EF4-FFF2-40B4-BE49-F238E27FC236}">
                  <a16:creationId xmlns:a16="http://schemas.microsoft.com/office/drawing/2014/main" id="{677277E3-2264-CB5C-5148-EB8F3073A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8" y="5232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010</a:t>
              </a:r>
              <a:endParaRPr lang="en-US" altLang="zh-CN" sz="2800">
                <a:solidFill>
                  <a:srgbClr val="FF0066"/>
                </a:solidFill>
              </a:endParaRPr>
            </a:p>
          </p:txBody>
        </p:sp>
        <p:sp>
          <p:nvSpPr>
            <p:cNvPr id="13339" name="Text Box 35">
              <a:extLst>
                <a:ext uri="{FF2B5EF4-FFF2-40B4-BE49-F238E27FC236}">
                  <a16:creationId xmlns:a16="http://schemas.microsoft.com/office/drawing/2014/main" id="{4FE3E079-CC3A-7E6E-DD1A-8C7289D2A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0" y="5188"/>
              <a:ext cx="792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101</a:t>
              </a:r>
              <a:endParaRPr lang="en-US" altLang="zh-CN" sz="2800">
                <a:solidFill>
                  <a:srgbClr val="0066FF"/>
                </a:solidFill>
              </a:endParaRPr>
            </a:p>
          </p:txBody>
        </p:sp>
        <p:sp>
          <p:nvSpPr>
            <p:cNvPr id="13340" name="Text Box 34">
              <a:extLst>
                <a:ext uri="{FF2B5EF4-FFF2-40B4-BE49-F238E27FC236}">
                  <a16:creationId xmlns:a16="http://schemas.microsoft.com/office/drawing/2014/main" id="{1719CEB1-3111-357F-6D73-5CEDF02AD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0" y="5212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CC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111</a:t>
              </a:r>
              <a:endParaRPr lang="en-US" altLang="zh-CN" sz="2800">
                <a:solidFill>
                  <a:srgbClr val="00CC99"/>
                </a:solidFill>
              </a:endParaRPr>
            </a:p>
          </p:txBody>
        </p:sp>
        <p:sp>
          <p:nvSpPr>
            <p:cNvPr id="13341" name="Text Box 33">
              <a:extLst>
                <a:ext uri="{FF2B5EF4-FFF2-40B4-BE49-F238E27FC236}">
                  <a16:creationId xmlns:a16="http://schemas.microsoft.com/office/drawing/2014/main" id="{A910B6EB-F65C-9EF5-509F-05A03ED3F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5317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13342" name="Text Box 32">
              <a:extLst>
                <a:ext uri="{FF2B5EF4-FFF2-40B4-BE49-F238E27FC236}">
                  <a16:creationId xmlns:a16="http://schemas.microsoft.com/office/drawing/2014/main" id="{B3991D72-A750-F031-BB82-306DED4C1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" y="3366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</a:t>
              </a:r>
              <a:endParaRPr lang="en-US" altLang="zh-CN" sz="2800">
                <a:solidFill>
                  <a:srgbClr val="0000FF"/>
                </a:solidFill>
              </a:endParaRPr>
            </a:p>
          </p:txBody>
        </p:sp>
        <p:sp>
          <p:nvSpPr>
            <p:cNvPr id="13343" name="Text Box 31">
              <a:extLst>
                <a:ext uri="{FF2B5EF4-FFF2-40B4-BE49-F238E27FC236}">
                  <a16:creationId xmlns:a16="http://schemas.microsoft.com/office/drawing/2014/main" id="{C9001830-84BA-6D3E-6633-953D9B688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5" y="3366"/>
              <a:ext cx="863" cy="6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110</a:t>
              </a:r>
              <a:endParaRPr lang="en-US" altLang="zh-CN" sz="2800">
                <a:solidFill>
                  <a:srgbClr val="FF0066"/>
                </a:solidFill>
              </a:endParaRPr>
            </a:p>
          </p:txBody>
        </p:sp>
        <p:sp>
          <p:nvSpPr>
            <p:cNvPr id="13344" name="Oval 30">
              <a:extLst>
                <a:ext uri="{FF2B5EF4-FFF2-40B4-BE49-F238E27FC236}">
                  <a16:creationId xmlns:a16="http://schemas.microsoft.com/office/drawing/2014/main" id="{58E97354-6BA8-7014-758E-38A91A82D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" y="535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45" name="Oval 29">
              <a:extLst>
                <a:ext uri="{FF2B5EF4-FFF2-40B4-BE49-F238E27FC236}">
                  <a16:creationId xmlns:a16="http://schemas.microsoft.com/office/drawing/2014/main" id="{122F8AD4-7F1C-77BB-E907-477C456F0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" y="377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46" name="Oval 28">
              <a:extLst>
                <a:ext uri="{FF2B5EF4-FFF2-40B4-BE49-F238E27FC236}">
                  <a16:creationId xmlns:a16="http://schemas.microsoft.com/office/drawing/2014/main" id="{66F9832F-8FFF-C5B3-C995-0F6A1A884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9" y="377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47" name="Oval 27">
              <a:extLst>
                <a:ext uri="{FF2B5EF4-FFF2-40B4-BE49-F238E27FC236}">
                  <a16:creationId xmlns:a16="http://schemas.microsoft.com/office/drawing/2014/main" id="{DF4AE966-EC62-890F-19D2-71F8060AB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5" y="680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48" name="Oval 26">
              <a:extLst>
                <a:ext uri="{FF2B5EF4-FFF2-40B4-BE49-F238E27FC236}">
                  <a16:creationId xmlns:a16="http://schemas.microsoft.com/office/drawing/2014/main" id="{2F289712-1063-DC93-7C8B-E9102FA79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5" y="535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49" name="Oval 25">
              <a:extLst>
                <a:ext uri="{FF2B5EF4-FFF2-40B4-BE49-F238E27FC236}">
                  <a16:creationId xmlns:a16="http://schemas.microsoft.com/office/drawing/2014/main" id="{F13D3011-422D-E501-0114-7C667EB59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535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50" name="Oval 24">
              <a:extLst>
                <a:ext uri="{FF2B5EF4-FFF2-40B4-BE49-F238E27FC236}">
                  <a16:creationId xmlns:a16="http://schemas.microsoft.com/office/drawing/2014/main" id="{BAD2ACA0-FC5D-5BE0-EC97-216E171E0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4" y="680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351" name="Oval 23">
              <a:extLst>
                <a:ext uri="{FF2B5EF4-FFF2-40B4-BE49-F238E27FC236}">
                  <a16:creationId xmlns:a16="http://schemas.microsoft.com/office/drawing/2014/main" id="{BC070AFE-DE8B-DBB5-7847-3A7685A19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" y="535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3352" name="AutoShape 22">
              <a:extLst>
                <a:ext uri="{FF2B5EF4-FFF2-40B4-BE49-F238E27FC236}">
                  <a16:creationId xmlns:a16="http://schemas.microsoft.com/office/drawing/2014/main" id="{B651C927-3F60-B774-5C45-F57BACBE4F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737" y="4035"/>
              <a:ext cx="75" cy="2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3" name="AutoShape 21">
              <a:extLst>
                <a:ext uri="{FF2B5EF4-FFF2-40B4-BE49-F238E27FC236}">
                  <a16:creationId xmlns:a16="http://schemas.microsoft.com/office/drawing/2014/main" id="{451A2C94-AD57-2679-C91F-C6685E2EA5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33" y="4035"/>
              <a:ext cx="1" cy="2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4" name="AutoShape 20">
              <a:extLst>
                <a:ext uri="{FF2B5EF4-FFF2-40B4-BE49-F238E27FC236}">
                  <a16:creationId xmlns:a16="http://schemas.microsoft.com/office/drawing/2014/main" id="{02CF2C67-95D6-E631-5CA3-303AF9C147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0" y="6937"/>
              <a:ext cx="292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5" name="AutoShape 19">
              <a:extLst>
                <a:ext uri="{FF2B5EF4-FFF2-40B4-BE49-F238E27FC236}">
                  <a16:creationId xmlns:a16="http://schemas.microsoft.com/office/drawing/2014/main" id="{738D008D-8C5A-4451-3B22-FA30321DAE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60" y="3907"/>
              <a:ext cx="284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6" name="AutoShape 18">
              <a:extLst>
                <a:ext uri="{FF2B5EF4-FFF2-40B4-BE49-F238E27FC236}">
                  <a16:creationId xmlns:a16="http://schemas.microsoft.com/office/drawing/2014/main" id="{B1222D29-7180-4F06-A565-F4DA752B5A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263" y="3998"/>
              <a:ext cx="1279" cy="1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7" name="AutoShape 17">
              <a:extLst>
                <a:ext uri="{FF2B5EF4-FFF2-40B4-BE49-F238E27FC236}">
                  <a16:creationId xmlns:a16="http://schemas.microsoft.com/office/drawing/2014/main" id="{445BBE32-4C61-CCFF-8B3C-9A016B079A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39" y="5572"/>
              <a:ext cx="1118" cy="13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8" name="AutoShape 16">
              <a:extLst>
                <a:ext uri="{FF2B5EF4-FFF2-40B4-BE49-F238E27FC236}">
                  <a16:creationId xmlns:a16="http://schemas.microsoft.com/office/drawing/2014/main" id="{B99D4809-BAD2-4EB9-37F9-3BCA4D96E0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723" y="3998"/>
              <a:ext cx="749" cy="13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9" name="AutoShape 15">
              <a:extLst>
                <a:ext uri="{FF2B5EF4-FFF2-40B4-BE49-F238E27FC236}">
                  <a16:creationId xmlns:a16="http://schemas.microsoft.com/office/drawing/2014/main" id="{A4978FA8-6A20-96E7-84AD-77F8DE343B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23" y="5609"/>
              <a:ext cx="840" cy="12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0" name="AutoShape 14">
              <a:extLst>
                <a:ext uri="{FF2B5EF4-FFF2-40B4-BE49-F238E27FC236}">
                  <a16:creationId xmlns:a16="http://schemas.microsoft.com/office/drawing/2014/main" id="{4C074AD0-181F-70AB-C35F-8E42B52DF6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53" y="5572"/>
              <a:ext cx="1189" cy="12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1" name="AutoShape 13">
              <a:extLst>
                <a:ext uri="{FF2B5EF4-FFF2-40B4-BE49-F238E27FC236}">
                  <a16:creationId xmlns:a16="http://schemas.microsoft.com/office/drawing/2014/main" id="{FE2A5047-ED0D-79F6-2761-27CA44C092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68" y="3998"/>
              <a:ext cx="678" cy="13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2" name="AutoShape 12">
              <a:extLst>
                <a:ext uri="{FF2B5EF4-FFF2-40B4-BE49-F238E27FC236}">
                  <a16:creationId xmlns:a16="http://schemas.microsoft.com/office/drawing/2014/main" id="{45FA2134-3D26-E712-74E3-EBE72D9275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8" y="5609"/>
              <a:ext cx="753" cy="12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3" name="AutoShape 11">
              <a:extLst>
                <a:ext uri="{FF2B5EF4-FFF2-40B4-BE49-F238E27FC236}">
                  <a16:creationId xmlns:a16="http://schemas.microsoft.com/office/drawing/2014/main" id="{45DC1A2E-996E-D675-E279-43FBD16B09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827" y="3998"/>
              <a:ext cx="1230" cy="13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4" name="AutoShape 10">
              <a:extLst>
                <a:ext uri="{FF2B5EF4-FFF2-40B4-BE49-F238E27FC236}">
                  <a16:creationId xmlns:a16="http://schemas.microsoft.com/office/drawing/2014/main" id="{13AFA015-5672-D5DB-D5B3-C985F48699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115" y="4755"/>
              <a:ext cx="6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5" name="AutoShape 9">
              <a:extLst>
                <a:ext uri="{FF2B5EF4-FFF2-40B4-BE49-F238E27FC236}">
                  <a16:creationId xmlns:a16="http://schemas.microsoft.com/office/drawing/2014/main" id="{203A209B-5827-8794-4EA0-AFCA6110FC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12" y="5982"/>
              <a:ext cx="45" cy="1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6" name="AutoShape 8">
              <a:extLst>
                <a:ext uri="{FF2B5EF4-FFF2-40B4-BE49-F238E27FC236}">
                  <a16:creationId xmlns:a16="http://schemas.microsoft.com/office/drawing/2014/main" id="{CA8E8FA8-8D85-2B62-1EB3-7D036A74D9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90" y="5481"/>
              <a:ext cx="115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67" name="Freeform 7">
              <a:extLst>
                <a:ext uri="{FF2B5EF4-FFF2-40B4-BE49-F238E27FC236}">
                  <a16:creationId xmlns:a16="http://schemas.microsoft.com/office/drawing/2014/main" id="{E2F93CE5-2A4C-AE34-5867-ED4A401D1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" y="5056"/>
              <a:ext cx="1299" cy="335"/>
            </a:xfrm>
            <a:custGeom>
              <a:avLst/>
              <a:gdLst>
                <a:gd name="T0" fmla="*/ 1279 w 1299"/>
                <a:gd name="T1" fmla="*/ 315 h 335"/>
                <a:gd name="T2" fmla="*/ 1219 w 1299"/>
                <a:gd name="T3" fmla="*/ 255 h 335"/>
                <a:gd name="T4" fmla="*/ 1204 w 1299"/>
                <a:gd name="T5" fmla="*/ 210 h 335"/>
                <a:gd name="T6" fmla="*/ 1114 w 1299"/>
                <a:gd name="T7" fmla="*/ 150 h 335"/>
                <a:gd name="T8" fmla="*/ 769 w 1299"/>
                <a:gd name="T9" fmla="*/ 30 h 335"/>
                <a:gd name="T10" fmla="*/ 394 w 1299"/>
                <a:gd name="T11" fmla="*/ 60 h 335"/>
                <a:gd name="T12" fmla="*/ 304 w 1299"/>
                <a:gd name="T13" fmla="*/ 120 h 335"/>
                <a:gd name="T14" fmla="*/ 214 w 1299"/>
                <a:gd name="T15" fmla="*/ 150 h 335"/>
                <a:gd name="T16" fmla="*/ 124 w 1299"/>
                <a:gd name="T17" fmla="*/ 210 h 335"/>
                <a:gd name="T18" fmla="*/ 79 w 1299"/>
                <a:gd name="T19" fmla="*/ 240 h 335"/>
                <a:gd name="T20" fmla="*/ 49 w 1299"/>
                <a:gd name="T21" fmla="*/ 285 h 335"/>
                <a:gd name="T22" fmla="*/ 4 w 1299"/>
                <a:gd name="T23" fmla="*/ 315 h 335"/>
                <a:gd name="T24" fmla="*/ 19 w 1299"/>
                <a:gd name="T25" fmla="*/ 330 h 3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99" h="335">
                  <a:moveTo>
                    <a:pt x="1279" y="315"/>
                  </a:moveTo>
                  <a:cubicBezTo>
                    <a:pt x="1239" y="195"/>
                    <a:pt x="1299" y="335"/>
                    <a:pt x="1219" y="255"/>
                  </a:cubicBezTo>
                  <a:cubicBezTo>
                    <a:pt x="1208" y="244"/>
                    <a:pt x="1215" y="221"/>
                    <a:pt x="1204" y="210"/>
                  </a:cubicBezTo>
                  <a:cubicBezTo>
                    <a:pt x="1179" y="185"/>
                    <a:pt x="1139" y="175"/>
                    <a:pt x="1114" y="150"/>
                  </a:cubicBezTo>
                  <a:cubicBezTo>
                    <a:pt x="1016" y="52"/>
                    <a:pt x="902" y="45"/>
                    <a:pt x="769" y="30"/>
                  </a:cubicBezTo>
                  <a:cubicBezTo>
                    <a:pt x="650" y="0"/>
                    <a:pt x="515" y="47"/>
                    <a:pt x="394" y="60"/>
                  </a:cubicBezTo>
                  <a:cubicBezTo>
                    <a:pt x="245" y="110"/>
                    <a:pt x="473" y="26"/>
                    <a:pt x="304" y="120"/>
                  </a:cubicBezTo>
                  <a:cubicBezTo>
                    <a:pt x="276" y="135"/>
                    <a:pt x="240" y="132"/>
                    <a:pt x="214" y="150"/>
                  </a:cubicBezTo>
                  <a:cubicBezTo>
                    <a:pt x="184" y="170"/>
                    <a:pt x="154" y="190"/>
                    <a:pt x="124" y="210"/>
                  </a:cubicBezTo>
                  <a:cubicBezTo>
                    <a:pt x="109" y="220"/>
                    <a:pt x="79" y="240"/>
                    <a:pt x="79" y="240"/>
                  </a:cubicBezTo>
                  <a:cubicBezTo>
                    <a:pt x="69" y="255"/>
                    <a:pt x="62" y="272"/>
                    <a:pt x="49" y="285"/>
                  </a:cubicBezTo>
                  <a:cubicBezTo>
                    <a:pt x="36" y="298"/>
                    <a:pt x="14" y="300"/>
                    <a:pt x="4" y="315"/>
                  </a:cubicBezTo>
                  <a:cubicBezTo>
                    <a:pt x="0" y="321"/>
                    <a:pt x="14" y="325"/>
                    <a:pt x="19" y="33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Freeform 6">
              <a:extLst>
                <a:ext uri="{FF2B5EF4-FFF2-40B4-BE49-F238E27FC236}">
                  <a16:creationId xmlns:a16="http://schemas.microsoft.com/office/drawing/2014/main" id="{7C0D6DB2-F53A-7E12-69C3-B30C968DF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" y="4992"/>
              <a:ext cx="903" cy="1007"/>
            </a:xfrm>
            <a:custGeom>
              <a:avLst/>
              <a:gdLst>
                <a:gd name="T0" fmla="*/ 15 w 903"/>
                <a:gd name="T1" fmla="*/ 600 h 1007"/>
                <a:gd name="T2" fmla="*/ 165 w 903"/>
                <a:gd name="T3" fmla="*/ 765 h 1007"/>
                <a:gd name="T4" fmla="*/ 255 w 903"/>
                <a:gd name="T5" fmla="*/ 810 h 1007"/>
                <a:gd name="T6" fmla="*/ 345 w 903"/>
                <a:gd name="T7" fmla="*/ 885 h 1007"/>
                <a:gd name="T8" fmla="*/ 705 w 903"/>
                <a:gd name="T9" fmla="*/ 930 h 1007"/>
                <a:gd name="T10" fmla="*/ 870 w 903"/>
                <a:gd name="T11" fmla="*/ 705 h 1007"/>
                <a:gd name="T12" fmla="*/ 885 w 903"/>
                <a:gd name="T13" fmla="*/ 255 h 1007"/>
                <a:gd name="T14" fmla="*/ 765 w 903"/>
                <a:gd name="T15" fmla="*/ 90 h 1007"/>
                <a:gd name="T16" fmla="*/ 750 w 903"/>
                <a:gd name="T17" fmla="*/ 45 h 1007"/>
                <a:gd name="T18" fmla="*/ 600 w 903"/>
                <a:gd name="T19" fmla="*/ 0 h 1007"/>
                <a:gd name="T20" fmla="*/ 285 w 903"/>
                <a:gd name="T21" fmla="*/ 60 h 1007"/>
                <a:gd name="T22" fmla="*/ 240 w 903"/>
                <a:gd name="T23" fmla="*/ 90 h 1007"/>
                <a:gd name="T24" fmla="*/ 150 w 903"/>
                <a:gd name="T25" fmla="*/ 180 h 1007"/>
                <a:gd name="T26" fmla="*/ 90 w 903"/>
                <a:gd name="T27" fmla="*/ 255 h 1007"/>
                <a:gd name="T28" fmla="*/ 30 w 903"/>
                <a:gd name="T29" fmla="*/ 330 h 1007"/>
                <a:gd name="T30" fmla="*/ 0 w 903"/>
                <a:gd name="T31" fmla="*/ 390 h 100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03" h="1007">
                  <a:moveTo>
                    <a:pt x="15" y="600"/>
                  </a:moveTo>
                  <a:cubicBezTo>
                    <a:pt x="89" y="649"/>
                    <a:pt x="99" y="721"/>
                    <a:pt x="165" y="765"/>
                  </a:cubicBezTo>
                  <a:cubicBezTo>
                    <a:pt x="300" y="855"/>
                    <a:pt x="113" y="692"/>
                    <a:pt x="255" y="810"/>
                  </a:cubicBezTo>
                  <a:cubicBezTo>
                    <a:pt x="370" y="906"/>
                    <a:pt x="233" y="811"/>
                    <a:pt x="345" y="885"/>
                  </a:cubicBezTo>
                  <a:cubicBezTo>
                    <a:pt x="427" y="1007"/>
                    <a:pt x="551" y="938"/>
                    <a:pt x="705" y="930"/>
                  </a:cubicBezTo>
                  <a:cubicBezTo>
                    <a:pt x="789" y="874"/>
                    <a:pt x="816" y="785"/>
                    <a:pt x="870" y="705"/>
                  </a:cubicBezTo>
                  <a:cubicBezTo>
                    <a:pt x="903" y="538"/>
                    <a:pt x="902" y="446"/>
                    <a:pt x="885" y="255"/>
                  </a:cubicBezTo>
                  <a:cubicBezTo>
                    <a:pt x="878" y="175"/>
                    <a:pt x="838" y="114"/>
                    <a:pt x="765" y="90"/>
                  </a:cubicBezTo>
                  <a:cubicBezTo>
                    <a:pt x="760" y="75"/>
                    <a:pt x="761" y="56"/>
                    <a:pt x="750" y="45"/>
                  </a:cubicBezTo>
                  <a:cubicBezTo>
                    <a:pt x="733" y="28"/>
                    <a:pt x="630" y="10"/>
                    <a:pt x="600" y="0"/>
                  </a:cubicBezTo>
                  <a:cubicBezTo>
                    <a:pt x="514" y="7"/>
                    <a:pt x="368" y="5"/>
                    <a:pt x="285" y="60"/>
                  </a:cubicBezTo>
                  <a:cubicBezTo>
                    <a:pt x="270" y="70"/>
                    <a:pt x="253" y="78"/>
                    <a:pt x="240" y="90"/>
                  </a:cubicBezTo>
                  <a:cubicBezTo>
                    <a:pt x="208" y="118"/>
                    <a:pt x="150" y="180"/>
                    <a:pt x="150" y="180"/>
                  </a:cubicBezTo>
                  <a:cubicBezTo>
                    <a:pt x="112" y="293"/>
                    <a:pt x="168" y="158"/>
                    <a:pt x="90" y="255"/>
                  </a:cubicBezTo>
                  <a:cubicBezTo>
                    <a:pt x="7" y="359"/>
                    <a:pt x="159" y="244"/>
                    <a:pt x="30" y="330"/>
                  </a:cubicBezTo>
                  <a:cubicBezTo>
                    <a:pt x="13" y="382"/>
                    <a:pt x="26" y="364"/>
                    <a:pt x="0" y="3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Freeform 5">
              <a:extLst>
                <a:ext uri="{FF2B5EF4-FFF2-40B4-BE49-F238E27FC236}">
                  <a16:creationId xmlns:a16="http://schemas.microsoft.com/office/drawing/2014/main" id="{34D3FA52-DE27-0F92-5D9F-166BD6A52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5082"/>
              <a:ext cx="840" cy="1140"/>
            </a:xfrm>
            <a:custGeom>
              <a:avLst/>
              <a:gdLst>
                <a:gd name="T0" fmla="*/ 795 w 840"/>
                <a:gd name="T1" fmla="*/ 330 h 1140"/>
                <a:gd name="T2" fmla="*/ 660 w 840"/>
                <a:gd name="T3" fmla="*/ 270 h 1140"/>
                <a:gd name="T4" fmla="*/ 645 w 840"/>
                <a:gd name="T5" fmla="*/ 225 h 1140"/>
                <a:gd name="T6" fmla="*/ 555 w 840"/>
                <a:gd name="T7" fmla="*/ 165 h 1140"/>
                <a:gd name="T8" fmla="*/ 420 w 840"/>
                <a:gd name="T9" fmla="*/ 75 h 1140"/>
                <a:gd name="T10" fmla="*/ 330 w 840"/>
                <a:gd name="T11" fmla="*/ 15 h 1140"/>
                <a:gd name="T12" fmla="*/ 210 w 840"/>
                <a:gd name="T13" fmla="*/ 30 h 1140"/>
                <a:gd name="T14" fmla="*/ 90 w 840"/>
                <a:gd name="T15" fmla="*/ 195 h 1140"/>
                <a:gd name="T16" fmla="*/ 60 w 840"/>
                <a:gd name="T17" fmla="*/ 240 h 1140"/>
                <a:gd name="T18" fmla="*/ 0 w 840"/>
                <a:gd name="T19" fmla="*/ 540 h 1140"/>
                <a:gd name="T20" fmla="*/ 60 w 840"/>
                <a:gd name="T21" fmla="*/ 810 h 1140"/>
                <a:gd name="T22" fmla="*/ 90 w 840"/>
                <a:gd name="T23" fmla="*/ 855 h 1140"/>
                <a:gd name="T24" fmla="*/ 105 w 840"/>
                <a:gd name="T25" fmla="*/ 900 h 1140"/>
                <a:gd name="T26" fmla="*/ 150 w 840"/>
                <a:gd name="T27" fmla="*/ 945 h 1140"/>
                <a:gd name="T28" fmla="*/ 285 w 840"/>
                <a:gd name="T29" fmla="*/ 1065 h 1140"/>
                <a:gd name="T30" fmla="*/ 315 w 840"/>
                <a:gd name="T31" fmla="*/ 1110 h 1140"/>
                <a:gd name="T32" fmla="*/ 405 w 840"/>
                <a:gd name="T33" fmla="*/ 1140 h 1140"/>
                <a:gd name="T34" fmla="*/ 510 w 840"/>
                <a:gd name="T35" fmla="*/ 1110 h 1140"/>
                <a:gd name="T36" fmla="*/ 555 w 840"/>
                <a:gd name="T37" fmla="*/ 1080 h 1140"/>
                <a:gd name="T38" fmla="*/ 600 w 840"/>
                <a:gd name="T39" fmla="*/ 1065 h 1140"/>
                <a:gd name="T40" fmla="*/ 690 w 840"/>
                <a:gd name="T41" fmla="*/ 945 h 1140"/>
                <a:gd name="T42" fmla="*/ 795 w 840"/>
                <a:gd name="T43" fmla="*/ 720 h 1140"/>
                <a:gd name="T44" fmla="*/ 840 w 840"/>
                <a:gd name="T45" fmla="*/ 540 h 114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40" h="1140">
                  <a:moveTo>
                    <a:pt x="795" y="330"/>
                  </a:moveTo>
                  <a:cubicBezTo>
                    <a:pt x="688" y="294"/>
                    <a:pt x="731" y="318"/>
                    <a:pt x="660" y="270"/>
                  </a:cubicBezTo>
                  <a:cubicBezTo>
                    <a:pt x="655" y="255"/>
                    <a:pt x="656" y="236"/>
                    <a:pt x="645" y="225"/>
                  </a:cubicBezTo>
                  <a:cubicBezTo>
                    <a:pt x="620" y="200"/>
                    <a:pt x="585" y="185"/>
                    <a:pt x="555" y="165"/>
                  </a:cubicBezTo>
                  <a:cubicBezTo>
                    <a:pt x="510" y="135"/>
                    <a:pt x="465" y="105"/>
                    <a:pt x="420" y="75"/>
                  </a:cubicBezTo>
                  <a:cubicBezTo>
                    <a:pt x="308" y="0"/>
                    <a:pt x="437" y="51"/>
                    <a:pt x="330" y="15"/>
                  </a:cubicBezTo>
                  <a:cubicBezTo>
                    <a:pt x="290" y="20"/>
                    <a:pt x="249" y="19"/>
                    <a:pt x="210" y="30"/>
                  </a:cubicBezTo>
                  <a:cubicBezTo>
                    <a:pt x="135" y="50"/>
                    <a:pt x="119" y="136"/>
                    <a:pt x="90" y="195"/>
                  </a:cubicBezTo>
                  <a:cubicBezTo>
                    <a:pt x="82" y="211"/>
                    <a:pt x="68" y="224"/>
                    <a:pt x="60" y="240"/>
                  </a:cubicBezTo>
                  <a:cubicBezTo>
                    <a:pt x="17" y="327"/>
                    <a:pt x="14" y="444"/>
                    <a:pt x="0" y="540"/>
                  </a:cubicBezTo>
                  <a:cubicBezTo>
                    <a:pt x="11" y="642"/>
                    <a:pt x="28" y="715"/>
                    <a:pt x="60" y="810"/>
                  </a:cubicBezTo>
                  <a:cubicBezTo>
                    <a:pt x="66" y="827"/>
                    <a:pt x="82" y="839"/>
                    <a:pt x="90" y="855"/>
                  </a:cubicBezTo>
                  <a:cubicBezTo>
                    <a:pt x="97" y="869"/>
                    <a:pt x="96" y="887"/>
                    <a:pt x="105" y="900"/>
                  </a:cubicBezTo>
                  <a:cubicBezTo>
                    <a:pt x="117" y="918"/>
                    <a:pt x="136" y="929"/>
                    <a:pt x="150" y="945"/>
                  </a:cubicBezTo>
                  <a:cubicBezTo>
                    <a:pt x="197" y="1001"/>
                    <a:pt x="217" y="1031"/>
                    <a:pt x="285" y="1065"/>
                  </a:cubicBezTo>
                  <a:cubicBezTo>
                    <a:pt x="295" y="1080"/>
                    <a:pt x="300" y="1100"/>
                    <a:pt x="315" y="1110"/>
                  </a:cubicBezTo>
                  <a:cubicBezTo>
                    <a:pt x="342" y="1127"/>
                    <a:pt x="405" y="1140"/>
                    <a:pt x="405" y="1140"/>
                  </a:cubicBezTo>
                  <a:cubicBezTo>
                    <a:pt x="440" y="1128"/>
                    <a:pt x="477" y="1124"/>
                    <a:pt x="510" y="1110"/>
                  </a:cubicBezTo>
                  <a:cubicBezTo>
                    <a:pt x="527" y="1103"/>
                    <a:pt x="539" y="1088"/>
                    <a:pt x="555" y="1080"/>
                  </a:cubicBezTo>
                  <a:cubicBezTo>
                    <a:pt x="569" y="1073"/>
                    <a:pt x="585" y="1070"/>
                    <a:pt x="600" y="1065"/>
                  </a:cubicBezTo>
                  <a:cubicBezTo>
                    <a:pt x="626" y="988"/>
                    <a:pt x="656" y="1014"/>
                    <a:pt x="690" y="945"/>
                  </a:cubicBezTo>
                  <a:cubicBezTo>
                    <a:pt x="727" y="870"/>
                    <a:pt x="748" y="790"/>
                    <a:pt x="795" y="720"/>
                  </a:cubicBezTo>
                  <a:cubicBezTo>
                    <a:pt x="810" y="660"/>
                    <a:pt x="840" y="603"/>
                    <a:pt x="840" y="5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370" name="AutoShape 4">
              <a:extLst>
                <a:ext uri="{FF2B5EF4-FFF2-40B4-BE49-F238E27FC236}">
                  <a16:creationId xmlns:a16="http://schemas.microsoft.com/office/drawing/2014/main" id="{23370E9B-B2C9-3331-D0BA-8BCEE34FB8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95" y="4992"/>
              <a:ext cx="150" cy="4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1" name="AutoShape 3">
              <a:extLst>
                <a:ext uri="{FF2B5EF4-FFF2-40B4-BE49-F238E27FC236}">
                  <a16:creationId xmlns:a16="http://schemas.microsoft.com/office/drawing/2014/main" id="{C6143AF7-C5B7-E70B-FF53-1C6F8B9762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418" y="5892"/>
              <a:ext cx="90" cy="1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2" name="AutoShape 2">
              <a:extLst>
                <a:ext uri="{FF2B5EF4-FFF2-40B4-BE49-F238E27FC236}">
                  <a16:creationId xmlns:a16="http://schemas.microsoft.com/office/drawing/2014/main" id="{25FDD8FB-3BF9-4C12-D09E-F78E6956D2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8574" y="4830"/>
              <a:ext cx="139" cy="15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6B86598A-00D9-5CF0-4EE3-BE0FA9E61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8.1.3 Fleury</a:t>
            </a:r>
            <a:r>
              <a:rPr lang="zh-CN" altLang="en-US" b="1"/>
              <a:t>算法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D9432-1B54-B452-154E-0C7B9E774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12000"/>
              </a:lnSpc>
              <a:defRPr/>
            </a:pPr>
            <a:r>
              <a:rPr lang="zh-CN" altLang="zh-CN" b="1" dirty="0">
                <a:solidFill>
                  <a:srgbClr val="FF0066"/>
                </a:solidFill>
              </a:rPr>
              <a:t>算法</a:t>
            </a:r>
            <a:r>
              <a:rPr lang="en-US" altLang="zh-CN" b="1" dirty="0">
                <a:solidFill>
                  <a:srgbClr val="FF0066"/>
                </a:solidFill>
              </a:rPr>
              <a:t>3.4.1</a:t>
            </a:r>
            <a:r>
              <a:rPr lang="zh-CN" altLang="zh-CN" dirty="0"/>
              <a:t>（求欧拉回路的</a:t>
            </a:r>
            <a:r>
              <a:rPr lang="en-US" altLang="zh-CN" dirty="0" err="1">
                <a:solidFill>
                  <a:srgbClr val="FF0066"/>
                </a:solidFill>
              </a:rPr>
              <a:t>Fleury</a:t>
            </a:r>
            <a:r>
              <a:rPr lang="zh-CN" altLang="zh-CN" dirty="0">
                <a:solidFill>
                  <a:srgbClr val="FF0066"/>
                </a:solidFill>
              </a:rPr>
              <a:t>算法</a:t>
            </a:r>
            <a:r>
              <a:rPr lang="zh-CN" altLang="zh-CN" dirty="0"/>
              <a:t>）</a:t>
            </a:r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CC99"/>
                </a:solidFill>
              </a:rPr>
              <a:t>1</a:t>
            </a:r>
            <a:r>
              <a:rPr lang="zh-CN" altLang="zh-CN" dirty="0">
                <a:solidFill>
                  <a:srgbClr val="00CC99"/>
                </a:solidFill>
              </a:rPr>
              <a:t>）</a:t>
            </a:r>
            <a:r>
              <a:rPr lang="zh-CN" altLang="zh-CN" dirty="0"/>
              <a:t>任意取一个顶点</a:t>
            </a:r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r>
              <a:rPr lang="en-US" altLang="zh-CN" dirty="0"/>
              <a:t>,</a:t>
            </a:r>
            <a:r>
              <a:rPr lang="zh-CN" altLang="zh-CN" dirty="0"/>
              <a:t>置</a:t>
            </a:r>
            <a:r>
              <a:rPr lang="en-US" altLang="zh-CN" dirty="0"/>
              <a:t>W</a:t>
            </a:r>
            <a:r>
              <a:rPr lang="en-US" altLang="zh-CN" baseline="-25000" dirty="0"/>
              <a:t>0</a:t>
            </a:r>
            <a:r>
              <a:rPr lang="zh-CN" altLang="zh-CN" dirty="0"/>
              <a:t>＝</a:t>
            </a:r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endParaRPr lang="zh-CN" altLang="zh-CN" dirty="0"/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zh-CN" altLang="zh-CN" dirty="0">
                <a:solidFill>
                  <a:srgbClr val="FF00FF"/>
                </a:solidFill>
              </a:rPr>
              <a:t>）</a:t>
            </a:r>
            <a:r>
              <a:rPr lang="zh-CN" altLang="zh-CN" dirty="0"/>
              <a:t>假定迹</a:t>
            </a:r>
            <a:r>
              <a:rPr lang="en-US" altLang="zh-CN" dirty="0"/>
              <a:t>(</a:t>
            </a:r>
            <a:r>
              <a:rPr lang="zh-CN" altLang="zh-CN" dirty="0"/>
              <a:t>有向迹</a:t>
            </a:r>
            <a:r>
              <a:rPr lang="en-US" altLang="zh-CN" dirty="0"/>
              <a:t>)W</a:t>
            </a:r>
            <a:r>
              <a:rPr lang="en-US" altLang="zh-CN" baseline="-25000" dirty="0"/>
              <a:t>i</a:t>
            </a:r>
            <a:r>
              <a:rPr lang="zh-CN" altLang="zh-CN" dirty="0"/>
              <a:t>＝</a:t>
            </a:r>
            <a:r>
              <a:rPr lang="en-US" altLang="zh-CN" dirty="0"/>
              <a:t>v</a:t>
            </a:r>
            <a:r>
              <a:rPr lang="en-US" altLang="zh-CN" baseline="-25000" dirty="0"/>
              <a:t>0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…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i</a:t>
            </a:r>
            <a:r>
              <a:rPr lang="zh-CN" altLang="zh-CN" dirty="0"/>
              <a:t>已选出，</a:t>
            </a:r>
            <a:r>
              <a:rPr lang="zh-CN" altLang="en-US" dirty="0"/>
              <a:t>则</a:t>
            </a:r>
            <a:endParaRPr lang="en-US" altLang="zh-CN" dirty="0"/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zh-CN" altLang="zh-CN" dirty="0"/>
              <a:t>用下列方法从</a:t>
            </a:r>
            <a:r>
              <a:rPr lang="en-US" altLang="zh-CN" dirty="0"/>
              <a:t>E(G)</a:t>
            </a:r>
            <a:r>
              <a:rPr lang="zh-CN" altLang="zh-CN" dirty="0"/>
              <a:t>－</a:t>
            </a:r>
            <a:r>
              <a:rPr lang="en-US" altLang="zh-CN" dirty="0"/>
              <a:t>{e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zh-CN" altLang="zh-CN" dirty="0"/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i</a:t>
            </a:r>
            <a:r>
              <a:rPr lang="en-US" altLang="zh-CN" dirty="0"/>
              <a:t>}</a:t>
            </a:r>
            <a:r>
              <a:rPr lang="zh-CN" altLang="zh-CN" dirty="0"/>
              <a:t>中选取</a:t>
            </a:r>
            <a:r>
              <a:rPr lang="en-US" altLang="zh-CN" dirty="0"/>
              <a:t>e</a:t>
            </a:r>
            <a:r>
              <a:rPr lang="en-US" altLang="zh-CN" baseline="-25000" dirty="0"/>
              <a:t>i+1</a:t>
            </a:r>
            <a:endParaRPr lang="zh-CN" altLang="zh-CN" dirty="0"/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CC99"/>
                </a:solidFill>
              </a:rPr>
              <a:t>(a)</a:t>
            </a:r>
            <a:r>
              <a:rPr lang="en-US" altLang="zh-CN" dirty="0"/>
              <a:t>e</a:t>
            </a:r>
            <a:r>
              <a:rPr lang="en-US" altLang="zh-CN" baseline="-25000" dirty="0"/>
              <a:t>i+1</a:t>
            </a:r>
            <a:r>
              <a:rPr lang="zh-CN" altLang="zh-CN" dirty="0"/>
              <a:t>与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zh-CN" altLang="zh-CN" dirty="0"/>
              <a:t>关联</a:t>
            </a:r>
            <a:r>
              <a:rPr lang="en-US" altLang="zh-CN" dirty="0"/>
              <a:t>(</a:t>
            </a:r>
            <a:r>
              <a:rPr lang="zh-CN" altLang="zh-CN" dirty="0"/>
              <a:t>有向图</a:t>
            </a:r>
            <a:r>
              <a:rPr lang="zh-CN" altLang="en-US" dirty="0"/>
              <a:t>中</a:t>
            </a:r>
            <a:r>
              <a:rPr lang="en-US" altLang="zh-CN" dirty="0"/>
              <a:t>e</a:t>
            </a:r>
            <a:r>
              <a:rPr lang="en-US" altLang="zh-CN" baseline="-25000" dirty="0"/>
              <a:t>i+1</a:t>
            </a:r>
            <a:r>
              <a:rPr lang="zh-CN" altLang="zh-CN" dirty="0"/>
              <a:t>以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zh-CN" altLang="zh-CN" dirty="0"/>
              <a:t>为起点</a:t>
            </a:r>
            <a:r>
              <a:rPr lang="en-US" altLang="zh-CN" dirty="0"/>
              <a:t>)</a:t>
            </a:r>
            <a:r>
              <a:rPr lang="zh-CN" altLang="zh-CN" dirty="0"/>
              <a:t>；</a:t>
            </a:r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rgbClr val="CC0066"/>
                </a:solidFill>
              </a:rPr>
              <a:t>(b)</a:t>
            </a:r>
            <a:r>
              <a:rPr lang="zh-CN" altLang="zh-CN" dirty="0"/>
              <a:t>除非没</a:t>
            </a:r>
            <a:r>
              <a:rPr lang="zh-CN" altLang="en-US" dirty="0"/>
              <a:t>有</a:t>
            </a:r>
            <a:r>
              <a:rPr lang="zh-CN" altLang="zh-CN" dirty="0"/>
              <a:t>别的边可选</a:t>
            </a:r>
            <a:r>
              <a:rPr lang="zh-CN" altLang="en-US" dirty="0"/>
              <a:t>择</a:t>
            </a:r>
            <a:r>
              <a:rPr lang="zh-CN" altLang="zh-CN" dirty="0"/>
              <a:t>，</a:t>
            </a:r>
            <a:r>
              <a:rPr lang="zh-CN" altLang="en-US" dirty="0"/>
              <a:t>边</a:t>
            </a:r>
            <a:r>
              <a:rPr lang="en-US" altLang="zh-CN" dirty="0"/>
              <a:t>e</a:t>
            </a:r>
            <a:r>
              <a:rPr lang="en-US" altLang="zh-CN" baseline="-25000" dirty="0"/>
              <a:t>i+1</a:t>
            </a:r>
            <a:r>
              <a:rPr lang="zh-CN" altLang="zh-CN" dirty="0"/>
              <a:t>不是</a:t>
            </a:r>
            <a:r>
              <a:rPr lang="zh-CN" altLang="en-US" dirty="0"/>
              <a:t>图</a:t>
            </a:r>
            <a:endParaRPr lang="en-US" altLang="zh-CN" dirty="0"/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en-US" altLang="zh-CN" dirty="0" err="1"/>
              <a:t>G</a:t>
            </a:r>
            <a:r>
              <a:rPr lang="en-US" altLang="zh-CN" baseline="-25000" dirty="0" err="1"/>
              <a:t>i</a:t>
            </a:r>
            <a:r>
              <a:rPr lang="zh-CN" altLang="zh-CN" dirty="0"/>
              <a:t>＝</a:t>
            </a:r>
            <a:r>
              <a:rPr lang="en-US" altLang="zh-CN" dirty="0"/>
              <a:t>G</a:t>
            </a:r>
            <a:r>
              <a:rPr lang="zh-CN" altLang="zh-CN" dirty="0"/>
              <a:t>－</a:t>
            </a:r>
            <a:r>
              <a:rPr lang="en-US" altLang="zh-CN" dirty="0"/>
              <a:t>{e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e</a:t>
            </a:r>
            <a:r>
              <a:rPr lang="en-US" altLang="zh-CN" baseline="-25000" dirty="0" err="1"/>
              <a:t>i</a:t>
            </a:r>
            <a:r>
              <a:rPr lang="en-US" altLang="zh-CN" dirty="0"/>
              <a:t>}</a:t>
            </a:r>
            <a:r>
              <a:rPr lang="zh-CN" altLang="zh-CN" dirty="0"/>
              <a:t>的割边。</a:t>
            </a:r>
          </a:p>
          <a:p>
            <a:pPr marL="0" indent="0">
              <a:lnSpc>
                <a:spcPct val="112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66FF"/>
                </a:solidFill>
              </a:rPr>
              <a:t>3</a:t>
            </a:r>
            <a:r>
              <a:rPr lang="zh-CN" altLang="zh-CN" dirty="0">
                <a:solidFill>
                  <a:srgbClr val="0066FF"/>
                </a:solidFill>
              </a:rPr>
              <a:t>）</a:t>
            </a:r>
            <a:r>
              <a:rPr lang="zh-CN" altLang="zh-CN" dirty="0"/>
              <a:t>当</a:t>
            </a:r>
            <a:r>
              <a:rPr lang="en-US" altLang="zh-CN" dirty="0"/>
              <a:t>2)</a:t>
            </a:r>
            <a:r>
              <a:rPr lang="zh-CN" altLang="zh-CN" dirty="0"/>
              <a:t>不能执行时停止。否则</a:t>
            </a:r>
            <a:r>
              <a:rPr lang="en-US" altLang="zh-CN" dirty="0" err="1"/>
              <a:t>i</a:t>
            </a:r>
            <a:r>
              <a:rPr lang="zh-CN" altLang="zh-CN" dirty="0"/>
              <a:t>＋</a:t>
            </a:r>
            <a:r>
              <a:rPr lang="en-US" altLang="zh-CN" dirty="0"/>
              <a:t>1</a:t>
            </a:r>
            <a:r>
              <a:rPr lang="zh-CN" altLang="zh-CN" dirty="0"/>
              <a:t>→</a:t>
            </a:r>
            <a:r>
              <a:rPr lang="en-US" altLang="zh-CN" dirty="0" err="1"/>
              <a:t>i</a:t>
            </a:r>
            <a:r>
              <a:rPr lang="zh-CN" altLang="zh-CN" dirty="0"/>
              <a:t>，转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F30F53A1-CCB4-FDB7-46DC-B79596C8A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8.1.3 Fleury</a:t>
            </a:r>
            <a:r>
              <a:rPr lang="zh-CN" altLang="en-US" b="1"/>
              <a:t>算法</a:t>
            </a:r>
            <a:endParaRPr lang="zh-CN" altLang="en-US"/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D7EE2C98-9F10-204B-74BC-768B41B07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66"/>
                </a:solidFill>
              </a:rPr>
              <a:t>例</a:t>
            </a:r>
            <a:r>
              <a:rPr lang="en-US" altLang="zh-CN" b="1">
                <a:solidFill>
                  <a:srgbClr val="FF0066"/>
                </a:solidFill>
              </a:rPr>
              <a:t>8.1.4 </a:t>
            </a:r>
            <a:r>
              <a:rPr lang="zh-CN" altLang="zh-CN"/>
              <a:t>用</a:t>
            </a:r>
            <a:r>
              <a:rPr lang="en-US" altLang="zh-CN">
                <a:solidFill>
                  <a:srgbClr val="FF0066"/>
                </a:solidFill>
              </a:rPr>
              <a:t>Fleury</a:t>
            </a:r>
            <a:r>
              <a:rPr lang="zh-CN" altLang="zh-CN"/>
              <a:t>算法找出欧拉图的欧拉回路。</a:t>
            </a:r>
            <a:endParaRPr lang="zh-CN" altLang="en-US"/>
          </a:p>
        </p:txBody>
      </p:sp>
      <p:sp>
        <p:nvSpPr>
          <p:cNvPr id="15364" name="Rectangle 33">
            <a:extLst>
              <a:ext uri="{FF2B5EF4-FFF2-40B4-BE49-F238E27FC236}">
                <a16:creationId xmlns:a16="http://schemas.microsoft.com/office/drawing/2014/main" id="{1017CE1D-D1B0-4D10-C231-C6B9D5C25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5365" name="Group 1">
            <a:extLst>
              <a:ext uri="{FF2B5EF4-FFF2-40B4-BE49-F238E27FC236}">
                <a16:creationId xmlns:a16="http://schemas.microsoft.com/office/drawing/2014/main" id="{FBF0658D-3BF8-9EEB-3755-941BC00E0E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2470150"/>
            <a:ext cx="6408738" cy="4559300"/>
            <a:chOff x="3226" y="7237"/>
            <a:chExt cx="5045" cy="3589"/>
          </a:xfrm>
        </p:grpSpPr>
        <p:sp>
          <p:nvSpPr>
            <p:cNvPr id="15366" name="AutoShape 32">
              <a:extLst>
                <a:ext uri="{FF2B5EF4-FFF2-40B4-BE49-F238E27FC236}">
                  <a16:creationId xmlns:a16="http://schemas.microsoft.com/office/drawing/2014/main" id="{21A5D4B5-BA61-3CEA-4E77-2BFF268582B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26" y="7237"/>
              <a:ext cx="4959" cy="3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Text Box 31">
              <a:extLst>
                <a:ext uri="{FF2B5EF4-FFF2-40B4-BE49-F238E27FC236}">
                  <a16:creationId xmlns:a16="http://schemas.microsoft.com/office/drawing/2014/main" id="{10B67FEF-2164-67D8-B444-52ADFD521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6" y="990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800"/>
            </a:p>
          </p:txBody>
        </p:sp>
        <p:sp>
          <p:nvSpPr>
            <p:cNvPr id="15368" name="Text Box 30">
              <a:extLst>
                <a:ext uri="{FF2B5EF4-FFF2-40B4-BE49-F238E27FC236}">
                  <a16:creationId xmlns:a16="http://schemas.microsoft.com/office/drawing/2014/main" id="{26A62D64-C0AD-352C-0F90-199CD4FFF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" y="990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altLang="zh-CN" sz="2800"/>
            </a:p>
          </p:txBody>
        </p:sp>
        <p:sp>
          <p:nvSpPr>
            <p:cNvPr id="15369" name="Text Box 29">
              <a:extLst>
                <a:ext uri="{FF2B5EF4-FFF2-40B4-BE49-F238E27FC236}">
                  <a16:creationId xmlns:a16="http://schemas.microsoft.com/office/drawing/2014/main" id="{C4FE4073-D5CB-CC9B-2BFC-52A48ECD7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" y="86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5370" name="Text Box 28">
              <a:extLst>
                <a:ext uri="{FF2B5EF4-FFF2-40B4-BE49-F238E27FC236}">
                  <a16:creationId xmlns:a16="http://schemas.microsoft.com/office/drawing/2014/main" id="{09546DE7-B005-2F7A-FECB-B286B36EF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86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5371" name="Text Box 27">
              <a:extLst>
                <a:ext uri="{FF2B5EF4-FFF2-40B4-BE49-F238E27FC236}">
                  <a16:creationId xmlns:a16="http://schemas.microsoft.com/office/drawing/2014/main" id="{89941CDD-C53D-5721-0E27-DDD8A5CA7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3" y="870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800"/>
            </a:p>
          </p:txBody>
        </p:sp>
        <p:sp>
          <p:nvSpPr>
            <p:cNvPr id="15372" name="Text Box 26">
              <a:extLst>
                <a:ext uri="{FF2B5EF4-FFF2-40B4-BE49-F238E27FC236}">
                  <a16:creationId xmlns:a16="http://schemas.microsoft.com/office/drawing/2014/main" id="{894088AC-6E58-3084-9089-BE7515924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9" y="741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5373" name="Text Box 25">
              <a:extLst>
                <a:ext uri="{FF2B5EF4-FFF2-40B4-BE49-F238E27FC236}">
                  <a16:creationId xmlns:a16="http://schemas.microsoft.com/office/drawing/2014/main" id="{0E31613A-6105-E2E2-3551-FA3BCF6ED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9" y="741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5374" name="Text Box 24">
              <a:extLst>
                <a:ext uri="{FF2B5EF4-FFF2-40B4-BE49-F238E27FC236}">
                  <a16:creationId xmlns:a16="http://schemas.microsoft.com/office/drawing/2014/main" id="{D21F2E84-7CEC-408D-5EF1-01F7F70C2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2" y="742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5375" name="Oval 23">
              <a:extLst>
                <a:ext uri="{FF2B5EF4-FFF2-40B4-BE49-F238E27FC236}">
                  <a16:creationId xmlns:a16="http://schemas.microsoft.com/office/drawing/2014/main" id="{2DFF8AFE-C54F-1DBF-5A15-3D0110E81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10053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6" name="Oval 22">
              <a:extLst>
                <a:ext uri="{FF2B5EF4-FFF2-40B4-BE49-F238E27FC236}">
                  <a16:creationId xmlns:a16="http://schemas.microsoft.com/office/drawing/2014/main" id="{1532A536-769B-3595-2123-0FB1B8391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" y="8790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7" name="Oval 21">
              <a:extLst>
                <a:ext uri="{FF2B5EF4-FFF2-40B4-BE49-F238E27FC236}">
                  <a16:creationId xmlns:a16="http://schemas.microsoft.com/office/drawing/2014/main" id="{ABC24B83-A498-82A6-082A-8474E4BE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0" y="10054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8" name="Oval 20">
              <a:extLst>
                <a:ext uri="{FF2B5EF4-FFF2-40B4-BE49-F238E27FC236}">
                  <a16:creationId xmlns:a16="http://schemas.microsoft.com/office/drawing/2014/main" id="{BF542A0A-7A39-730C-938D-0C7495CFD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8791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79" name="Oval 19">
              <a:extLst>
                <a:ext uri="{FF2B5EF4-FFF2-40B4-BE49-F238E27FC236}">
                  <a16:creationId xmlns:a16="http://schemas.microsoft.com/office/drawing/2014/main" id="{D7E2F04F-BFB5-D4A5-A1A2-251B07A08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0" y="8791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0" name="Oval 18">
              <a:extLst>
                <a:ext uri="{FF2B5EF4-FFF2-40B4-BE49-F238E27FC236}">
                  <a16:creationId xmlns:a16="http://schemas.microsoft.com/office/drawing/2014/main" id="{D60A54CB-4696-1527-C50E-56130739C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0" y="780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1" name="Oval 17">
              <a:extLst>
                <a:ext uri="{FF2B5EF4-FFF2-40B4-BE49-F238E27FC236}">
                  <a16:creationId xmlns:a16="http://schemas.microsoft.com/office/drawing/2014/main" id="{4A5A6863-8044-0953-7114-18FE8FBD0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5" y="780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382" name="Oval 16">
              <a:extLst>
                <a:ext uri="{FF2B5EF4-FFF2-40B4-BE49-F238E27FC236}">
                  <a16:creationId xmlns:a16="http://schemas.microsoft.com/office/drawing/2014/main" id="{F0AD334B-5C71-C6F9-3A99-714CC9939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780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5383" name="AutoShape 15">
              <a:extLst>
                <a:ext uri="{FF2B5EF4-FFF2-40B4-BE49-F238E27FC236}">
                  <a16:creationId xmlns:a16="http://schemas.microsoft.com/office/drawing/2014/main" id="{69BF18F9-215B-5038-5064-07157B02C5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90" y="7917"/>
              <a:ext cx="1225" cy="1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4" name="AutoShape 14">
              <a:extLst>
                <a:ext uri="{FF2B5EF4-FFF2-40B4-BE49-F238E27FC236}">
                  <a16:creationId xmlns:a16="http://schemas.microsoft.com/office/drawing/2014/main" id="{F877BB1E-494B-41B5-846D-C233AB1013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36" y="7917"/>
              <a:ext cx="1144" cy="1"/>
            </a:xfrm>
            <a:prstGeom prst="straightConnector1">
              <a:avLst/>
            </a:prstGeom>
            <a:noFill/>
            <a:ln w="9525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5" name="AutoShape 13">
              <a:extLst>
                <a:ext uri="{FF2B5EF4-FFF2-40B4-BE49-F238E27FC236}">
                  <a16:creationId xmlns:a16="http://schemas.microsoft.com/office/drawing/2014/main" id="{F87D94B1-FBF1-47AD-D6B8-77EF4583D3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799" y="7995"/>
              <a:ext cx="1002" cy="828"/>
            </a:xfrm>
            <a:prstGeom prst="straightConnector1">
              <a:avLst/>
            </a:prstGeom>
            <a:noFill/>
            <a:ln w="9525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6" name="AutoShape 12">
              <a:extLst>
                <a:ext uri="{FF2B5EF4-FFF2-40B4-BE49-F238E27FC236}">
                  <a16:creationId xmlns:a16="http://schemas.microsoft.com/office/drawing/2014/main" id="{48C59B66-A73B-BBEB-6F2D-FB30D2ADAA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21" y="9012"/>
              <a:ext cx="1080" cy="107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7" name="AutoShape 11">
              <a:extLst>
                <a:ext uri="{FF2B5EF4-FFF2-40B4-BE49-F238E27FC236}">
                  <a16:creationId xmlns:a16="http://schemas.microsoft.com/office/drawing/2014/main" id="{6E152CD2-E7A2-FB71-6880-297171F670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1" y="8028"/>
              <a:ext cx="19" cy="76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8" name="AutoShape 10">
              <a:extLst>
                <a:ext uri="{FF2B5EF4-FFF2-40B4-BE49-F238E27FC236}">
                  <a16:creationId xmlns:a16="http://schemas.microsoft.com/office/drawing/2014/main" id="{FA4DD38A-FF5F-1644-EAF9-0A642E4075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61" y="9012"/>
              <a:ext cx="19" cy="1041"/>
            </a:xfrm>
            <a:prstGeom prst="straightConnector1">
              <a:avLst/>
            </a:prstGeom>
            <a:noFill/>
            <a:ln w="9525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9" name="AutoShape 9">
              <a:extLst>
                <a:ext uri="{FF2B5EF4-FFF2-40B4-BE49-F238E27FC236}">
                  <a16:creationId xmlns:a16="http://schemas.microsoft.com/office/drawing/2014/main" id="{4CE7D42F-E5E2-2DCC-5166-B194FBA0BA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90" y="10165"/>
              <a:ext cx="2060" cy="1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0" name="AutoShape 8">
              <a:extLst>
                <a:ext uri="{FF2B5EF4-FFF2-40B4-BE49-F238E27FC236}">
                  <a16:creationId xmlns:a16="http://schemas.microsoft.com/office/drawing/2014/main" id="{6F0A834B-077F-BF37-AE61-761E888DD9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39" y="8980"/>
              <a:ext cx="2143" cy="11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1" name="AutoShape 7">
              <a:extLst>
                <a:ext uri="{FF2B5EF4-FFF2-40B4-BE49-F238E27FC236}">
                  <a16:creationId xmlns:a16="http://schemas.microsoft.com/office/drawing/2014/main" id="{E0B9F633-841F-0030-DE4E-BA9504D2A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58" y="7995"/>
              <a:ext cx="2124" cy="20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2" name="AutoShape 6">
              <a:extLst>
                <a:ext uri="{FF2B5EF4-FFF2-40B4-BE49-F238E27FC236}">
                  <a16:creationId xmlns:a16="http://schemas.microsoft.com/office/drawing/2014/main" id="{4AC069A4-CDCE-A320-0DE7-4A89B8947D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939" y="7995"/>
              <a:ext cx="1308" cy="82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3" name="AutoShape 5">
              <a:extLst>
                <a:ext uri="{FF2B5EF4-FFF2-40B4-BE49-F238E27FC236}">
                  <a16:creationId xmlns:a16="http://schemas.microsoft.com/office/drawing/2014/main" id="{4D4CA10D-2BA1-FBDD-09A9-87A6872C85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58" y="8981"/>
              <a:ext cx="2054" cy="11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4" name="AutoShape 4">
              <a:extLst>
                <a:ext uri="{FF2B5EF4-FFF2-40B4-BE49-F238E27FC236}">
                  <a16:creationId xmlns:a16="http://schemas.microsoft.com/office/drawing/2014/main" id="{B8AD9381-A07D-8BE3-A6CE-1FFC52A73D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04" y="7995"/>
              <a:ext cx="687" cy="796"/>
            </a:xfrm>
            <a:prstGeom prst="straightConnector1">
              <a:avLst/>
            </a:prstGeom>
            <a:noFill/>
            <a:ln w="9525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5" name="AutoShape 3">
              <a:extLst>
                <a:ext uri="{FF2B5EF4-FFF2-40B4-BE49-F238E27FC236}">
                  <a16:creationId xmlns:a16="http://schemas.microsoft.com/office/drawing/2014/main" id="{E2240F62-F032-9830-6EA4-E3705E1E01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91" y="8028"/>
              <a:ext cx="600" cy="763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6" name="AutoShape 2">
              <a:extLst>
                <a:ext uri="{FF2B5EF4-FFF2-40B4-BE49-F238E27FC236}">
                  <a16:creationId xmlns:a16="http://schemas.microsoft.com/office/drawing/2014/main" id="{B80CE7F2-C038-4E2C-50B4-E79C70FC83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1" y="9014"/>
              <a:ext cx="69" cy="104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A5A90720-F8D3-8EB4-6442-1FCD42D5E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8.1.4 </a:t>
            </a:r>
            <a:r>
              <a:rPr lang="zh-CN" altLang="en-US" b="1"/>
              <a:t>中国邮路问题</a:t>
            </a:r>
            <a:endParaRPr lang="zh-CN" altLang="en-US"/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AB170145-56F0-3AA7-76D0-15E558E37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中国邮递员问题</a:t>
            </a:r>
            <a:r>
              <a:rPr lang="en-US" altLang="zh-CN" dirty="0"/>
              <a:t>(Chinese Postman Problem)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中国</a:t>
            </a:r>
            <a:r>
              <a:rPr lang="en-US" altLang="zh-CN" dirty="0"/>
              <a:t> </a:t>
            </a:r>
            <a:r>
              <a:rPr lang="zh-CN" altLang="zh-CN" dirty="0"/>
              <a:t>管梅谷教授</a:t>
            </a:r>
            <a:r>
              <a:rPr lang="en-US" altLang="zh-CN" dirty="0"/>
              <a:t> 20</a:t>
            </a:r>
            <a:r>
              <a:rPr lang="zh-CN" altLang="zh-CN" dirty="0"/>
              <a:t>世纪</a:t>
            </a:r>
            <a:r>
              <a:rPr lang="en-US" altLang="zh-CN" dirty="0"/>
              <a:t>60</a:t>
            </a:r>
            <a:r>
              <a:rPr lang="zh-CN" altLang="zh-CN" dirty="0"/>
              <a:t>年代</a:t>
            </a:r>
            <a:r>
              <a:rPr lang="en-US" altLang="zh-CN" dirty="0"/>
              <a:t> </a:t>
            </a:r>
            <a:r>
              <a:rPr lang="zh-CN" altLang="zh-CN" dirty="0"/>
              <a:t>提出</a:t>
            </a:r>
            <a:r>
              <a:rPr lang="zh-CN" altLang="en-US" dirty="0"/>
              <a:t>和</a:t>
            </a:r>
            <a:r>
              <a:rPr lang="zh-CN" altLang="zh-CN" dirty="0"/>
              <a:t>研究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邮递员在邮局分拣好需要投递的邮件后，到他</a:t>
            </a:r>
            <a:r>
              <a:rPr lang="en-US" altLang="zh-CN" dirty="0"/>
              <a:t>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管辖的每一条街道投递，最后返回邮局。对于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这个问题，邮递员希望找出一条行走距离最短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/>
              <a:t>路线。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27">
            <a:extLst>
              <a:ext uri="{FF2B5EF4-FFF2-40B4-BE49-F238E27FC236}">
                <a16:creationId xmlns:a16="http://schemas.microsoft.com/office/drawing/2014/main" id="{E5BE2422-B496-E705-52D7-6566D0D9E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8.1.4 </a:t>
            </a:r>
            <a:r>
              <a:rPr lang="zh-CN" altLang="en-US" b="1"/>
              <a:t>中国邮路问题</a:t>
            </a:r>
            <a:endParaRPr lang="zh-CN" altLang="en-US"/>
          </a:p>
        </p:txBody>
      </p:sp>
      <p:sp>
        <p:nvSpPr>
          <p:cNvPr id="129" name="内容占位符 128">
            <a:extLst>
              <a:ext uri="{FF2B5EF4-FFF2-40B4-BE49-F238E27FC236}">
                <a16:creationId xmlns:a16="http://schemas.microsoft.com/office/drawing/2014/main" id="{5E94FCDD-613A-ADC1-28C4-F7A49EB90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" y="1773238"/>
            <a:ext cx="2733675" cy="518477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8.1.5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00CC99"/>
                </a:solidFill>
              </a:rPr>
              <a:t>bc4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be7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/>
              <a:t>bh13</a:t>
            </a:r>
            <a:r>
              <a:rPr lang="zh-CN" altLang="en-US" dirty="0"/>
              <a:t>，</a:t>
            </a:r>
            <a:r>
              <a:rPr lang="en-US" altLang="zh-CN" dirty="0"/>
              <a:t>bj7</a:t>
            </a:r>
            <a:r>
              <a:rPr lang="zh-CN" altLang="en-US" dirty="0"/>
              <a:t>，</a:t>
            </a:r>
            <a:r>
              <a:rPr lang="en-US" altLang="zh-CN" dirty="0"/>
              <a:t>bk10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ce11</a:t>
            </a:r>
            <a:r>
              <a:rPr lang="zh-CN" altLang="zh-CN" dirty="0"/>
              <a:t>，</a:t>
            </a:r>
            <a:r>
              <a:rPr lang="en-US" altLang="zh-CN" dirty="0"/>
              <a:t>ch9</a:t>
            </a:r>
            <a:r>
              <a:rPr lang="zh-CN" altLang="zh-CN" dirty="0"/>
              <a:t>，</a:t>
            </a:r>
            <a:r>
              <a:rPr lang="en-US" altLang="zh-CN" dirty="0"/>
              <a:t>cj11</a:t>
            </a:r>
            <a:r>
              <a:rPr lang="zh-CN" altLang="zh-CN" dirty="0"/>
              <a:t>，</a:t>
            </a:r>
            <a:r>
              <a:rPr lang="en-US" altLang="zh-CN" dirty="0"/>
              <a:t>ck10</a:t>
            </a:r>
            <a:r>
              <a:rPr lang="zh-CN" altLang="zh-CN" dirty="0"/>
              <a:t>；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66"/>
                </a:solidFill>
              </a:rPr>
              <a:t>eh16</a:t>
            </a:r>
            <a:r>
              <a:rPr lang="zh-CN" altLang="zh-CN" dirty="0"/>
              <a:t>，</a:t>
            </a:r>
            <a:r>
              <a:rPr lang="en-US" altLang="zh-CN" dirty="0"/>
              <a:t>ej10</a:t>
            </a:r>
            <a:r>
              <a:rPr lang="zh-CN" altLang="zh-CN" dirty="0"/>
              <a:t>，</a:t>
            </a:r>
            <a:r>
              <a:rPr lang="en-US" altLang="zh-CN" dirty="0"/>
              <a:t>ek13</a:t>
            </a:r>
            <a:r>
              <a:rPr lang="zh-CN" altLang="zh-CN" dirty="0"/>
              <a:t>；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/>
              <a:t>hj13</a:t>
            </a:r>
            <a:r>
              <a:rPr lang="zh-CN" altLang="zh-CN" dirty="0"/>
              <a:t>，</a:t>
            </a:r>
            <a:r>
              <a:rPr lang="en-US" altLang="zh-CN" dirty="0"/>
              <a:t>hk10</a:t>
            </a:r>
            <a:r>
              <a:rPr lang="zh-CN" altLang="zh-CN" dirty="0"/>
              <a:t>；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00CC99"/>
                </a:solidFill>
              </a:rPr>
              <a:t>Jk3</a:t>
            </a:r>
            <a:r>
              <a:rPr lang="zh-CN" altLang="en-US" dirty="0"/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412" name="Rectangle 61">
            <a:extLst>
              <a:ext uri="{FF2B5EF4-FFF2-40B4-BE49-F238E27FC236}">
                <a16:creationId xmlns:a16="http://schemas.microsoft.com/office/drawing/2014/main" id="{04B7FEA4-DA1D-7CD3-9A03-CA45FA137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413" name="Rectangle 151">
            <a:extLst>
              <a:ext uri="{FF2B5EF4-FFF2-40B4-BE49-F238E27FC236}">
                <a16:creationId xmlns:a16="http://schemas.microsoft.com/office/drawing/2014/main" id="{EA60546F-6C1C-42AE-7935-E76C3FD29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7414" name="Group 91">
            <a:extLst>
              <a:ext uri="{FF2B5EF4-FFF2-40B4-BE49-F238E27FC236}">
                <a16:creationId xmlns:a16="http://schemas.microsoft.com/office/drawing/2014/main" id="{7CCFFB20-8011-57BC-9867-CC867A6271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54263" y="1720850"/>
            <a:ext cx="7331075" cy="5380038"/>
            <a:chOff x="2556" y="6362"/>
            <a:chExt cx="7306" cy="5363"/>
          </a:xfrm>
        </p:grpSpPr>
        <p:sp>
          <p:nvSpPr>
            <p:cNvPr id="17415" name="AutoShape 150">
              <a:extLst>
                <a:ext uri="{FF2B5EF4-FFF2-40B4-BE49-F238E27FC236}">
                  <a16:creationId xmlns:a16="http://schemas.microsoft.com/office/drawing/2014/main" id="{9D620852-F20A-E685-2AFA-1EF58B3A15C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56" y="6362"/>
              <a:ext cx="7155" cy="5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Text Box 149">
              <a:extLst>
                <a:ext uri="{FF2B5EF4-FFF2-40B4-BE49-F238E27FC236}">
                  <a16:creationId xmlns:a16="http://schemas.microsoft.com/office/drawing/2014/main" id="{21945125-80C5-7710-B085-5B7111614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8" y="857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7417" name="Text Box 148">
              <a:extLst>
                <a:ext uri="{FF2B5EF4-FFF2-40B4-BE49-F238E27FC236}">
                  <a16:creationId xmlns:a16="http://schemas.microsoft.com/office/drawing/2014/main" id="{8AE03760-548D-E654-5698-19A3E6A17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3" y="855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7418" name="Text Box 147">
              <a:extLst>
                <a:ext uri="{FF2B5EF4-FFF2-40B4-BE49-F238E27FC236}">
                  <a16:creationId xmlns:a16="http://schemas.microsoft.com/office/drawing/2014/main" id="{CD7B3F6D-5682-63FC-70B1-487B3255A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861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7419" name="Text Box 146">
              <a:extLst>
                <a:ext uri="{FF2B5EF4-FFF2-40B4-BE49-F238E27FC236}">
                  <a16:creationId xmlns:a16="http://schemas.microsoft.com/office/drawing/2014/main" id="{DC684E3F-4CA0-6F86-1BD9-EB1FF8018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10" y="961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7420" name="Text Box 145">
              <a:extLst>
                <a:ext uri="{FF2B5EF4-FFF2-40B4-BE49-F238E27FC236}">
                  <a16:creationId xmlns:a16="http://schemas.microsoft.com/office/drawing/2014/main" id="{6BE2E28F-25AE-9083-84E7-1337BDDA0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3" y="762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7421" name="Text Box 144">
              <a:extLst>
                <a:ext uri="{FF2B5EF4-FFF2-40B4-BE49-F238E27FC236}">
                  <a16:creationId xmlns:a16="http://schemas.microsoft.com/office/drawing/2014/main" id="{550E61F5-CE32-C5C9-BA87-D0E4D2552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7" y="762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7422" name="Text Box 143">
              <a:extLst>
                <a:ext uri="{FF2B5EF4-FFF2-40B4-BE49-F238E27FC236}">
                  <a16:creationId xmlns:a16="http://schemas.microsoft.com/office/drawing/2014/main" id="{24402352-7F61-895B-A125-92D8E29BD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8" y="957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7423" name="Text Box 142">
              <a:extLst>
                <a:ext uri="{FF2B5EF4-FFF2-40B4-BE49-F238E27FC236}">
                  <a16:creationId xmlns:a16="http://schemas.microsoft.com/office/drawing/2014/main" id="{89055262-895A-DC99-2D87-70C76AF36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" y="1091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2800"/>
            </a:p>
          </p:txBody>
        </p:sp>
        <p:sp>
          <p:nvSpPr>
            <p:cNvPr id="17424" name="Text Box 141">
              <a:extLst>
                <a:ext uri="{FF2B5EF4-FFF2-40B4-BE49-F238E27FC236}">
                  <a16:creationId xmlns:a16="http://schemas.microsoft.com/office/drawing/2014/main" id="{ABD3BDB4-4DA9-E548-28D5-8244B9BCC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9" y="1091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2800"/>
            </a:p>
          </p:txBody>
        </p:sp>
        <p:sp>
          <p:nvSpPr>
            <p:cNvPr id="17425" name="Text Box 140">
              <a:extLst>
                <a:ext uri="{FF2B5EF4-FFF2-40B4-BE49-F238E27FC236}">
                  <a16:creationId xmlns:a16="http://schemas.microsoft.com/office/drawing/2014/main" id="{AEF6F57C-132B-33EA-6020-0C1650038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1" y="1093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zh-CN" sz="2800"/>
            </a:p>
          </p:txBody>
        </p:sp>
        <p:sp>
          <p:nvSpPr>
            <p:cNvPr id="17426" name="Text Box 139">
              <a:extLst>
                <a:ext uri="{FF2B5EF4-FFF2-40B4-BE49-F238E27FC236}">
                  <a16:creationId xmlns:a16="http://schemas.microsoft.com/office/drawing/2014/main" id="{4AAE897F-9842-3EDE-E3C5-0D2E20A20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" y="876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altLang="zh-CN" sz="2800"/>
            </a:p>
          </p:txBody>
        </p:sp>
        <p:sp>
          <p:nvSpPr>
            <p:cNvPr id="17427" name="Text Box 138">
              <a:extLst>
                <a:ext uri="{FF2B5EF4-FFF2-40B4-BE49-F238E27FC236}">
                  <a16:creationId xmlns:a16="http://schemas.microsoft.com/office/drawing/2014/main" id="{339B0826-B8E1-FB9E-A4C5-CA5FA8049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0" y="766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7428" name="Text Box 137">
              <a:extLst>
                <a:ext uri="{FF2B5EF4-FFF2-40B4-BE49-F238E27FC236}">
                  <a16:creationId xmlns:a16="http://schemas.microsoft.com/office/drawing/2014/main" id="{9DE23F47-47CC-0CBC-E4DF-F8C377B7BF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2" y="960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7429" name="Text Box 136">
              <a:extLst>
                <a:ext uri="{FF2B5EF4-FFF2-40B4-BE49-F238E27FC236}">
                  <a16:creationId xmlns:a16="http://schemas.microsoft.com/office/drawing/2014/main" id="{32785534-C676-46E2-B7A0-471A2595F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9" y="663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7430" name="Text Box 135">
              <a:extLst>
                <a:ext uri="{FF2B5EF4-FFF2-40B4-BE49-F238E27FC236}">
                  <a16:creationId xmlns:a16="http://schemas.microsoft.com/office/drawing/2014/main" id="{5D41570A-82B2-848F-A944-FDABAB31F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" y="648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7431" name="Text Box 134">
              <a:extLst>
                <a:ext uri="{FF2B5EF4-FFF2-40B4-BE49-F238E27FC236}">
                  <a16:creationId xmlns:a16="http://schemas.microsoft.com/office/drawing/2014/main" id="{A0031AFF-AB26-24C5-448E-E3DC71210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63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7432" name="Text Box 133">
              <a:extLst>
                <a:ext uri="{FF2B5EF4-FFF2-40B4-BE49-F238E27FC236}">
                  <a16:creationId xmlns:a16="http://schemas.microsoft.com/office/drawing/2014/main" id="{FD504D2E-96DF-D9BA-3D30-5AB5BEF56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7" y="871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7433" name="Text Box 132">
              <a:extLst>
                <a:ext uri="{FF2B5EF4-FFF2-40B4-BE49-F238E27FC236}">
                  <a16:creationId xmlns:a16="http://schemas.microsoft.com/office/drawing/2014/main" id="{1E666ED2-85A0-4980-A9A5-82CA0B4A4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1090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17434" name="Text Box 131">
              <a:extLst>
                <a:ext uri="{FF2B5EF4-FFF2-40B4-BE49-F238E27FC236}">
                  <a16:creationId xmlns:a16="http://schemas.microsoft.com/office/drawing/2014/main" id="{C7FFC615-79B8-8E31-1DD1-129F55A4E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5" y="1091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7435" name="Text Box 130">
              <a:extLst>
                <a:ext uri="{FF2B5EF4-FFF2-40B4-BE49-F238E27FC236}">
                  <a16:creationId xmlns:a16="http://schemas.microsoft.com/office/drawing/2014/main" id="{8B926493-9EA7-477A-05FB-862515FA3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" y="838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800"/>
            </a:p>
          </p:txBody>
        </p:sp>
        <p:sp>
          <p:nvSpPr>
            <p:cNvPr id="17436" name="Text Box 129">
              <a:extLst>
                <a:ext uri="{FF2B5EF4-FFF2-40B4-BE49-F238E27FC236}">
                  <a16:creationId xmlns:a16="http://schemas.microsoft.com/office/drawing/2014/main" id="{797DE894-0530-8BAA-ADED-57E7664CD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" y="847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800"/>
            </a:p>
          </p:txBody>
        </p:sp>
        <p:sp>
          <p:nvSpPr>
            <p:cNvPr id="17437" name="Text Box 128">
              <a:extLst>
                <a:ext uri="{FF2B5EF4-FFF2-40B4-BE49-F238E27FC236}">
                  <a16:creationId xmlns:a16="http://schemas.microsoft.com/office/drawing/2014/main" id="{D6FA4505-3606-1678-AF27-B77107A02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962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7438" name="Text Box 127">
              <a:extLst>
                <a:ext uri="{FF2B5EF4-FFF2-40B4-BE49-F238E27FC236}">
                  <a16:creationId xmlns:a16="http://schemas.microsoft.com/office/drawing/2014/main" id="{D1B2FD0E-6C07-E041-72F7-1FC9D7B73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7" y="1090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7439" name="Text Box 126">
              <a:extLst>
                <a:ext uri="{FF2B5EF4-FFF2-40B4-BE49-F238E27FC236}">
                  <a16:creationId xmlns:a16="http://schemas.microsoft.com/office/drawing/2014/main" id="{F6BEE3BB-6DAE-3620-AA88-7A3A9B356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1" y="10994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800"/>
            </a:p>
          </p:txBody>
        </p:sp>
        <p:sp>
          <p:nvSpPr>
            <p:cNvPr id="17440" name="Text Box 125">
              <a:extLst>
                <a:ext uri="{FF2B5EF4-FFF2-40B4-BE49-F238E27FC236}">
                  <a16:creationId xmlns:a16="http://schemas.microsoft.com/office/drawing/2014/main" id="{EC851F35-D206-00D6-84F5-99C5B0157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648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7441" name="Text Box 124">
              <a:extLst>
                <a:ext uri="{FF2B5EF4-FFF2-40B4-BE49-F238E27FC236}">
                  <a16:creationId xmlns:a16="http://schemas.microsoft.com/office/drawing/2014/main" id="{8A25052D-5899-A162-7AB7-8394D8880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659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7442" name="Text Box 123">
              <a:extLst>
                <a:ext uri="{FF2B5EF4-FFF2-40B4-BE49-F238E27FC236}">
                  <a16:creationId xmlns:a16="http://schemas.microsoft.com/office/drawing/2014/main" id="{8B3E4225-D419-59FF-EEA1-658537884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8" y="663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7443" name="Text Box 122">
              <a:extLst>
                <a:ext uri="{FF2B5EF4-FFF2-40B4-BE49-F238E27FC236}">
                  <a16:creationId xmlns:a16="http://schemas.microsoft.com/office/drawing/2014/main" id="{E48F3724-BDD3-D5A6-0DAA-09A7D1078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8" y="648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7444" name="Text Box 121">
              <a:extLst>
                <a:ext uri="{FF2B5EF4-FFF2-40B4-BE49-F238E27FC236}">
                  <a16:creationId xmlns:a16="http://schemas.microsoft.com/office/drawing/2014/main" id="{B7223F3F-1257-8936-E2CD-F1BAE1E3B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0" y="648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7445" name="Oval 120">
              <a:extLst>
                <a:ext uri="{FF2B5EF4-FFF2-40B4-BE49-F238E27FC236}">
                  <a16:creationId xmlns:a16="http://schemas.microsoft.com/office/drawing/2014/main" id="{D1A2583B-11CE-C1F9-4589-6ED915F51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" y="10883"/>
              <a:ext cx="221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46" name="Oval 119">
              <a:extLst>
                <a:ext uri="{FF2B5EF4-FFF2-40B4-BE49-F238E27FC236}">
                  <a16:creationId xmlns:a16="http://schemas.microsoft.com/office/drawing/2014/main" id="{F4C11B94-2B2A-AACD-99D7-5554A956D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8931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47" name="Oval 118">
              <a:extLst>
                <a:ext uri="{FF2B5EF4-FFF2-40B4-BE49-F238E27FC236}">
                  <a16:creationId xmlns:a16="http://schemas.microsoft.com/office/drawing/2014/main" id="{5E9CF25E-8F39-47F6-7708-1587967B5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" y="893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48" name="Oval 117">
              <a:extLst>
                <a:ext uri="{FF2B5EF4-FFF2-40B4-BE49-F238E27FC236}">
                  <a16:creationId xmlns:a16="http://schemas.microsoft.com/office/drawing/2014/main" id="{FB94EFBF-CFC0-D55F-77C4-0A7693AB4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893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49" name="Oval 116">
              <a:extLst>
                <a:ext uri="{FF2B5EF4-FFF2-40B4-BE49-F238E27FC236}">
                  <a16:creationId xmlns:a16="http://schemas.microsoft.com/office/drawing/2014/main" id="{395C31F1-93CF-CDBA-C524-CD67C15AA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4" y="8932"/>
              <a:ext cx="221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0" name="Oval 115">
              <a:extLst>
                <a:ext uri="{FF2B5EF4-FFF2-40B4-BE49-F238E27FC236}">
                  <a16:creationId xmlns:a16="http://schemas.microsoft.com/office/drawing/2014/main" id="{568C8B3B-0BB9-7AE0-D54B-42964A343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" y="695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1" name="Oval 114">
              <a:extLst>
                <a:ext uri="{FF2B5EF4-FFF2-40B4-BE49-F238E27FC236}">
                  <a16:creationId xmlns:a16="http://schemas.microsoft.com/office/drawing/2014/main" id="{5B829AA5-E409-3B51-3AF4-9193E9A4A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" y="6957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2" name="Oval 113">
              <a:extLst>
                <a:ext uri="{FF2B5EF4-FFF2-40B4-BE49-F238E27FC236}">
                  <a16:creationId xmlns:a16="http://schemas.microsoft.com/office/drawing/2014/main" id="{AE5246DF-2BF0-C91E-4E5B-A8E131FF0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" y="6957"/>
              <a:ext cx="221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3" name="Oval 112">
              <a:extLst>
                <a:ext uri="{FF2B5EF4-FFF2-40B4-BE49-F238E27FC236}">
                  <a16:creationId xmlns:a16="http://schemas.microsoft.com/office/drawing/2014/main" id="{8EF96A66-6693-3573-6743-3CF8F080A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695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4" name="Oval 111">
              <a:extLst>
                <a:ext uri="{FF2B5EF4-FFF2-40B4-BE49-F238E27FC236}">
                  <a16:creationId xmlns:a16="http://schemas.microsoft.com/office/drawing/2014/main" id="{4AD56656-9686-DB41-669D-0ADEF1EEE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108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5" name="Oval 110">
              <a:extLst>
                <a:ext uri="{FF2B5EF4-FFF2-40B4-BE49-F238E27FC236}">
                  <a16:creationId xmlns:a16="http://schemas.microsoft.com/office/drawing/2014/main" id="{90438497-9EE6-DD60-B732-C59314634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2" y="10884"/>
              <a:ext cx="220" cy="2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7456" name="Oval 109">
              <a:extLst>
                <a:ext uri="{FF2B5EF4-FFF2-40B4-BE49-F238E27FC236}">
                  <a16:creationId xmlns:a16="http://schemas.microsoft.com/office/drawing/2014/main" id="{3C3A4B88-C36B-B683-C358-2A200421C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" y="10884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7457" name="AutoShape 108">
              <a:extLst>
                <a:ext uri="{FF2B5EF4-FFF2-40B4-BE49-F238E27FC236}">
                  <a16:creationId xmlns:a16="http://schemas.microsoft.com/office/drawing/2014/main" id="{B931B50F-071E-DE7D-AAAF-B39D0894F8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5" y="7062"/>
              <a:ext cx="1655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8" name="AutoShape 107">
              <a:extLst>
                <a:ext uri="{FF2B5EF4-FFF2-40B4-BE49-F238E27FC236}">
                  <a16:creationId xmlns:a16="http://schemas.microsoft.com/office/drawing/2014/main" id="{959BC5B1-E716-AD69-28A5-AB985ED873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1" y="7068"/>
              <a:ext cx="179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9" name="AutoShape 106">
              <a:extLst>
                <a:ext uri="{FF2B5EF4-FFF2-40B4-BE49-F238E27FC236}">
                  <a16:creationId xmlns:a16="http://schemas.microsoft.com/office/drawing/2014/main" id="{D3ECEB12-4900-EC1F-FA5A-E3A9D46970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172" y="7062"/>
              <a:ext cx="1765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0" name="AutoShape 105">
              <a:extLst>
                <a:ext uri="{FF2B5EF4-FFF2-40B4-BE49-F238E27FC236}">
                  <a16:creationId xmlns:a16="http://schemas.microsoft.com/office/drawing/2014/main" id="{04E4BDD3-1D8C-04E3-1032-03047B8536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5" y="7173"/>
              <a:ext cx="1" cy="17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1" name="AutoShape 104">
              <a:extLst>
                <a:ext uri="{FF2B5EF4-FFF2-40B4-BE49-F238E27FC236}">
                  <a16:creationId xmlns:a16="http://schemas.microsoft.com/office/drawing/2014/main" id="{02651347-B409-1255-5B7B-47A69DBA2A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6" y="9042"/>
              <a:ext cx="165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2" name="AutoShape 103">
              <a:extLst>
                <a:ext uri="{FF2B5EF4-FFF2-40B4-BE49-F238E27FC236}">
                  <a16:creationId xmlns:a16="http://schemas.microsoft.com/office/drawing/2014/main" id="{521E6968-1E28-438B-6503-F60182FFA6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51" y="7179"/>
              <a:ext cx="1" cy="1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3" name="AutoShape 102">
              <a:extLst>
                <a:ext uri="{FF2B5EF4-FFF2-40B4-BE49-F238E27FC236}">
                  <a16:creationId xmlns:a16="http://schemas.microsoft.com/office/drawing/2014/main" id="{2C686EA4-ABD1-A61D-058C-7C8F6B3ECB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75" y="9153"/>
              <a:ext cx="1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4" name="AutoShape 101">
              <a:extLst>
                <a:ext uri="{FF2B5EF4-FFF2-40B4-BE49-F238E27FC236}">
                  <a16:creationId xmlns:a16="http://schemas.microsoft.com/office/drawing/2014/main" id="{71F48016-88CB-D2A3-044D-1429BC4C2B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5" y="10994"/>
              <a:ext cx="168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5" name="AutoShape 100">
              <a:extLst>
                <a:ext uri="{FF2B5EF4-FFF2-40B4-BE49-F238E27FC236}">
                  <a16:creationId xmlns:a16="http://schemas.microsoft.com/office/drawing/2014/main" id="{A9A3048B-B430-D0CF-A0FD-4A491DF9B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91" y="10995"/>
              <a:ext cx="185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6" name="AutoShape 99">
              <a:extLst>
                <a:ext uri="{FF2B5EF4-FFF2-40B4-BE49-F238E27FC236}">
                  <a16:creationId xmlns:a16="http://schemas.microsoft.com/office/drawing/2014/main" id="{10D2ED0D-2F48-A6DF-D6AF-3154C0C8C9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2" y="10995"/>
              <a:ext cx="16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7" name="AutoShape 98">
              <a:extLst>
                <a:ext uri="{FF2B5EF4-FFF2-40B4-BE49-F238E27FC236}">
                  <a16:creationId xmlns:a16="http://schemas.microsoft.com/office/drawing/2014/main" id="{404E567F-56AC-AAAC-4826-23E554928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48" y="7173"/>
              <a:ext cx="7" cy="17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8" name="AutoShape 97">
              <a:extLst>
                <a:ext uri="{FF2B5EF4-FFF2-40B4-BE49-F238E27FC236}">
                  <a16:creationId xmlns:a16="http://schemas.microsoft.com/office/drawing/2014/main" id="{EE18FA99-B3A7-B6E2-6C2C-4A93552BAA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042" y="9155"/>
              <a:ext cx="13" cy="17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69" name="AutoShape 96">
              <a:extLst>
                <a:ext uri="{FF2B5EF4-FFF2-40B4-BE49-F238E27FC236}">
                  <a16:creationId xmlns:a16="http://schemas.microsoft.com/office/drawing/2014/main" id="{5CB96962-9136-9C2A-5FCC-6058F60725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2" y="9043"/>
              <a:ext cx="183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70" name="AutoShape 95">
              <a:extLst>
                <a:ext uri="{FF2B5EF4-FFF2-40B4-BE49-F238E27FC236}">
                  <a16:creationId xmlns:a16="http://schemas.microsoft.com/office/drawing/2014/main" id="{611333DD-6F82-C330-8053-3576A36DD3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17" y="9043"/>
              <a:ext cx="17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71" name="AutoShape 94">
              <a:extLst>
                <a:ext uri="{FF2B5EF4-FFF2-40B4-BE49-F238E27FC236}">
                  <a16:creationId xmlns:a16="http://schemas.microsoft.com/office/drawing/2014/main" id="{99082B60-A2B1-4F9B-CDEC-3C55C50AF0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62" y="7179"/>
              <a:ext cx="45" cy="1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72" name="AutoShape 93">
              <a:extLst>
                <a:ext uri="{FF2B5EF4-FFF2-40B4-BE49-F238E27FC236}">
                  <a16:creationId xmlns:a16="http://schemas.microsoft.com/office/drawing/2014/main" id="{D771D21E-A735-98B3-4156-B7019C8D70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7" y="9154"/>
              <a:ext cx="45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73" name="AutoShape 92">
              <a:extLst>
                <a:ext uri="{FF2B5EF4-FFF2-40B4-BE49-F238E27FC236}">
                  <a16:creationId xmlns:a16="http://schemas.microsoft.com/office/drawing/2014/main" id="{4BF71599-1432-630A-6B4F-B60C88B94B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52" y="9153"/>
              <a:ext cx="29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3">
            <a:extLst>
              <a:ext uri="{FF2B5EF4-FFF2-40B4-BE49-F238E27FC236}">
                <a16:creationId xmlns:a16="http://schemas.microsoft.com/office/drawing/2014/main" id="{5498F6B8-FC4E-981D-6196-A5FBE5D5D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8.1.4 </a:t>
            </a:r>
            <a:r>
              <a:rPr lang="zh-CN" altLang="en-US" b="1"/>
              <a:t>中国邮路问题</a:t>
            </a:r>
            <a:endParaRPr lang="zh-CN" altLang="en-US"/>
          </a:p>
        </p:txBody>
      </p:sp>
      <p:sp>
        <p:nvSpPr>
          <p:cNvPr id="18435" name="内容占位符 4">
            <a:extLst>
              <a:ext uri="{FF2B5EF4-FFF2-40B4-BE49-F238E27FC236}">
                <a16:creationId xmlns:a16="http://schemas.microsoft.com/office/drawing/2014/main" id="{9C3E5D5F-0C9C-228B-633C-E8F210FE203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0825" y="1844675"/>
            <a:ext cx="2089150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3200">
                <a:solidFill>
                  <a:srgbClr val="FF0000"/>
                </a:solidFill>
              </a:rPr>
              <a:t>加边</a:t>
            </a:r>
          </a:p>
        </p:txBody>
      </p:sp>
      <p:sp>
        <p:nvSpPr>
          <p:cNvPr id="18436" name="Rectangle 67">
            <a:extLst>
              <a:ext uri="{FF2B5EF4-FFF2-40B4-BE49-F238E27FC236}">
                <a16:creationId xmlns:a16="http://schemas.microsoft.com/office/drawing/2014/main" id="{D430760E-9638-D829-632C-4D09999FF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8437" name="Rectangle 164">
            <a:extLst>
              <a:ext uri="{FF2B5EF4-FFF2-40B4-BE49-F238E27FC236}">
                <a16:creationId xmlns:a16="http://schemas.microsoft.com/office/drawing/2014/main" id="{EF01C5EB-C750-B6CB-5EE2-55BC88515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8438" name="Rectangle 261">
            <a:extLst>
              <a:ext uri="{FF2B5EF4-FFF2-40B4-BE49-F238E27FC236}">
                <a16:creationId xmlns:a16="http://schemas.microsoft.com/office/drawing/2014/main" id="{13531E94-A138-AE78-231F-86C9402C3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18439" name="Group 195">
            <a:extLst>
              <a:ext uri="{FF2B5EF4-FFF2-40B4-BE49-F238E27FC236}">
                <a16:creationId xmlns:a16="http://schemas.microsoft.com/office/drawing/2014/main" id="{668476E5-F36E-03F3-BD84-3E03FEE3DC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71725" y="1382713"/>
            <a:ext cx="6953250" cy="6007100"/>
            <a:chOff x="2706" y="5911"/>
            <a:chExt cx="7156" cy="6182"/>
          </a:xfrm>
        </p:grpSpPr>
        <p:sp>
          <p:nvSpPr>
            <p:cNvPr id="18440" name="AutoShape 260">
              <a:extLst>
                <a:ext uri="{FF2B5EF4-FFF2-40B4-BE49-F238E27FC236}">
                  <a16:creationId xmlns:a16="http://schemas.microsoft.com/office/drawing/2014/main" id="{38BB044F-CD96-28A8-A71B-1B3AC70B6F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06" y="5911"/>
              <a:ext cx="7082" cy="6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Text Box 259">
              <a:extLst>
                <a:ext uri="{FF2B5EF4-FFF2-40B4-BE49-F238E27FC236}">
                  <a16:creationId xmlns:a16="http://schemas.microsoft.com/office/drawing/2014/main" id="{C1C72F28-17A8-CC38-CB9A-32E78055C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3" y="1113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8442" name="Text Box 258">
              <a:extLst>
                <a:ext uri="{FF2B5EF4-FFF2-40B4-BE49-F238E27FC236}">
                  <a16:creationId xmlns:a16="http://schemas.microsoft.com/office/drawing/2014/main" id="{6F2DCF80-9B6A-23F5-6F5B-0A516175B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" y="87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en-US" altLang="zh-CN" sz="2800"/>
            </a:p>
          </p:txBody>
        </p:sp>
        <p:sp>
          <p:nvSpPr>
            <p:cNvPr id="18443" name="Text Box 257">
              <a:extLst>
                <a:ext uri="{FF2B5EF4-FFF2-40B4-BE49-F238E27FC236}">
                  <a16:creationId xmlns:a16="http://schemas.microsoft.com/office/drawing/2014/main" id="{ADEA1EFE-00CC-8DED-E0FA-4E27C93B8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4" y="650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18444" name="Text Box 256">
              <a:extLst>
                <a:ext uri="{FF2B5EF4-FFF2-40B4-BE49-F238E27FC236}">
                  <a16:creationId xmlns:a16="http://schemas.microsoft.com/office/drawing/2014/main" id="{D44CAD72-6EAC-E070-CF26-0B7C28CA9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7" y="65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8445" name="Text Box 255">
              <a:extLst>
                <a:ext uri="{FF2B5EF4-FFF2-40B4-BE49-F238E27FC236}">
                  <a16:creationId xmlns:a16="http://schemas.microsoft.com/office/drawing/2014/main" id="{CC7FFC66-208F-872D-5B6E-2945B66EA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3" y="639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8446" name="Text Box 254">
              <a:extLst>
                <a:ext uri="{FF2B5EF4-FFF2-40B4-BE49-F238E27FC236}">
                  <a16:creationId xmlns:a16="http://schemas.microsoft.com/office/drawing/2014/main" id="{3A8D4121-60F1-5EAE-4EC4-A67A08455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9" y="698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8447" name="Text Box 253">
              <a:extLst>
                <a:ext uri="{FF2B5EF4-FFF2-40B4-BE49-F238E27FC236}">
                  <a16:creationId xmlns:a16="http://schemas.microsoft.com/office/drawing/2014/main" id="{77676EB3-5269-EF8D-88D0-F6A212131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9" y="843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800"/>
            </a:p>
          </p:txBody>
        </p:sp>
        <p:sp>
          <p:nvSpPr>
            <p:cNvPr id="18448" name="Text Box 252">
              <a:extLst>
                <a:ext uri="{FF2B5EF4-FFF2-40B4-BE49-F238E27FC236}">
                  <a16:creationId xmlns:a16="http://schemas.microsoft.com/office/drawing/2014/main" id="{DD10CB54-62F3-D0E3-288B-AB515EC10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9" y="854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8449" name="Text Box 251">
              <a:extLst>
                <a:ext uri="{FF2B5EF4-FFF2-40B4-BE49-F238E27FC236}">
                  <a16:creationId xmlns:a16="http://schemas.microsoft.com/office/drawing/2014/main" id="{B68B7A0E-4380-393D-2150-9C6C5F0AC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649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/>
            </a:p>
          </p:txBody>
        </p:sp>
        <p:sp>
          <p:nvSpPr>
            <p:cNvPr id="18450" name="Text Box 250">
              <a:extLst>
                <a:ext uri="{FF2B5EF4-FFF2-40B4-BE49-F238E27FC236}">
                  <a16:creationId xmlns:a16="http://schemas.microsoft.com/office/drawing/2014/main" id="{3DE21B72-98D9-0D80-1804-24BF645FE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" y="1091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altLang="zh-CN" sz="2800"/>
            </a:p>
          </p:txBody>
        </p:sp>
        <p:sp>
          <p:nvSpPr>
            <p:cNvPr id="18451" name="Text Box 249">
              <a:extLst>
                <a:ext uri="{FF2B5EF4-FFF2-40B4-BE49-F238E27FC236}">
                  <a16:creationId xmlns:a16="http://schemas.microsoft.com/office/drawing/2014/main" id="{BC949621-84C9-70EC-ACE9-88296EAEB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" y="1053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/>
            </a:p>
          </p:txBody>
        </p:sp>
        <p:sp>
          <p:nvSpPr>
            <p:cNvPr id="18452" name="Text Box 248">
              <a:extLst>
                <a:ext uri="{FF2B5EF4-FFF2-40B4-BE49-F238E27FC236}">
                  <a16:creationId xmlns:a16="http://schemas.microsoft.com/office/drawing/2014/main" id="{57E9986B-E344-0166-9277-C1058E18B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2" y="76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8453" name="Text Box 247">
              <a:extLst>
                <a:ext uri="{FF2B5EF4-FFF2-40B4-BE49-F238E27FC236}">
                  <a16:creationId xmlns:a16="http://schemas.microsoft.com/office/drawing/2014/main" id="{003A00EE-0363-66EA-FEB4-A8073CE1B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0" y="955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800"/>
            </a:p>
          </p:txBody>
        </p:sp>
        <p:sp>
          <p:nvSpPr>
            <p:cNvPr id="18454" name="Text Box 246">
              <a:extLst>
                <a:ext uri="{FF2B5EF4-FFF2-40B4-BE49-F238E27FC236}">
                  <a16:creationId xmlns:a16="http://schemas.microsoft.com/office/drawing/2014/main" id="{1AFCC6E6-B8AF-D7F5-6822-9FE33A074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4" y="949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/>
            </a:p>
          </p:txBody>
        </p:sp>
        <p:sp>
          <p:nvSpPr>
            <p:cNvPr id="18455" name="Text Box 245">
              <a:extLst>
                <a:ext uri="{FF2B5EF4-FFF2-40B4-BE49-F238E27FC236}">
                  <a16:creationId xmlns:a16="http://schemas.microsoft.com/office/drawing/2014/main" id="{1D6D58A9-4225-D46F-EA5E-79E556BB4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3" y="854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8456" name="Text Box 244">
              <a:extLst>
                <a:ext uri="{FF2B5EF4-FFF2-40B4-BE49-F238E27FC236}">
                  <a16:creationId xmlns:a16="http://schemas.microsoft.com/office/drawing/2014/main" id="{A3B0FFAF-182A-D7E3-184B-1D9A4FEAF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2" y="958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8457" name="Text Box 243">
              <a:extLst>
                <a:ext uri="{FF2B5EF4-FFF2-40B4-BE49-F238E27FC236}">
                  <a16:creationId xmlns:a16="http://schemas.microsoft.com/office/drawing/2014/main" id="{A332E238-9727-CF54-EBF6-4129DFDAA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" y="761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8458" name="Text Box 242">
              <a:extLst>
                <a:ext uri="{FF2B5EF4-FFF2-40B4-BE49-F238E27FC236}">
                  <a16:creationId xmlns:a16="http://schemas.microsoft.com/office/drawing/2014/main" id="{C4011197-B796-3634-DEDD-CFFC6C331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1092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2800"/>
            </a:p>
          </p:txBody>
        </p:sp>
        <p:sp>
          <p:nvSpPr>
            <p:cNvPr id="18459" name="Text Box 241">
              <a:extLst>
                <a:ext uri="{FF2B5EF4-FFF2-40B4-BE49-F238E27FC236}">
                  <a16:creationId xmlns:a16="http://schemas.microsoft.com/office/drawing/2014/main" id="{12580715-05C7-E05D-1546-2B64D5DE0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3" y="973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/>
            </a:p>
          </p:txBody>
        </p:sp>
        <p:sp>
          <p:nvSpPr>
            <p:cNvPr id="18460" name="Text Box 240">
              <a:extLst>
                <a:ext uri="{FF2B5EF4-FFF2-40B4-BE49-F238E27FC236}">
                  <a16:creationId xmlns:a16="http://schemas.microsoft.com/office/drawing/2014/main" id="{224F9ADE-2289-CE7B-33E5-08A7EBB3E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6" y="1090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zh-CN" sz="2800"/>
            </a:p>
          </p:txBody>
        </p:sp>
        <p:sp>
          <p:nvSpPr>
            <p:cNvPr id="18461" name="Text Box 239">
              <a:extLst>
                <a:ext uri="{FF2B5EF4-FFF2-40B4-BE49-F238E27FC236}">
                  <a16:creationId xmlns:a16="http://schemas.microsoft.com/office/drawing/2014/main" id="{FC7D5F26-DFDA-E2AF-15BB-6B242F592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" y="8501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8462" name="Text Box 238">
              <a:extLst>
                <a:ext uri="{FF2B5EF4-FFF2-40B4-BE49-F238E27FC236}">
                  <a16:creationId xmlns:a16="http://schemas.microsoft.com/office/drawing/2014/main" id="{97422B60-CF0B-68C1-320F-E0C723588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" y="6425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18463" name="Text Box 237">
              <a:extLst>
                <a:ext uri="{FF2B5EF4-FFF2-40B4-BE49-F238E27FC236}">
                  <a16:creationId xmlns:a16="http://schemas.microsoft.com/office/drawing/2014/main" id="{F4EFD751-4462-F39F-4D74-1166408E9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8" y="10778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sz="2800"/>
            </a:p>
          </p:txBody>
        </p:sp>
        <p:sp>
          <p:nvSpPr>
            <p:cNvPr id="18464" name="Text Box 236">
              <a:extLst>
                <a:ext uri="{FF2B5EF4-FFF2-40B4-BE49-F238E27FC236}">
                  <a16:creationId xmlns:a16="http://schemas.microsoft.com/office/drawing/2014/main" id="{BB9837AD-0681-0EBF-79E6-C0B01278C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2" y="1078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/>
            </a:p>
          </p:txBody>
        </p:sp>
        <p:sp>
          <p:nvSpPr>
            <p:cNvPr id="18465" name="Text Box 235">
              <a:extLst>
                <a:ext uri="{FF2B5EF4-FFF2-40B4-BE49-F238E27FC236}">
                  <a16:creationId xmlns:a16="http://schemas.microsoft.com/office/drawing/2014/main" id="{C6FB878B-1A1D-5E7E-0417-7962DF04B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6" y="10863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800"/>
            </a:p>
          </p:txBody>
        </p:sp>
        <p:sp>
          <p:nvSpPr>
            <p:cNvPr id="18466" name="Text Box 234">
              <a:extLst>
                <a:ext uri="{FF2B5EF4-FFF2-40B4-BE49-F238E27FC236}">
                  <a16:creationId xmlns:a16="http://schemas.microsoft.com/office/drawing/2014/main" id="{88206B5A-45EE-8658-515A-330E7A883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1" y="6390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18467" name="Text Box 233">
              <a:extLst>
                <a:ext uri="{FF2B5EF4-FFF2-40B4-BE49-F238E27FC236}">
                  <a16:creationId xmlns:a16="http://schemas.microsoft.com/office/drawing/2014/main" id="{F68BF68A-78A2-EFBF-6A89-E383172D7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8637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8468" name="Text Box 232">
              <a:extLst>
                <a:ext uri="{FF2B5EF4-FFF2-40B4-BE49-F238E27FC236}">
                  <a16:creationId xmlns:a16="http://schemas.microsoft.com/office/drawing/2014/main" id="{8D32FF9A-E43D-6F07-A253-51E97A15A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8472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800"/>
            </a:p>
          </p:txBody>
        </p:sp>
        <p:sp>
          <p:nvSpPr>
            <p:cNvPr id="18469" name="Text Box 231">
              <a:extLst>
                <a:ext uri="{FF2B5EF4-FFF2-40B4-BE49-F238E27FC236}">
                  <a16:creationId xmlns:a16="http://schemas.microsoft.com/office/drawing/2014/main" id="{B4E8C46E-8FCD-0E06-1A49-322E32EC5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9" y="9499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/>
            </a:p>
          </p:txBody>
        </p:sp>
        <p:sp>
          <p:nvSpPr>
            <p:cNvPr id="18470" name="Text Box 230">
              <a:extLst>
                <a:ext uri="{FF2B5EF4-FFF2-40B4-BE49-F238E27FC236}">
                  <a16:creationId xmlns:a16="http://schemas.microsoft.com/office/drawing/2014/main" id="{11D81045-5D23-104B-1C6A-3B47D63E2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1" y="6406"/>
              <a:ext cx="742" cy="7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18471" name="Oval 229">
              <a:extLst>
                <a:ext uri="{FF2B5EF4-FFF2-40B4-BE49-F238E27FC236}">
                  <a16:creationId xmlns:a16="http://schemas.microsoft.com/office/drawing/2014/main" id="{50DD5725-FE0F-8444-F9E0-9D3E0ACEA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" y="10883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2" name="Oval 228">
              <a:extLst>
                <a:ext uri="{FF2B5EF4-FFF2-40B4-BE49-F238E27FC236}">
                  <a16:creationId xmlns:a16="http://schemas.microsoft.com/office/drawing/2014/main" id="{8C6AEB62-3234-67B0-2AEE-85859C97C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893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3" name="Oval 227">
              <a:extLst>
                <a:ext uri="{FF2B5EF4-FFF2-40B4-BE49-F238E27FC236}">
                  <a16:creationId xmlns:a16="http://schemas.microsoft.com/office/drawing/2014/main" id="{1E8D4C98-04D8-4573-8BDB-DD71EACF8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" y="8932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4" name="Oval 226">
              <a:extLst>
                <a:ext uri="{FF2B5EF4-FFF2-40B4-BE49-F238E27FC236}">
                  <a16:creationId xmlns:a16="http://schemas.microsoft.com/office/drawing/2014/main" id="{7EB0F94A-BA05-C791-7720-168057911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1" y="8932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5" name="Oval 225">
              <a:extLst>
                <a:ext uri="{FF2B5EF4-FFF2-40B4-BE49-F238E27FC236}">
                  <a16:creationId xmlns:a16="http://schemas.microsoft.com/office/drawing/2014/main" id="{CB8F9809-BE12-62A5-43A1-069AF8C9A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4" y="8932"/>
              <a:ext cx="221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6" name="Oval 224">
              <a:extLst>
                <a:ext uri="{FF2B5EF4-FFF2-40B4-BE49-F238E27FC236}">
                  <a16:creationId xmlns:a16="http://schemas.microsoft.com/office/drawing/2014/main" id="{CEFE535A-3D1C-982D-B6AF-52F8E7889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" y="6951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7" name="Oval 223">
              <a:extLst>
                <a:ext uri="{FF2B5EF4-FFF2-40B4-BE49-F238E27FC236}">
                  <a16:creationId xmlns:a16="http://schemas.microsoft.com/office/drawing/2014/main" id="{B1395090-2F46-A1CE-3439-9405BA6E2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1" y="695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8" name="Oval 222">
              <a:extLst>
                <a:ext uri="{FF2B5EF4-FFF2-40B4-BE49-F238E27FC236}">
                  <a16:creationId xmlns:a16="http://schemas.microsoft.com/office/drawing/2014/main" id="{25AAFAE7-C6A6-6848-252D-04C63C46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" y="6957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79" name="Oval 221">
              <a:extLst>
                <a:ext uri="{FF2B5EF4-FFF2-40B4-BE49-F238E27FC236}">
                  <a16:creationId xmlns:a16="http://schemas.microsoft.com/office/drawing/2014/main" id="{C9297615-6ADD-5038-6080-D25777CF4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6951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80" name="Oval 220">
              <a:extLst>
                <a:ext uri="{FF2B5EF4-FFF2-40B4-BE49-F238E27FC236}">
                  <a16:creationId xmlns:a16="http://schemas.microsoft.com/office/drawing/2014/main" id="{8E604266-4C25-F06F-4A3B-ED8F0A78D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10883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81" name="Oval 219">
              <a:extLst>
                <a:ext uri="{FF2B5EF4-FFF2-40B4-BE49-F238E27FC236}">
                  <a16:creationId xmlns:a16="http://schemas.microsoft.com/office/drawing/2014/main" id="{584DB88D-1CA3-1DCB-A530-7A852D066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2" y="10884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8482" name="Oval 218">
              <a:extLst>
                <a:ext uri="{FF2B5EF4-FFF2-40B4-BE49-F238E27FC236}">
                  <a16:creationId xmlns:a16="http://schemas.microsoft.com/office/drawing/2014/main" id="{63D4956A-7726-2130-6480-6F25AD879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" y="10884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cxnSp>
          <p:nvCxnSpPr>
            <p:cNvPr id="18483" name="AutoShape 217">
              <a:extLst>
                <a:ext uri="{FF2B5EF4-FFF2-40B4-BE49-F238E27FC236}">
                  <a16:creationId xmlns:a16="http://schemas.microsoft.com/office/drawing/2014/main" id="{1D1F42B2-BE79-1ED5-18E6-A834318F84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5" y="7062"/>
              <a:ext cx="1655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4" name="AutoShape 216">
              <a:extLst>
                <a:ext uri="{FF2B5EF4-FFF2-40B4-BE49-F238E27FC236}">
                  <a16:creationId xmlns:a16="http://schemas.microsoft.com/office/drawing/2014/main" id="{E26C2425-A2C5-39BE-3694-C6175BEF10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1" y="7068"/>
              <a:ext cx="179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5" name="AutoShape 215">
              <a:extLst>
                <a:ext uri="{FF2B5EF4-FFF2-40B4-BE49-F238E27FC236}">
                  <a16:creationId xmlns:a16="http://schemas.microsoft.com/office/drawing/2014/main" id="{EFDA1E56-D8FB-20C5-55BB-5E33E7B223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172" y="7062"/>
              <a:ext cx="1765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6" name="AutoShape 214">
              <a:extLst>
                <a:ext uri="{FF2B5EF4-FFF2-40B4-BE49-F238E27FC236}">
                  <a16:creationId xmlns:a16="http://schemas.microsoft.com/office/drawing/2014/main" id="{F9DE2221-DAB2-D86A-D45A-E83DBE791B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5" y="7173"/>
              <a:ext cx="1" cy="17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7" name="AutoShape 213">
              <a:extLst>
                <a:ext uri="{FF2B5EF4-FFF2-40B4-BE49-F238E27FC236}">
                  <a16:creationId xmlns:a16="http://schemas.microsoft.com/office/drawing/2014/main" id="{C0E121C9-E693-433B-118C-570182830C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6" y="9042"/>
              <a:ext cx="165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8" name="AutoShape 212">
              <a:extLst>
                <a:ext uri="{FF2B5EF4-FFF2-40B4-BE49-F238E27FC236}">
                  <a16:creationId xmlns:a16="http://schemas.microsoft.com/office/drawing/2014/main" id="{C124A2B9-BB58-C77C-B3C2-FEF1C0BA8A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51" y="7179"/>
              <a:ext cx="1" cy="1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89" name="AutoShape 211">
              <a:extLst>
                <a:ext uri="{FF2B5EF4-FFF2-40B4-BE49-F238E27FC236}">
                  <a16:creationId xmlns:a16="http://schemas.microsoft.com/office/drawing/2014/main" id="{C7E1996D-4BC0-F89D-333D-6A587139BE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75" y="9153"/>
              <a:ext cx="1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0" name="AutoShape 210">
              <a:extLst>
                <a:ext uri="{FF2B5EF4-FFF2-40B4-BE49-F238E27FC236}">
                  <a16:creationId xmlns:a16="http://schemas.microsoft.com/office/drawing/2014/main" id="{832113CA-0705-9D6E-0B24-6B1CA77A0A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5" y="10994"/>
              <a:ext cx="168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1" name="AutoShape 209">
              <a:extLst>
                <a:ext uri="{FF2B5EF4-FFF2-40B4-BE49-F238E27FC236}">
                  <a16:creationId xmlns:a16="http://schemas.microsoft.com/office/drawing/2014/main" id="{A47B5621-6EEF-1718-1E99-D49FF251E6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91" y="10995"/>
              <a:ext cx="185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2" name="AutoShape 208">
              <a:extLst>
                <a:ext uri="{FF2B5EF4-FFF2-40B4-BE49-F238E27FC236}">
                  <a16:creationId xmlns:a16="http://schemas.microsoft.com/office/drawing/2014/main" id="{35DB4A7A-55D4-5766-559B-B2EE9264A2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2" y="10995"/>
              <a:ext cx="16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3" name="AutoShape 207">
              <a:extLst>
                <a:ext uri="{FF2B5EF4-FFF2-40B4-BE49-F238E27FC236}">
                  <a16:creationId xmlns:a16="http://schemas.microsoft.com/office/drawing/2014/main" id="{F8365E4B-E814-1395-E552-00B813F8D4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48" y="7173"/>
              <a:ext cx="7" cy="17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4" name="AutoShape 206">
              <a:extLst>
                <a:ext uri="{FF2B5EF4-FFF2-40B4-BE49-F238E27FC236}">
                  <a16:creationId xmlns:a16="http://schemas.microsoft.com/office/drawing/2014/main" id="{47453CDF-B20D-52F3-B99A-B0D912982F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042" y="9155"/>
              <a:ext cx="13" cy="172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5" name="AutoShape 205">
              <a:extLst>
                <a:ext uri="{FF2B5EF4-FFF2-40B4-BE49-F238E27FC236}">
                  <a16:creationId xmlns:a16="http://schemas.microsoft.com/office/drawing/2014/main" id="{E7604095-9E93-1ECF-5A63-FBDA0F189A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2" y="9043"/>
              <a:ext cx="183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6" name="AutoShape 204">
              <a:extLst>
                <a:ext uri="{FF2B5EF4-FFF2-40B4-BE49-F238E27FC236}">
                  <a16:creationId xmlns:a16="http://schemas.microsoft.com/office/drawing/2014/main" id="{4C479E13-72E8-2BFC-4754-AC0C3B0709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17" y="9043"/>
              <a:ext cx="17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7" name="AutoShape 203">
              <a:extLst>
                <a:ext uri="{FF2B5EF4-FFF2-40B4-BE49-F238E27FC236}">
                  <a16:creationId xmlns:a16="http://schemas.microsoft.com/office/drawing/2014/main" id="{CA26D101-03FE-E1CD-EC23-7939D6B55C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62" y="7179"/>
              <a:ext cx="45" cy="175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8" name="AutoShape 202">
              <a:extLst>
                <a:ext uri="{FF2B5EF4-FFF2-40B4-BE49-F238E27FC236}">
                  <a16:creationId xmlns:a16="http://schemas.microsoft.com/office/drawing/2014/main" id="{72DE2286-3455-8FA3-1EA5-922ECC49F4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07" y="9154"/>
              <a:ext cx="45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99" name="AutoShape 201">
              <a:extLst>
                <a:ext uri="{FF2B5EF4-FFF2-40B4-BE49-F238E27FC236}">
                  <a16:creationId xmlns:a16="http://schemas.microsoft.com/office/drawing/2014/main" id="{156B31DF-D1EB-0782-409B-E4D419CB49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52" y="9153"/>
              <a:ext cx="29" cy="17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00" name="Arc 200">
              <a:extLst>
                <a:ext uri="{FF2B5EF4-FFF2-40B4-BE49-F238E27FC236}">
                  <a16:creationId xmlns:a16="http://schemas.microsoft.com/office/drawing/2014/main" id="{0D6C011D-E7E0-1DC3-0941-4E309F7E1F91}"/>
                </a:ext>
              </a:extLst>
            </p:cNvPr>
            <p:cNvSpPr>
              <a:spLocks/>
            </p:cNvSpPr>
            <p:nvPr/>
          </p:nvSpPr>
          <p:spPr bwMode="auto">
            <a:xfrm rot="8313198">
              <a:off x="5392" y="10441"/>
              <a:ext cx="1467" cy="1295"/>
            </a:xfrm>
            <a:custGeom>
              <a:avLst/>
              <a:gdLst>
                <a:gd name="T0" fmla="*/ 0 w 25995"/>
                <a:gd name="T1" fmla="*/ 0 h 23840"/>
                <a:gd name="T2" fmla="*/ 5 w 25995"/>
                <a:gd name="T3" fmla="*/ 4 h 23840"/>
                <a:gd name="T4" fmla="*/ 1 w 25995"/>
                <a:gd name="T5" fmla="*/ 3 h 23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95" h="23840" fill="none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</a:path>
                <a:path w="25995" h="23840" stroke="0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  <a:lnTo>
                    <a:pt x="4395" y="21600"/>
                  </a:lnTo>
                  <a:lnTo>
                    <a:pt x="-1" y="45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Arc 199">
              <a:extLst>
                <a:ext uri="{FF2B5EF4-FFF2-40B4-BE49-F238E27FC236}">
                  <a16:creationId xmlns:a16="http://schemas.microsoft.com/office/drawing/2014/main" id="{F8A5BCAF-DD38-B0E3-37F1-121092C45C6C}"/>
                </a:ext>
              </a:extLst>
            </p:cNvPr>
            <p:cNvSpPr>
              <a:spLocks/>
            </p:cNvSpPr>
            <p:nvPr/>
          </p:nvSpPr>
          <p:spPr bwMode="auto">
            <a:xfrm rot="8607229">
              <a:off x="3363" y="8557"/>
              <a:ext cx="1465" cy="1173"/>
            </a:xfrm>
            <a:custGeom>
              <a:avLst/>
              <a:gdLst>
                <a:gd name="T0" fmla="*/ 0 w 25964"/>
                <a:gd name="T1" fmla="*/ 0 h 21600"/>
                <a:gd name="T2" fmla="*/ 5 w 25964"/>
                <a:gd name="T3" fmla="*/ 3 h 21600"/>
                <a:gd name="T4" fmla="*/ 1 w 25964"/>
                <a:gd name="T5" fmla="*/ 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64" h="21600" fill="none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5875" y="0"/>
                    <a:pt x="25350" y="8981"/>
                    <a:pt x="25964" y="20445"/>
                  </a:cubicBezTo>
                </a:path>
                <a:path w="25964" h="21600" stroke="0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5875" y="0"/>
                    <a:pt x="25350" y="8981"/>
                    <a:pt x="25964" y="20445"/>
                  </a:cubicBezTo>
                  <a:lnTo>
                    <a:pt x="4395" y="21600"/>
                  </a:lnTo>
                  <a:lnTo>
                    <a:pt x="-1" y="45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Arc 198">
              <a:extLst>
                <a:ext uri="{FF2B5EF4-FFF2-40B4-BE49-F238E27FC236}">
                  <a16:creationId xmlns:a16="http://schemas.microsoft.com/office/drawing/2014/main" id="{7D24023D-DA50-806A-D19D-3C1CB8EAD571}"/>
                </a:ext>
              </a:extLst>
            </p:cNvPr>
            <p:cNvSpPr>
              <a:spLocks/>
            </p:cNvSpPr>
            <p:nvPr/>
          </p:nvSpPr>
          <p:spPr bwMode="auto">
            <a:xfrm rot="8313198">
              <a:off x="5382" y="8493"/>
              <a:ext cx="1467" cy="1295"/>
            </a:xfrm>
            <a:custGeom>
              <a:avLst/>
              <a:gdLst>
                <a:gd name="T0" fmla="*/ 0 w 25995"/>
                <a:gd name="T1" fmla="*/ 0 h 23840"/>
                <a:gd name="T2" fmla="*/ 5 w 25995"/>
                <a:gd name="T3" fmla="*/ 4 h 23840"/>
                <a:gd name="T4" fmla="*/ 1 w 25995"/>
                <a:gd name="T5" fmla="*/ 3 h 23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95" h="23840" fill="none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</a:path>
                <a:path w="25995" h="23840" stroke="0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  <a:lnTo>
                    <a:pt x="4395" y="21600"/>
                  </a:lnTo>
                  <a:lnTo>
                    <a:pt x="-1" y="45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Arc 197">
              <a:extLst>
                <a:ext uri="{FF2B5EF4-FFF2-40B4-BE49-F238E27FC236}">
                  <a16:creationId xmlns:a16="http://schemas.microsoft.com/office/drawing/2014/main" id="{27BD2CA4-B826-19DC-05CC-9A6E954CF561}"/>
                </a:ext>
              </a:extLst>
            </p:cNvPr>
            <p:cNvSpPr>
              <a:spLocks/>
            </p:cNvSpPr>
            <p:nvPr/>
          </p:nvSpPr>
          <p:spPr bwMode="auto">
            <a:xfrm rot="8313198">
              <a:off x="7361" y="8523"/>
              <a:ext cx="1467" cy="1295"/>
            </a:xfrm>
            <a:custGeom>
              <a:avLst/>
              <a:gdLst>
                <a:gd name="T0" fmla="*/ 0 w 25995"/>
                <a:gd name="T1" fmla="*/ 0 h 23840"/>
                <a:gd name="T2" fmla="*/ 5 w 25995"/>
                <a:gd name="T3" fmla="*/ 4 h 23840"/>
                <a:gd name="T4" fmla="*/ 1 w 25995"/>
                <a:gd name="T5" fmla="*/ 3 h 23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95" h="23840" fill="none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</a:path>
                <a:path w="25995" h="23840" stroke="0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  <a:lnTo>
                    <a:pt x="4395" y="21600"/>
                  </a:lnTo>
                  <a:lnTo>
                    <a:pt x="-1" y="45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Arc 196">
              <a:extLst>
                <a:ext uri="{FF2B5EF4-FFF2-40B4-BE49-F238E27FC236}">
                  <a16:creationId xmlns:a16="http://schemas.microsoft.com/office/drawing/2014/main" id="{7C4D0813-E922-9C8B-6380-EBB7E9817272}"/>
                </a:ext>
              </a:extLst>
            </p:cNvPr>
            <p:cNvSpPr>
              <a:spLocks/>
            </p:cNvSpPr>
            <p:nvPr/>
          </p:nvSpPr>
          <p:spPr bwMode="auto">
            <a:xfrm rot="-2577112">
              <a:off x="5367" y="6320"/>
              <a:ext cx="1467" cy="1295"/>
            </a:xfrm>
            <a:custGeom>
              <a:avLst/>
              <a:gdLst>
                <a:gd name="T0" fmla="*/ 0 w 25995"/>
                <a:gd name="T1" fmla="*/ 0 h 23840"/>
                <a:gd name="T2" fmla="*/ 5 w 25995"/>
                <a:gd name="T3" fmla="*/ 4 h 23840"/>
                <a:gd name="T4" fmla="*/ 1 w 25995"/>
                <a:gd name="T5" fmla="*/ 3 h 23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95" h="23840" fill="none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</a:path>
                <a:path w="25995" h="23840" stroke="0" extrusionOk="0">
                  <a:moveTo>
                    <a:pt x="-1" y="451"/>
                  </a:moveTo>
                  <a:cubicBezTo>
                    <a:pt x="1445" y="151"/>
                    <a:pt x="2918" y="-1"/>
                    <a:pt x="4395" y="0"/>
                  </a:cubicBezTo>
                  <a:cubicBezTo>
                    <a:pt x="16324" y="0"/>
                    <a:pt x="25995" y="9670"/>
                    <a:pt x="25995" y="21600"/>
                  </a:cubicBezTo>
                  <a:cubicBezTo>
                    <a:pt x="25995" y="22348"/>
                    <a:pt x="25956" y="23095"/>
                    <a:pt x="25878" y="23839"/>
                  </a:cubicBezTo>
                  <a:lnTo>
                    <a:pt x="4395" y="21600"/>
                  </a:lnTo>
                  <a:lnTo>
                    <a:pt x="-1" y="45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5875</TotalTime>
  <Words>868</Words>
  <Application>Microsoft Office PowerPoint</Application>
  <PresentationFormat>全屏显示(4:3)</PresentationFormat>
  <Paragraphs>184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宋体</vt:lpstr>
      <vt:lpstr>Tahoma</vt:lpstr>
      <vt:lpstr>Times New Roman</vt:lpstr>
      <vt:lpstr>Wingdings</vt:lpstr>
      <vt:lpstr>Blends</vt:lpstr>
      <vt:lpstr>8.1 欧拉图</vt:lpstr>
      <vt:lpstr>8.1.1 问题的提出 </vt:lpstr>
      <vt:lpstr>8.1.2 欧拉图的概念 </vt:lpstr>
      <vt:lpstr>8.1.2 欧拉图的概念 </vt:lpstr>
      <vt:lpstr>8.1.2 欧拉图的概念 </vt:lpstr>
      <vt:lpstr>8.1.2 欧拉图的概念 </vt:lpstr>
      <vt:lpstr>8.1.2 欧拉图的概念 </vt:lpstr>
      <vt:lpstr>8.1.2 欧拉图的概念 </vt:lpstr>
      <vt:lpstr>8.1.2 欧拉图的概念 </vt:lpstr>
      <vt:lpstr>8.1.2 欧拉图的概念 </vt:lpstr>
      <vt:lpstr>8.1.2 欧拉图的概念 </vt:lpstr>
      <vt:lpstr>8.1.3 Fleury算法</vt:lpstr>
      <vt:lpstr>8.1.3 Fleury算法</vt:lpstr>
      <vt:lpstr>8.1.4 中国邮路问题</vt:lpstr>
      <vt:lpstr>8.1.4 中国邮路问题</vt:lpstr>
      <vt:lpstr>8.1.4 中国邮路问题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137</cp:revision>
  <dcterms:created xsi:type="dcterms:W3CDTF">2010-04-09T13:44:14Z</dcterms:created>
  <dcterms:modified xsi:type="dcterms:W3CDTF">2023-11-27T13:26:44Z</dcterms:modified>
</cp:coreProperties>
</file>