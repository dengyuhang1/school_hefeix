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80" r:id="rId2"/>
    <p:sldId id="283" r:id="rId3"/>
    <p:sldId id="340" r:id="rId4"/>
    <p:sldId id="338" r:id="rId5"/>
    <p:sldId id="342" r:id="rId6"/>
    <p:sldId id="345" r:id="rId7"/>
    <p:sldId id="286" r:id="rId8"/>
    <p:sldId id="287" r:id="rId9"/>
    <p:sldId id="288" r:id="rId10"/>
    <p:sldId id="289" r:id="rId11"/>
    <p:sldId id="329" r:id="rId12"/>
    <p:sldId id="348" r:id="rId13"/>
    <p:sldId id="330" r:id="rId14"/>
    <p:sldId id="331" r:id="rId15"/>
    <p:sldId id="351" r:id="rId16"/>
    <p:sldId id="332" r:id="rId17"/>
    <p:sldId id="333" r:id="rId18"/>
    <p:sldId id="353" r:id="rId19"/>
    <p:sldId id="352" r:id="rId2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66FF"/>
    <a:srgbClr val="00CC99"/>
    <a:srgbClr val="FF0066"/>
    <a:srgbClr val="CC0066"/>
    <a:srgbClr val="008080"/>
    <a:srgbClr val="339933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6" d="100"/>
          <a:sy n="66" d="100"/>
        </p:scale>
        <p:origin x="63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564E68-A706-DDA1-4FBD-2E68B44DE697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B4F9F97-474A-55B4-EA12-782DBE76DA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0B0C208-0D78-70F8-6A18-18535AE2C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2F270C1-52E8-803B-96E2-4E8220931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CCABCC00-A290-70EF-AF91-4CC938F0D7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755B53-04DC-EBA6-4804-101D5EC9F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9907800-F7E9-1085-C828-A22FAF2E1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8FF3174-5AA0-0477-7F7A-1E7EF451D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9BA224F9-3BB6-15BC-83F9-BF77A1D0D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C2230E16-9A55-A247-55EE-4E4E999063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1314AA4-3D2C-7470-84D5-6FEC779F67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6363ACD-994A-E2D2-D0EC-5DD025683A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20ABCB8E-BAA2-C0B7-6721-54449ADD60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F2DCD10-B487-4DA0-909C-EB56DB20CC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31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540A9E2-FA3F-453D-A0D0-3A4F1078DC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1F5CE42-9C2B-77B9-0A09-9735D858C3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21174F2-B062-9A76-5BBA-5705469482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AAA95-618C-4DDF-A4AD-39F7DE4515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224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A3961A7-8294-0DA8-E6A7-10A1A9CB9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97414EF-0D6A-FE82-8694-34E7523016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4C151B0-3D92-6C36-AB5F-28DDEFD8AE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FDDF6-318C-4141-87D3-B9A90ECE4D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21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FA6A2AF-8065-E6DE-BA07-FAB0E6AD72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1E04AAE-BB01-D423-5B71-E5290FB220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BDB1746-4770-EEF9-4D7D-0BDB5687CD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742FD-6E9D-42E1-BF7A-A2B0CE6A2D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506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97A1F59-1035-D0E2-0C5F-E3238CC985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8DC66D1-8C42-7147-4A0B-0125D5921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6D16C2A-B5E9-056F-85BE-3BEC01D0E4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A496B-7152-401F-9EA2-3627811657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110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8B6CA49-2EB4-B1A1-1EF3-1CBF31CA98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32C8805-1316-AD80-3FA3-FFB49C9DCB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111E8EA-2323-BA61-3CF5-F6FCBF597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7B49F-9B6E-41C9-972E-4F0C653796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27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8E14E6C-7B5E-1A7B-6FF5-5AFC544CBF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E871F7F-A0BC-9D28-5DC2-5F276C2F00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C012685-48CA-6D0A-0C3C-3E0939DC62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EEF6C-419E-4DFF-B20D-EF01FA5AD3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99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D7920BA-BF98-4875-ECF0-781EAEE6E2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1993547-77B2-3996-91BD-ED2A4DA2B0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8737406-BFA7-1771-1EDC-0E666B852B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BC43C-4D3A-4A20-8ACD-B3A51B4826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8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C595931-2955-AE90-9C7E-099269FE16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B9FDDA6-9891-B39E-89A7-29A4E6079C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B190B5A-DD6F-4BAA-FDDC-26174BD07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2F7C1-47DF-4B14-B00E-BC2BB4DE38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44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0242082-DF1C-1BBA-EFCD-2D4AC7A9A3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936748B-13C8-013B-CF39-62DF28D94B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1EFAED-77F2-33A4-BE67-C6CDDD499C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1FC43-D0E9-4D42-91D3-42151C69A7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283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662524-8E6F-A5D8-7762-043C443982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2869970-1FB6-31A8-93E9-871987E28A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27C9704-8202-D857-664C-D36AA10B7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68FF7-6619-4493-9A59-94A554449E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8582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908ED5-6F02-FF5A-3910-7FE15395BC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392B95B-3877-640A-FDBF-831026A93C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3A25C67-D4E4-FC73-68FA-F9597E9A95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C3EC1-F0EE-45BE-A6D8-FEFE2BF18C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37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0E9421-484F-C521-BE2B-145627CB58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B64018-DA57-495D-D9A2-CCE3714C711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B3CFC5-C420-4533-9CE7-A97F90AE61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DA8F351-F37D-0853-2E22-8D6919DE46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19949E-21F6-D40D-ABA7-AA256A7EB0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F1B40CC-C612-3B76-843C-34D4A10E1C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686D54D-1DBE-8723-42AD-58D9F1C649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A505674E-F9EA-7A31-982C-45A747115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74411BB-8BB4-704A-3134-3D02B13B7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CF477AA5-9D07-4E17-85C6-29D7E611351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1B36D46E-47A5-CB8D-2CEE-8BF734AB27F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6B65D3C2-E706-12E7-D986-690E5E9792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fld id="{400CE04B-8E4D-4993-B25B-FA98C1E35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image" Target="../media/image1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2CD2FC9-6674-EC77-D1D5-633802BD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1.3  </a:t>
            </a:r>
            <a:r>
              <a:rPr lang="zh-CN" altLang="en-US"/>
              <a:t>命题公式及其真值表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5F461C2-0676-909A-51B8-F1FE6ED78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2017713"/>
            <a:ext cx="8128000" cy="4579937"/>
          </a:xfrm>
        </p:spPr>
        <p:txBody>
          <a:bodyPr/>
          <a:lstStyle/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1.3.1 </a:t>
            </a:r>
            <a:r>
              <a:rPr lang="zh-CN" altLang="en-US" sz="3600" b="1"/>
              <a:t>命题公式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1.3.2 </a:t>
            </a:r>
            <a:r>
              <a:rPr lang="zh-CN" altLang="en-US" sz="3600" b="1"/>
              <a:t>真值表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1.3.3 </a:t>
            </a:r>
            <a:r>
              <a:rPr lang="zh-CN" altLang="en-US" sz="3600" b="1"/>
              <a:t>命题公式的分类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1.3.4 </a:t>
            </a:r>
            <a:r>
              <a:rPr lang="zh-CN" altLang="en-US" sz="3600" b="1"/>
              <a:t>翻译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41933AF-C9EF-62BD-B7B9-62290076A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1.3.1 </a:t>
            </a:r>
            <a:r>
              <a:rPr lang="zh-CN" altLang="en-US" b="1"/>
              <a:t>命题公式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E20CF5D-821D-33F9-603B-73F7A9D79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916113"/>
            <a:ext cx="7775575" cy="489743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D60093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1.3.0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  (1) </a:t>
            </a:r>
            <a:r>
              <a:rPr lang="en-US" altLang="zh-CN" dirty="0"/>
              <a:t>┐(P∧Q)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  (2) </a:t>
            </a:r>
            <a:r>
              <a:rPr lang="en-US" altLang="zh-CN" dirty="0">
                <a:solidFill>
                  <a:srgbClr val="FF00FF"/>
                </a:solidFill>
              </a:rPr>
              <a:t>(</a:t>
            </a:r>
            <a:r>
              <a:rPr lang="en-US" altLang="zh-CN" dirty="0"/>
              <a:t>(┐P∧Q)∨(P∧┐Q)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  (3) </a:t>
            </a:r>
            <a:r>
              <a:rPr lang="en-US" altLang="zh-CN" dirty="0">
                <a:solidFill>
                  <a:srgbClr val="FF00FF"/>
                </a:solidFill>
              </a:rPr>
              <a:t>(</a:t>
            </a:r>
            <a:r>
              <a:rPr lang="en-US" altLang="zh-CN" dirty="0"/>
              <a:t>P→(P↔Q)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  (4) </a:t>
            </a:r>
            <a:r>
              <a:rPr lang="en-US" altLang="zh-CN" dirty="0">
                <a:solidFill>
                  <a:srgbClr val="FF00FF"/>
                </a:solidFill>
              </a:rPr>
              <a:t>(</a:t>
            </a:r>
            <a:r>
              <a:rPr lang="en-US" altLang="zh-CN" dirty="0"/>
              <a:t>P∧0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  (5) </a:t>
            </a:r>
            <a:r>
              <a:rPr lang="en-US" altLang="zh-CN" dirty="0"/>
              <a:t>┐P∧Q∨P∧┐Q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  (6) </a:t>
            </a:r>
            <a:r>
              <a:rPr lang="en-US" altLang="zh-CN" dirty="0"/>
              <a:t>P↔(Q→)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  (7) </a:t>
            </a:r>
            <a:r>
              <a:rPr lang="en-US" altLang="zh-CN" dirty="0"/>
              <a:t>P∧QR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BD5F4EA-7D4D-292A-AC07-354B70EDA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1.3.1 </a:t>
            </a:r>
            <a:r>
              <a:rPr lang="zh-CN" altLang="en-US" b="1"/>
              <a:t>命题公式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7CE9522-67B8-68B7-2ACE-26350EFAE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459787" cy="4724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    </a:t>
            </a:r>
            <a:r>
              <a:rPr lang="zh-CN" altLang="en-US" b="1">
                <a:solidFill>
                  <a:schemeClr val="hlink"/>
                </a:solidFill>
              </a:rPr>
              <a:t>注 意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命题公式是由圆括号、命题变量、命题常量、联结词组成且规定了</a:t>
            </a:r>
            <a:r>
              <a:rPr lang="zh-CN" altLang="en-US">
                <a:solidFill>
                  <a:schemeClr val="accent1"/>
                </a:solidFill>
              </a:rPr>
              <a:t>运算级</a:t>
            </a:r>
            <a:r>
              <a:rPr lang="zh-CN" altLang="en-US"/>
              <a:t>的字符串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约定命题公式最外层圆括号可以省略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在命题公式中，只要不特别说明，其字母均表示</a:t>
            </a:r>
            <a:r>
              <a:rPr lang="zh-CN" altLang="en-US">
                <a:solidFill>
                  <a:srgbClr val="FF0000"/>
                </a:solidFill>
              </a:rPr>
              <a:t>命题变量</a:t>
            </a:r>
            <a:r>
              <a:rPr lang="en-US" altLang="zh-CN"/>
              <a:t>(1</a:t>
            </a:r>
            <a:r>
              <a:rPr lang="zh-CN" altLang="en-US"/>
              <a:t>或</a:t>
            </a:r>
            <a:r>
              <a:rPr lang="en-US" altLang="zh-CN"/>
              <a:t>T</a:t>
            </a:r>
            <a:r>
              <a:rPr lang="zh-CN" altLang="en-US"/>
              <a:t>、</a:t>
            </a:r>
            <a:r>
              <a:rPr lang="en-US" altLang="zh-CN"/>
              <a:t>0</a:t>
            </a:r>
            <a:r>
              <a:rPr lang="zh-CN" altLang="en-US"/>
              <a:t>或</a:t>
            </a:r>
            <a:r>
              <a:rPr lang="en-US" altLang="zh-CN"/>
              <a:t>F</a:t>
            </a:r>
            <a:r>
              <a:rPr lang="zh-CN" altLang="en-US"/>
              <a:t>均表示</a:t>
            </a:r>
            <a:r>
              <a:rPr lang="zh-CN" altLang="en-US">
                <a:solidFill>
                  <a:srgbClr val="FF0000"/>
                </a:solidFill>
              </a:rPr>
              <a:t>命题常量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FF00FF"/>
                </a:solidFill>
              </a:rPr>
              <a:t>n</a:t>
            </a:r>
            <a:r>
              <a:rPr lang="zh-CN" altLang="en-US">
                <a:solidFill>
                  <a:srgbClr val="FF00FF"/>
                </a:solidFill>
              </a:rPr>
              <a:t>元命题公式（</a:t>
            </a:r>
            <a:r>
              <a:rPr lang="en-US" altLang="zh-CN">
                <a:solidFill>
                  <a:srgbClr val="FF00FF"/>
                </a:solidFill>
              </a:rPr>
              <a:t>n</a:t>
            </a:r>
            <a:r>
              <a:rPr lang="zh-CN" altLang="en-US">
                <a:solidFill>
                  <a:srgbClr val="FF00FF"/>
                </a:solidFill>
              </a:rPr>
              <a:t>个命题变量）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714AAB68-D9B2-48F7-81F5-81F475296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1.3.1 </a:t>
            </a:r>
            <a:r>
              <a:rPr lang="zh-CN" altLang="en-US" b="1"/>
              <a:t>命题公式</a:t>
            </a:r>
            <a:endParaRPr lang="zh-CN" altLang="en-US"/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0FF24F48-7C8B-7612-3ED8-E3484A9F7B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844675"/>
            <a:ext cx="8461375" cy="5013325"/>
          </a:xfrm>
        </p:spPr>
        <p:txBody>
          <a:bodyPr/>
          <a:lstStyle/>
          <a:p>
            <a:pPr>
              <a:lnSpc>
                <a:spcPts val="4300"/>
              </a:lnSpc>
            </a:pPr>
            <a:r>
              <a:rPr lang="zh-CN" altLang="en-US">
                <a:solidFill>
                  <a:schemeClr val="hlink"/>
                </a:solidFill>
              </a:rPr>
              <a:t>命题公式的</a:t>
            </a:r>
            <a:r>
              <a:rPr lang="zh-CN" altLang="en-US"/>
              <a:t>递归</a:t>
            </a:r>
            <a:r>
              <a:rPr lang="zh-CN" altLang="en-US">
                <a:solidFill>
                  <a:schemeClr val="hlink"/>
                </a:solidFill>
              </a:rPr>
              <a:t>定义</a:t>
            </a:r>
            <a:endParaRPr lang="en-US" altLang="zh-CN">
              <a:solidFill>
                <a:schemeClr val="hlink"/>
              </a:solidFill>
            </a:endParaRPr>
          </a:p>
          <a:p>
            <a:pPr>
              <a:lnSpc>
                <a:spcPts val="4300"/>
              </a:lnSpc>
            </a:pPr>
            <a:r>
              <a:rPr lang="en-US" altLang="zh-CN" sz="2800"/>
              <a:t>(1)</a:t>
            </a:r>
            <a:r>
              <a:rPr lang="zh-CN" altLang="en-US" sz="2800"/>
              <a:t>单个命题常量与命题变量是命题公式</a:t>
            </a:r>
          </a:p>
          <a:p>
            <a:pPr eaLnBrk="1" hangingPunct="1">
              <a:lnSpc>
                <a:spcPts val="43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(2)</a:t>
            </a:r>
            <a:r>
              <a:rPr lang="zh-CN" altLang="en-US" sz="2800"/>
              <a:t>若</a:t>
            </a:r>
            <a:r>
              <a:rPr lang="en-US" altLang="zh-CN" sz="2800"/>
              <a:t>P</a:t>
            </a:r>
            <a:r>
              <a:rPr lang="zh-CN" altLang="en-US" sz="2800"/>
              <a:t>是命题公式，则┐</a:t>
            </a:r>
            <a:r>
              <a:rPr lang="en-US" altLang="zh-CN" sz="2800"/>
              <a:t>P</a:t>
            </a:r>
            <a:r>
              <a:rPr lang="zh-CN" altLang="en-US" sz="2800"/>
              <a:t>是命题公式</a:t>
            </a:r>
          </a:p>
          <a:p>
            <a:pPr eaLnBrk="1" hangingPunct="1">
              <a:lnSpc>
                <a:spcPts val="43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(3)</a:t>
            </a:r>
            <a:r>
              <a:rPr lang="zh-CN" altLang="en-US" sz="2800"/>
              <a:t>若</a:t>
            </a:r>
            <a:r>
              <a:rPr lang="en-US" altLang="zh-CN" sz="2800"/>
              <a:t>P</a:t>
            </a:r>
            <a:r>
              <a:rPr lang="zh-CN" altLang="en-US" sz="2800"/>
              <a:t>与</a:t>
            </a:r>
            <a:r>
              <a:rPr lang="en-US" altLang="zh-CN" sz="2800"/>
              <a:t>Q</a:t>
            </a:r>
            <a:r>
              <a:rPr lang="zh-CN" altLang="en-US" sz="2800"/>
              <a:t>是命题公式，则</a:t>
            </a:r>
            <a:r>
              <a:rPr lang="en-US" altLang="zh-CN" sz="2800">
                <a:solidFill>
                  <a:srgbClr val="FF00FF"/>
                </a:solidFill>
              </a:rPr>
              <a:t>(</a:t>
            </a:r>
            <a:r>
              <a:rPr lang="en-US" altLang="zh-CN" sz="2800"/>
              <a:t>P∧Q</a:t>
            </a:r>
            <a:r>
              <a:rPr lang="en-US" altLang="zh-CN" sz="2800">
                <a:solidFill>
                  <a:srgbClr val="FF00FF"/>
                </a:solidFill>
              </a:rPr>
              <a:t>)</a:t>
            </a:r>
            <a:r>
              <a:rPr lang="zh-CN" altLang="en-US" sz="2800"/>
              <a:t>、</a:t>
            </a:r>
            <a:r>
              <a:rPr lang="en-US" altLang="zh-CN" sz="2800">
                <a:solidFill>
                  <a:srgbClr val="FF00FF"/>
                </a:solidFill>
              </a:rPr>
              <a:t>(</a:t>
            </a:r>
            <a:r>
              <a:rPr lang="en-US" altLang="zh-CN" sz="2800"/>
              <a:t>P∨Q</a:t>
            </a:r>
            <a:r>
              <a:rPr lang="en-US" altLang="zh-CN" sz="2800">
                <a:solidFill>
                  <a:srgbClr val="FF00FF"/>
                </a:solidFill>
              </a:rPr>
              <a:t>)</a:t>
            </a:r>
            <a:r>
              <a:rPr lang="zh-CN" altLang="en-US" sz="2800"/>
              <a:t>、  </a:t>
            </a:r>
            <a:endParaRPr lang="en-US" altLang="zh-CN" sz="2800"/>
          </a:p>
          <a:p>
            <a:pPr eaLnBrk="1" hangingPunct="1">
              <a:lnSpc>
                <a:spcPts val="43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FF"/>
                </a:solidFill>
              </a:rPr>
              <a:t>        (</a:t>
            </a:r>
            <a:r>
              <a:rPr lang="en-US" altLang="zh-CN" sz="2800"/>
              <a:t>P→Q</a:t>
            </a:r>
            <a:r>
              <a:rPr lang="en-US" altLang="zh-CN" sz="2800">
                <a:solidFill>
                  <a:srgbClr val="FF00FF"/>
                </a:solidFill>
              </a:rPr>
              <a:t>)</a:t>
            </a:r>
            <a:r>
              <a:rPr lang="zh-CN" altLang="en-US" sz="2800"/>
              <a:t>、</a:t>
            </a:r>
            <a:r>
              <a:rPr lang="en-US" altLang="zh-CN" sz="2800">
                <a:solidFill>
                  <a:srgbClr val="FF00FF"/>
                </a:solidFill>
              </a:rPr>
              <a:t>(</a:t>
            </a:r>
            <a:r>
              <a:rPr lang="en-US" altLang="zh-CN" sz="2800"/>
              <a:t>P↔Q</a:t>
            </a:r>
            <a:r>
              <a:rPr lang="en-US" altLang="zh-CN" sz="2800">
                <a:solidFill>
                  <a:srgbClr val="FF00FF"/>
                </a:solidFill>
              </a:rPr>
              <a:t>)</a:t>
            </a:r>
            <a:r>
              <a:rPr lang="zh-CN" altLang="en-US" sz="2800"/>
              <a:t>等都是命题公式</a:t>
            </a:r>
          </a:p>
          <a:p>
            <a:pPr eaLnBrk="1" hangingPunct="1">
              <a:lnSpc>
                <a:spcPts val="43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(4)</a:t>
            </a:r>
            <a:r>
              <a:rPr lang="zh-CN" altLang="en-US" sz="2800"/>
              <a:t>当且仅当能有限次地应用</a:t>
            </a:r>
            <a:r>
              <a:rPr lang="en-US" altLang="zh-CN" sz="2800"/>
              <a:t>(1)</a:t>
            </a:r>
            <a:r>
              <a:rPr lang="zh-CN" altLang="en-US" sz="2800"/>
              <a:t>－</a:t>
            </a:r>
            <a:r>
              <a:rPr lang="en-US" altLang="zh-CN" sz="2800"/>
              <a:t>(3)</a:t>
            </a:r>
            <a:r>
              <a:rPr lang="zh-CN" altLang="en-US" sz="2800"/>
              <a:t>所得的 </a:t>
            </a:r>
            <a:endParaRPr lang="en-US" altLang="zh-CN" sz="2800"/>
          </a:p>
          <a:p>
            <a:pPr eaLnBrk="1" hangingPunct="1">
              <a:lnSpc>
                <a:spcPts val="43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</a:t>
            </a:r>
            <a:r>
              <a:rPr lang="zh-CN" altLang="en-US" sz="2800"/>
              <a:t>包含命题常量或命题变量、联结词和圆括 </a:t>
            </a:r>
            <a:endParaRPr lang="en-US" altLang="zh-CN" sz="2800"/>
          </a:p>
          <a:p>
            <a:pPr eaLnBrk="1" hangingPunct="1">
              <a:lnSpc>
                <a:spcPts val="43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</a:t>
            </a:r>
            <a:r>
              <a:rPr lang="zh-CN" altLang="en-US" sz="2800"/>
              <a:t>号的符号串是命题公式  </a:t>
            </a:r>
          </a:p>
          <a:p>
            <a:endParaRPr lang="en-US" altLang="zh-CN">
              <a:solidFill>
                <a:schemeClr val="hlink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0EE0FFA-0DDA-5C92-CD2F-4B66B84E8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1.3.1 </a:t>
            </a:r>
            <a:r>
              <a:rPr lang="zh-CN" altLang="en-US" b="1"/>
              <a:t>命题公式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760190F-A81F-FC93-8851-F1E452408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135937" cy="4968875"/>
          </a:xfrm>
        </p:spPr>
        <p:txBody>
          <a:bodyPr/>
          <a:lstStyle/>
          <a:p>
            <a:pPr marL="0" indent="0" eaLnBrk="1" hangingPunct="1">
              <a:lnSpc>
                <a:spcPct val="14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D60093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1.3.1  </a:t>
            </a:r>
            <a:r>
              <a:rPr lang="en-US" altLang="zh-CN">
                <a:solidFill>
                  <a:schemeClr val="accent1"/>
                </a:solidFill>
              </a:rPr>
              <a:t>(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en-US" altLang="zh-CN">
                <a:solidFill>
                  <a:srgbClr val="000000"/>
                </a:solidFill>
              </a:rPr>
              <a:t>(┐P∧Q)</a:t>
            </a:r>
            <a:r>
              <a:rPr lang="en-US" altLang="zh-CN">
                <a:solidFill>
                  <a:srgbClr val="00B0F0"/>
                </a:solidFill>
              </a:rPr>
              <a:t>∨</a:t>
            </a:r>
            <a:r>
              <a:rPr lang="en-US" altLang="zh-CN">
                <a:solidFill>
                  <a:srgbClr val="000000"/>
                </a:solidFill>
              </a:rPr>
              <a:t>(P∧┐Q)</a:t>
            </a:r>
            <a:r>
              <a:rPr lang="en-US" altLang="zh-CN">
                <a:solidFill>
                  <a:srgbClr val="FF00FF"/>
                </a:solidFill>
              </a:rPr>
              <a:t>)</a:t>
            </a:r>
            <a:r>
              <a:rPr lang="en-US" altLang="zh-CN">
                <a:solidFill>
                  <a:srgbClr val="00B0F0"/>
                </a:solidFill>
              </a:rPr>
              <a:t>→</a:t>
            </a:r>
            <a:r>
              <a:rPr lang="en-US" altLang="zh-CN">
                <a:solidFill>
                  <a:srgbClr val="000000"/>
                </a:solidFill>
              </a:rPr>
              <a:t>(R↔Q)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  <a:endParaRPr lang="en-US" altLang="zh-CN">
              <a:solidFill>
                <a:schemeClr val="hlink"/>
              </a:solidFill>
            </a:endParaRP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(1)</a:t>
            </a:r>
            <a:r>
              <a:rPr lang="en-US" altLang="zh-CN">
                <a:solidFill>
                  <a:srgbClr val="000000"/>
                </a:solidFill>
              </a:rPr>
              <a:t>P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P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r>
              <a:rPr lang="zh-CN" altLang="en-US">
                <a:solidFill>
                  <a:srgbClr val="000000"/>
                </a:solidFill>
              </a:rPr>
              <a:t>， </a:t>
            </a:r>
            <a:r>
              <a:rPr lang="en-US" altLang="zh-CN">
                <a:solidFill>
                  <a:srgbClr val="000000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endParaRPr lang="en-US" altLang="zh-CN"/>
          </a:p>
          <a:p>
            <a:pPr marL="0" indent="0" eaLnBrk="1" hangingPunct="1">
              <a:lnSpc>
                <a:spcPct val="14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(2)</a:t>
            </a:r>
            <a:r>
              <a:rPr lang="en-US" altLang="zh-CN">
                <a:solidFill>
                  <a:srgbClr val="000000"/>
                </a:solidFill>
              </a:rPr>
              <a:t>┐P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┐Q</a:t>
            </a:r>
            <a:endParaRPr lang="en-US" altLang="zh-CN">
              <a:solidFill>
                <a:srgbClr val="FF00FF"/>
              </a:solidFill>
            </a:endParaRP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(3)</a:t>
            </a:r>
            <a:r>
              <a:rPr lang="en-US" altLang="zh-CN">
                <a:solidFill>
                  <a:srgbClr val="000000"/>
                </a:solidFill>
              </a:rPr>
              <a:t>(┐P∧Q)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(P∧┐Q)</a:t>
            </a:r>
            <a:r>
              <a:rPr lang="zh-CN" altLang="en-US">
                <a:solidFill>
                  <a:srgbClr val="FF00FF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(R↔Q)</a:t>
            </a:r>
            <a:endParaRPr lang="en-US" altLang="zh-CN">
              <a:solidFill>
                <a:srgbClr val="FF00FF"/>
              </a:solidFill>
            </a:endParaRP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(4)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en-US" altLang="zh-CN">
                <a:solidFill>
                  <a:srgbClr val="000000"/>
                </a:solidFill>
              </a:rPr>
              <a:t>(┐P∧Q)</a:t>
            </a:r>
            <a:r>
              <a:rPr lang="en-US" altLang="zh-CN">
                <a:solidFill>
                  <a:srgbClr val="00B0F0"/>
                </a:solidFill>
              </a:rPr>
              <a:t>∨</a:t>
            </a:r>
            <a:r>
              <a:rPr lang="en-US" altLang="zh-CN">
                <a:solidFill>
                  <a:srgbClr val="000000"/>
                </a:solidFill>
              </a:rPr>
              <a:t>(P∧┐Q)</a:t>
            </a:r>
            <a:r>
              <a:rPr lang="en-US" altLang="zh-CN">
                <a:solidFill>
                  <a:srgbClr val="FF00FF"/>
                </a:solidFill>
              </a:rPr>
              <a:t>)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(5)</a:t>
            </a:r>
            <a:r>
              <a:rPr lang="en-US" altLang="zh-CN">
                <a:solidFill>
                  <a:srgbClr val="00E4A8"/>
                </a:solidFill>
              </a:rPr>
              <a:t>(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en-US" altLang="zh-CN">
                <a:solidFill>
                  <a:srgbClr val="000000"/>
                </a:solidFill>
              </a:rPr>
              <a:t>(┐P∧Q)</a:t>
            </a:r>
            <a:r>
              <a:rPr lang="en-US" altLang="zh-CN">
                <a:solidFill>
                  <a:srgbClr val="00B0F0"/>
                </a:solidFill>
              </a:rPr>
              <a:t>∨</a:t>
            </a:r>
            <a:r>
              <a:rPr lang="en-US" altLang="zh-CN">
                <a:solidFill>
                  <a:srgbClr val="000000"/>
                </a:solidFill>
              </a:rPr>
              <a:t>(P∧┐Q)</a:t>
            </a:r>
            <a:r>
              <a:rPr lang="en-US" altLang="zh-CN">
                <a:solidFill>
                  <a:srgbClr val="FF00FF"/>
                </a:solidFill>
              </a:rPr>
              <a:t>)</a:t>
            </a:r>
            <a:r>
              <a:rPr lang="en-US" altLang="zh-CN">
                <a:solidFill>
                  <a:srgbClr val="00B0F0"/>
                </a:solidFill>
              </a:rPr>
              <a:t>→</a:t>
            </a:r>
            <a:r>
              <a:rPr lang="en-US" altLang="zh-CN">
                <a:solidFill>
                  <a:srgbClr val="000000"/>
                </a:solidFill>
              </a:rPr>
              <a:t>(R↔Q)</a:t>
            </a:r>
            <a:r>
              <a:rPr lang="en-US" altLang="zh-CN">
                <a:solidFill>
                  <a:srgbClr val="00E4A8"/>
                </a:solidFill>
              </a:rPr>
              <a:t>)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B9DA5D6-761F-F50B-E878-92D675DC2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1.3.1 </a:t>
            </a:r>
            <a:r>
              <a:rPr lang="zh-CN" altLang="en-US" b="1"/>
              <a:t>命题公式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1E97E8A-EFDB-0ABA-9A94-19CB430E5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135937" cy="4968875"/>
          </a:xfrm>
        </p:spPr>
        <p:txBody>
          <a:bodyPr/>
          <a:lstStyle/>
          <a:p>
            <a:pPr marL="0" indent="0" eaLnBrk="1" hangingPunct="1">
              <a:lnSpc>
                <a:spcPct val="14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D60093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1.3.2  </a:t>
            </a:r>
            <a:r>
              <a:rPr lang="en-US" altLang="zh-CN">
                <a:solidFill>
                  <a:schemeClr val="accent1"/>
                </a:solidFill>
              </a:rPr>
              <a:t>(</a:t>
            </a:r>
            <a:r>
              <a:rPr lang="en-US" altLang="zh-CN">
                <a:solidFill>
                  <a:srgbClr val="000000"/>
                </a:solidFill>
              </a:rPr>
              <a:t>(┐P∧Q)∨(P∧┐Q)→(R↔Q)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  <a:endParaRPr lang="en-US" altLang="zh-CN">
              <a:solidFill>
                <a:schemeClr val="hlink"/>
              </a:solidFill>
            </a:endParaRP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(1)</a:t>
            </a:r>
            <a:r>
              <a:rPr lang="en-US" altLang="zh-CN">
                <a:solidFill>
                  <a:srgbClr val="000000"/>
                </a:solidFill>
              </a:rPr>
              <a:t>P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P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r>
              <a:rPr lang="zh-CN" altLang="en-US">
                <a:solidFill>
                  <a:srgbClr val="000000"/>
                </a:solidFill>
              </a:rPr>
              <a:t>， </a:t>
            </a:r>
            <a:r>
              <a:rPr lang="en-US" altLang="zh-CN">
                <a:solidFill>
                  <a:srgbClr val="000000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endParaRPr lang="en-US" altLang="zh-CN"/>
          </a:p>
          <a:p>
            <a:pPr marL="0" indent="0" eaLnBrk="1" hangingPunct="1">
              <a:lnSpc>
                <a:spcPct val="14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(2)</a:t>
            </a:r>
            <a:r>
              <a:rPr lang="en-US" altLang="zh-CN">
                <a:solidFill>
                  <a:srgbClr val="000000"/>
                </a:solidFill>
              </a:rPr>
              <a:t>┐P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┐Q</a:t>
            </a:r>
            <a:endParaRPr lang="en-US" altLang="zh-CN">
              <a:solidFill>
                <a:srgbClr val="FF00FF"/>
              </a:solidFill>
            </a:endParaRP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(3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>
                <a:solidFill>
                  <a:srgbClr val="FF0000"/>
                </a:solidFill>
              </a:rPr>
              <a:t>(┐P∧Q)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</a:rPr>
              <a:t>(P∧┐Q)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</a:rPr>
              <a:t>(R↔Q)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(4)</a:t>
            </a:r>
            <a:r>
              <a:rPr lang="en-US" altLang="zh-CN">
                <a:solidFill>
                  <a:srgbClr val="000000"/>
                </a:solidFill>
              </a:rPr>
              <a:t>(┐P∧Q)∨(P∧┐Q)       </a:t>
            </a:r>
            <a:r>
              <a:rPr lang="zh-CN" altLang="en-US">
                <a:solidFill>
                  <a:srgbClr val="FF0000"/>
                </a:solidFill>
              </a:rPr>
              <a:t>？</a:t>
            </a:r>
            <a:endParaRPr lang="en-US" altLang="zh-CN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(5)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en-US" altLang="zh-CN">
                <a:solidFill>
                  <a:srgbClr val="000000"/>
                </a:solidFill>
              </a:rPr>
              <a:t>(┐P∧Q)∨(P∧┐Q)</a:t>
            </a:r>
            <a:r>
              <a:rPr lang="en-US" altLang="zh-CN">
                <a:solidFill>
                  <a:srgbClr val="FF00FF"/>
                </a:solidFill>
              </a:rPr>
              <a:t>)     </a:t>
            </a:r>
            <a:r>
              <a:rPr lang="zh-CN" altLang="en-US">
                <a:solidFill>
                  <a:srgbClr val="FF00FF"/>
                </a:solidFill>
              </a:rPr>
              <a:t>？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55AFE5D-E533-E841-CC4C-E8BFA4110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1.3.2  </a:t>
            </a:r>
            <a:r>
              <a:rPr lang="zh-CN" altLang="en-US" b="1"/>
              <a:t>真值表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BB60631-37B2-73F6-6E27-7B2776DC92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532812" cy="46513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命题公式的</a:t>
            </a:r>
            <a:r>
              <a:rPr lang="zh-CN" altLang="en-US">
                <a:solidFill>
                  <a:schemeClr val="hlink"/>
                </a:solidFill>
              </a:rPr>
              <a:t>真值表</a:t>
            </a:r>
            <a:r>
              <a:rPr lang="en-US" altLang="zh-CN">
                <a:solidFill>
                  <a:schemeClr val="hlink"/>
                </a:solidFill>
              </a:rPr>
              <a:t>(truth table)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构造命题公式</a:t>
            </a:r>
            <a:r>
              <a:rPr lang="en-US" altLang="zh-CN"/>
              <a:t>(P→Q)∨(P∧┐Q)</a:t>
            </a:r>
            <a:r>
              <a:rPr lang="zh-CN" altLang="en-US"/>
              <a:t>的真值表</a:t>
            </a:r>
          </a:p>
        </p:txBody>
      </p:sp>
      <p:graphicFrame>
        <p:nvGraphicFramePr>
          <p:cNvPr id="86265" name="Group 249">
            <a:extLst>
              <a:ext uri="{FF2B5EF4-FFF2-40B4-BE49-F238E27FC236}">
                <a16:creationId xmlns:a16="http://schemas.microsoft.com/office/drawing/2014/main" id="{CA9139B8-66E0-F3E1-3C6D-AACD6069261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042988" y="3721100"/>
          <a:ext cx="7489825" cy="2590800"/>
        </p:xfrm>
        <a:graphic>
          <a:graphicData uri="http://schemas.openxmlformats.org/drawingml/2006/table">
            <a:tbl>
              <a:tblPr/>
              <a:tblGrid>
                <a:gridCol w="906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7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 Q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P∧┐Q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(P→Q)∨(P∧┐Q)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FA7665D-8340-89B9-F193-E128F5778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66FF"/>
                </a:solidFill>
              </a:rPr>
              <a:t> </a:t>
            </a:r>
            <a:r>
              <a:rPr lang="en-US" altLang="zh-CN"/>
              <a:t>1.3.2  </a:t>
            </a:r>
            <a:r>
              <a:rPr lang="zh-CN" altLang="en-US" b="1"/>
              <a:t>真值表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953296D-BE42-AA4B-16CA-8E573338C8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7489825" cy="4579937"/>
          </a:xfrm>
        </p:spPr>
        <p:txBody>
          <a:bodyPr/>
          <a:lstStyle/>
          <a:p>
            <a:pPr eaLnBrk="1" hangingPunct="1"/>
            <a:r>
              <a:rPr lang="en-US" altLang="zh-CN" sz="2800"/>
              <a:t> </a:t>
            </a:r>
            <a:r>
              <a:rPr lang="zh-CN" altLang="en-US"/>
              <a:t>构造命题公式</a:t>
            </a:r>
            <a:r>
              <a:rPr lang="en-US" altLang="zh-CN"/>
              <a:t>P→(┐P∧Q)</a:t>
            </a:r>
            <a:r>
              <a:rPr lang="zh-CN" altLang="en-US"/>
              <a:t>的真值表 </a:t>
            </a:r>
          </a:p>
        </p:txBody>
      </p:sp>
      <p:graphicFrame>
        <p:nvGraphicFramePr>
          <p:cNvPr id="88054" name="Group 1014">
            <a:extLst>
              <a:ext uri="{FF2B5EF4-FFF2-40B4-BE49-F238E27FC236}">
                <a16:creationId xmlns:a16="http://schemas.microsoft.com/office/drawing/2014/main" id="{8B13CB07-8DF1-C29D-5DB3-1D337743D22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85863" y="3060700"/>
          <a:ext cx="6481762" cy="2895600"/>
        </p:xfrm>
        <a:graphic>
          <a:graphicData uri="http://schemas.openxmlformats.org/drawingml/2006/table">
            <a:tbl>
              <a:tblPr/>
              <a:tblGrid>
                <a:gridCol w="11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5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  Q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┐P∧Q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P→(┐P∧Q)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EAE6F85-B28A-99A4-8321-C573AFA00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66FF"/>
                </a:solidFill>
              </a:rPr>
              <a:t> </a:t>
            </a:r>
            <a:r>
              <a:rPr lang="en-US" altLang="zh-CN"/>
              <a:t>1.3.2  </a:t>
            </a:r>
            <a:r>
              <a:rPr lang="zh-CN" altLang="en-US" b="1"/>
              <a:t>真值表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8654AED-C30A-A377-2F3D-3E00DA21430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133600"/>
            <a:ext cx="8532812" cy="47244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/>
              <a:t>构造命题公式</a:t>
            </a:r>
            <a:r>
              <a:rPr lang="en-US" altLang="zh-CN"/>
              <a:t>(P↔Q)∧(┐P↔Q)</a:t>
            </a:r>
            <a:r>
              <a:rPr lang="zh-CN" altLang="en-US"/>
              <a:t>的真值表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88264" name="Group 200">
            <a:extLst>
              <a:ext uri="{FF2B5EF4-FFF2-40B4-BE49-F238E27FC236}">
                <a16:creationId xmlns:a16="http://schemas.microsoft.com/office/drawing/2014/main" id="{1FA5044B-B1FA-E167-E20A-1E625896C44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00113" y="3213100"/>
          <a:ext cx="7956550" cy="2895600"/>
        </p:xfrm>
        <a:graphic>
          <a:graphicData uri="http://schemas.openxmlformats.org/drawingml/2006/table">
            <a:tbl>
              <a:tblPr/>
              <a:tblGrid>
                <a:gridCol w="1014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 Q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P↔Q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┐P↔Q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(P↔Q)∧(┐P↔Q)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48A5E87-74BA-A0A2-6441-7317334E6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/>
              <a:t>1.3.3  </a:t>
            </a:r>
            <a:r>
              <a:rPr lang="zh-CN" altLang="en-US" b="1"/>
              <a:t>命题公式的分类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5ED7E1B-4043-E3DB-A58F-AC9824992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276475"/>
            <a:ext cx="8343900" cy="4465638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3600">
                <a:solidFill>
                  <a:schemeClr val="hlink"/>
                </a:solidFill>
              </a:rPr>
              <a:t>重言式</a:t>
            </a:r>
            <a:r>
              <a:rPr lang="en-US" altLang="zh-CN" sz="3600">
                <a:solidFill>
                  <a:schemeClr val="hlink"/>
                </a:solidFill>
              </a:rPr>
              <a:t>(</a:t>
            </a:r>
            <a:r>
              <a:rPr lang="en-US" altLang="zh-CN" sz="3600">
                <a:solidFill>
                  <a:srgbClr val="339933"/>
                </a:solidFill>
              </a:rPr>
              <a:t>tautology</a:t>
            </a:r>
            <a:r>
              <a:rPr lang="en-US" altLang="zh-CN" sz="3600">
                <a:solidFill>
                  <a:schemeClr val="hlink"/>
                </a:solidFill>
              </a:rPr>
              <a:t>)</a:t>
            </a:r>
            <a:r>
              <a:rPr lang="zh-CN" altLang="en-US" sz="3600" b="1"/>
              <a:t>或</a:t>
            </a:r>
            <a:r>
              <a:rPr lang="zh-CN" altLang="en-US" sz="3600">
                <a:solidFill>
                  <a:srgbClr val="0000FF"/>
                </a:solidFill>
              </a:rPr>
              <a:t>永真式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3600">
                <a:solidFill>
                  <a:srgbClr val="339933"/>
                </a:solidFill>
              </a:rPr>
              <a:t>矛盾式</a:t>
            </a:r>
            <a:r>
              <a:rPr lang="en-US" altLang="zh-CN" sz="3600">
                <a:solidFill>
                  <a:schemeClr val="hlink"/>
                </a:solidFill>
              </a:rPr>
              <a:t>(contradiction)</a:t>
            </a:r>
            <a:r>
              <a:rPr lang="zh-CN" altLang="en-US" sz="3600" b="1"/>
              <a:t>或</a:t>
            </a:r>
            <a:r>
              <a:rPr lang="zh-CN" altLang="en-US" sz="3600">
                <a:solidFill>
                  <a:srgbClr val="0000FF"/>
                </a:solidFill>
              </a:rPr>
              <a:t>永假式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3600">
                <a:solidFill>
                  <a:schemeClr val="hlink"/>
                </a:solidFill>
              </a:rPr>
              <a:t>可满足式</a:t>
            </a:r>
            <a:r>
              <a:rPr lang="en-US" altLang="zh-CN" sz="3600">
                <a:solidFill>
                  <a:schemeClr val="hlink"/>
                </a:solidFill>
              </a:rPr>
              <a:t>(</a:t>
            </a:r>
            <a:r>
              <a:rPr lang="en-US" altLang="zh-CN" sz="3600">
                <a:solidFill>
                  <a:srgbClr val="339933"/>
                </a:solidFill>
              </a:rPr>
              <a:t>satistiability</a:t>
            </a:r>
            <a:r>
              <a:rPr lang="en-US" altLang="zh-CN" sz="3600">
                <a:solidFill>
                  <a:schemeClr val="hlink"/>
                </a:solidFill>
              </a:rPr>
              <a:t>)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193524C-C76A-57B4-7A4A-AC2F7E959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1.3.4 </a:t>
            </a:r>
            <a:r>
              <a:rPr lang="zh-CN" altLang="en-US" sz="4800" b="1"/>
              <a:t>翻译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9EFC060-8427-2CE1-E240-43F3CA411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604250" cy="4724400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 sz="3600" b="1">
                <a:solidFill>
                  <a:schemeClr val="hlink"/>
                </a:solidFill>
              </a:rPr>
              <a:t>翻译</a:t>
            </a:r>
            <a:r>
              <a:rPr lang="en-US" altLang="zh-CN" sz="3600">
                <a:solidFill>
                  <a:schemeClr val="hlink"/>
                </a:solidFill>
              </a:rPr>
              <a:t>(explain)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   </a:t>
            </a:r>
            <a:r>
              <a:rPr lang="zh-CN" altLang="en-US" sz="3600"/>
              <a:t>用数理逻辑的符号表示自然语言中的一些命题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C9E4C71-54F8-AEC6-51C6-A39C35921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1.3.4 </a:t>
            </a:r>
            <a:r>
              <a:rPr lang="zh-CN" altLang="en-US" sz="4800" b="1"/>
              <a:t>翻译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C94E5A1-5FF3-4532-3720-1875C8A9F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6263" y="1844675"/>
            <a:ext cx="8604250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r>
              <a:rPr lang="zh-CN" altLang="en-US" dirty="0">
                <a:solidFill>
                  <a:srgbClr val="FF0000"/>
                </a:solidFill>
              </a:rPr>
              <a:t>为什么</a:t>
            </a:r>
            <a:r>
              <a:rPr lang="zh-CN" altLang="en-US" dirty="0"/>
              <a:t>要强调翻译？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r>
              <a:rPr lang="zh-CN" altLang="en-US" dirty="0">
                <a:solidFill>
                  <a:srgbClr val="00CC99"/>
                </a:solidFill>
              </a:rPr>
              <a:t>例如</a:t>
            </a:r>
            <a:r>
              <a:rPr lang="en-US" altLang="zh-CN" dirty="0"/>
              <a:t>(1)</a:t>
            </a:r>
            <a:r>
              <a:rPr lang="zh-CN" altLang="en-US" dirty="0"/>
              <a:t>下雨天留客天留人不留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(2)</a:t>
            </a:r>
            <a:r>
              <a:rPr lang="zh-CN" altLang="en-US" dirty="0"/>
              <a:t>下雨天，留客天，留人不？留。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(3)</a:t>
            </a:r>
            <a:r>
              <a:rPr lang="zh-CN" altLang="en-US" dirty="0"/>
              <a:t>下雨天留客，天留人不留。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r>
              <a:rPr lang="zh-CN" altLang="en-US" dirty="0">
                <a:solidFill>
                  <a:srgbClr val="FF00FF"/>
                </a:solidFill>
              </a:rPr>
              <a:t>例如</a:t>
            </a:r>
            <a:r>
              <a:rPr lang="zh-CN" altLang="en-US" dirty="0"/>
              <a:t>，设</a:t>
            </a:r>
            <a:r>
              <a:rPr lang="en-US" altLang="zh-CN" dirty="0"/>
              <a:t>P:</a:t>
            </a:r>
            <a:r>
              <a:rPr lang="zh-CN" altLang="en-US" dirty="0"/>
              <a:t>张三可以下班。</a:t>
            </a:r>
            <a:r>
              <a:rPr lang="en-US" altLang="zh-CN" dirty="0"/>
              <a:t>Q:</a:t>
            </a:r>
            <a:r>
              <a:rPr lang="zh-CN" altLang="en-US" dirty="0"/>
              <a:t>李四可以下班。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       张三或李四都可以下班。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      P∧Q  </a:t>
            </a:r>
            <a:r>
              <a:rPr lang="zh-CN" altLang="en-US" dirty="0">
                <a:solidFill>
                  <a:srgbClr val="FF00FF"/>
                </a:solidFill>
              </a:rPr>
              <a:t>？</a:t>
            </a:r>
            <a:r>
              <a:rPr lang="zh-CN" altLang="en-US" dirty="0">
                <a:solidFill>
                  <a:srgbClr val="000000"/>
                </a:solidFill>
              </a:rPr>
              <a:t>     </a:t>
            </a:r>
            <a:r>
              <a:rPr lang="en-US" altLang="zh-CN" dirty="0">
                <a:solidFill>
                  <a:srgbClr val="000000"/>
                </a:solidFill>
              </a:rPr>
              <a:t>P∨Q  </a:t>
            </a:r>
            <a:r>
              <a:rPr lang="zh-CN" altLang="en-US" dirty="0">
                <a:solidFill>
                  <a:srgbClr val="0066FF"/>
                </a:solidFill>
              </a:rPr>
              <a:t>？</a:t>
            </a:r>
            <a:endParaRPr lang="en-US" altLang="zh-CN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42F0A6F-1D7D-DFD1-D3EF-6A863A862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1.3.4 </a:t>
            </a:r>
            <a:r>
              <a:rPr lang="zh-CN" altLang="en-US" sz="4800" b="1"/>
              <a:t>翻译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C2C8165-8512-A22A-2715-02895079F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415338" cy="5013325"/>
          </a:xfrm>
        </p:spPr>
        <p:txBody>
          <a:bodyPr/>
          <a:lstStyle/>
          <a:p>
            <a:pPr eaLnBrk="1" hangingPunct="1">
              <a:lnSpc>
                <a:spcPct val="147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1.3.3</a:t>
            </a:r>
            <a:r>
              <a:rPr lang="en-US" altLang="zh-CN">
                <a:solidFill>
                  <a:srgbClr val="D60093"/>
                </a:solidFill>
              </a:rPr>
              <a:t> </a:t>
            </a:r>
            <a:r>
              <a:rPr lang="zh-CN" altLang="en-US"/>
              <a:t>翻译下列命题</a:t>
            </a:r>
          </a:p>
          <a:p>
            <a:pPr eaLnBrk="1" hangingPunct="1">
              <a:lnSpc>
                <a:spcPct val="147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(1)</a:t>
            </a:r>
            <a:r>
              <a:rPr lang="zh-CN" altLang="en-US"/>
              <a:t>只要天气好，我就骑车上班。</a:t>
            </a:r>
          </a:p>
          <a:p>
            <a:pPr eaLnBrk="1" hangingPunct="1">
              <a:lnSpc>
                <a:spcPct val="147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(2)</a:t>
            </a:r>
            <a:r>
              <a:rPr lang="zh-CN" altLang="en-US"/>
              <a:t>只有天气好，我才骑车上班。</a:t>
            </a:r>
            <a:endParaRPr lang="zh-CN" altLang="en-US" b="1"/>
          </a:p>
          <a:p>
            <a:pPr eaLnBrk="1" hangingPunct="1">
              <a:lnSpc>
                <a:spcPct val="147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  <a:r>
              <a:rPr lang="zh-CN" altLang="en-US" b="1">
                <a:solidFill>
                  <a:schemeClr val="hlink"/>
                </a:solidFill>
              </a:rPr>
              <a:t>解 </a:t>
            </a:r>
            <a:r>
              <a:rPr lang="zh-CN" altLang="en-US"/>
              <a:t>令</a:t>
            </a:r>
            <a:r>
              <a:rPr lang="en-US" altLang="zh-CN"/>
              <a:t>P</a:t>
            </a:r>
            <a:r>
              <a:rPr lang="zh-CN" altLang="en-US"/>
              <a:t>：天气好。  </a:t>
            </a:r>
            <a:r>
              <a:rPr lang="en-US" altLang="zh-CN"/>
              <a:t>Q</a:t>
            </a:r>
            <a:r>
              <a:rPr lang="zh-CN" altLang="en-US"/>
              <a:t>：我骑车上班。</a:t>
            </a:r>
          </a:p>
          <a:p>
            <a:pPr eaLnBrk="1" hangingPunct="1">
              <a:lnSpc>
                <a:spcPct val="147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(1)P</a:t>
            </a:r>
            <a:r>
              <a:rPr lang="zh-CN" altLang="en-US"/>
              <a:t>是</a:t>
            </a:r>
            <a:r>
              <a:rPr lang="en-US" altLang="zh-CN"/>
              <a:t>Q</a:t>
            </a:r>
            <a:r>
              <a:rPr lang="zh-CN" altLang="en-US"/>
              <a:t>的充分条件，翻译为：</a:t>
            </a:r>
            <a:r>
              <a:rPr lang="en-US" altLang="zh-CN"/>
              <a:t>P→Q</a:t>
            </a:r>
          </a:p>
          <a:p>
            <a:pPr eaLnBrk="1" hangingPunct="1">
              <a:lnSpc>
                <a:spcPct val="147000"/>
              </a:lnSpc>
              <a:buFont typeface="Wingdings" panose="05000000000000000000" pitchFamily="2" charset="2"/>
              <a:buNone/>
            </a:pPr>
            <a:r>
              <a:rPr lang="en-US" altLang="zh-CN"/>
              <a:t>    (2)P</a:t>
            </a:r>
            <a:r>
              <a:rPr lang="zh-CN" altLang="en-US"/>
              <a:t>是</a:t>
            </a:r>
            <a:r>
              <a:rPr lang="en-US" altLang="zh-CN"/>
              <a:t>Q</a:t>
            </a:r>
            <a:r>
              <a:rPr lang="zh-CN" altLang="en-US"/>
              <a:t>的必要条件，翻译为：</a:t>
            </a:r>
            <a:r>
              <a:rPr lang="en-US" altLang="zh-CN"/>
              <a:t>Q→P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D08D5D9-D7BC-770A-D68F-B32C17FEB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1.3.4 </a:t>
            </a:r>
            <a:r>
              <a:rPr lang="zh-CN" altLang="en-US" sz="4800" b="1"/>
              <a:t>翻译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FEE8854-C4ED-719C-82D1-D5C9B7F16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49688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1.3.4</a:t>
            </a:r>
            <a:r>
              <a:rPr lang="en-US" altLang="zh-CN">
                <a:solidFill>
                  <a:srgbClr val="D60093"/>
                </a:solidFill>
              </a:rPr>
              <a:t> </a:t>
            </a:r>
            <a:r>
              <a:rPr lang="zh-CN" altLang="en-US"/>
              <a:t>翻译下列命题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(1)</a:t>
            </a:r>
            <a:r>
              <a:rPr lang="zh-CN" altLang="en-US"/>
              <a:t>如果你很努力，那么你就不会失败。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(2)</a:t>
            </a:r>
            <a:r>
              <a:rPr lang="zh-CN" altLang="en-US"/>
              <a:t>除非你很努力，否则你将失败。</a:t>
            </a:r>
            <a:endParaRPr lang="en-US" altLang="zh-CN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如果你不努力，那么你将失败。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   解</a:t>
            </a:r>
            <a:r>
              <a:rPr lang="zh-CN" altLang="en-US"/>
              <a:t> 令</a:t>
            </a:r>
            <a:r>
              <a:rPr lang="en-US" altLang="zh-CN"/>
              <a:t>A</a:t>
            </a:r>
            <a:r>
              <a:rPr lang="zh-CN" altLang="en-US"/>
              <a:t>：你很努力。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</a:t>
            </a:r>
            <a:r>
              <a:rPr lang="en-US" altLang="zh-CN"/>
              <a:t>B</a:t>
            </a:r>
            <a:r>
              <a:rPr lang="zh-CN" altLang="en-US"/>
              <a:t>：你失败。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 翻译为：</a:t>
            </a: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A → </a:t>
            </a:r>
            <a:r>
              <a:rPr lang="zh-CN" altLang="en-US"/>
              <a:t>┐</a:t>
            </a:r>
            <a:r>
              <a:rPr lang="en-US" altLang="zh-CN"/>
              <a:t>B</a:t>
            </a:r>
            <a:r>
              <a:rPr lang="zh-CN" altLang="en-US"/>
              <a:t> （</a:t>
            </a:r>
            <a:r>
              <a:rPr lang="en-US" altLang="zh-CN"/>
              <a:t>2</a:t>
            </a:r>
            <a:r>
              <a:rPr lang="zh-CN" altLang="en-US"/>
              <a:t>）┐</a:t>
            </a:r>
            <a:r>
              <a:rPr lang="en-US" altLang="zh-CN"/>
              <a:t>A→B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5">
            <a:extLst>
              <a:ext uri="{FF2B5EF4-FFF2-40B4-BE49-F238E27FC236}">
                <a16:creationId xmlns:a16="http://schemas.microsoft.com/office/drawing/2014/main" id="{6CAD6ABF-73BF-4A58-1255-279BBF3A757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0113" y="1484313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1.3.5</a:t>
            </a:r>
            <a:r>
              <a:rPr lang="en-US" altLang="zh-CN" sz="2800">
                <a:solidFill>
                  <a:srgbClr val="D60093"/>
                </a:solidFill>
              </a:rPr>
              <a:t> </a:t>
            </a:r>
            <a:r>
              <a:rPr lang="zh-CN" altLang="en-US" sz="2800"/>
              <a:t>翻译下列命题。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800"/>
              <a:t>  如果明天天气好，我就上街购物；否则就在家看看书或做实验。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411" name="矩形: 圆角 6">
            <a:extLst>
              <a:ext uri="{FF2B5EF4-FFF2-40B4-BE49-F238E27FC236}">
                <a16:creationId xmlns:a16="http://schemas.microsoft.com/office/drawing/2014/main" id="{51745B43-26EC-E79F-9EF2-B19E466C707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7412" name="组合 11">
            <a:extLst>
              <a:ext uri="{FF2B5EF4-FFF2-40B4-BE49-F238E27FC236}">
                <a16:creationId xmlns:a16="http://schemas.microsoft.com/office/drawing/2014/main" id="{878D0214-8535-1529-06BC-F187902F7393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414" name="TitleBackground">
              <a:extLst>
                <a:ext uri="{FF2B5EF4-FFF2-40B4-BE49-F238E27FC236}">
                  <a16:creationId xmlns:a16="http://schemas.microsoft.com/office/drawing/2014/main" id="{4C5D79E6-EAEC-D5DE-82F3-605530CE89AE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1800"/>
            </a:p>
          </p:txBody>
        </p:sp>
        <p:sp>
          <p:nvSpPr>
            <p:cNvPr id="17415" name="ColorBlock">
              <a:extLst>
                <a:ext uri="{FF2B5EF4-FFF2-40B4-BE49-F238E27FC236}">
                  <a16:creationId xmlns:a16="http://schemas.microsoft.com/office/drawing/2014/main" id="{E3AAD4D9-C617-C4C8-16A1-EAA473BE719E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1800"/>
            </a:p>
          </p:txBody>
        </p:sp>
        <p:sp>
          <p:nvSpPr>
            <p:cNvPr id="17416" name="TypeText">
              <a:extLst>
                <a:ext uri="{FF2B5EF4-FFF2-40B4-BE49-F238E27FC236}">
                  <a16:creationId xmlns:a16="http://schemas.microsoft.com/office/drawing/2014/main" id="{AA148061-412E-950C-97E9-7E9154EC7C2F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7417" name="TipText">
              <a:extLst>
                <a:ext uri="{FF2B5EF4-FFF2-40B4-BE49-F238E27FC236}">
                  <a16:creationId xmlns:a16="http://schemas.microsoft.com/office/drawing/2014/main" id="{FD15BE54-90F0-7DAF-B251-FDC2C570E2C7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17413" name="图片 4">
            <a:extLst>
              <a:ext uri="{FF2B5EF4-FFF2-40B4-BE49-F238E27FC236}">
                <a16:creationId xmlns:a16="http://schemas.microsoft.com/office/drawing/2014/main" id="{B219E16D-98E6-2ADD-BCEF-2008939AB422}"/>
              </a:ext>
            </a:extLst>
          </p:cNvPr>
          <p:cNvPicPr>
            <a:picLocks noChangeArrowheads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D722EC-D77E-DE22-BC63-D8D9E42DA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1.3.4 </a:t>
            </a:r>
            <a:r>
              <a:rPr lang="zh-CN" altLang="en-US" sz="4800" b="1"/>
              <a:t>翻译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AE94D17-F6CD-EC29-8B3A-7BB43B2F0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95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600">
                <a:solidFill>
                  <a:schemeClr val="hlink"/>
                </a:solidFill>
              </a:rPr>
              <a:t>例</a:t>
            </a:r>
            <a:r>
              <a:rPr lang="en-US" altLang="zh-CN" sz="3600">
                <a:solidFill>
                  <a:schemeClr val="hlink"/>
                </a:solidFill>
              </a:rPr>
              <a:t>1.3.5</a:t>
            </a:r>
            <a:r>
              <a:rPr lang="en-US" altLang="zh-CN" sz="3600">
                <a:solidFill>
                  <a:srgbClr val="D60093"/>
                </a:solidFill>
              </a:rPr>
              <a:t> </a:t>
            </a:r>
            <a:r>
              <a:rPr lang="zh-CN" altLang="en-US" sz="3600"/>
              <a:t>翻译下列命题。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如果明天天气好，我就上街购物；否则就在家看看书或做实验。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 b="1">
                <a:solidFill>
                  <a:schemeClr val="hlink"/>
                </a:solidFill>
              </a:rPr>
              <a:t>  解</a:t>
            </a:r>
            <a:r>
              <a:rPr lang="zh-CN" altLang="en-US" sz="3600"/>
              <a:t>令</a:t>
            </a:r>
            <a:r>
              <a:rPr lang="en-US" altLang="zh-CN" sz="3600"/>
              <a:t>P</a:t>
            </a:r>
            <a:r>
              <a:rPr lang="zh-CN" altLang="en-US" sz="3600"/>
              <a:t>：明天天气好。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     </a:t>
            </a:r>
            <a:r>
              <a:rPr lang="en-US" altLang="zh-CN" sz="3600"/>
              <a:t>Q</a:t>
            </a:r>
            <a:r>
              <a:rPr lang="zh-CN" altLang="en-US" sz="3600"/>
              <a:t>：我上街购物。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     </a:t>
            </a:r>
            <a:r>
              <a:rPr lang="en-US" altLang="zh-CN" sz="3600"/>
              <a:t>R</a:t>
            </a:r>
            <a:r>
              <a:rPr lang="zh-CN" altLang="en-US" sz="3600"/>
              <a:t>：我在家看看书。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     </a:t>
            </a:r>
            <a:r>
              <a:rPr lang="en-US" altLang="zh-CN" sz="3600"/>
              <a:t>S</a:t>
            </a:r>
            <a:r>
              <a:rPr lang="zh-CN" altLang="en-US" sz="3600"/>
              <a:t>：我在家做实验。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 翻译为：</a:t>
            </a:r>
            <a:r>
              <a:rPr lang="en-US" altLang="zh-CN" sz="3600"/>
              <a:t>(P→Q)∧(┐P→(R∨S))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06BCD4B-18C9-FBEE-5757-7BC9E93E3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1.3.4 </a:t>
            </a:r>
            <a:r>
              <a:rPr lang="zh-CN" altLang="en-US" sz="4800" b="1"/>
              <a:t>翻译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C9A1767-4DEF-5A84-AB6F-C39F952D2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600">
                <a:solidFill>
                  <a:schemeClr val="hlink"/>
                </a:solidFill>
              </a:rPr>
              <a:t>例</a:t>
            </a:r>
            <a:r>
              <a:rPr lang="en-US" altLang="zh-CN" sz="3600">
                <a:solidFill>
                  <a:schemeClr val="hlink"/>
                </a:solidFill>
              </a:rPr>
              <a:t>1.3.6</a:t>
            </a:r>
            <a:r>
              <a:rPr lang="en-US" altLang="zh-CN" sz="3600">
                <a:solidFill>
                  <a:srgbClr val="D60093"/>
                </a:solidFill>
              </a:rPr>
              <a:t> </a:t>
            </a:r>
            <a:r>
              <a:rPr lang="zh-CN" altLang="en-US" sz="3600"/>
              <a:t>翻译下列命题。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王菲是计算机学院老师，他生于</a:t>
            </a:r>
            <a:r>
              <a:rPr lang="en-US" altLang="zh-CN" sz="3600"/>
              <a:t>1968</a:t>
            </a:r>
            <a:r>
              <a:rPr lang="zh-CN" altLang="en-US" sz="3600"/>
              <a:t>年，他是教授或博导。</a:t>
            </a:r>
            <a:endParaRPr lang="zh-CN" altLang="en-US" sz="36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 b="1">
                <a:solidFill>
                  <a:schemeClr val="hlink"/>
                </a:solidFill>
              </a:rPr>
              <a:t>   解</a:t>
            </a:r>
            <a:r>
              <a:rPr lang="zh-CN" altLang="en-US" sz="3600"/>
              <a:t> 令</a:t>
            </a:r>
            <a:r>
              <a:rPr lang="en-US" altLang="zh-CN" sz="3600"/>
              <a:t>P</a:t>
            </a:r>
            <a:r>
              <a:rPr lang="zh-CN" altLang="en-US" sz="3600"/>
              <a:t>：王菲是计算机学院老师。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       </a:t>
            </a:r>
            <a:r>
              <a:rPr lang="en-US" altLang="zh-CN" sz="3600"/>
              <a:t>Q</a:t>
            </a:r>
            <a:r>
              <a:rPr lang="zh-CN" altLang="en-US" sz="3600"/>
              <a:t>：王菲生于</a:t>
            </a:r>
            <a:r>
              <a:rPr lang="en-US" altLang="zh-CN" sz="3600"/>
              <a:t>1968</a:t>
            </a:r>
            <a:r>
              <a:rPr lang="zh-CN" altLang="en-US" sz="3600"/>
              <a:t>年。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       </a:t>
            </a:r>
            <a:r>
              <a:rPr lang="en-US" altLang="zh-CN" sz="3600"/>
              <a:t>R</a:t>
            </a:r>
            <a:r>
              <a:rPr lang="zh-CN" altLang="en-US" sz="3600"/>
              <a:t>：王菲是教授。         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       </a:t>
            </a:r>
            <a:r>
              <a:rPr lang="en-US" altLang="zh-CN" sz="3600"/>
              <a:t>S</a:t>
            </a:r>
            <a:r>
              <a:rPr lang="zh-CN" altLang="en-US" sz="3600"/>
              <a:t>：王菲是博导。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 翻译为：</a:t>
            </a:r>
            <a:r>
              <a:rPr lang="en-US" altLang="zh-CN" sz="3600">
                <a:solidFill>
                  <a:srgbClr val="000000"/>
                </a:solidFill>
              </a:rPr>
              <a:t> </a:t>
            </a:r>
            <a:r>
              <a:rPr lang="en-US" altLang="zh-CN" sz="3600">
                <a:solidFill>
                  <a:srgbClr val="FF00FF"/>
                </a:solidFill>
              </a:rPr>
              <a:t>(</a:t>
            </a:r>
            <a:r>
              <a:rPr lang="en-US" altLang="zh-CN" sz="3600"/>
              <a:t>P∧Q</a:t>
            </a:r>
            <a:r>
              <a:rPr lang="en-US" altLang="zh-CN" sz="3600">
                <a:solidFill>
                  <a:srgbClr val="FF00FF"/>
                </a:solidFill>
              </a:rPr>
              <a:t>)</a:t>
            </a:r>
            <a:r>
              <a:rPr lang="en-US" altLang="zh-CN" sz="3600"/>
              <a:t>∧(R∨S)</a:t>
            </a:r>
            <a:endParaRPr lang="zh-CN" altLang="en-US"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D865EA5-97AC-2174-7C85-DCB6E3FEC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/>
              <a:t>作   业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5DE1548-98DB-AAEB-8F63-3675B6B18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24400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sz="3600" dirty="0">
                <a:solidFill>
                  <a:schemeClr val="hlink"/>
                </a:solidFill>
              </a:rPr>
              <a:t>P9   </a:t>
            </a:r>
            <a:r>
              <a:rPr lang="zh-CN" altLang="en-US" sz="3600" dirty="0"/>
              <a:t>习题</a:t>
            </a:r>
            <a:r>
              <a:rPr lang="en-US" altLang="zh-CN" sz="3600" dirty="0"/>
              <a:t>1.3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1 </a:t>
            </a:r>
            <a:r>
              <a:rPr lang="zh-CN" altLang="en-US" sz="2800" dirty="0"/>
              <a:t>命题公式</a:t>
            </a:r>
            <a:r>
              <a:rPr lang="en-US" altLang="zh-CN" sz="2800" dirty="0"/>
              <a:t>(P-&gt;Q) ∧((Q-&gt;R)-&gt;(P-&gt;R))</a:t>
            </a:r>
            <a:r>
              <a:rPr lang="zh-CN" altLang="en-US" sz="2800" dirty="0"/>
              <a:t>的类型为（）</a:t>
            </a:r>
            <a:endParaRPr lang="en-US" altLang="zh-CN" sz="2800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A </a:t>
            </a:r>
            <a:r>
              <a:rPr lang="zh-CN" altLang="en-US" sz="2800" dirty="0"/>
              <a:t>重言式     </a:t>
            </a:r>
            <a:r>
              <a:rPr lang="en-US" altLang="zh-CN" sz="2800" dirty="0"/>
              <a:t>B</a:t>
            </a:r>
            <a:r>
              <a:rPr lang="zh-CN" altLang="en-US" sz="2800" dirty="0"/>
              <a:t>矛盾式      </a:t>
            </a:r>
            <a:r>
              <a:rPr lang="en-US" altLang="zh-CN" sz="2800" dirty="0"/>
              <a:t>C</a:t>
            </a:r>
            <a:r>
              <a:rPr lang="zh-CN" altLang="en-US" sz="2800" dirty="0"/>
              <a:t>可满足式   </a:t>
            </a:r>
            <a:r>
              <a:rPr lang="en-US" altLang="zh-CN" sz="2800" dirty="0"/>
              <a:t>D</a:t>
            </a:r>
            <a:r>
              <a:rPr lang="zh-CN" altLang="en-US" sz="2800" dirty="0"/>
              <a:t>不确定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600" dirty="0"/>
              <a:t>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框 5">
            <a:extLst>
              <a:ext uri="{FF2B5EF4-FFF2-40B4-BE49-F238E27FC236}">
                <a16:creationId xmlns:a16="http://schemas.microsoft.com/office/drawing/2014/main" id="{460E2A3D-41BB-17DE-0591-8FF535EA687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命题公式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(p-&gt;Q)-&gt;R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的类型为（    ）</a:t>
            </a:r>
          </a:p>
        </p:txBody>
      </p:sp>
      <p:sp>
        <p:nvSpPr>
          <p:cNvPr id="21507" name="文本框 6">
            <a:extLst>
              <a:ext uri="{FF2B5EF4-FFF2-40B4-BE49-F238E27FC236}">
                <a16:creationId xmlns:a16="http://schemas.microsoft.com/office/drawing/2014/main" id="{71CE07EA-7113-B32A-209D-0BFA35BD5A7E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重言式</a:t>
            </a:r>
          </a:p>
        </p:txBody>
      </p:sp>
      <p:sp>
        <p:nvSpPr>
          <p:cNvPr id="21508" name="文本框 7">
            <a:extLst>
              <a:ext uri="{FF2B5EF4-FFF2-40B4-BE49-F238E27FC236}">
                <a16:creationId xmlns:a16="http://schemas.microsoft.com/office/drawing/2014/main" id="{868D9FF5-1C5A-9712-B8CF-48BBFDBA3E3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矛盾式</a:t>
            </a:r>
          </a:p>
        </p:txBody>
      </p:sp>
      <p:sp>
        <p:nvSpPr>
          <p:cNvPr id="21509" name="文本框 8">
            <a:extLst>
              <a:ext uri="{FF2B5EF4-FFF2-40B4-BE49-F238E27FC236}">
                <a16:creationId xmlns:a16="http://schemas.microsoft.com/office/drawing/2014/main" id="{93D87BE8-85A9-1C98-3C8E-CC970CDD7BC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可满足式</a:t>
            </a:r>
          </a:p>
        </p:txBody>
      </p:sp>
      <p:sp>
        <p:nvSpPr>
          <p:cNvPr id="21510" name="文本框 9">
            <a:extLst>
              <a:ext uri="{FF2B5EF4-FFF2-40B4-BE49-F238E27FC236}">
                <a16:creationId xmlns:a16="http://schemas.microsoft.com/office/drawing/2014/main" id="{AE594E8C-7F93-1158-A3A1-CBFA09443B1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不确定</a:t>
            </a:r>
          </a:p>
        </p:txBody>
      </p:sp>
      <p:sp>
        <p:nvSpPr>
          <p:cNvPr id="21511" name="椭圆 10">
            <a:extLst>
              <a:ext uri="{FF2B5EF4-FFF2-40B4-BE49-F238E27FC236}">
                <a16:creationId xmlns:a16="http://schemas.microsoft.com/office/drawing/2014/main" id="{73D6A807-C271-5D3E-B5F3-6AA58D6C7F9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2" name="椭圆 11">
            <a:extLst>
              <a:ext uri="{FF2B5EF4-FFF2-40B4-BE49-F238E27FC236}">
                <a16:creationId xmlns:a16="http://schemas.microsoft.com/office/drawing/2014/main" id="{D9AE619B-C1C3-DBA3-D019-D65DF0E2AC1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3" name="椭圆 12">
            <a:extLst>
              <a:ext uri="{FF2B5EF4-FFF2-40B4-BE49-F238E27FC236}">
                <a16:creationId xmlns:a16="http://schemas.microsoft.com/office/drawing/2014/main" id="{2AA0E879-69C1-D801-0465-2A2AA9027A4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4" name="椭圆 13">
            <a:extLst>
              <a:ext uri="{FF2B5EF4-FFF2-40B4-BE49-F238E27FC236}">
                <a16:creationId xmlns:a16="http://schemas.microsoft.com/office/drawing/2014/main" id="{4428E911-41BF-C287-0706-D0F8F108A1F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5" name="矩形: 圆角 14">
            <a:extLst>
              <a:ext uri="{FF2B5EF4-FFF2-40B4-BE49-F238E27FC236}">
                <a16:creationId xmlns:a16="http://schemas.microsoft.com/office/drawing/2014/main" id="{070DE246-6821-39CB-C4E1-76F08AAFAAD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21516" name="组合 19">
            <a:extLst>
              <a:ext uri="{FF2B5EF4-FFF2-40B4-BE49-F238E27FC236}">
                <a16:creationId xmlns:a16="http://schemas.microsoft.com/office/drawing/2014/main" id="{8AD2801A-411B-A642-77A5-00A4734C3600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1518" name="TitleBackground">
              <a:extLst>
                <a:ext uri="{FF2B5EF4-FFF2-40B4-BE49-F238E27FC236}">
                  <a16:creationId xmlns:a16="http://schemas.microsoft.com/office/drawing/2014/main" id="{F585E6A5-916F-0582-ABB6-8F7984C37316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21519" name="ColorBlock">
              <a:extLst>
                <a:ext uri="{FF2B5EF4-FFF2-40B4-BE49-F238E27FC236}">
                  <a16:creationId xmlns:a16="http://schemas.microsoft.com/office/drawing/2014/main" id="{1CA89578-55CB-BC4F-30F0-5924597D4070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21520" name="TypeText">
              <a:extLst>
                <a:ext uri="{FF2B5EF4-FFF2-40B4-BE49-F238E27FC236}">
                  <a16:creationId xmlns:a16="http://schemas.microsoft.com/office/drawing/2014/main" id="{55D4377B-3EC7-CF9A-862C-7F751FB73E65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1521" name="TipText">
              <a:extLst>
                <a:ext uri="{FF2B5EF4-FFF2-40B4-BE49-F238E27FC236}">
                  <a16:creationId xmlns:a16="http://schemas.microsoft.com/office/drawing/2014/main" id="{191196AF-063C-29C5-B554-3BE479293D54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1517" name="图片 4">
            <a:extLst>
              <a:ext uri="{FF2B5EF4-FFF2-40B4-BE49-F238E27FC236}">
                <a16:creationId xmlns:a16="http://schemas.microsoft.com/office/drawing/2014/main" id="{CF7427E4-8814-5D4C-1F7A-CD01A9CD2A04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3127</TotalTime>
  <Words>1277</Words>
  <Application>Microsoft Office PowerPoint</Application>
  <PresentationFormat>全屏显示(4:3)</PresentationFormat>
  <Paragraphs>188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宋体</vt:lpstr>
      <vt:lpstr>微软雅黑</vt:lpstr>
      <vt:lpstr>Tahoma</vt:lpstr>
      <vt:lpstr>Wingdings</vt:lpstr>
      <vt:lpstr>Blends</vt:lpstr>
      <vt:lpstr> 1.3  命题公式及其真值表 </vt:lpstr>
      <vt:lpstr>1.3.1 命题公式</vt:lpstr>
      <vt:lpstr>1.3.1 命题公式</vt:lpstr>
      <vt:lpstr>1.3.1 命题公式</vt:lpstr>
      <vt:lpstr>1.3.1 命题公式</vt:lpstr>
      <vt:lpstr>1.3.1 命题公式</vt:lpstr>
      <vt:lpstr> 1.3.2  真值表</vt:lpstr>
      <vt:lpstr> 1.3.2  真值表</vt:lpstr>
      <vt:lpstr> 1.3.2  真值表</vt:lpstr>
      <vt:lpstr> 1.3.3  命题公式的分类</vt:lpstr>
      <vt:lpstr>1.3.4 翻译</vt:lpstr>
      <vt:lpstr>1.3.4 翻译</vt:lpstr>
      <vt:lpstr>1.3.4 翻译</vt:lpstr>
      <vt:lpstr>1.3.4 翻译</vt:lpstr>
      <vt:lpstr>PowerPoint 演示文稿</vt:lpstr>
      <vt:lpstr>1.3.4 翻译</vt:lpstr>
      <vt:lpstr>1.3.4 翻译</vt:lpstr>
      <vt:lpstr>作   业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74</cp:revision>
  <dcterms:created xsi:type="dcterms:W3CDTF">2010-04-09T13:44:14Z</dcterms:created>
  <dcterms:modified xsi:type="dcterms:W3CDTF">2023-12-21T07:41:21Z</dcterms:modified>
</cp:coreProperties>
</file>