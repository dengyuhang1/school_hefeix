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5" r:id="rId2"/>
    <p:sldId id="306" r:id="rId3"/>
    <p:sldId id="307" r:id="rId4"/>
    <p:sldId id="361" r:id="rId5"/>
    <p:sldId id="365" r:id="rId6"/>
    <p:sldId id="312" r:id="rId7"/>
    <p:sldId id="313" r:id="rId8"/>
    <p:sldId id="378" r:id="rId9"/>
    <p:sldId id="379" r:id="rId10"/>
    <p:sldId id="343" r:id="rId11"/>
    <p:sldId id="376" r:id="rId12"/>
    <p:sldId id="367" r:id="rId13"/>
    <p:sldId id="377" r:id="rId14"/>
    <p:sldId id="369" r:id="rId15"/>
    <p:sldId id="315" r:id="rId16"/>
    <p:sldId id="316" r:id="rId17"/>
    <p:sldId id="380" r:id="rId1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00FF"/>
    <a:srgbClr val="FF0066"/>
    <a:srgbClr val="CC0066"/>
    <a:srgbClr val="008080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3482" autoAdjust="0"/>
  </p:normalViewPr>
  <p:slideViewPr>
    <p:cSldViewPr>
      <p:cViewPr varScale="1">
        <p:scale>
          <a:sx n="61" d="100"/>
          <a:sy n="61" d="100"/>
        </p:scale>
        <p:origin x="7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E4C6B0-E161-27EA-1062-06F99A3412A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3480937-6253-23A3-1FA7-37E7197A01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211C1A42-20F9-4ED5-F0E4-C6636D94C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50035694-A80C-C86B-72C1-182BB9BE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C48EFDF-5AFE-9964-A374-CCBE888C75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FD9B08B-5ECB-9DA8-30F5-C29396857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966ED83-59E0-4F87-2CA8-B8281F27A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E07398C7-61DF-DB13-3DF1-96C05028B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4B1C149-776D-2393-F977-D51DFAD56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B38986A-0704-3667-EB9B-740F44DC1C4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DA4BA2D1-DB95-B17D-176D-366F33F5ED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40C304C3-A9BD-840E-1C42-C8D80BD0AD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468D8724-36CD-3BD4-250A-8CCF8FBE90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C1C93E5-CD7E-4179-BF85-94C9E0C914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746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FA7C5A7-4524-97C9-1EDB-B4EDB12E3D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F77E357-247E-1315-6C70-5E1485087D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482D40B-1861-2FD8-EF63-F1AAD0B703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5D0A8D-0109-4189-9C42-5AEEA9E175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850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135657E-3252-2FB9-FDB4-E70F47DDD9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6FC3822-C6A9-7531-0AF0-3692CADC0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B6E4828-C86D-B6C0-B215-85830822E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FCEFC-D525-476C-AC10-ECDF212985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576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3FBB37C-EF99-A407-10CD-28F2444FF5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7DEFEB5-9B47-6935-9C16-0AAFF400E2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ED4C6C-5D1A-A294-1962-37EEBE2B8D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F2FCF7-AA14-4E14-8463-9379C9453E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4165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660B6ED-278C-F4AA-2F33-7F356B65E6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1827CA4-B742-21A2-9C80-3F53B813DF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ABD17B4-C585-BD50-38D7-FCCC830FA7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26905B-2961-4846-8B53-3884482C4E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383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806B01B-005C-C5BB-D462-10BD73B332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6D8DD86-3E4C-D631-D8B0-987642299B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E0720AC-88D2-1B5D-E937-800B8E5761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A76C8-571A-4768-9D79-1987BC792F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832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A4E3997-38F6-D6C8-1E34-785570301A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3026E70-2076-1786-BA86-FF1B2356FC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3570C6B-96C6-8D5E-F451-7F4696561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1DF4B9-BB9C-4A56-B43A-664D0A45A4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310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0B2D202-6ADD-1ACE-3ECB-E11F780073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AD8BE19-2F6A-42C9-1AEE-90CA59399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55A2AB6-695A-11DB-6020-475088571D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DD1C01-6698-4D3E-8325-2AE6F1F36C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318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DD262A5-EAE2-7B08-3174-31A161A2FC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A1761FD-E200-3839-12F2-EA7ADD4BE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172B7AE-7873-AF09-7F0E-A728B9D91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1DA8A3-3AAE-429D-8D82-85C8ADC9EA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36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D75A446-1684-6F4E-16EC-BCD4B7C60F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3E0E41E-EE51-7F3C-1BB3-75579D45DB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A98D955-9B36-5ECA-F1B6-B562F51482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102C47-6380-4F91-97AD-8B99AF1026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602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8985404-59F4-D05F-0EFB-9396349D36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E066C08-0A97-FBE8-E7E8-F79D02201D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291B7CE-4A31-D838-1B48-F4512569DE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0DF70A-2B37-4ED7-B0E6-A6C4754AB4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242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2F6187D-57BC-4E23-337D-1B509B2A25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A45ED34-4F72-5856-7FBE-5483E5A65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9BB8A8C-A6D9-D015-C290-4C9A2022E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0B356-E6BF-4174-9943-6768F5E9FD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7989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78F8418-6B3D-9B7E-8158-EE026E1DF7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C73C495-11BF-1414-97A5-F53CAB17B2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7534CC2-C3DC-A89D-2E39-B0B953F4FA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916D98-2C2F-4977-8F71-3B99388652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8252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E31EB21-958A-90B0-32A2-323A966BCF1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2CB60F-4DEE-DB04-199A-974BE9A9887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62664DB-44D9-85F5-26AC-5573428D31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1CA743-64E7-8E5A-625A-E744E091AB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F80C04-869D-1E51-298E-54A0F7BEFB8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7393DBB-7E22-1664-225A-963E4DA9065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B9F8987-9ED8-4128-BD47-215B352AD9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7D5E31AD-6441-BC81-D1DE-954662786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87351118-EB63-DB4C-DACD-818D349D3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AEEAF472-E4B9-80EF-A395-6C1A295021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36D886F9-BFF6-FF4A-DA90-6EC4AD5A02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7D09FBB1-9D7D-EADC-4524-0F2AEEE3D8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C74161-1B88-4FE8-9047-C7A4BBE748D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0.bin"/><Relationship Id="rId3" Type="http://schemas.openxmlformats.org/officeDocument/2006/relationships/image" Target="../media/image3.wmf"/><Relationship Id="rId7" Type="http://schemas.openxmlformats.org/officeDocument/2006/relationships/image" Target="../media/image4.wmf"/><Relationship Id="rId12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8.bin"/><Relationship Id="rId1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4.wmf"/><Relationship Id="rId3" Type="http://schemas.openxmlformats.org/officeDocument/2006/relationships/image" Target="../media/image3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18.png"/><Relationship Id="rId3" Type="http://schemas.openxmlformats.org/officeDocument/2006/relationships/tags" Target="../tags/tag3.xml"/><Relationship Id="rId21" Type="http://schemas.openxmlformats.org/officeDocument/2006/relationships/tags" Target="../tags/tag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6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7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5.xml"/><Relationship Id="rId10" Type="http://schemas.openxmlformats.org/officeDocument/2006/relationships/tags" Target="../tags/tag10.xml"/><Relationship Id="rId19" Type="http://schemas.openxmlformats.org/officeDocument/2006/relationships/tags" Target="../tags/tag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6.png"/><Relationship Id="rId27" Type="http://schemas.openxmlformats.org/officeDocument/2006/relationships/image" Target="../media/image15.tm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23.png"/><Relationship Id="rId3" Type="http://schemas.openxmlformats.org/officeDocument/2006/relationships/tags" Target="../tags/tag20.xml"/><Relationship Id="rId21" Type="http://schemas.openxmlformats.org/officeDocument/2006/relationships/tags" Target="../tags/tag21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tags" Target="../tags/tag23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20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image" Target="../media/image22.png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22.xml"/><Relationship Id="rId10" Type="http://schemas.openxmlformats.org/officeDocument/2006/relationships/tags" Target="../tags/tag27.xml"/><Relationship Id="rId19" Type="http://schemas.openxmlformats.org/officeDocument/2006/relationships/tags" Target="../tags/tag20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image" Target="../media/image21.png"/><Relationship Id="rId27" Type="http://schemas.openxmlformats.org/officeDocument/2006/relationships/image" Target="../media/image15.tm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3.wmf"/><Relationship Id="rId7" Type="http://schemas.openxmlformats.org/officeDocument/2006/relationships/oleObject" Target="../embeddings/oleObject22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0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25.w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37.png"/><Relationship Id="rId3" Type="http://schemas.openxmlformats.org/officeDocument/2006/relationships/tags" Target="../tags/tag37.xml"/><Relationship Id="rId21" Type="http://schemas.openxmlformats.org/officeDocument/2006/relationships/tags" Target="../tags/tag38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5" Type="http://schemas.openxmlformats.org/officeDocument/2006/relationships/tags" Target="../tags/tag40.xml"/><Relationship Id="rId33" Type="http://schemas.openxmlformats.org/officeDocument/2006/relationships/image" Target="../media/image15.tmp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image" Target="../media/image34.png"/><Relationship Id="rId29" Type="http://schemas.openxmlformats.org/officeDocument/2006/relationships/oleObject" Target="../embeddings/oleObject23.bin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image" Target="../media/image36.png"/><Relationship Id="rId32" Type="http://schemas.openxmlformats.org/officeDocument/2006/relationships/image" Target="../media/image19.wmf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23" Type="http://schemas.openxmlformats.org/officeDocument/2006/relationships/tags" Target="../tags/tag39.xml"/><Relationship Id="rId28" Type="http://schemas.openxmlformats.org/officeDocument/2006/relationships/image" Target="../media/image22.wmf"/><Relationship Id="rId10" Type="http://schemas.openxmlformats.org/officeDocument/2006/relationships/tags" Target="../tags/tag44.xml"/><Relationship Id="rId19" Type="http://schemas.openxmlformats.org/officeDocument/2006/relationships/tags" Target="../tags/tag37.xml"/><Relationship Id="rId31" Type="http://schemas.openxmlformats.org/officeDocument/2006/relationships/oleObject" Target="../embeddings/oleObject24.bin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image" Target="../media/image35.png"/><Relationship Id="rId27" Type="http://schemas.openxmlformats.org/officeDocument/2006/relationships/oleObject" Target="../embeddings/oleObject31.bin"/><Relationship Id="rId30" Type="http://schemas.openxmlformats.org/officeDocument/2006/relationships/image" Target="../media/image1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15.tmp"/><Relationship Id="rId5" Type="http://schemas.openxmlformats.org/officeDocument/2006/relationships/tags" Target="../tags/tag5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63633AC-975D-552E-7679-485C2C5D8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  集合与关系 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C61F802-619D-F305-842F-B87EA348D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1916113"/>
            <a:ext cx="7839075" cy="4941887"/>
          </a:xfrm>
        </p:spPr>
        <p:txBody>
          <a:bodyPr/>
          <a:lstStyle/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3.1 </a:t>
            </a:r>
            <a:r>
              <a:rPr lang="zh-CN" altLang="en-US" sz="2800" b="1"/>
              <a:t>集合的概念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3.2 </a:t>
            </a:r>
            <a:r>
              <a:rPr lang="zh-CN" altLang="en-US" sz="2800" b="1"/>
              <a:t>集合的运算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3.3 </a:t>
            </a:r>
            <a:r>
              <a:rPr lang="zh-CN" altLang="en-US" sz="2800" b="1"/>
              <a:t>序偶与笛卡尔积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3.4 </a:t>
            </a:r>
            <a:r>
              <a:rPr lang="zh-CN" altLang="en-US" sz="2800" b="1"/>
              <a:t>关系及其表示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3.5 </a:t>
            </a:r>
            <a:r>
              <a:rPr lang="zh-CN" altLang="en-US" sz="2800" b="1"/>
              <a:t>关系的性质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3.6 </a:t>
            </a:r>
            <a:r>
              <a:rPr lang="zh-CN" altLang="en-US" sz="2800" b="1"/>
              <a:t>等价关系与划分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3.7 </a:t>
            </a:r>
            <a:r>
              <a:rPr lang="zh-CN" altLang="en-US" sz="2800" b="1"/>
              <a:t>相容关系与覆盖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3.8 </a:t>
            </a:r>
            <a:r>
              <a:rPr lang="zh-CN" altLang="en-US" sz="2800" b="1"/>
              <a:t>偏序关系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3.9 </a:t>
            </a:r>
            <a:r>
              <a:rPr lang="zh-CN" altLang="en-US" sz="2800" b="1"/>
              <a:t>复合关系与逆关系</a:t>
            </a:r>
            <a:r>
              <a:rPr lang="zh-CN" altLang="en-US" sz="2800"/>
              <a:t> </a:t>
            </a:r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3.10 </a:t>
            </a:r>
            <a:r>
              <a:rPr lang="zh-CN" altLang="en-US" sz="2800" b="1"/>
              <a:t>关系的闭包运算</a:t>
            </a:r>
            <a:r>
              <a:rPr lang="zh-CN" altLang="en-US" sz="28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187DD80-B4D6-809B-A047-B624CF26DE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 </a:t>
            </a:r>
            <a:r>
              <a:rPr lang="zh-CN" altLang="en-US" b="1"/>
              <a:t>集合的概念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BF8208D-5BB7-C853-E407-F8C22268A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2276475"/>
            <a:ext cx="7413625" cy="3827463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3.1.1 </a:t>
            </a:r>
            <a:r>
              <a:rPr lang="zh-CN" altLang="en-US" sz="4000" b="1"/>
              <a:t>集合及其表示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3.1.2 </a:t>
            </a:r>
            <a:r>
              <a:rPr lang="zh-CN" altLang="en-US" sz="4000" b="1"/>
              <a:t>子集与空集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3.1.3 </a:t>
            </a:r>
            <a:r>
              <a:rPr lang="zh-CN" altLang="en-US" sz="4000" b="1"/>
              <a:t>幂集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ED21FAA-30BA-3ED4-6221-EA9F4252B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3.1.1 </a:t>
            </a:r>
            <a:r>
              <a:rPr lang="zh-CN" altLang="en-US" sz="4800" b="1"/>
              <a:t>集合及其表示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21EEE29C-86E1-1A9F-C073-2F71D38ACEE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47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集合</a:t>
            </a:r>
            <a:r>
              <a:rPr lang="zh-CN" altLang="en-US" dirty="0"/>
              <a:t>：由某种特定性质的</a:t>
            </a:r>
            <a:r>
              <a:rPr lang="zh-CN" altLang="en-US" dirty="0">
                <a:solidFill>
                  <a:srgbClr val="FF00FF"/>
                </a:solidFill>
              </a:rPr>
              <a:t>对象</a:t>
            </a:r>
            <a:r>
              <a:rPr lang="zh-CN" altLang="en-US" dirty="0"/>
              <a:t>汇集成的整体</a:t>
            </a:r>
            <a:endParaRPr lang="en-US" altLang="zh-CN" dirty="0"/>
          </a:p>
          <a:p>
            <a:pPr marL="0" indent="0" eaLnBrk="1" hangingPunct="1">
              <a:lnSpc>
                <a:spcPct val="147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集合的</a:t>
            </a:r>
            <a:r>
              <a:rPr lang="zh-CN" altLang="en-US" b="1" dirty="0">
                <a:solidFill>
                  <a:schemeClr val="hlink"/>
                </a:solidFill>
              </a:rPr>
              <a:t>元素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chemeClr val="hlink"/>
                </a:solidFill>
              </a:rPr>
              <a:t>成员    </a:t>
            </a:r>
            <a:r>
              <a:rPr lang="en-US" altLang="zh-CN" dirty="0" err="1"/>
              <a:t>a∈A</a:t>
            </a:r>
            <a:r>
              <a:rPr lang="en-US" altLang="zh-CN" dirty="0"/>
              <a:t>(</a:t>
            </a:r>
            <a:r>
              <a:rPr lang="zh-CN" altLang="en-US" dirty="0"/>
              <a:t>读</a:t>
            </a:r>
            <a:r>
              <a:rPr lang="en-US" altLang="zh-CN" dirty="0"/>
              <a:t>a</a:t>
            </a:r>
            <a:r>
              <a:rPr lang="zh-CN" altLang="en-US" dirty="0"/>
              <a:t>属于</a:t>
            </a:r>
            <a:r>
              <a:rPr lang="en-US" altLang="zh-CN" dirty="0"/>
              <a:t>A)</a:t>
            </a:r>
          </a:p>
          <a:p>
            <a:pPr eaLnBrk="1" hangingPunct="1">
              <a:lnSpc>
                <a:spcPct val="147000"/>
              </a:lnSpc>
              <a:defRPr/>
            </a:pPr>
            <a:r>
              <a:rPr lang="zh-CN" altLang="en-US" dirty="0"/>
              <a:t>集合</a:t>
            </a:r>
            <a:r>
              <a:rPr lang="zh-CN" altLang="en-US" dirty="0">
                <a:solidFill>
                  <a:srgbClr val="FF00FF"/>
                </a:solidFill>
              </a:rPr>
              <a:t>相等</a:t>
            </a:r>
            <a:r>
              <a:rPr lang="zh-CN" altLang="en-US" dirty="0"/>
              <a:t>       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zh-CN" altLang="en-US" dirty="0"/>
              <a:t>    </a:t>
            </a:r>
            <a:r>
              <a:rPr lang="en-US" altLang="zh-CN" dirty="0"/>
              <a:t>A≠B</a:t>
            </a:r>
          </a:p>
          <a:p>
            <a:pPr eaLnBrk="1" hangingPunct="1">
              <a:lnSpc>
                <a:spcPct val="147000"/>
              </a:lnSpc>
              <a:defRPr/>
            </a:pPr>
            <a:r>
              <a:rPr lang="zh-CN" altLang="en-US" dirty="0"/>
              <a:t>元素</a:t>
            </a:r>
            <a:r>
              <a:rPr lang="zh-CN" altLang="en-US" dirty="0">
                <a:solidFill>
                  <a:srgbClr val="00B0F0"/>
                </a:solidFill>
              </a:rPr>
              <a:t>次序</a:t>
            </a:r>
            <a:r>
              <a:rPr lang="zh-CN" altLang="en-US" dirty="0"/>
              <a:t>无关紧要  </a:t>
            </a:r>
            <a:r>
              <a:rPr lang="en-US" altLang="zh-CN" dirty="0"/>
              <a:t>{1,2,3,4}</a:t>
            </a:r>
            <a:r>
              <a:rPr lang="zh-CN" altLang="en-US" dirty="0"/>
              <a:t>＝</a:t>
            </a:r>
            <a:r>
              <a:rPr lang="en-US" altLang="zh-CN" dirty="0"/>
              <a:t>{4,3,2,1} </a:t>
            </a:r>
          </a:p>
          <a:p>
            <a:pPr eaLnBrk="1" hangingPunct="1">
              <a:lnSpc>
                <a:spcPct val="147000"/>
              </a:lnSpc>
              <a:defRPr/>
            </a:pPr>
            <a:r>
              <a:rPr lang="zh-CN" altLang="en-US" dirty="0"/>
              <a:t>元素两两</a:t>
            </a:r>
            <a:r>
              <a:rPr lang="zh-CN" altLang="en-US" dirty="0">
                <a:solidFill>
                  <a:srgbClr val="FF0000"/>
                </a:solidFill>
              </a:rPr>
              <a:t>不同</a:t>
            </a:r>
            <a:r>
              <a:rPr lang="zh-CN" altLang="en-US" dirty="0"/>
              <a:t>    </a:t>
            </a:r>
            <a:r>
              <a:rPr lang="en-US" altLang="zh-CN" dirty="0"/>
              <a:t>{1,2,2,2,3,4} 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47000"/>
              </a:lnSpc>
              <a:defRPr/>
            </a:pPr>
            <a:r>
              <a:rPr lang="zh-CN" altLang="en-US" dirty="0"/>
              <a:t>有限集合的</a:t>
            </a:r>
            <a:r>
              <a:rPr lang="zh-CN" altLang="en-US" b="1" dirty="0">
                <a:solidFill>
                  <a:srgbClr val="0066FF"/>
                </a:solidFill>
              </a:rPr>
              <a:t>基数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cardinals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000000"/>
                </a:solidFill>
              </a:rPr>
              <a:t>   ︱A︱</a:t>
            </a:r>
            <a:endParaRPr lang="en-US" altLang="zh-CN" dirty="0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B3496554-094F-0200-6C12-0B6BFC9AC3C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935913" y="2838450"/>
          <a:ext cx="9572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670" imgH="177646" progId="Equation.DSMT4">
                  <p:embed/>
                </p:oleObj>
              </mc:Choice>
              <mc:Fallback>
                <p:oleObj name="Equation" r:id="rId2" imgW="380670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2838450"/>
                        <a:ext cx="95726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041472B-DE30-C612-779A-21F2931D6C22}"/>
              </a:ext>
            </a:extLst>
          </p:cNvPr>
          <p:cNvCxnSpPr/>
          <p:nvPr/>
        </p:nvCxnSpPr>
        <p:spPr>
          <a:xfrm flipH="1">
            <a:off x="3203575" y="2420938"/>
            <a:ext cx="2736850" cy="41275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08BEE6B8-CD6B-0E51-98FF-AF2EB6A3A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3.1.1 </a:t>
            </a:r>
            <a:r>
              <a:rPr lang="zh-CN" altLang="en-US" sz="4800" b="1"/>
              <a:t>集合及其表示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8E005BC-251C-0CB9-81E6-2A37094DED7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列举法</a:t>
            </a:r>
            <a:r>
              <a:rPr lang="zh-CN" altLang="en-US" dirty="0">
                <a:solidFill>
                  <a:schemeClr val="hlink"/>
                </a:solidFill>
              </a:rPr>
              <a:t>      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描述法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chemeClr val="hlink"/>
                </a:solidFill>
              </a:rPr>
              <a:t>谓词法</a:t>
            </a:r>
            <a:r>
              <a:rPr lang="en-US" altLang="zh-CN" b="1" dirty="0">
                <a:solidFill>
                  <a:schemeClr val="hlink"/>
                </a:solidFill>
              </a:rPr>
              <a:t>     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</a:t>
            </a:r>
            <a:r>
              <a:rPr lang="zh-CN" altLang="en-US" dirty="0">
                <a:solidFill>
                  <a:schemeClr val="accent1"/>
                </a:solidFill>
              </a:rPr>
              <a:t>为实数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00FF"/>
                </a:solidFill>
              </a:rPr>
              <a:t>   </a:t>
            </a:r>
            <a:r>
              <a:rPr lang="zh-CN" altLang="en-US" dirty="0"/>
              <a:t>设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dirty="0" err="1">
                <a:solidFill>
                  <a:srgbClr val="000000"/>
                </a:solidFill>
              </a:rPr>
              <a:t>x</a:t>
            </a:r>
            <a:r>
              <a:rPr lang="en-US" altLang="zh-CN" dirty="0" err="1">
                <a:solidFill>
                  <a:srgbClr val="FF00FF"/>
                </a:solidFill>
              </a:rPr>
              <a:t>︱</a:t>
            </a:r>
            <a:r>
              <a:rPr lang="en-US" altLang="zh-CN" dirty="0" err="1">
                <a:solidFill>
                  <a:srgbClr val="00E4A8"/>
                </a:solidFill>
              </a:rPr>
              <a:t>P</a:t>
            </a:r>
            <a:r>
              <a:rPr lang="en-US" altLang="zh-CN" dirty="0">
                <a:solidFill>
                  <a:srgbClr val="FF00FF"/>
                </a:solidFill>
              </a:rPr>
              <a:t>(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r>
              <a:rPr lang="en-US" altLang="zh-CN" dirty="0">
                <a:solidFill>
                  <a:srgbClr val="000000"/>
                </a:solidFill>
              </a:rPr>
              <a:t>} ,P(x)</a:t>
            </a:r>
            <a:r>
              <a:rPr lang="zh-CN" altLang="en-US" dirty="0">
                <a:solidFill>
                  <a:srgbClr val="000000"/>
                </a:solidFill>
              </a:rPr>
              <a:t>为任意谓词。则</a:t>
            </a: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</a:t>
            </a:r>
            <a:r>
              <a:rPr lang="en-US" altLang="zh-CN" dirty="0" err="1">
                <a:solidFill>
                  <a:srgbClr val="000000"/>
                </a:solidFill>
              </a:rPr>
              <a:t>a∈A</a:t>
            </a:r>
            <a:r>
              <a:rPr lang="en-US" altLang="zh-CN" dirty="0">
                <a:solidFill>
                  <a:srgbClr val="000000"/>
                </a:solidFill>
              </a:rPr>
              <a:t>   </a:t>
            </a:r>
            <a:r>
              <a:rPr lang="zh-CN" altLang="en-US" dirty="0">
                <a:solidFill>
                  <a:srgbClr val="000000"/>
                </a:solidFill>
              </a:rPr>
              <a:t>当且仅当   </a:t>
            </a:r>
            <a:r>
              <a:rPr lang="en-US" altLang="zh-CN" dirty="0">
                <a:solidFill>
                  <a:srgbClr val="000000"/>
                </a:solidFill>
              </a:rPr>
              <a:t>P(a)</a:t>
            </a:r>
            <a:r>
              <a:rPr lang="zh-CN" altLang="en-US" dirty="0">
                <a:solidFill>
                  <a:srgbClr val="000000"/>
                </a:solidFill>
              </a:rPr>
              <a:t>的真值为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；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          当且仅当   </a:t>
            </a:r>
            <a:r>
              <a:rPr lang="en-US" altLang="zh-CN" dirty="0">
                <a:solidFill>
                  <a:srgbClr val="000000"/>
                </a:solidFill>
              </a:rPr>
              <a:t>P(a)</a:t>
            </a:r>
            <a:r>
              <a:rPr lang="zh-CN" altLang="en-US" dirty="0">
                <a:solidFill>
                  <a:srgbClr val="000000"/>
                </a:solidFill>
              </a:rPr>
              <a:t>的真值为</a:t>
            </a:r>
            <a:r>
              <a:rPr lang="en-US" altLang="zh-CN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文氏图法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9220" name="对象 1">
            <a:extLst>
              <a:ext uri="{FF2B5EF4-FFF2-40B4-BE49-F238E27FC236}">
                <a16:creationId xmlns:a16="http://schemas.microsoft.com/office/drawing/2014/main" id="{39F15477-A8BC-F8D9-966D-3AA7489B2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3025" y="5300663"/>
          <a:ext cx="11414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670" imgH="177646" progId="Equation.DSMT4">
                  <p:embed/>
                </p:oleObj>
              </mc:Choice>
              <mc:Fallback>
                <p:oleObj name="Equation" r:id="rId2" imgW="380670" imgH="177646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5300663"/>
                        <a:ext cx="11414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>
            <a:extLst>
              <a:ext uri="{FF2B5EF4-FFF2-40B4-BE49-F238E27FC236}">
                <a16:creationId xmlns:a16="http://schemas.microsoft.com/office/drawing/2014/main" id="{B4D0DFCA-E932-BF7A-4F8F-28C745E58F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3.1.2 </a:t>
            </a:r>
            <a:r>
              <a:rPr lang="zh-CN" altLang="en-US" sz="4800" b="1"/>
              <a:t>子集与空集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F2B8A07-67F1-FD3C-5945-DAFDE5427F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65000"/>
              </a:lnSpc>
            </a:pPr>
            <a:r>
              <a:rPr lang="en-US" altLang="zh-CN" sz="2800" dirty="0"/>
              <a:t>A</a:t>
            </a:r>
            <a:r>
              <a:rPr lang="zh-CN" altLang="en-US" sz="2800" dirty="0"/>
              <a:t>为</a:t>
            </a:r>
            <a:r>
              <a:rPr lang="en-US" altLang="zh-CN" sz="2800" dirty="0"/>
              <a:t>B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chemeClr val="hlink"/>
                </a:solidFill>
              </a:rPr>
              <a:t>子集</a:t>
            </a:r>
            <a:r>
              <a:rPr lang="en-US" altLang="zh-CN" sz="2800" dirty="0"/>
              <a:t>(</a:t>
            </a:r>
            <a:r>
              <a:rPr lang="en-US" altLang="zh-CN" sz="2800" dirty="0">
                <a:solidFill>
                  <a:schemeClr val="hlink"/>
                </a:solidFill>
              </a:rPr>
              <a:t>subset</a:t>
            </a:r>
            <a:r>
              <a:rPr lang="en-US" altLang="zh-CN" sz="2800" dirty="0"/>
              <a:t>)</a:t>
            </a:r>
            <a:r>
              <a:rPr lang="zh-CN" altLang="en-US" sz="2800" dirty="0"/>
              <a:t>     </a:t>
            </a:r>
            <a:r>
              <a:rPr lang="en-US" altLang="zh-CN" sz="2800" dirty="0"/>
              <a:t>A</a:t>
            </a:r>
            <a:r>
              <a:rPr lang="zh-CN" altLang="en-US" sz="2800" dirty="0"/>
              <a:t>的每个元素都是</a:t>
            </a:r>
            <a:r>
              <a:rPr lang="en-US" altLang="zh-CN" sz="2800" dirty="0"/>
              <a:t>B</a:t>
            </a:r>
            <a:r>
              <a:rPr lang="zh-CN" altLang="en-US" sz="2800" dirty="0"/>
              <a:t>的成员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</a:t>
            </a:r>
            <a:r>
              <a:rPr lang="zh-CN" altLang="en-US" sz="2800" dirty="0">
                <a:solidFill>
                  <a:schemeClr val="accent1"/>
                </a:solidFill>
              </a:rPr>
              <a:t>记</a:t>
            </a:r>
            <a:r>
              <a:rPr lang="zh-CN" altLang="en-US" sz="2800" dirty="0"/>
              <a:t>         或             </a:t>
            </a:r>
            <a:r>
              <a:rPr lang="zh-CN" altLang="en-US" sz="2800" dirty="0">
                <a:solidFill>
                  <a:schemeClr val="accent1"/>
                </a:solidFill>
              </a:rPr>
              <a:t>读</a:t>
            </a:r>
            <a:r>
              <a:rPr lang="en-US" altLang="zh-CN" sz="2800" dirty="0"/>
              <a:t>A</a:t>
            </a:r>
            <a:r>
              <a:rPr lang="zh-CN" altLang="en-US" sz="2800" dirty="0"/>
              <a:t>包含于</a:t>
            </a:r>
            <a:r>
              <a:rPr lang="en-US" altLang="zh-CN" sz="2800" dirty="0"/>
              <a:t>B</a:t>
            </a:r>
            <a:r>
              <a:rPr lang="zh-CN" altLang="en-US" sz="2800" dirty="0"/>
              <a:t>或</a:t>
            </a:r>
            <a:r>
              <a:rPr lang="en-US" altLang="zh-CN" sz="2800" dirty="0"/>
              <a:t>B</a:t>
            </a:r>
            <a:r>
              <a:rPr lang="zh-CN" altLang="en-US" sz="2800" dirty="0"/>
              <a:t>包含</a:t>
            </a:r>
            <a:r>
              <a:rPr lang="en-US" altLang="zh-CN" sz="2800" dirty="0"/>
              <a:t>A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</a:t>
            </a:r>
            <a:r>
              <a:rPr lang="zh-CN" altLang="en-US" sz="2800" dirty="0"/>
              <a:t>当且仅当  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x((</a:t>
            </a:r>
            <a:r>
              <a:rPr lang="en-US" altLang="zh-CN" sz="2800" dirty="0" err="1"/>
              <a:t>x∈A</a:t>
            </a:r>
            <a:r>
              <a:rPr lang="en-US" altLang="zh-CN" sz="2800" dirty="0"/>
              <a:t>)→(</a:t>
            </a:r>
            <a:r>
              <a:rPr lang="en-US" altLang="zh-CN" sz="2800" dirty="0" err="1"/>
              <a:t>x∈B</a:t>
            </a:r>
            <a:r>
              <a:rPr lang="en-US" altLang="zh-CN" sz="2800" dirty="0"/>
              <a:t>))</a:t>
            </a:r>
            <a:r>
              <a:rPr lang="zh-CN" altLang="en-US" sz="2800" dirty="0"/>
              <a:t>  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65000"/>
              </a:lnSpc>
            </a:pPr>
            <a:r>
              <a:rPr lang="en-US" altLang="zh-CN" sz="2800" dirty="0"/>
              <a:t>A</a:t>
            </a:r>
            <a:r>
              <a:rPr lang="zh-CN" altLang="en-US" sz="2800" dirty="0"/>
              <a:t>为</a:t>
            </a:r>
            <a:r>
              <a:rPr lang="en-US" altLang="zh-CN" sz="2800" dirty="0"/>
              <a:t>B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chemeClr val="hlink"/>
                </a:solidFill>
              </a:rPr>
              <a:t>真子集</a:t>
            </a:r>
            <a:r>
              <a:rPr lang="en-US" altLang="zh-CN" sz="2800" dirty="0"/>
              <a:t>(</a:t>
            </a:r>
            <a:r>
              <a:rPr lang="en-US" altLang="zh-CN" sz="2800" dirty="0">
                <a:solidFill>
                  <a:schemeClr val="hlink"/>
                </a:solidFill>
              </a:rPr>
              <a:t>proper subset</a:t>
            </a:r>
            <a:r>
              <a:rPr lang="en-US" altLang="zh-CN" sz="2800" dirty="0"/>
              <a:t>)             </a:t>
            </a:r>
            <a:r>
              <a:rPr lang="zh-CN" altLang="en-US" sz="2800" dirty="0"/>
              <a:t>且</a:t>
            </a:r>
            <a:r>
              <a:rPr lang="en-US" altLang="zh-CN" sz="2800" dirty="0"/>
              <a:t>A≠B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zh-CN" altLang="en-US" sz="2800" dirty="0">
                <a:solidFill>
                  <a:schemeClr val="accent1"/>
                </a:solidFill>
              </a:rPr>
              <a:t>记</a:t>
            </a:r>
            <a:r>
              <a:rPr lang="zh-CN" altLang="en-US" sz="2800" dirty="0"/>
              <a:t>        或           </a:t>
            </a:r>
            <a:r>
              <a:rPr lang="zh-CN" altLang="en-US" sz="2800" dirty="0">
                <a:solidFill>
                  <a:schemeClr val="accent1"/>
                </a:solidFill>
              </a:rPr>
              <a:t>读</a:t>
            </a:r>
            <a:r>
              <a:rPr lang="en-US" altLang="zh-CN" sz="2800" dirty="0"/>
              <a:t>A</a:t>
            </a:r>
            <a:r>
              <a:rPr lang="zh-CN" altLang="en-US" sz="2800" dirty="0"/>
              <a:t>真包含于</a:t>
            </a:r>
            <a:r>
              <a:rPr lang="en-US" altLang="zh-CN" sz="2800" dirty="0"/>
              <a:t>B</a:t>
            </a:r>
            <a:r>
              <a:rPr lang="zh-CN" altLang="en-US" sz="2800" dirty="0"/>
              <a:t>或</a:t>
            </a:r>
            <a:r>
              <a:rPr lang="en-US" altLang="zh-CN" sz="2800" dirty="0"/>
              <a:t>B</a:t>
            </a:r>
            <a:r>
              <a:rPr lang="zh-CN" altLang="en-US" sz="2800" dirty="0"/>
              <a:t>真包含</a:t>
            </a:r>
            <a:r>
              <a:rPr lang="en-US" altLang="zh-CN" sz="2800" dirty="0"/>
              <a:t>A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         </a:t>
            </a:r>
            <a:r>
              <a:rPr lang="en-US" altLang="zh-CN" sz="2800" dirty="0"/>
              <a:t>x((</a:t>
            </a:r>
            <a:r>
              <a:rPr lang="en-US" altLang="zh-CN" sz="2800" dirty="0" err="1"/>
              <a:t>x∈A</a:t>
            </a:r>
            <a:r>
              <a:rPr lang="en-US" altLang="zh-CN" sz="2800" dirty="0"/>
              <a:t>)→(</a:t>
            </a:r>
            <a:r>
              <a:rPr lang="en-US" altLang="zh-CN" sz="2800" dirty="0" err="1"/>
              <a:t>x∈B</a:t>
            </a:r>
            <a:r>
              <a:rPr lang="en-US" altLang="zh-CN" sz="2800" dirty="0"/>
              <a:t>))∧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/>
              <a:t>x((</a:t>
            </a:r>
            <a:r>
              <a:rPr lang="en-US" altLang="zh-CN" sz="2800" dirty="0" err="1"/>
              <a:t>x∈B</a:t>
            </a:r>
            <a:r>
              <a:rPr lang="en-US" altLang="zh-CN" sz="2800" dirty="0"/>
              <a:t>)∧         </a:t>
            </a:r>
            <a:r>
              <a:rPr lang="zh-CN" altLang="en-US" sz="2800" dirty="0"/>
              <a:t>  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8F098945-94EA-EE8E-F243-0FD4DA8159D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27088" y="3716338"/>
          <a:ext cx="9969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190417" progId="Equation.DSMT4">
                  <p:embed/>
                </p:oleObj>
              </mc:Choice>
              <mc:Fallback>
                <p:oleObj name="Equation" r:id="rId2" imgW="431613" imgH="1904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716338"/>
                        <a:ext cx="99695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7">
            <a:extLst>
              <a:ext uri="{FF2B5EF4-FFF2-40B4-BE49-F238E27FC236}">
                <a16:creationId xmlns:a16="http://schemas.microsoft.com/office/drawing/2014/main" id="{857950A8-45B0-AC05-7734-33B13BA5AD2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167438" y="4508500"/>
          <a:ext cx="9969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190417" progId="Equation.DSMT4">
                  <p:embed/>
                </p:oleObj>
              </mc:Choice>
              <mc:Fallback>
                <p:oleObj name="Equation" r:id="rId4" imgW="431613" imgH="19041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4508500"/>
                        <a:ext cx="9969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10">
            <a:extLst>
              <a:ext uri="{FF2B5EF4-FFF2-40B4-BE49-F238E27FC236}">
                <a16:creationId xmlns:a16="http://schemas.microsoft.com/office/drawing/2014/main" id="{EACBD79D-97C5-74FE-9E43-0305B0A81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989263"/>
          <a:ext cx="9969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1613" imgH="190417" progId="Equation.DSMT4">
                  <p:embed/>
                </p:oleObj>
              </mc:Choice>
              <mc:Fallback>
                <p:oleObj name="Equation" r:id="rId5" imgW="431613" imgH="19041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989263"/>
                        <a:ext cx="99695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11">
            <a:extLst>
              <a:ext uri="{FF2B5EF4-FFF2-40B4-BE49-F238E27FC236}">
                <a16:creationId xmlns:a16="http://schemas.microsoft.com/office/drawing/2014/main" id="{F8F34C91-A9B4-0D21-7DF8-8DA0B302DC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6143625"/>
          <a:ext cx="996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13" imgH="165028" progId="Equation.DSMT4">
                  <p:embed/>
                </p:oleObj>
              </mc:Choice>
              <mc:Fallback>
                <p:oleObj name="Equation" r:id="rId6" imgW="431613" imgH="16502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143625"/>
                        <a:ext cx="9969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12">
            <a:extLst>
              <a:ext uri="{FF2B5EF4-FFF2-40B4-BE49-F238E27FC236}">
                <a16:creationId xmlns:a16="http://schemas.microsoft.com/office/drawing/2014/main" id="{89D907F1-670A-786D-6572-2439D4701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2388" y="5338763"/>
          <a:ext cx="996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13" imgH="165028" progId="Equation.DSMT4">
                  <p:embed/>
                </p:oleObj>
              </mc:Choice>
              <mc:Fallback>
                <p:oleObj name="Equation" r:id="rId8" imgW="431613" imgH="16502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5338763"/>
                        <a:ext cx="9969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3">
            <a:extLst>
              <a:ext uri="{FF2B5EF4-FFF2-40B4-BE49-F238E27FC236}">
                <a16:creationId xmlns:a16="http://schemas.microsoft.com/office/drawing/2014/main" id="{D555F936-6AAB-0783-CD75-9B5976D7E4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2500" y="6092825"/>
          <a:ext cx="12303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33169" imgH="203112" progId="Equation.DSMT4">
                  <p:embed/>
                </p:oleObj>
              </mc:Choice>
              <mc:Fallback>
                <p:oleObj name="Equation" r:id="rId9" imgW="533169" imgH="20311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6092825"/>
                        <a:ext cx="123031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4">
            <a:extLst>
              <a:ext uri="{FF2B5EF4-FFF2-40B4-BE49-F238E27FC236}">
                <a16:creationId xmlns:a16="http://schemas.microsoft.com/office/drawing/2014/main" id="{AFD8DE8B-8282-72BD-9FFB-4EECFD2508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8425" y="2989263"/>
          <a:ext cx="9969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31613" imgH="190417" progId="Equation.DSMT4">
                  <p:embed/>
                </p:oleObj>
              </mc:Choice>
              <mc:Fallback>
                <p:oleObj name="Equation" r:id="rId11" imgW="431613" imgH="19041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2989263"/>
                        <a:ext cx="99695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5">
            <a:extLst>
              <a:ext uri="{FF2B5EF4-FFF2-40B4-BE49-F238E27FC236}">
                <a16:creationId xmlns:a16="http://schemas.microsoft.com/office/drawing/2014/main" id="{D6F48803-C118-0EB0-9A42-A385991778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8425" y="5351463"/>
          <a:ext cx="996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1613" imgH="165028" progId="Equation.DSMT4">
                  <p:embed/>
                </p:oleObj>
              </mc:Choice>
              <mc:Fallback>
                <p:oleObj name="Equation" r:id="rId13" imgW="431613" imgH="16502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5351463"/>
                        <a:ext cx="9969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>
            <a:extLst>
              <a:ext uri="{FF2B5EF4-FFF2-40B4-BE49-F238E27FC236}">
                <a16:creationId xmlns:a16="http://schemas.microsoft.com/office/drawing/2014/main" id="{6BB776C2-51BF-C34A-1D55-C7F4C4EBF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3.1.2 </a:t>
            </a:r>
            <a:r>
              <a:rPr lang="zh-CN" altLang="en-US" sz="4800" b="1"/>
              <a:t>子集与空集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ED03FC9-1909-32E2-1E78-7723BEA33A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8353425" cy="4941887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空集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empty set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不包含任何元素的集合</a:t>
            </a:r>
            <a:r>
              <a:rPr lang="en-US" altLang="zh-CN" dirty="0"/>
              <a:t>,</a:t>
            </a:r>
            <a:r>
              <a:rPr lang="zh-CN" altLang="en-US" dirty="0"/>
              <a:t>记作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＝</a:t>
            </a:r>
            <a:r>
              <a:rPr lang="en-US" altLang="zh-CN" dirty="0"/>
              <a:t>{</a:t>
            </a:r>
            <a:r>
              <a:rPr lang="en-US" altLang="zh-CN" dirty="0" err="1"/>
              <a:t>x︱</a:t>
            </a:r>
            <a:r>
              <a:rPr lang="en-US" altLang="zh-CN" dirty="0" err="1">
                <a:solidFill>
                  <a:schemeClr val="accent1"/>
                </a:solidFill>
              </a:rPr>
              <a:t>P</a:t>
            </a:r>
            <a:r>
              <a:rPr lang="en-US" altLang="zh-CN" dirty="0">
                <a:solidFill>
                  <a:schemeClr val="accent1"/>
                </a:solidFill>
              </a:rPr>
              <a:t>(x)</a:t>
            </a:r>
            <a:r>
              <a:rPr lang="en-US" altLang="zh-CN" dirty="0"/>
              <a:t>∧</a:t>
            </a:r>
            <a:r>
              <a:rPr lang="en-US" altLang="zh-CN" dirty="0">
                <a:solidFill>
                  <a:schemeClr val="accent1"/>
                </a:solidFill>
              </a:rPr>
              <a:t>┐P(x)</a:t>
            </a:r>
            <a:r>
              <a:rPr lang="en-US" altLang="zh-CN" dirty="0"/>
              <a:t>},P(x)</a:t>
            </a:r>
            <a:r>
              <a:rPr lang="zh-CN" altLang="en-US" dirty="0"/>
              <a:t>为任意谓词</a:t>
            </a:r>
            <a:endParaRPr lang="zh-CN" altLang="en-US" b="1" dirty="0"/>
          </a:p>
          <a:p>
            <a:pPr eaLnBrk="1" hangingPunct="1">
              <a:lnSpc>
                <a:spcPct val="145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全集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universal set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一定范围内</a:t>
            </a:r>
            <a:r>
              <a:rPr lang="en-US" altLang="zh-CN" dirty="0"/>
              <a:t>,</a:t>
            </a:r>
            <a:r>
              <a:rPr lang="zh-CN" altLang="en-US" dirty="0"/>
              <a:t>所有集合均为它的子集</a:t>
            </a:r>
            <a:r>
              <a:rPr lang="en-US" altLang="zh-CN" dirty="0"/>
              <a:t>,</a:t>
            </a:r>
            <a:r>
              <a:rPr lang="zh-CN" altLang="en-US" dirty="0"/>
              <a:t>记作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E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</a:t>
            </a:r>
            <a:r>
              <a:rPr lang="en-US" altLang="zh-CN" dirty="0" err="1">
                <a:solidFill>
                  <a:schemeClr val="accent1"/>
                </a:solidFill>
              </a:rPr>
              <a:t>P</a:t>
            </a:r>
            <a:r>
              <a:rPr lang="en-US" altLang="zh-CN" dirty="0">
                <a:solidFill>
                  <a:schemeClr val="accent1"/>
                </a:solidFill>
              </a:rPr>
              <a:t>(x)</a:t>
            </a:r>
            <a:r>
              <a:rPr lang="en-US" altLang="zh-CN" dirty="0"/>
              <a:t>∨</a:t>
            </a:r>
            <a:r>
              <a:rPr lang="en-US" altLang="zh-CN" dirty="0">
                <a:solidFill>
                  <a:schemeClr val="accent1"/>
                </a:solidFill>
              </a:rPr>
              <a:t>┐P(x)</a:t>
            </a:r>
            <a:r>
              <a:rPr lang="en-US" altLang="zh-CN" dirty="0"/>
              <a:t>},</a:t>
            </a:r>
            <a:r>
              <a:rPr lang="zh-CN" altLang="en-US" dirty="0"/>
              <a:t>其中</a:t>
            </a:r>
            <a:r>
              <a:rPr lang="en-US" altLang="zh-CN" dirty="0"/>
              <a:t>P(x)</a:t>
            </a:r>
            <a:r>
              <a:rPr lang="zh-CN" altLang="en-US" dirty="0"/>
              <a:t>为任意谓词</a:t>
            </a:r>
          </a:p>
        </p:txBody>
      </p:sp>
      <p:graphicFrame>
        <p:nvGraphicFramePr>
          <p:cNvPr id="11268" name="Object 4">
            <a:extLst>
              <a:ext uri="{FF2B5EF4-FFF2-40B4-BE49-F238E27FC236}">
                <a16:creationId xmlns:a16="http://schemas.microsoft.com/office/drawing/2014/main" id="{B2906A6D-7483-EF1C-C121-260006E3DBE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15050" y="2967038"/>
          <a:ext cx="3810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2967038"/>
                        <a:ext cx="3810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7">
            <a:extLst>
              <a:ext uri="{FF2B5EF4-FFF2-40B4-BE49-F238E27FC236}">
                <a16:creationId xmlns:a16="http://schemas.microsoft.com/office/drawing/2014/main" id="{A2156FDC-0733-FFD0-26FC-97F70DA87A30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54113" y="3760788"/>
          <a:ext cx="377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3760788"/>
                        <a:ext cx="377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>
            <a:extLst>
              <a:ext uri="{FF2B5EF4-FFF2-40B4-BE49-F238E27FC236}">
                <a16:creationId xmlns:a16="http://schemas.microsoft.com/office/drawing/2014/main" id="{1E766586-CF98-E544-A256-2BE67625E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3.1.2 </a:t>
            </a:r>
            <a:r>
              <a:rPr lang="zh-CN" altLang="en-US" sz="4800" b="1"/>
              <a:t>子集与空集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B1941A46-B684-8A5E-92C7-16F18655A5D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B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C</a:t>
            </a:r>
            <a:r>
              <a:rPr lang="zh-CN" altLang="en-US" dirty="0"/>
              <a:t>为任意集合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   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   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   （</a:t>
            </a:r>
            <a:r>
              <a:rPr lang="en-US" altLang="zh-CN" dirty="0"/>
              <a:t>4</a:t>
            </a:r>
            <a:r>
              <a:rPr lang="zh-CN" altLang="en-US" dirty="0"/>
              <a:t>）若        </a:t>
            </a:r>
            <a:r>
              <a:rPr lang="en-US" altLang="zh-CN" dirty="0"/>
              <a:t>,         ,</a:t>
            </a:r>
            <a:r>
              <a:rPr lang="zh-CN" altLang="en-US" dirty="0"/>
              <a:t>则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zh-CN" altLang="en-US" b="1" dirty="0">
                <a:solidFill>
                  <a:schemeClr val="hlink"/>
                </a:solidFill>
              </a:rPr>
              <a:t>平凡子集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zh-CN" altLang="en-US" b="1" dirty="0">
                <a:solidFill>
                  <a:schemeClr val="accent1"/>
                </a:solidFill>
              </a:rPr>
              <a:t>非平凡子集</a:t>
            </a:r>
            <a:endParaRPr lang="zh-CN" altLang="en-US" dirty="0"/>
          </a:p>
        </p:txBody>
      </p:sp>
      <p:graphicFrame>
        <p:nvGraphicFramePr>
          <p:cNvPr id="12292" name="Object 4">
            <a:extLst>
              <a:ext uri="{FF2B5EF4-FFF2-40B4-BE49-F238E27FC236}">
                <a16:creationId xmlns:a16="http://schemas.microsoft.com/office/drawing/2014/main" id="{49B8C9FD-C3EF-719B-C3AB-4CCFE4AABAE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39975" y="5149850"/>
          <a:ext cx="9969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190417" progId="Equation.DSMT4">
                  <p:embed/>
                </p:oleObj>
              </mc:Choice>
              <mc:Fallback>
                <p:oleObj name="Equation" r:id="rId2" imgW="431613" imgH="1904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149850"/>
                        <a:ext cx="9969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7">
            <a:extLst>
              <a:ext uri="{FF2B5EF4-FFF2-40B4-BE49-F238E27FC236}">
                <a16:creationId xmlns:a16="http://schemas.microsoft.com/office/drawing/2014/main" id="{B28987C1-C1CE-8E56-5086-5BA4CC48709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563938" y="5175250"/>
          <a:ext cx="9969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190417" progId="Equation.DSMT4">
                  <p:embed/>
                </p:oleObj>
              </mc:Choice>
              <mc:Fallback>
                <p:oleObj name="Equation" r:id="rId4" imgW="431613" imgH="19041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175250"/>
                        <a:ext cx="9969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0">
            <a:extLst>
              <a:ext uri="{FF2B5EF4-FFF2-40B4-BE49-F238E27FC236}">
                <a16:creationId xmlns:a16="http://schemas.microsoft.com/office/drawing/2014/main" id="{6D6374D0-18A6-CA1C-07C5-9A2B3A4C7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3709988"/>
          <a:ext cx="9969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13" imgH="190417" progId="Equation.DSMT4">
                  <p:embed/>
                </p:oleObj>
              </mc:Choice>
              <mc:Fallback>
                <p:oleObj name="Equation" r:id="rId6" imgW="431613" imgH="19041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3709988"/>
                        <a:ext cx="99695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1">
            <a:extLst>
              <a:ext uri="{FF2B5EF4-FFF2-40B4-BE49-F238E27FC236}">
                <a16:creationId xmlns:a16="http://schemas.microsoft.com/office/drawing/2014/main" id="{30DE368F-1F42-0CF7-58F3-A002540E1E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2974975"/>
          <a:ext cx="10556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57200" imgH="190500" progId="Equation.DSMT4">
                  <p:embed/>
                </p:oleObj>
              </mc:Choice>
              <mc:Fallback>
                <p:oleObj name="Equation" r:id="rId8" imgW="457200" imgH="190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2974975"/>
                        <a:ext cx="10556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12">
            <a:extLst>
              <a:ext uri="{FF2B5EF4-FFF2-40B4-BE49-F238E27FC236}">
                <a16:creationId xmlns:a16="http://schemas.microsoft.com/office/drawing/2014/main" id="{B6A16029-2BE6-1EEA-9846-64B7C7C4C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2163" y="4429125"/>
          <a:ext cx="9969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13" imgH="190417" progId="Equation.DSMT4">
                  <p:embed/>
                </p:oleObj>
              </mc:Choice>
              <mc:Fallback>
                <p:oleObj name="Equation" r:id="rId10" imgW="431613" imgH="19041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4429125"/>
                        <a:ext cx="9969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13">
            <a:extLst>
              <a:ext uri="{FF2B5EF4-FFF2-40B4-BE49-F238E27FC236}">
                <a16:creationId xmlns:a16="http://schemas.microsoft.com/office/drawing/2014/main" id="{BFD25E5E-313A-7E84-C726-B62B675DF6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5149850"/>
          <a:ext cx="9969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1613" imgH="190417" progId="Equation.DSMT4">
                  <p:embed/>
                </p:oleObj>
              </mc:Choice>
              <mc:Fallback>
                <p:oleObj name="Equation" r:id="rId12" imgW="431613" imgH="190417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149850"/>
                        <a:ext cx="9969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1DE4B04-D285-B0F3-E9CF-D6062E5335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下列表述（   ）不正确。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0E12F5-9FCE-9298-7026-A1CC16DFD77B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⊆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{1}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0E12F5-9FCE-9298-7026-A1CC16DFD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BA4E26-9D14-4BA3-8669-A0C7FE9F771C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⊆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{1,{1}}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BA4E26-9D14-4BA3-8669-A0C7FE9F7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26E475C-2F9A-BACA-14F7-57570CB13ED7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∈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{1}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26E475C-2F9A-BACA-14F7-57570CB13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2793BD9-5ECB-3260-8C2B-13827E1303F9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{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1}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∈{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1,{1}}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2793BD9-5ECB-3260-8C2B-13827E130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椭圆 12">
            <a:extLst>
              <a:ext uri="{FF2B5EF4-FFF2-40B4-BE49-F238E27FC236}">
                <a16:creationId xmlns:a16="http://schemas.microsoft.com/office/drawing/2014/main" id="{D4FA7BBD-241F-4C75-D41C-7972D544383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333FFAA-7CAD-299D-0B79-2DA716F2BB4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A440E85-42AC-D866-C31E-FB54D370C5F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58F3B06-71B9-0214-46EF-900B3A497C5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14A6761-04B8-2FAD-F40A-48E78CABBC8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B71971D-8D8A-95A9-BBA8-4FA96651CD1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99D039B0-1A0E-5C7E-A665-4192B8540D5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F72014B4-4A82-580F-E4A4-4310DA16A4C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4968D6D2-666C-E69A-06AE-C123B9CFAEA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3FF7957F-7003-957C-AC8E-DD884E17951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2F643051-B9BD-9669-1B1F-805C5D7C811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543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1DE4B04-D285-B0F3-E9CF-D6062E5335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下列表述（   ）不正确。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0E12F5-9FCE-9298-7026-A1CC16DFD77B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⊆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0E12F5-9FCE-9298-7026-A1CC16DFD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BA4E26-9D14-4BA3-8669-A0C7FE9F771C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BA4E26-9D14-4BA3-8669-A0C7FE9F7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26E475C-2F9A-BACA-14F7-57570CB13ED7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⊆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26E475C-2F9A-BACA-14F7-57570CB13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2793BD9-5ECB-3260-8C2B-13827E1303F9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∈{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2793BD9-5ECB-3260-8C2B-13827E130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椭圆 12">
            <a:extLst>
              <a:ext uri="{FF2B5EF4-FFF2-40B4-BE49-F238E27FC236}">
                <a16:creationId xmlns:a16="http://schemas.microsoft.com/office/drawing/2014/main" id="{D4FA7BBD-241F-4C75-D41C-7972D544383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333FFAA-7CAD-299D-0B79-2DA716F2BB4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A440E85-42AC-D866-C31E-FB54D370C5F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58F3B06-71B9-0214-46EF-900B3A497C5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14A6761-04B8-2FAD-F40A-48E78CABBC8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B71971D-8D8A-95A9-BBA8-4FA96651CD1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99D039B0-1A0E-5C7E-A665-4192B8540D5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F72014B4-4A82-580F-E4A4-4310DA16A4C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4968D6D2-666C-E69A-06AE-C123B9CFAEA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3FF7957F-7003-957C-AC8E-DD884E17951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2F643051-B9BD-9669-1B1F-805C5D7C811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391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>
            <a:extLst>
              <a:ext uri="{FF2B5EF4-FFF2-40B4-BE49-F238E27FC236}">
                <a16:creationId xmlns:a16="http://schemas.microsoft.com/office/drawing/2014/main" id="{538345C2-6C15-9E03-1728-66DBF345C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3.1.2 </a:t>
            </a:r>
            <a:r>
              <a:rPr lang="zh-CN" altLang="en-US" sz="4800" b="1"/>
              <a:t>子集与空集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EB70DAC-0146-2B3A-B0C0-587A9FFE094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844675"/>
            <a:ext cx="8532813" cy="5013325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sz="2800" dirty="0">
                <a:solidFill>
                  <a:schemeClr val="hlink"/>
                </a:solidFill>
              </a:rPr>
              <a:t>定理</a:t>
            </a:r>
            <a:r>
              <a:rPr lang="en-US" altLang="zh-CN" sz="2800" dirty="0">
                <a:solidFill>
                  <a:schemeClr val="hlink"/>
                </a:solidFill>
              </a:rPr>
              <a:t>3.1.1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B</a:t>
            </a:r>
            <a:r>
              <a:rPr lang="zh-CN" altLang="en-US" sz="2800" dirty="0"/>
              <a:t>为任意集合</a:t>
            </a:r>
            <a:r>
              <a:rPr lang="en-US" altLang="zh-CN" sz="2800" dirty="0"/>
              <a:t>,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A</a:t>
            </a:r>
            <a:r>
              <a:rPr lang="zh-CN" altLang="en-US" sz="2800" dirty="0"/>
              <a:t>＝</a:t>
            </a:r>
            <a:r>
              <a:rPr lang="en-US" altLang="zh-CN" sz="2800" dirty="0"/>
              <a:t>B</a:t>
            </a:r>
            <a:r>
              <a:rPr lang="zh-CN" altLang="en-US" sz="2800" dirty="0"/>
              <a:t>当且仅当         且</a:t>
            </a:r>
            <a:endParaRPr lang="zh-CN" altLang="en-US" sz="2800" b="1" dirty="0"/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   </a:t>
            </a:r>
            <a:r>
              <a:rPr lang="zh-CN" altLang="en-US" sz="2800" dirty="0">
                <a:solidFill>
                  <a:schemeClr val="hlink"/>
                </a:solidFill>
              </a:rPr>
              <a:t>证明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B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  </a:t>
            </a:r>
            <a:r>
              <a:rPr lang="en-US" altLang="zh-CN" sz="2800" dirty="0"/>
              <a:t>x((</a:t>
            </a:r>
            <a:r>
              <a:rPr lang="en-US" altLang="zh-CN" sz="2800" dirty="0" err="1"/>
              <a:t>x∈A</a:t>
            </a:r>
            <a:r>
              <a:rPr lang="en-US" altLang="zh-CN" sz="2800" dirty="0"/>
              <a:t>)↔(</a:t>
            </a:r>
            <a:r>
              <a:rPr lang="en-US" altLang="zh-CN" sz="2800" dirty="0" err="1"/>
              <a:t>x∈B</a:t>
            </a:r>
            <a:r>
              <a:rPr lang="en-US" altLang="zh-CN" sz="2800" dirty="0"/>
              <a:t>))</a:t>
            </a:r>
            <a:r>
              <a:rPr lang="zh-CN" altLang="en-US" sz="2800" dirty="0"/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  </a:t>
            </a:r>
            <a:r>
              <a:rPr lang="en-US" altLang="zh-CN" sz="2800" dirty="0"/>
              <a:t>x((</a:t>
            </a:r>
            <a:r>
              <a:rPr lang="en-US" altLang="zh-CN" sz="2800" dirty="0" err="1"/>
              <a:t>x∈A</a:t>
            </a:r>
            <a:r>
              <a:rPr lang="en-US" altLang="zh-CN" sz="2800" dirty="0"/>
              <a:t>)→(</a:t>
            </a:r>
            <a:r>
              <a:rPr lang="en-US" altLang="zh-CN" sz="2800" dirty="0" err="1"/>
              <a:t>x∈B</a:t>
            </a:r>
            <a:r>
              <a:rPr lang="en-US" altLang="zh-CN" sz="2800" dirty="0"/>
              <a:t>))∧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x((</a:t>
            </a:r>
            <a:r>
              <a:rPr lang="en-US" altLang="zh-CN" sz="2800" dirty="0" err="1"/>
              <a:t>x∈B</a:t>
            </a:r>
            <a:r>
              <a:rPr lang="en-US" altLang="zh-CN" sz="2800" dirty="0"/>
              <a:t>)→(</a:t>
            </a:r>
            <a:r>
              <a:rPr lang="en-US" altLang="zh-CN" sz="2800" dirty="0" err="1"/>
              <a:t>x∈A</a:t>
            </a:r>
            <a:r>
              <a:rPr lang="en-US" altLang="zh-CN" sz="2800" dirty="0"/>
              <a:t>))    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  </a:t>
            </a:r>
            <a:r>
              <a:rPr lang="en-US" altLang="zh-CN" sz="2800" dirty="0"/>
              <a:t>x((</a:t>
            </a:r>
            <a:r>
              <a:rPr lang="en-US" altLang="zh-CN" sz="2800" dirty="0" err="1"/>
              <a:t>x∈A</a:t>
            </a:r>
            <a:r>
              <a:rPr lang="en-US" altLang="zh-CN" sz="2800" dirty="0"/>
              <a:t>)→(</a:t>
            </a:r>
            <a:r>
              <a:rPr lang="en-US" altLang="zh-CN" sz="2800" dirty="0" err="1"/>
              <a:t>x∈B</a:t>
            </a:r>
            <a:r>
              <a:rPr lang="en-US" altLang="zh-CN" sz="2800" dirty="0"/>
              <a:t>))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0000"/>
                </a:solidFill>
              </a:rPr>
              <a:t>   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/>
              <a:t>x((</a:t>
            </a:r>
            <a:r>
              <a:rPr lang="en-US" altLang="zh-CN" sz="2800" dirty="0" err="1"/>
              <a:t>x∈B</a:t>
            </a:r>
            <a:r>
              <a:rPr lang="en-US" altLang="zh-CN" sz="2800" dirty="0"/>
              <a:t>)→(</a:t>
            </a:r>
            <a:r>
              <a:rPr lang="en-US" altLang="zh-CN" sz="2800" dirty="0" err="1"/>
              <a:t>x∈A</a:t>
            </a:r>
            <a:r>
              <a:rPr lang="en-US" altLang="zh-CN" sz="2800" dirty="0"/>
              <a:t>))    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            </a:t>
            </a:r>
            <a:r>
              <a:rPr lang="zh-CN" altLang="en-US" sz="2800" dirty="0"/>
              <a:t>且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A2301EE8-44AE-4A99-2629-AB79F70B332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97238" y="2692400"/>
          <a:ext cx="10937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190417" progId="Equation.DSMT4">
                  <p:embed/>
                </p:oleObj>
              </mc:Choice>
              <mc:Fallback>
                <p:oleObj name="Equation" r:id="rId2" imgW="431613" imgH="1904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2692400"/>
                        <a:ext cx="10937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7">
            <a:extLst>
              <a:ext uri="{FF2B5EF4-FFF2-40B4-BE49-F238E27FC236}">
                <a16:creationId xmlns:a16="http://schemas.microsoft.com/office/drawing/2014/main" id="{2E68769F-3302-75D4-D1B3-9DC8898A84C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702175" y="2705100"/>
          <a:ext cx="10937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190417" progId="Equation.DSMT4">
                  <p:embed/>
                </p:oleObj>
              </mc:Choice>
              <mc:Fallback>
                <p:oleObj name="Equation" r:id="rId4" imgW="431613" imgH="19041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2705100"/>
                        <a:ext cx="10937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0">
            <a:extLst>
              <a:ext uri="{FF2B5EF4-FFF2-40B4-BE49-F238E27FC236}">
                <a16:creationId xmlns:a16="http://schemas.microsoft.com/office/drawing/2014/main" id="{4E5555A1-3858-F3F5-B0A8-111B8F072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0175" y="6237288"/>
          <a:ext cx="10937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13" imgH="190417" progId="Equation.DSMT4">
                  <p:embed/>
                </p:oleObj>
              </mc:Choice>
              <mc:Fallback>
                <p:oleObj name="Equation" r:id="rId6" imgW="431613" imgH="19041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6237288"/>
                        <a:ext cx="10937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1">
            <a:extLst>
              <a:ext uri="{FF2B5EF4-FFF2-40B4-BE49-F238E27FC236}">
                <a16:creationId xmlns:a16="http://schemas.microsoft.com/office/drawing/2014/main" id="{E4CD6BD4-4840-DBFB-A432-4A2CD0DBC2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6242050"/>
          <a:ext cx="10937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1613" imgH="190417" progId="Equation.DSMT4">
                  <p:embed/>
                </p:oleObj>
              </mc:Choice>
              <mc:Fallback>
                <p:oleObj name="Equation" r:id="rId7" imgW="431613" imgH="19041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6242050"/>
                        <a:ext cx="10937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000B22D-7C63-A95B-A6DB-4F18FB297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>
                <a:solidFill>
                  <a:srgbClr val="333399"/>
                </a:solidFill>
              </a:rPr>
              <a:t>3.1.3 </a:t>
            </a:r>
            <a:r>
              <a:rPr lang="zh-CN" altLang="en-US" sz="4800" b="1">
                <a:solidFill>
                  <a:srgbClr val="333399"/>
                </a:solidFill>
              </a:rPr>
              <a:t>幂集</a:t>
            </a:r>
            <a:r>
              <a:rPr lang="zh-CN" altLang="en-US">
                <a:solidFill>
                  <a:srgbClr val="333399"/>
                </a:solidFill>
              </a:rPr>
              <a:t> </a:t>
            </a:r>
            <a:r>
              <a:rPr lang="zh-CN" altLang="en-US"/>
              <a:t>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E170A9C-4DB1-709A-462D-564CBF97D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50000"/>
              </a:lnSpc>
              <a:defRPr/>
            </a:pPr>
            <a:r>
              <a:rPr lang="zh-CN" altLang="en-US" dirty="0"/>
              <a:t>集合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幂集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chemeClr val="hlink"/>
                </a:solidFill>
              </a:rPr>
              <a:t>powerset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000000"/>
                </a:solidFill>
              </a:rPr>
              <a:t>     P(A)</a:t>
            </a:r>
            <a:r>
              <a:rPr lang="zh-CN" altLang="en-US" dirty="0">
                <a:solidFill>
                  <a:srgbClr val="000000"/>
                </a:solidFill>
              </a:rPr>
              <a:t>或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en-US" altLang="zh-CN" baseline="30000" dirty="0">
                <a:solidFill>
                  <a:srgbClr val="000000"/>
                </a:solidFill>
              </a:rPr>
              <a:t>A</a:t>
            </a:r>
          </a:p>
          <a:p>
            <a:pPr marL="0" indent="0" eaLnBrk="1" hangingPunct="1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以</a:t>
            </a:r>
            <a:r>
              <a:rPr lang="en-US" altLang="zh-CN" dirty="0"/>
              <a:t>A</a:t>
            </a:r>
            <a:r>
              <a:rPr lang="zh-CN" altLang="en-US" dirty="0"/>
              <a:t>的全部子集为元素组成的集合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DBF51E7A-F049-B895-0375-DC2E09FA5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3.1.3 </a:t>
            </a:r>
            <a:r>
              <a:rPr lang="zh-CN" altLang="en-US" sz="4800" b="1"/>
              <a:t>幂集</a:t>
            </a:r>
            <a:r>
              <a:rPr lang="zh-CN" altLang="en-US"/>
              <a:t> 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1515FE23-38F8-7271-888C-0E6BB0B247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3.1.1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{1,2,3}</a:t>
            </a:r>
            <a:r>
              <a:rPr lang="zh-CN" altLang="en-US" sz="2800" dirty="0"/>
              <a:t>，求</a:t>
            </a:r>
            <a:r>
              <a:rPr lang="en-US" altLang="zh-CN" sz="2800" dirty="0"/>
              <a:t>A</a:t>
            </a:r>
            <a:r>
              <a:rPr lang="zh-CN" altLang="en-US" sz="2800" dirty="0"/>
              <a:t>的幂集</a:t>
            </a:r>
            <a:r>
              <a:rPr lang="en-US" altLang="zh-CN" sz="2800" dirty="0"/>
              <a:t>P(A)</a:t>
            </a:r>
            <a:r>
              <a:rPr lang="zh-CN" altLang="en-US" sz="2800" dirty="0"/>
              <a:t>。</a:t>
            </a:r>
            <a:endParaRPr lang="zh-CN" altLang="en-US" sz="2800" b="1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   </a:t>
            </a:r>
            <a:r>
              <a:rPr lang="zh-CN" altLang="en-US" sz="2800" b="1" dirty="0">
                <a:solidFill>
                  <a:schemeClr val="hlink"/>
                </a:solidFill>
              </a:rPr>
              <a:t>解</a:t>
            </a:r>
            <a:r>
              <a:rPr lang="zh-CN" altLang="en-US" sz="2800" dirty="0"/>
              <a:t> </a:t>
            </a:r>
            <a:r>
              <a:rPr lang="en-US" altLang="zh-CN" sz="2800" dirty="0"/>
              <a:t>P(A)</a:t>
            </a:r>
            <a:r>
              <a:rPr lang="zh-CN" altLang="en-US" sz="2800" dirty="0"/>
              <a:t>＝</a:t>
            </a:r>
            <a:r>
              <a:rPr lang="en-US" altLang="zh-CN" sz="2800" dirty="0">
                <a:solidFill>
                  <a:srgbClr val="FF00FF"/>
                </a:solidFill>
              </a:rPr>
              <a:t>{</a:t>
            </a:r>
            <a:r>
              <a:rPr lang="en-US" altLang="zh-CN" sz="2800" dirty="0"/>
              <a:t>  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{1}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{2}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{3}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{1,2}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{1,3}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{2,3}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A</a:t>
            </a:r>
            <a:r>
              <a:rPr lang="en-US" altLang="zh-CN" sz="2800" dirty="0">
                <a:solidFill>
                  <a:srgbClr val="FF00FF"/>
                </a:solidFill>
              </a:rPr>
              <a:t>}</a:t>
            </a:r>
            <a:endParaRPr lang="en-US" altLang="zh-CN" sz="28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sz="2800" dirty="0">
                <a:solidFill>
                  <a:schemeClr val="accent1"/>
                </a:solidFill>
              </a:rPr>
              <a:t>例</a:t>
            </a:r>
            <a:r>
              <a:rPr lang="en-US" altLang="zh-CN" sz="2800" dirty="0">
                <a:solidFill>
                  <a:schemeClr val="accent1"/>
                </a:solidFill>
              </a:rPr>
              <a:t>3.1.2</a:t>
            </a:r>
            <a:r>
              <a:rPr lang="en-US" altLang="zh-CN" sz="2800" dirty="0"/>
              <a:t> </a:t>
            </a:r>
            <a:r>
              <a:rPr lang="zh-CN" altLang="en-US" sz="2800" dirty="0"/>
              <a:t>设      为空集  的幂集，求</a:t>
            </a:r>
            <a:endParaRPr lang="zh-CN" altLang="en-US" sz="2800" b="1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    </a:t>
            </a:r>
            <a:r>
              <a:rPr lang="zh-CN" altLang="en-US" sz="2800" b="1" dirty="0">
                <a:solidFill>
                  <a:schemeClr val="accent1"/>
                </a:solidFill>
              </a:rPr>
              <a:t>解</a:t>
            </a:r>
            <a:r>
              <a:rPr lang="zh-CN" altLang="en-US" sz="2800" dirty="0"/>
              <a:t> 由于         ＝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所以             ＝</a:t>
            </a:r>
          </a:p>
        </p:txBody>
      </p:sp>
      <p:graphicFrame>
        <p:nvGraphicFramePr>
          <p:cNvPr id="15364" name="Object 4">
            <a:extLst>
              <a:ext uri="{FF2B5EF4-FFF2-40B4-BE49-F238E27FC236}">
                <a16:creationId xmlns:a16="http://schemas.microsoft.com/office/drawing/2014/main" id="{B0297B32-A97A-FD4C-B7B1-1DB4025AFAE7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70175" y="3276600"/>
          <a:ext cx="2921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3276600"/>
                        <a:ext cx="2921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7">
            <a:extLst>
              <a:ext uri="{FF2B5EF4-FFF2-40B4-BE49-F238E27FC236}">
                <a16:creationId xmlns:a16="http://schemas.microsoft.com/office/drawing/2014/main" id="{5934533E-738C-9B3E-A60F-E3B1EF8C793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411913" y="4165600"/>
          <a:ext cx="125571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3947" imgH="203112" progId="Equation.DSMT4">
                  <p:embed/>
                </p:oleObj>
              </mc:Choice>
              <mc:Fallback>
                <p:oleObj name="Equation" r:id="rId4" imgW="583947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1913" y="4165600"/>
                        <a:ext cx="125571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0">
            <a:extLst>
              <a:ext uri="{FF2B5EF4-FFF2-40B4-BE49-F238E27FC236}">
                <a16:creationId xmlns:a16="http://schemas.microsoft.com/office/drawing/2014/main" id="{4A045E65-2C90-4C8F-B9EB-B1EB940875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675" y="5084763"/>
          <a:ext cx="8747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35" imgH="203112" progId="Equation.DSMT4">
                  <p:embed/>
                </p:oleObj>
              </mc:Choice>
              <mc:Fallback>
                <p:oleObj name="Equation" r:id="rId6" imgW="380835" imgH="20311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5084763"/>
                        <a:ext cx="8747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1">
            <a:extLst>
              <a:ext uri="{FF2B5EF4-FFF2-40B4-BE49-F238E27FC236}">
                <a16:creationId xmlns:a16="http://schemas.microsoft.com/office/drawing/2014/main" id="{C9ECFD0A-8A1C-D1BE-DAC7-C7D26A8792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6021388"/>
          <a:ext cx="134143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47" imgH="203112" progId="Equation.DSMT4">
                  <p:embed/>
                </p:oleObj>
              </mc:Choice>
              <mc:Fallback>
                <p:oleObj name="Equation" r:id="rId8" imgW="583947" imgH="20311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6021388"/>
                        <a:ext cx="134143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2">
            <a:extLst>
              <a:ext uri="{FF2B5EF4-FFF2-40B4-BE49-F238E27FC236}">
                <a16:creationId xmlns:a16="http://schemas.microsoft.com/office/drawing/2014/main" id="{7FA64D78-4484-8B12-C976-6321F97093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6038" y="4149725"/>
          <a:ext cx="8747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35" imgH="203112" progId="Equation.DSMT4">
                  <p:embed/>
                </p:oleObj>
              </mc:Choice>
              <mc:Fallback>
                <p:oleObj name="Equation" r:id="rId10" imgW="380835" imgH="20311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4149725"/>
                        <a:ext cx="8747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13">
            <a:extLst>
              <a:ext uri="{FF2B5EF4-FFF2-40B4-BE49-F238E27FC236}">
                <a16:creationId xmlns:a16="http://schemas.microsoft.com/office/drawing/2014/main" id="{3B9C28CC-0887-B70D-418E-CC43650780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4738" y="5084763"/>
          <a:ext cx="6413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203112" progId="Equation.DSMT4">
                  <p:embed/>
                </p:oleObj>
              </mc:Choice>
              <mc:Fallback>
                <p:oleObj name="Equation" r:id="rId12" imgW="279279" imgH="20311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8" y="5084763"/>
                        <a:ext cx="6413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4">
            <a:extLst>
              <a:ext uri="{FF2B5EF4-FFF2-40B4-BE49-F238E27FC236}">
                <a16:creationId xmlns:a16="http://schemas.microsoft.com/office/drawing/2014/main" id="{3CCE4166-E5D5-F937-2AB6-0B1557B845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6163" y="6013450"/>
          <a:ext cx="13462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47" imgH="203112" progId="Equation.DSMT4">
                  <p:embed/>
                </p:oleObj>
              </mc:Choice>
              <mc:Fallback>
                <p:oleObj name="Equation" r:id="rId14" imgW="583947" imgH="20311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6013450"/>
                        <a:ext cx="13462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5">
            <a:extLst>
              <a:ext uri="{FF2B5EF4-FFF2-40B4-BE49-F238E27FC236}">
                <a16:creationId xmlns:a16="http://schemas.microsoft.com/office/drawing/2014/main" id="{2B2CD103-A08B-3BFA-0541-540AF7BA49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0700" y="4141788"/>
          <a:ext cx="3794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4814" imgH="177492" progId="Equation.DSMT4">
                  <p:embed/>
                </p:oleObj>
              </mc:Choice>
              <mc:Fallback>
                <p:oleObj name="Equation" r:id="rId16" imgW="164814" imgH="17749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4141788"/>
                        <a:ext cx="37941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C4C74B3-A221-6CB2-D3A2-3C0EDAF1E46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7990" y="100175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         为空集    的幂集，且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B=    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，则下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列论断中（    ）不正确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E047432-A0EB-F31E-46CD-5ECFED785E60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3051604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∈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⊆</m:t>
                      </m:r>
                      <m:r>
                        <m:rPr>
                          <m:sty m:val="p"/>
                        </m:rP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B</m:t>
                      </m:r>
                    </m:oMath>
                  </m:oMathPara>
                </a14:m>
                <a:endParaRPr lang="en-US" altLang="zh-CN" sz="2600" b="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E047432-A0EB-F31E-46CD-5ECFED785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3051604"/>
                <a:ext cx="6400800" cy="64293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B208E93-33D1-C7CE-61F7-B3EC43DB1D87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3879874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Φ</m:t>
                          </m:r>
                        </m:e>
                      </m:d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∈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, {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}⊆</m:t>
                      </m:r>
                      <m:r>
                        <m:rPr>
                          <m:sty m:val="p"/>
                        </m:rP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B</m:t>
                      </m:r>
                    </m:oMath>
                  </m:oMathPara>
                </a14:m>
                <a:endParaRPr lang="en-US" altLang="zh-CN" sz="2600" b="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B208E93-33D1-C7CE-61F7-B3EC43DB1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879874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53D217A-C31C-3ABB-8C18-F9EEDC4035AE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737124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Φ</m:t>
                              </m:r>
                            </m:e>
                          </m:d>
                        </m:e>
                      </m:d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∈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, {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Φ</m:t>
                          </m:r>
                        </m:e>
                      </m:d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}⊆</m:t>
                      </m:r>
                      <m:r>
                        <m:rPr>
                          <m:sty m:val="p"/>
                        </m:rP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B</m:t>
                      </m:r>
                    </m:oMath>
                  </m:oMathPara>
                </a14:m>
                <a:endParaRPr lang="en-US" altLang="zh-CN" sz="2600" b="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53D217A-C31C-3ABB-8C18-F9EEDC403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737124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DB87ADB-1F82-5109-40B4-3016D85E01E6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5594374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Φ</m:t>
                          </m:r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Φ</m:t>
                              </m:r>
                            </m:e>
                          </m:d>
                        </m:e>
                      </m:d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∈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𝐵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, 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,{</m:t>
                      </m:r>
                      <m:r>
                        <m:rPr>
                          <m:sty m:val="p"/>
                        </m:rP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Φ</m:t>
                      </m:r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}}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⊆</m:t>
                      </m:r>
                      <m:r>
                        <m:rPr>
                          <m:sty m:val="p"/>
                        </m:rP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B</m:t>
                      </m:r>
                    </m:oMath>
                  </m:oMathPara>
                </a14:m>
                <a:endParaRPr lang="en-US" altLang="zh-CN" sz="2600" b="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DB87ADB-1F82-5109-40B4-3016D85E0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5594374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0739CD91-2983-61BA-E995-2E58D45C48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08691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46DE7E-5718-8900-19D2-C9E4DE10E68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94416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4FB27F-F949-BFFA-E308-901D8551784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80141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0332DB-67F7-509F-3F77-DBA8B02EB8E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65866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CDC74DA-48E0-A280-4104-886A6A9AED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9302F8E3-C17C-49E6-AA72-88548622E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202312"/>
              </p:ext>
            </p:extLst>
          </p:nvPr>
        </p:nvGraphicFramePr>
        <p:xfrm>
          <a:off x="1284288" y="1473200"/>
          <a:ext cx="8747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80835" imgH="203112" progId="Equation.DSMT4">
                  <p:embed/>
                </p:oleObj>
              </mc:Choice>
              <mc:Fallback>
                <p:oleObj name="Equation" r:id="rId27" imgW="380835" imgH="203112" progId="Equation.DSMT4">
                  <p:embed/>
                  <p:pic>
                    <p:nvPicPr>
                      <p:cNvPr id="15368" name="Object 12">
                        <a:extLst>
                          <a:ext uri="{FF2B5EF4-FFF2-40B4-BE49-F238E27FC236}">
                            <a16:creationId xmlns:a16="http://schemas.microsoft.com/office/drawing/2014/main" id="{7FA64D78-4484-8B12-C976-6321F9709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1473200"/>
                        <a:ext cx="8747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>
            <a:extLst>
              <a:ext uri="{FF2B5EF4-FFF2-40B4-BE49-F238E27FC236}">
                <a16:creationId xmlns:a16="http://schemas.microsoft.com/office/drawing/2014/main" id="{E51BDC58-B760-BEC3-4512-6D3634C429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709580"/>
              </p:ext>
            </p:extLst>
          </p:nvPr>
        </p:nvGraphicFramePr>
        <p:xfrm>
          <a:off x="3275856" y="1502846"/>
          <a:ext cx="2921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4814" imgH="177492" progId="Equation.DSMT4">
                  <p:embed/>
                </p:oleObj>
              </mc:Choice>
              <mc:Fallback>
                <p:oleObj name="Equation" r:id="rId29" imgW="164814" imgH="177492" progId="Equation.DSMT4">
                  <p:embed/>
                  <p:pic>
                    <p:nvPicPr>
                      <p:cNvPr id="15364" name="Object 4">
                        <a:extLst>
                          <a:ext uri="{FF2B5EF4-FFF2-40B4-BE49-F238E27FC236}">
                            <a16:creationId xmlns:a16="http://schemas.microsoft.com/office/drawing/2014/main" id="{B0297B32-A97A-FD4C-B7B1-1DB4025AF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502846"/>
                        <a:ext cx="2921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21D22570-CCF8-7A34-D126-179A3850F0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710529"/>
              </p:ext>
            </p:extLst>
          </p:nvPr>
        </p:nvGraphicFramePr>
        <p:xfrm>
          <a:off x="5724128" y="1484784"/>
          <a:ext cx="125571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583947" imgH="203112" progId="Equation.DSMT4">
                  <p:embed/>
                </p:oleObj>
              </mc:Choice>
              <mc:Fallback>
                <p:oleObj name="Equation" r:id="rId31" imgW="583947" imgH="203112" progId="Equation.DSMT4">
                  <p:embed/>
                  <p:pic>
                    <p:nvPicPr>
                      <p:cNvPr id="15365" name="Object 7">
                        <a:extLst>
                          <a:ext uri="{FF2B5EF4-FFF2-40B4-BE49-F238E27FC236}">
                            <a16:creationId xmlns:a16="http://schemas.microsoft.com/office/drawing/2014/main" id="{5934533E-738C-9B3E-A60F-E3B1EF8C7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1484784"/>
                        <a:ext cx="125571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BDD5FDA6-C015-400B-CEC8-1667FC04322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615DB76D-3029-585A-6730-6F5DFF59020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1A9D576B-00A0-C1AD-1257-47023A312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C2E477E0-98EE-4B1E-9B88-5020FDAFC24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9" name="TipText">
              <a:extLst>
                <a:ext uri="{FF2B5EF4-FFF2-40B4-BE49-F238E27FC236}">
                  <a16:creationId xmlns:a16="http://schemas.microsoft.com/office/drawing/2014/main" id="{F586F5AD-6837-A02A-C6B0-35E313AD32E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8B6F76F-8B38-9031-8DD6-9DE2388021B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1133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9BBB3EA4-8333-EB12-0AAF-7C16BEBB4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>
                <a:solidFill>
                  <a:srgbClr val="333399"/>
                </a:solidFill>
              </a:rPr>
              <a:t>3.1.3 </a:t>
            </a:r>
            <a:r>
              <a:rPr lang="zh-CN" altLang="en-US" sz="4800" b="1">
                <a:solidFill>
                  <a:srgbClr val="333399"/>
                </a:solidFill>
              </a:rPr>
              <a:t>幂集</a:t>
            </a:r>
            <a:r>
              <a:rPr lang="zh-CN" altLang="en-US">
                <a:solidFill>
                  <a:srgbClr val="333399"/>
                </a:solidFill>
              </a:rPr>
              <a:t> </a:t>
            </a:r>
            <a:endParaRPr lang="zh-CN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3E60053-E022-E45B-BEFE-8C8F42E6F89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8532812" cy="49418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chemeClr val="hlink"/>
                </a:solidFill>
              </a:rPr>
              <a:t>例如</a:t>
            </a:r>
            <a:r>
              <a:rPr lang="zh-CN" altLang="en-US"/>
              <a:t>，设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{1,2,3}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             000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{1}                    100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{2}                    010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{3}                    001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{1,2}                 110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{1,3}                 101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{2,3}                 011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A                       111</a:t>
            </a:r>
          </a:p>
        </p:txBody>
      </p:sp>
      <p:graphicFrame>
        <p:nvGraphicFramePr>
          <p:cNvPr id="16388" name="Object 4">
            <a:extLst>
              <a:ext uri="{FF2B5EF4-FFF2-40B4-BE49-F238E27FC236}">
                <a16:creationId xmlns:a16="http://schemas.microsoft.com/office/drawing/2014/main" id="{E9A4ABB7-3572-DFC9-32AE-F3E232A3DF1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874838" y="2576513"/>
          <a:ext cx="3206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2576513"/>
                        <a:ext cx="3206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275F5F6-E85A-FD87-AE22-55EDB4C1E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3.1.3 </a:t>
            </a:r>
            <a:r>
              <a:rPr lang="zh-CN" altLang="en-US" sz="4800" b="1"/>
              <a:t>幂集</a:t>
            </a:r>
            <a:r>
              <a:rPr lang="zh-CN" altLang="en-US"/>
              <a:t> 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89C97E69-429C-3879-2116-2117991A9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89138"/>
            <a:ext cx="8343900" cy="4868862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3.1.2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为有限集，且</a:t>
            </a:r>
            <a:r>
              <a:rPr lang="en-US" altLang="zh-CN" dirty="0"/>
              <a:t>︱A︱</a:t>
            </a:r>
            <a:r>
              <a:rPr lang="zh-CN" altLang="en-US" dirty="0"/>
              <a:t>＝</a:t>
            </a:r>
            <a:r>
              <a:rPr lang="en-US" altLang="zh-CN" dirty="0"/>
              <a:t>n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则</a:t>
            </a:r>
            <a:r>
              <a:rPr lang="en-US" altLang="zh-CN" dirty="0"/>
              <a:t>︱P(A)︱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en-US" altLang="zh-CN" baseline="30000" dirty="0"/>
              <a:t>n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证明</a:t>
            </a:r>
            <a:r>
              <a:rPr lang="zh-CN" altLang="en-US" dirty="0"/>
              <a:t>  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/>
              </a:rPr>
              <a:t>…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FF"/>
                </a:solidFill>
              </a:rPr>
              <a:t>       </a:t>
            </a:r>
            <a:r>
              <a:rPr lang="zh-CN" altLang="en-US" dirty="0">
                <a:solidFill>
                  <a:schemeClr val="accent1"/>
                </a:solidFill>
              </a:rPr>
              <a:t>全部子集</a:t>
            </a:r>
            <a:r>
              <a:rPr lang="zh-CN" altLang="en-US" dirty="0"/>
              <a:t>                   </a:t>
            </a:r>
            <a:r>
              <a:rPr lang="en-US" altLang="zh-CN" dirty="0">
                <a:solidFill>
                  <a:schemeClr val="accent1"/>
                </a:solidFill>
              </a:rPr>
              <a:t>n</a:t>
            </a:r>
            <a:r>
              <a:rPr lang="zh-CN" altLang="en-US" dirty="0">
                <a:solidFill>
                  <a:schemeClr val="accent1"/>
                </a:solidFill>
              </a:rPr>
              <a:t>位二进制数</a:t>
            </a:r>
            <a:endParaRPr lang="en-US" altLang="zh-CN" dirty="0"/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zh-CN" altLang="en-US" dirty="0">
                <a:solidFill>
                  <a:srgbClr val="FF0000"/>
                </a:solidFill>
              </a:rPr>
              <a:t>是</a:t>
            </a:r>
            <a:r>
              <a:rPr lang="zh-CN" altLang="en-US" dirty="0"/>
              <a:t>子集的成员         二进制数的第</a:t>
            </a:r>
            <a:r>
              <a:rPr lang="en-US" altLang="zh-CN" dirty="0"/>
              <a:t>i</a:t>
            </a:r>
            <a:r>
              <a:rPr lang="zh-CN" altLang="en-US" dirty="0"/>
              <a:t>位为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zh-CN" altLang="en-US" dirty="0">
                <a:solidFill>
                  <a:schemeClr val="accent1"/>
                </a:solidFill>
              </a:rPr>
              <a:t>不是</a:t>
            </a:r>
            <a:r>
              <a:rPr lang="zh-CN" altLang="en-US" dirty="0"/>
              <a:t>子集的成员      二进制数的第</a:t>
            </a:r>
            <a:r>
              <a:rPr lang="en-US" altLang="zh-CN" dirty="0"/>
              <a:t>i</a:t>
            </a:r>
            <a:r>
              <a:rPr lang="zh-CN" altLang="en-US" dirty="0"/>
              <a:t>位为</a:t>
            </a:r>
            <a:r>
              <a:rPr lang="en-US" altLang="zh-CN" dirty="0">
                <a:solidFill>
                  <a:schemeClr val="accent1"/>
                </a:solidFill>
              </a:rPr>
              <a:t>0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zh-CN" altLang="en-US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9034F3D-6B6D-6214-0438-7ED34650C008}"/>
              </a:ext>
            </a:extLst>
          </p:cNvPr>
          <p:cNvCxnSpPr/>
          <p:nvPr/>
        </p:nvCxnSpPr>
        <p:spPr>
          <a:xfrm>
            <a:off x="3924300" y="4724400"/>
            <a:ext cx="914400" cy="0"/>
          </a:xfrm>
          <a:prstGeom prst="straightConnector1">
            <a:avLst/>
          </a:prstGeom>
          <a:ln w="381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0E4903C-466D-5867-CBE8-3F9301C9E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3.1.3 </a:t>
            </a:r>
            <a:r>
              <a:rPr lang="zh-CN" altLang="en-US" sz="4800" b="1"/>
              <a:t>幂集</a:t>
            </a:r>
            <a:r>
              <a:rPr lang="zh-CN" altLang="en-US"/>
              <a:t> 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B1DD7F4-FC2E-D67D-4E6F-AAD3AAA26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3.1.3</a:t>
            </a:r>
            <a:r>
              <a:rPr lang="en-US" altLang="zh-CN" dirty="0"/>
              <a:t>  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,8}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en-US" altLang="zh-CN" baseline="-25000" dirty="0"/>
              <a:t>i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的子集，求</a:t>
            </a:r>
            <a:r>
              <a:rPr lang="en-US" altLang="zh-CN" dirty="0"/>
              <a:t>B</a:t>
            </a:r>
            <a:r>
              <a:rPr lang="en-US" altLang="zh-CN" baseline="-25000" dirty="0"/>
              <a:t>19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en-US" altLang="zh-CN" baseline="-25000" dirty="0"/>
              <a:t>31</a:t>
            </a:r>
            <a:r>
              <a:rPr lang="zh-CN" altLang="en-US" dirty="0"/>
              <a:t>所表达的子集。应如何规定子集</a:t>
            </a:r>
            <a:r>
              <a:rPr lang="en-US" altLang="zh-CN" dirty="0"/>
              <a:t>{2,6,7}</a:t>
            </a:r>
            <a:r>
              <a:rPr lang="zh-CN" altLang="en-US" dirty="0"/>
              <a:t>和</a:t>
            </a:r>
            <a:r>
              <a:rPr lang="en-US" altLang="zh-CN" dirty="0"/>
              <a:t>{1,8}</a:t>
            </a:r>
            <a:r>
              <a:rPr lang="zh-CN" altLang="en-US" dirty="0"/>
              <a:t>？</a:t>
            </a:r>
            <a:endParaRPr lang="zh-CN" altLang="en-US" b="1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   解</a:t>
            </a:r>
            <a:r>
              <a:rPr lang="zh-CN" altLang="en-US" dirty="0"/>
              <a:t>        </a:t>
            </a:r>
            <a:r>
              <a:rPr lang="en-US" altLang="zh-CN" dirty="0"/>
              <a:t>B</a:t>
            </a:r>
            <a:r>
              <a:rPr lang="en-US" altLang="zh-CN" baseline="-25000" dirty="0"/>
              <a:t>19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00010011</a:t>
            </a:r>
            <a:r>
              <a:rPr lang="zh-CN" altLang="en-US" dirty="0"/>
              <a:t>＝</a:t>
            </a:r>
            <a:r>
              <a:rPr lang="en-US" altLang="zh-CN" dirty="0"/>
              <a:t>{4,7,8}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B</a:t>
            </a:r>
            <a:r>
              <a:rPr lang="en-US" altLang="zh-CN" baseline="-25000" dirty="0"/>
              <a:t>31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00011111</a:t>
            </a:r>
            <a:r>
              <a:rPr lang="zh-CN" altLang="en-US" dirty="0"/>
              <a:t>＝</a:t>
            </a:r>
            <a:r>
              <a:rPr lang="en-US" altLang="zh-CN" dirty="0"/>
              <a:t>{4,5,6,7,8}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{2,6,7}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01000110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35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{1,8}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10000001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129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A7B331D-27BC-4FC0-FD92-0E250FF6450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2132856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A={1,2,…,10}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的子集，由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17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所表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达的子集是（   ），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37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所表达的子集是（   ），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子集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可表示为（      ），子集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表示为（         ）。写出计算过程。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A6F15ED-BA8E-609E-FAB4-2601D26D239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7138A2-99ED-FADD-F1CA-4A10D7577C5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7F596399-FDA0-CC5B-2D4B-B34C12866B1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9E8B4EAA-386F-978A-E618-8E1013CE0EB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49307FFF-85F2-CB36-A39A-FA2B8BEEA3F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E8ABAD9-6BE2-C8E3-AC74-930A29BAEA9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37CA846-238A-FB27-4800-D2DCDD8B3219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88008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2716</TotalTime>
  <Words>1020</Words>
  <Application>Microsoft Office PowerPoint</Application>
  <PresentationFormat>全屏显示(4:3)</PresentationFormat>
  <Paragraphs>137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Microsoft Yahei</vt:lpstr>
      <vt:lpstr>Arial</vt:lpstr>
      <vt:lpstr>Cambria Math</vt:lpstr>
      <vt:lpstr>Tahoma</vt:lpstr>
      <vt:lpstr>Wingdings</vt:lpstr>
      <vt:lpstr>Blends</vt:lpstr>
      <vt:lpstr>Equation</vt:lpstr>
      <vt:lpstr>第3章   集合与关系 </vt:lpstr>
      <vt:lpstr>3.1 集合的概念</vt:lpstr>
      <vt:lpstr>3.1.1 集合及其表示</vt:lpstr>
      <vt:lpstr>3.1.1 集合及其表示</vt:lpstr>
      <vt:lpstr>3.1.2 子集与空集</vt:lpstr>
      <vt:lpstr>3.1.2 子集与空集</vt:lpstr>
      <vt:lpstr>3.1.2 子集与空集</vt:lpstr>
      <vt:lpstr>PowerPoint 演示文稿</vt:lpstr>
      <vt:lpstr>PowerPoint 演示文稿</vt:lpstr>
      <vt:lpstr>3.1.2 子集与空集</vt:lpstr>
      <vt:lpstr>3.1.3 幂集  </vt:lpstr>
      <vt:lpstr>3.1.3 幂集 </vt:lpstr>
      <vt:lpstr>PowerPoint 演示文稿</vt:lpstr>
      <vt:lpstr>3.1.3 幂集 </vt:lpstr>
      <vt:lpstr>3.1.3 幂集 </vt:lpstr>
      <vt:lpstr>3.1.3 幂集 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65</cp:revision>
  <dcterms:created xsi:type="dcterms:W3CDTF">2010-04-09T13:44:14Z</dcterms:created>
  <dcterms:modified xsi:type="dcterms:W3CDTF">2023-12-21T07:44:06Z</dcterms:modified>
</cp:coreProperties>
</file>