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304" r:id="rId2"/>
    <p:sldId id="362" r:id="rId3"/>
    <p:sldId id="322" r:id="rId4"/>
    <p:sldId id="324" r:id="rId5"/>
    <p:sldId id="307" r:id="rId6"/>
    <p:sldId id="308" r:id="rId7"/>
    <p:sldId id="366" r:id="rId8"/>
    <p:sldId id="367" r:id="rId9"/>
    <p:sldId id="364" r:id="rId10"/>
    <p:sldId id="326" r:id="rId11"/>
    <p:sldId id="327" r:id="rId12"/>
    <p:sldId id="328" r:id="rId13"/>
    <p:sldId id="329" r:id="rId14"/>
    <p:sldId id="368" r:id="rId15"/>
    <p:sldId id="315" r:id="rId16"/>
    <p:sldId id="316" r:id="rId17"/>
    <p:sldId id="333" r:id="rId18"/>
    <p:sldId id="330" r:id="rId19"/>
    <p:sldId id="319" r:id="rId20"/>
    <p:sldId id="358" r:id="rId21"/>
    <p:sldId id="360" r:id="rId22"/>
    <p:sldId id="321" r:id="rId23"/>
    <p:sldId id="354" r:id="rId24"/>
    <p:sldId id="340" r:id="rId25"/>
    <p:sldId id="336" r:id="rId26"/>
    <p:sldId id="341" r:id="rId27"/>
    <p:sldId id="348" r:id="rId28"/>
    <p:sldId id="356" r:id="rId29"/>
    <p:sldId id="369" r:id="rId30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0066"/>
    <a:srgbClr val="CC0066"/>
    <a:srgbClr val="0066FF"/>
    <a:srgbClr val="008080"/>
    <a:srgbClr val="339933"/>
    <a:srgbClr val="00CC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94683" autoAdjust="0"/>
  </p:normalViewPr>
  <p:slideViewPr>
    <p:cSldViewPr>
      <p:cViewPr varScale="1">
        <p:scale>
          <a:sx n="62" d="100"/>
          <a:sy n="62" d="100"/>
        </p:scale>
        <p:origin x="75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DF49E02-8757-B7D4-F2CC-53EC676E134E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787C5299-7D08-A88A-B2C2-2792107CA6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166F504E-0E1B-A9B1-FD08-B8455E67E2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C8EE572A-B894-6764-6FD3-F32EFCCF61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08EFF993-4EDE-8A58-AB6A-F83D9DC3D5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23BBE14-5C90-D924-8927-7F880359C0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CF4A983-7E2C-9A3A-0ED3-A5273AC91A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CF6DEF68-1290-4049-1CD1-B0D79DFAD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64143739-7570-8E50-072C-4076F578B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397E120F-43CC-CEB6-24A7-5BB528C5136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A64BCC6D-2B76-5E7C-A67E-A189087D68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8BB97DC8-F61C-6879-0D05-45A50CFE19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0991B76F-6681-6C8B-6922-EF3860DB8A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F8271BF-BF8C-41E2-9070-6490212F02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4657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D432D24-073D-4E5D-9EF3-1D73221ABD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5040E89-2CED-5636-4011-46B6DDC238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09B2B68-F154-3FAE-65DE-7A0C46D522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520E7E-10CC-48B7-8F01-42783B114D8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238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C9FFEB20-6F6C-772E-98E2-9A3613F7C6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49CFD6E3-3196-69A1-18B1-EC354807CE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CB504FB8-B27E-CAF5-9B40-8C9AC56480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78E995-15E0-44F7-A14D-498A8574775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0241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1D540A0-751B-AEA3-543C-7AD3239DBF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EB80C15-7F88-63DE-85AE-82204573CD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AA79E1B-E05A-9B70-D5AC-8009B8D765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6C56A6-E3EE-494F-89D4-A087892A64A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7392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234D5951-AA64-55BE-F98E-4BC2757EA9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641D61D1-D9BC-33B5-F854-5193BD4355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3882754E-FE6E-934C-50CD-584E69604B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29B620-816B-454C-A184-0A691954753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4524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117A9578-0A0A-7585-1B5A-1DBB158B8A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72C6E277-56F0-05D5-5232-85BB0162CF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C33E64F1-93E3-DBDF-586B-9B42440FDC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F5AE60-D70A-466B-82C0-7256A86F1B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2714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2675DC88-D550-6EA0-A18C-67A6A7B0E6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187DA079-4971-3C24-30B4-8106817180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7A898CC4-55BF-1F42-B056-B3A51DFDE9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F59A9E-8197-4211-90B6-50C6413203F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9701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F5C26866-D0E8-45BB-9659-26A2348067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E990D276-F70F-20E1-CDAA-DC80D7FF07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8A0DFC1F-702A-ABE1-3B54-112080F81A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3F5365-5E98-4366-A34D-40F4D1EC7A2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725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D8C88C7-AD41-46CE-5AEC-55B34CF2C2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3443D1C-392B-B44B-6C95-D5812EDAE5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D3E38260-D32F-2895-FCE8-F8EAE549A9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DCD008-CD2B-4AA1-921C-3270AEE91F5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1615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AAFEFC18-5212-AFFE-F119-6757308221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71FD473-1F21-7F18-B1E1-6B0A87D669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B764837-16D1-0582-7163-DAA7535ECC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F6856E-D913-4E02-B894-B7E5CEE7E4A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9320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E69F961-6E11-E5B0-A52C-2F2CE593A8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88FFED0-592A-4E9C-C3FB-F4782289B1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15027805-27A2-AC40-0CE6-B6A42F96ED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A310B9-9D49-4498-A489-BDEBDE4DD30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32067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6C64E56A-FB5E-620E-8ACC-EB30996184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20EE7BCE-C594-A2E5-A09D-9ABCF55BF5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3651195E-9DAD-6BE4-2A19-A97C54FBCD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0B039A-8004-4974-ADE7-711867CE3AC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34979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367B1F2-1F38-0376-2B90-A0C5E7D3A9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B9BE5E5-B52F-473B-E67E-DB820D0375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D188959E-FDFC-1146-B866-918FF2BBAC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59E4AF-B854-4AF3-82E6-9CBAD3F579A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3626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6011450-865A-630D-26A6-C3C33230867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1FADC3B-2133-3F7A-76B3-5E0C1FDE692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0EA92D7-9822-6951-860C-52F2E9C0F65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523754E-32DE-1638-126B-3A1E1DDB321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92068E1-B3BB-586A-A39F-75B22A9A7BA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EB355C5-B48C-043B-1198-B8BA6201A09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D9A71413-CE49-9EF2-DB87-71BD02C294C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90B20463-EE9C-1B48-BE45-5A020256EE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B8DBA93F-517A-2C75-C22C-C074B59478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90C7B308-FF5D-2C0B-195F-E1A20D6B665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EDE67495-3908-ABE4-BBAC-B7144744451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A1EB3940-150D-B11C-F9D6-888D576455B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BD2C32D-B23B-4568-991A-CBB47152F33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0" r:id="rId12"/>
    <p:sldLayoutId id="2147483801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2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21" Type="http://schemas.openxmlformats.org/officeDocument/2006/relationships/image" Target="../media/image2.tmp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20" Type="http://schemas.openxmlformats.org/officeDocument/2006/relationships/image" Target="../media/image1.wmf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oleObject" Target="../embeddings/oleObject2.bin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1.wmf"/><Relationship Id="rId7" Type="http://schemas.openxmlformats.org/officeDocument/2006/relationships/oleObject" Target="../embeddings/oleObject9.bin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8.bin"/><Relationship Id="rId5" Type="http://schemas.openxmlformats.org/officeDocument/2006/relationships/oleObject" Target="../embeddings/oleObject7.bin"/><Relationship Id="rId4" Type="http://schemas.openxmlformats.org/officeDocument/2006/relationships/oleObject" Target="../embeddings/oleObject6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image" Target="../media/image2.tmp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image" Target="../media/image4.wmf"/><Relationship Id="rId7" Type="http://schemas.openxmlformats.org/officeDocument/2006/relationships/oleObject" Target="../embeddings/oleObject16.bin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5.bin"/><Relationship Id="rId5" Type="http://schemas.openxmlformats.org/officeDocument/2006/relationships/oleObject" Target="../embeddings/oleObject14.bin"/><Relationship Id="rId4" Type="http://schemas.openxmlformats.org/officeDocument/2006/relationships/oleObject" Target="../embeddings/oleObject13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image" Target="../media/image2.tmp"/><Relationship Id="rId5" Type="http://schemas.openxmlformats.org/officeDocument/2006/relationships/tags" Target="../tags/tag56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55.xml"/><Relationship Id="rId9" Type="http://schemas.openxmlformats.org/officeDocument/2006/relationships/tags" Target="../tags/tag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87E95A1-8BF0-4F85-C419-C566954E87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</a:t>
            </a:r>
            <a:r>
              <a:rPr lang="en-US" altLang="zh-CN" sz="5400"/>
              <a:t>5.2 </a:t>
            </a:r>
            <a:r>
              <a:rPr lang="zh-CN" altLang="en-US" sz="5400"/>
              <a:t>幺元、零元和逆元 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890727BB-CDF8-6365-BA88-B684B81651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2988" y="1989138"/>
            <a:ext cx="7912100" cy="4868862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sz="4000"/>
              <a:t>5.2.1 </a:t>
            </a:r>
            <a:r>
              <a:rPr lang="zh-CN" altLang="en-US" sz="4000"/>
              <a:t>幺元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4000"/>
              <a:t>5.2.2 </a:t>
            </a:r>
            <a:r>
              <a:rPr lang="zh-CN" altLang="en-US" sz="4000"/>
              <a:t>零元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4000"/>
              <a:t>5.2.3 </a:t>
            </a:r>
            <a:r>
              <a:rPr lang="zh-CN" altLang="en-US" sz="4000"/>
              <a:t>逆元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4000"/>
              <a:t>5.2.4 </a:t>
            </a:r>
            <a:r>
              <a:rPr lang="zh-CN" altLang="en-US" sz="4000"/>
              <a:t>独异点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0812F4F-289E-1570-1935-5B65FA831F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5.2.1 </a:t>
            </a:r>
            <a:r>
              <a:rPr lang="zh-CN" altLang="en-US" sz="5400"/>
              <a:t>幺元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14297879-6254-920B-FA75-1EE888B19A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532812" cy="4941888"/>
          </a:xfrm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en-US"/>
              <a:t>设代数系统</a:t>
            </a:r>
            <a:r>
              <a:rPr lang="en-US" altLang="zh-CN">
                <a:latin typeface="宋体" panose="02010600030101010101" pitchFamily="2" charset="-122"/>
              </a:rPr>
              <a:t>&lt;</a:t>
            </a:r>
            <a:r>
              <a:rPr lang="en-US" altLang="zh-CN"/>
              <a:t>A,</a:t>
            </a:r>
            <a:r>
              <a:rPr lang="en-US" altLang="en-US"/>
              <a:t>＊</a:t>
            </a:r>
            <a:r>
              <a:rPr lang="en-US" altLang="zh-CN">
                <a:latin typeface="宋体" panose="02010600030101010101" pitchFamily="2" charset="-122"/>
              </a:rPr>
              <a:t>&gt;</a:t>
            </a:r>
            <a:r>
              <a:rPr lang="zh-CN" altLang="en-US">
                <a:latin typeface="宋体" panose="02010600030101010101" pitchFamily="2" charset="-122"/>
              </a:rPr>
              <a:t>，</a:t>
            </a:r>
            <a:r>
              <a:rPr lang="en-US" altLang="en-US"/>
              <a:t> ＊</a:t>
            </a:r>
            <a:r>
              <a:rPr lang="zh-CN" altLang="en-US">
                <a:latin typeface="宋体" panose="02010600030101010101" pitchFamily="2" charset="-122"/>
              </a:rPr>
              <a:t>运算的</a:t>
            </a:r>
            <a:endParaRPr lang="zh-CN" altLang="en-US"/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r>
              <a:rPr lang="zh-CN" altLang="en-US" b="1">
                <a:solidFill>
                  <a:srgbClr val="CC0066"/>
                </a:solidFill>
              </a:rPr>
              <a:t>左幺元</a:t>
            </a:r>
            <a:r>
              <a:rPr lang="en-US" altLang="zh-CN"/>
              <a:t>   </a:t>
            </a:r>
            <a:r>
              <a:rPr lang="zh-CN" altLang="en-US"/>
              <a:t>若</a:t>
            </a:r>
            <a:r>
              <a:rPr lang="zh-CN" altLang="en-US">
                <a:sym typeface="Symbol" panose="05050102010706020507" pitchFamily="18" charset="2"/>
              </a:rPr>
              <a:t></a:t>
            </a:r>
            <a:r>
              <a:rPr lang="en-US" altLang="zh-CN"/>
              <a:t>e</a:t>
            </a:r>
            <a:r>
              <a:rPr lang="en-US" altLang="zh-CN" baseline="-25000"/>
              <a:t>l</a:t>
            </a:r>
            <a:r>
              <a:rPr lang="en-US" altLang="zh-CN"/>
              <a:t>∈A</a:t>
            </a:r>
            <a:r>
              <a:rPr lang="zh-CN" altLang="en-US"/>
              <a:t>对</a:t>
            </a:r>
            <a:r>
              <a:rPr lang="zh-CN" altLang="en-US">
                <a:solidFill>
                  <a:srgbClr val="FF00FF"/>
                </a:solidFill>
                <a:sym typeface="Symbol" panose="05050102010706020507" pitchFamily="18" charset="2"/>
              </a:rPr>
              <a:t></a:t>
            </a:r>
            <a:r>
              <a:rPr lang="en-US" altLang="zh-CN"/>
              <a:t>x∈A</a:t>
            </a:r>
            <a:r>
              <a:rPr lang="zh-CN" altLang="en-US"/>
              <a:t>有</a:t>
            </a:r>
            <a:r>
              <a:rPr lang="en-US" altLang="zh-CN">
                <a:solidFill>
                  <a:schemeClr val="hlink"/>
                </a:solidFill>
              </a:rPr>
              <a:t>e</a:t>
            </a:r>
            <a:r>
              <a:rPr lang="en-US" altLang="zh-CN" baseline="-25000">
                <a:solidFill>
                  <a:schemeClr val="hlink"/>
                </a:solidFill>
              </a:rPr>
              <a:t>l</a:t>
            </a:r>
            <a:r>
              <a:rPr lang="en-US" altLang="en-US"/>
              <a:t>＊</a:t>
            </a:r>
            <a:r>
              <a:rPr lang="en-US" altLang="zh-CN"/>
              <a:t>x</a:t>
            </a:r>
            <a:r>
              <a:rPr lang="zh-CN" altLang="en-US"/>
              <a:t>＝</a:t>
            </a:r>
            <a:r>
              <a:rPr lang="en-US" altLang="zh-CN"/>
              <a:t>x 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/>
              <a:t>   </a:t>
            </a:r>
            <a:r>
              <a:rPr lang="zh-CN" altLang="en-US" b="1">
                <a:solidFill>
                  <a:schemeClr val="accent1"/>
                </a:solidFill>
              </a:rPr>
              <a:t>右幺元</a:t>
            </a:r>
            <a:r>
              <a:rPr lang="en-US" altLang="zh-CN"/>
              <a:t>   </a:t>
            </a:r>
            <a:r>
              <a:rPr lang="zh-CN" altLang="en-US"/>
              <a:t>若</a:t>
            </a:r>
            <a:r>
              <a:rPr lang="zh-CN" altLang="en-US">
                <a:sym typeface="Symbol" panose="05050102010706020507" pitchFamily="18" charset="2"/>
              </a:rPr>
              <a:t></a:t>
            </a:r>
            <a:r>
              <a:rPr lang="en-US" altLang="zh-CN"/>
              <a:t>e</a:t>
            </a:r>
            <a:r>
              <a:rPr lang="en-US" altLang="zh-CN" baseline="-25000"/>
              <a:t>r</a:t>
            </a:r>
            <a:r>
              <a:rPr lang="en-US" altLang="zh-CN"/>
              <a:t>∈A</a:t>
            </a:r>
            <a:r>
              <a:rPr lang="zh-CN" altLang="en-US"/>
              <a:t>对</a:t>
            </a:r>
            <a:r>
              <a:rPr lang="zh-CN" altLang="en-US">
                <a:solidFill>
                  <a:srgbClr val="FF00FF"/>
                </a:solidFill>
                <a:sym typeface="Symbol" panose="05050102010706020507" pitchFamily="18" charset="2"/>
              </a:rPr>
              <a:t></a:t>
            </a:r>
            <a:r>
              <a:rPr lang="en-US" altLang="zh-CN"/>
              <a:t>x∈A</a:t>
            </a:r>
            <a:r>
              <a:rPr lang="zh-CN" altLang="en-US"/>
              <a:t>有</a:t>
            </a:r>
            <a:r>
              <a:rPr lang="en-US" altLang="zh-CN"/>
              <a:t>x</a:t>
            </a:r>
            <a:r>
              <a:rPr lang="en-US" altLang="en-US"/>
              <a:t>＊</a:t>
            </a:r>
            <a:r>
              <a:rPr lang="en-US" altLang="zh-CN">
                <a:solidFill>
                  <a:schemeClr val="hlink"/>
                </a:solidFill>
              </a:rPr>
              <a:t>e</a:t>
            </a:r>
            <a:r>
              <a:rPr lang="en-US" altLang="zh-CN" baseline="-25000">
                <a:solidFill>
                  <a:schemeClr val="hlink"/>
                </a:solidFill>
              </a:rPr>
              <a:t>r</a:t>
            </a:r>
            <a:r>
              <a:rPr lang="zh-CN" altLang="en-US"/>
              <a:t>＝</a:t>
            </a:r>
            <a:r>
              <a:rPr lang="en-US" altLang="zh-CN"/>
              <a:t>x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/>
              <a:t>   </a:t>
            </a:r>
            <a:r>
              <a:rPr lang="zh-CN" altLang="en-US" b="1">
                <a:solidFill>
                  <a:srgbClr val="FF00FF"/>
                </a:solidFill>
              </a:rPr>
              <a:t>幺元</a:t>
            </a:r>
            <a:r>
              <a:rPr lang="en-US" altLang="zh-CN"/>
              <a:t>      </a:t>
            </a:r>
            <a:r>
              <a:rPr lang="zh-CN" altLang="en-US"/>
              <a:t>若</a:t>
            </a:r>
            <a:r>
              <a:rPr lang="zh-CN" altLang="en-US">
                <a:sym typeface="Symbol" panose="05050102010706020507" pitchFamily="18" charset="2"/>
              </a:rPr>
              <a:t></a:t>
            </a:r>
            <a:r>
              <a:rPr lang="en-US" altLang="zh-CN"/>
              <a:t>e∈A</a:t>
            </a:r>
            <a:r>
              <a:rPr lang="zh-CN" altLang="en-US"/>
              <a:t>对</a:t>
            </a:r>
            <a:r>
              <a:rPr lang="zh-CN" altLang="en-US">
                <a:solidFill>
                  <a:srgbClr val="FF00FF"/>
                </a:solidFill>
                <a:sym typeface="Symbol" panose="05050102010706020507" pitchFamily="18" charset="2"/>
              </a:rPr>
              <a:t></a:t>
            </a:r>
            <a:r>
              <a:rPr lang="en-US" altLang="zh-CN"/>
              <a:t>x∈A</a:t>
            </a:r>
            <a:r>
              <a:rPr lang="zh-CN" altLang="en-US"/>
              <a:t>有</a:t>
            </a:r>
            <a:r>
              <a:rPr lang="en-US" altLang="zh-CN">
                <a:solidFill>
                  <a:schemeClr val="hlink"/>
                </a:solidFill>
              </a:rPr>
              <a:t>e</a:t>
            </a:r>
            <a:r>
              <a:rPr lang="en-US" altLang="en-US"/>
              <a:t>＊</a:t>
            </a:r>
            <a:r>
              <a:rPr lang="en-US" altLang="zh-CN"/>
              <a:t>x</a:t>
            </a:r>
            <a:r>
              <a:rPr lang="zh-CN" altLang="en-US"/>
              <a:t>＝</a:t>
            </a:r>
            <a:r>
              <a:rPr lang="en-US" altLang="zh-CN"/>
              <a:t>x</a:t>
            </a:r>
            <a:r>
              <a:rPr lang="zh-CN" altLang="en-US"/>
              <a:t>＝</a:t>
            </a:r>
            <a:r>
              <a:rPr lang="en-US" altLang="zh-CN"/>
              <a:t>x</a:t>
            </a:r>
            <a:r>
              <a:rPr lang="en-US" altLang="en-US"/>
              <a:t>＊</a:t>
            </a:r>
            <a:r>
              <a:rPr lang="en-US" altLang="zh-CN">
                <a:solidFill>
                  <a:schemeClr val="hlink"/>
                </a:solidFill>
              </a:rPr>
              <a:t>e</a:t>
            </a:r>
          </a:p>
        </p:txBody>
      </p:sp>
      <p:sp>
        <p:nvSpPr>
          <p:cNvPr id="2" name="左大括号 1">
            <a:extLst>
              <a:ext uri="{FF2B5EF4-FFF2-40B4-BE49-F238E27FC236}">
                <a16:creationId xmlns:a16="http://schemas.microsoft.com/office/drawing/2014/main" id="{B96615A6-0DBF-548E-851A-1553CCB4699D}"/>
              </a:ext>
            </a:extLst>
          </p:cNvPr>
          <p:cNvSpPr/>
          <p:nvPr/>
        </p:nvSpPr>
        <p:spPr>
          <a:xfrm>
            <a:off x="900113" y="3644900"/>
            <a:ext cx="155575" cy="2138363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7F67A42-BFBE-5AA9-F414-21E504D4CD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5.2.1 </a:t>
            </a:r>
            <a:r>
              <a:rPr lang="zh-CN" altLang="en-US" sz="5400"/>
              <a:t>幺元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E215922-CF14-1129-D722-8435F63ECC5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defTabSz="901700" eaLnBrk="1" hangingPunct="1">
              <a:lnSpc>
                <a:spcPct val="150000"/>
              </a:lnSpc>
              <a:tabLst>
                <a:tab pos="6184900" algn="l"/>
              </a:tabLst>
            </a:pPr>
            <a:r>
              <a:rPr lang="zh-CN" altLang="en-US"/>
              <a:t>例如，设</a:t>
            </a:r>
            <a:r>
              <a:rPr lang="en-US" altLang="zh-CN"/>
              <a:t>A</a:t>
            </a:r>
            <a:r>
              <a:rPr lang="zh-CN" altLang="en-US"/>
              <a:t>＝</a:t>
            </a:r>
            <a:r>
              <a:rPr lang="en-US" altLang="zh-CN"/>
              <a:t>{1,2,3,4}</a:t>
            </a:r>
            <a:r>
              <a:rPr lang="zh-CN" altLang="en-US"/>
              <a:t>，</a:t>
            </a:r>
            <a:r>
              <a:rPr lang="en-US" altLang="zh-CN"/>
              <a:t>A</a:t>
            </a:r>
            <a:r>
              <a:rPr lang="zh-CN" altLang="en-US"/>
              <a:t>上的二元运算</a:t>
            </a:r>
            <a:r>
              <a:rPr lang="en-US" altLang="zh-CN"/>
              <a:t>﹡</a:t>
            </a:r>
            <a:r>
              <a:rPr lang="zh-CN" altLang="en-US"/>
              <a:t>与△的</a:t>
            </a:r>
            <a:r>
              <a:rPr lang="zh-CN" altLang="en-US">
                <a:solidFill>
                  <a:schemeClr val="hlink"/>
                </a:solidFill>
              </a:rPr>
              <a:t>运算表</a:t>
            </a:r>
            <a:r>
              <a:rPr lang="zh-CN" altLang="en-US"/>
              <a:t>如下：</a:t>
            </a:r>
          </a:p>
          <a:p>
            <a:pPr defTabSz="901700" eaLnBrk="1" hangingPunct="1">
              <a:tabLst>
                <a:tab pos="6184900" algn="l"/>
              </a:tabLst>
            </a:pPr>
            <a:endParaRPr lang="zh-CN" altLang="en-US" sz="2800"/>
          </a:p>
          <a:p>
            <a:pPr defTabSz="901700" eaLnBrk="1" hangingPunct="1">
              <a:tabLst>
                <a:tab pos="6184900" algn="l"/>
              </a:tabLst>
            </a:pPr>
            <a:endParaRPr lang="en-US" altLang="zh-CN" sz="2800"/>
          </a:p>
        </p:txBody>
      </p:sp>
      <p:graphicFrame>
        <p:nvGraphicFramePr>
          <p:cNvPr id="137220" name="Group 4">
            <a:extLst>
              <a:ext uri="{FF2B5EF4-FFF2-40B4-BE49-F238E27FC236}">
                <a16:creationId xmlns:a16="http://schemas.microsoft.com/office/drawing/2014/main" id="{50857F96-1A87-D1FC-DE2D-C0121CA1D474}"/>
              </a:ext>
            </a:extLst>
          </p:cNvPr>
          <p:cNvGraphicFramePr>
            <a:graphicFrameLocks noGrp="1"/>
          </p:cNvGraphicFramePr>
          <p:nvPr>
            <p:ph sz="quarter" idx="3"/>
          </p:nvPr>
        </p:nvGraphicFramePr>
        <p:xfrm>
          <a:off x="1116013" y="3544888"/>
          <a:ext cx="3311525" cy="2914650"/>
        </p:xfrm>
        <a:graphic>
          <a:graphicData uri="http://schemas.openxmlformats.org/drawingml/2006/table">
            <a:tbl>
              <a:tblPr/>
              <a:tblGrid>
                <a:gridCol w="566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4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2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﹡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1   2   3   4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53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4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1   3   2   4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1   2   3   4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3   3   3   3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1   2   3   4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7235" name="Group 19">
            <a:extLst>
              <a:ext uri="{FF2B5EF4-FFF2-40B4-BE49-F238E27FC236}">
                <a16:creationId xmlns:a16="http://schemas.microsoft.com/office/drawing/2014/main" id="{E850C546-E32C-9F90-684D-6F089E21E0D6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5145088" y="3544888"/>
          <a:ext cx="3243262" cy="2914650"/>
        </p:xfrm>
        <a:graphic>
          <a:graphicData uri="http://schemas.openxmlformats.org/drawingml/2006/table">
            <a:tbl>
              <a:tblPr/>
              <a:tblGrid>
                <a:gridCol w="554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2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△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1   2   3   4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53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4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2 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4   1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1   2   3   4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4 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2   3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4 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4   4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64D9383-0EF6-687F-483D-D9247B30E6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5.2.1 </a:t>
            </a:r>
            <a:r>
              <a:rPr lang="zh-CN" altLang="en-US" sz="5400"/>
              <a:t>幺元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B18E100-C049-D04D-5BEB-5EC4570F0D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18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5.2.1</a:t>
            </a:r>
            <a:r>
              <a:rPr lang="zh-CN" altLang="en-US" dirty="0"/>
              <a:t>设代数系统</a:t>
            </a:r>
            <a:r>
              <a:rPr lang="en-US" altLang="zh-CN" dirty="0">
                <a:latin typeface="宋体" panose="02010600030101010101" pitchFamily="2" charset="-122"/>
              </a:rPr>
              <a:t>&lt;</a:t>
            </a:r>
            <a:r>
              <a:rPr lang="en-US" altLang="zh-CN" dirty="0"/>
              <a:t>A,</a:t>
            </a:r>
            <a:r>
              <a:rPr lang="en-US" altLang="en-US" dirty="0"/>
              <a:t>＊</a:t>
            </a:r>
            <a:r>
              <a:rPr lang="en-US" altLang="zh-CN" dirty="0">
                <a:latin typeface="宋体" panose="02010600030101010101" pitchFamily="2" charset="-122"/>
              </a:rPr>
              <a:t>&gt;</a:t>
            </a:r>
            <a:r>
              <a:rPr lang="zh-CN" altLang="en-US" dirty="0"/>
              <a:t>，若</a:t>
            </a:r>
            <a:r>
              <a:rPr lang="en-US" altLang="zh-CN" dirty="0"/>
              <a:t>A</a:t>
            </a:r>
            <a:r>
              <a:rPr lang="zh-CN" altLang="en-US" dirty="0"/>
              <a:t>中有关于运算</a:t>
            </a:r>
            <a:r>
              <a:rPr lang="en-US" altLang="en-US" dirty="0"/>
              <a:t>＊</a:t>
            </a:r>
            <a:r>
              <a:rPr lang="zh-CN" altLang="en-US" dirty="0"/>
              <a:t>的左幺元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l</a:t>
            </a:r>
            <a:r>
              <a:rPr lang="zh-CN" altLang="en-US" dirty="0"/>
              <a:t>与右幺元</a:t>
            </a:r>
            <a:r>
              <a:rPr lang="en-US" altLang="zh-CN" dirty="0"/>
              <a:t>e</a:t>
            </a:r>
            <a:r>
              <a:rPr lang="en-US" altLang="zh-CN" baseline="-25000" dirty="0"/>
              <a:t>r</a:t>
            </a:r>
            <a:r>
              <a:rPr lang="zh-CN" altLang="en-US" dirty="0"/>
              <a:t>，则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l</a:t>
            </a:r>
            <a:r>
              <a:rPr lang="zh-CN" altLang="en-US" dirty="0"/>
              <a:t>＝</a:t>
            </a:r>
            <a:r>
              <a:rPr lang="en-US" altLang="zh-CN" dirty="0"/>
              <a:t>e</a:t>
            </a:r>
            <a:r>
              <a:rPr lang="en-US" altLang="zh-CN" baseline="-25000" dirty="0"/>
              <a:t>r</a:t>
            </a:r>
            <a:r>
              <a:rPr lang="zh-CN" altLang="en-US" dirty="0"/>
              <a:t>＝</a:t>
            </a:r>
            <a:r>
              <a:rPr lang="en-US" altLang="zh-CN" dirty="0"/>
              <a:t>e</a:t>
            </a:r>
            <a:r>
              <a:rPr lang="zh-CN" altLang="en-US" dirty="0"/>
              <a:t>，且</a:t>
            </a:r>
            <a:r>
              <a:rPr lang="en-US" altLang="zh-CN" dirty="0"/>
              <a:t>A</a:t>
            </a:r>
            <a:r>
              <a:rPr lang="zh-CN" altLang="en-US" dirty="0"/>
              <a:t>中幺元唯一。</a:t>
            </a:r>
            <a:endParaRPr lang="zh-CN" altLang="en-US" b="1" dirty="0"/>
          </a:p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hlink"/>
                </a:solidFill>
              </a:rPr>
              <a:t>   证明</a:t>
            </a:r>
            <a:r>
              <a:rPr lang="zh-CN" altLang="en-US" dirty="0"/>
              <a:t>       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l</a:t>
            </a:r>
            <a:r>
              <a:rPr lang="zh-CN" altLang="en-US" dirty="0"/>
              <a:t>＝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l</a:t>
            </a:r>
            <a:r>
              <a:rPr lang="en-US" altLang="en-US" dirty="0" err="1"/>
              <a:t>＊</a:t>
            </a:r>
            <a:r>
              <a:rPr lang="en-US" altLang="zh-CN" dirty="0" err="1">
                <a:solidFill>
                  <a:schemeClr val="accent1"/>
                </a:solidFill>
              </a:rPr>
              <a:t>e</a:t>
            </a:r>
            <a:r>
              <a:rPr lang="en-US" altLang="zh-CN" baseline="-25000" dirty="0" err="1">
                <a:solidFill>
                  <a:schemeClr val="accent1"/>
                </a:solidFill>
              </a:rPr>
              <a:t>r</a:t>
            </a:r>
            <a:r>
              <a:rPr lang="zh-CN" altLang="en-US" dirty="0"/>
              <a:t>＝</a:t>
            </a:r>
            <a:r>
              <a:rPr lang="en-US" altLang="zh-CN" dirty="0">
                <a:solidFill>
                  <a:schemeClr val="accent1"/>
                </a:solidFill>
              </a:rPr>
              <a:t>e</a:t>
            </a:r>
            <a:r>
              <a:rPr lang="en-US" altLang="zh-CN" baseline="-25000" dirty="0">
                <a:solidFill>
                  <a:schemeClr val="accent1"/>
                </a:solidFill>
              </a:rPr>
              <a:t>r</a:t>
            </a:r>
            <a:endParaRPr lang="en-US" altLang="zh-CN" dirty="0">
              <a:solidFill>
                <a:schemeClr val="accent1"/>
              </a:solidFill>
            </a:endParaRPr>
          </a:p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假设</a:t>
            </a:r>
            <a:r>
              <a:rPr lang="en-US" altLang="zh-CN" dirty="0"/>
              <a:t>A</a:t>
            </a:r>
            <a:r>
              <a:rPr lang="zh-CN" altLang="en-US" dirty="0"/>
              <a:t>中有两个幺元</a:t>
            </a:r>
            <a:r>
              <a:rPr lang="en-US" altLang="zh-CN" dirty="0"/>
              <a:t>e</a:t>
            </a:r>
            <a:r>
              <a:rPr lang="zh-CN" altLang="en-US" dirty="0"/>
              <a:t>与</a:t>
            </a:r>
            <a:r>
              <a:rPr lang="en-US" altLang="zh-CN" dirty="0"/>
              <a:t>d</a:t>
            </a:r>
            <a:r>
              <a:rPr lang="zh-CN" altLang="en-US" dirty="0"/>
              <a:t>，则</a:t>
            </a:r>
            <a:r>
              <a:rPr lang="en-US" altLang="zh-CN" dirty="0"/>
              <a:t>d</a:t>
            </a:r>
            <a:r>
              <a:rPr lang="zh-CN" altLang="en-US" dirty="0"/>
              <a:t>＝</a:t>
            </a:r>
            <a:r>
              <a:rPr lang="en-US" altLang="zh-CN" dirty="0" err="1"/>
              <a:t>d</a:t>
            </a:r>
            <a:r>
              <a:rPr lang="en-US" altLang="en-US" dirty="0" err="1"/>
              <a:t>＊</a:t>
            </a:r>
            <a:r>
              <a:rPr lang="en-US" altLang="zh-CN" dirty="0" err="1">
                <a:solidFill>
                  <a:srgbClr val="FF00FF"/>
                </a:solidFill>
              </a:rPr>
              <a:t>e</a:t>
            </a:r>
            <a:r>
              <a:rPr lang="zh-CN" altLang="en-US" dirty="0"/>
              <a:t>＝</a:t>
            </a:r>
            <a:r>
              <a:rPr lang="en-US" altLang="zh-CN" dirty="0">
                <a:solidFill>
                  <a:srgbClr val="FF00FF"/>
                </a:solidFill>
              </a:rPr>
              <a:t>e</a:t>
            </a:r>
            <a:r>
              <a:rPr lang="en-US" altLang="zh-CN" sz="2400" dirty="0"/>
              <a:t>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B45CF1D-884B-8AD9-E3B5-D9D05301A8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5.2.1 </a:t>
            </a:r>
            <a:r>
              <a:rPr lang="zh-CN" altLang="en-US" sz="5400"/>
              <a:t>幺元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9F739712-A0EE-E504-7DEC-F399D21B4D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53425" cy="4840287"/>
          </a:xfrm>
        </p:spPr>
        <p:txBody>
          <a:bodyPr/>
          <a:lstStyle/>
          <a:p>
            <a:pPr eaLnBrk="1" hangingPunct="1">
              <a:lnSpc>
                <a:spcPct val="105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例如</a:t>
            </a:r>
            <a:r>
              <a:rPr lang="en-US" altLang="zh-CN" dirty="0">
                <a:latin typeface="宋体" panose="02010600030101010101" pitchFamily="2" charset="-122"/>
              </a:rPr>
              <a:t>,</a:t>
            </a:r>
            <a:r>
              <a:rPr lang="zh-CN" altLang="en-US" dirty="0">
                <a:latin typeface="宋体" panose="02010600030101010101" pitchFamily="2" charset="-122"/>
              </a:rPr>
              <a:t>设</a:t>
            </a:r>
            <a:r>
              <a:rPr lang="zh-CN" altLang="en-US" dirty="0"/>
              <a:t>代数系统</a:t>
            </a:r>
            <a:r>
              <a:rPr lang="en-US" altLang="zh-CN" dirty="0">
                <a:latin typeface="宋体" panose="02010600030101010101" pitchFamily="2" charset="-122"/>
              </a:rPr>
              <a:t>&lt;</a:t>
            </a:r>
            <a:r>
              <a:rPr lang="en-US" altLang="zh-CN" dirty="0"/>
              <a:t>R,</a:t>
            </a:r>
            <a:r>
              <a:rPr lang="zh-CN" altLang="en-US" dirty="0"/>
              <a:t>＋</a:t>
            </a:r>
            <a:r>
              <a:rPr lang="en-US" altLang="zh-CN" dirty="0"/>
              <a:t>,×</a:t>
            </a:r>
            <a:r>
              <a:rPr lang="en-US" altLang="zh-CN" dirty="0">
                <a:latin typeface="宋体" panose="02010600030101010101" pitchFamily="2" charset="-122"/>
              </a:rPr>
              <a:t>&gt;,</a:t>
            </a:r>
            <a:r>
              <a:rPr lang="zh-CN" altLang="en-US" dirty="0"/>
              <a:t>其中</a:t>
            </a:r>
            <a:r>
              <a:rPr lang="en-US" altLang="zh-CN" dirty="0"/>
              <a:t>R</a:t>
            </a:r>
            <a:r>
              <a:rPr lang="zh-CN" altLang="en-US" dirty="0"/>
              <a:t>是实数集</a:t>
            </a:r>
            <a:r>
              <a:rPr lang="en-US" altLang="zh-CN" dirty="0">
                <a:latin typeface="宋体" panose="02010600030101010101" pitchFamily="2" charset="-122"/>
              </a:rPr>
              <a:t>,</a:t>
            </a:r>
            <a:r>
              <a:rPr lang="zh-CN" altLang="en-US" dirty="0"/>
              <a:t>＋与</a:t>
            </a:r>
            <a:r>
              <a:rPr lang="en-US" altLang="zh-CN" dirty="0"/>
              <a:t>×</a:t>
            </a:r>
            <a:r>
              <a:rPr lang="zh-CN" altLang="en-US" dirty="0"/>
              <a:t>是实数加与乘运算。</a:t>
            </a:r>
          </a:p>
          <a:p>
            <a:pPr eaLnBrk="1" hangingPunct="1">
              <a:lnSpc>
                <a:spcPct val="105000"/>
              </a:lnSpc>
            </a:pPr>
            <a:r>
              <a:rPr lang="zh-CN" altLang="en-US" dirty="0">
                <a:solidFill>
                  <a:schemeClr val="accent1"/>
                </a:solidFill>
              </a:rPr>
              <a:t>关于＋</a:t>
            </a:r>
            <a:r>
              <a:rPr lang="zh-CN" altLang="en-US" dirty="0"/>
              <a:t>，对任意</a:t>
            </a:r>
            <a:r>
              <a:rPr lang="en-US" altLang="zh-CN" dirty="0" err="1"/>
              <a:t>x∈R</a:t>
            </a:r>
            <a:endParaRPr lang="en-US" altLang="zh-CN" dirty="0"/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由于</a:t>
            </a:r>
            <a:r>
              <a:rPr lang="en-US" altLang="zh-CN" dirty="0"/>
              <a:t>0</a:t>
            </a:r>
            <a:r>
              <a:rPr lang="zh-CN" altLang="en-US" dirty="0"/>
              <a:t>＋</a:t>
            </a:r>
            <a:r>
              <a:rPr lang="en-US" altLang="zh-CN" dirty="0"/>
              <a:t>x</a:t>
            </a:r>
            <a:r>
              <a:rPr lang="zh-CN" altLang="en-US" dirty="0"/>
              <a:t>＝</a:t>
            </a:r>
            <a:r>
              <a:rPr lang="en-US" altLang="zh-CN" dirty="0"/>
              <a:t>x</a:t>
            </a:r>
            <a:r>
              <a:rPr lang="zh-CN" altLang="en-US" dirty="0"/>
              <a:t>，所以</a:t>
            </a:r>
            <a:r>
              <a:rPr lang="en-US" altLang="zh-CN" dirty="0"/>
              <a:t>0</a:t>
            </a:r>
            <a:r>
              <a:rPr lang="zh-CN" altLang="en-US" dirty="0"/>
              <a:t>是＋的</a:t>
            </a:r>
            <a:r>
              <a:rPr lang="zh-CN" altLang="en-US" dirty="0">
                <a:solidFill>
                  <a:srgbClr val="CC0066"/>
                </a:solidFill>
              </a:rPr>
              <a:t>左</a:t>
            </a:r>
            <a:r>
              <a:rPr lang="zh-CN" altLang="en-US" dirty="0"/>
              <a:t>幺元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由于</a:t>
            </a:r>
            <a:r>
              <a:rPr lang="en-US" altLang="zh-CN" dirty="0"/>
              <a:t>x</a:t>
            </a:r>
            <a:r>
              <a:rPr lang="zh-CN" altLang="en-US" dirty="0"/>
              <a:t>＋</a:t>
            </a:r>
            <a:r>
              <a:rPr lang="en-US" altLang="zh-CN" dirty="0"/>
              <a:t>0</a:t>
            </a:r>
            <a:r>
              <a:rPr lang="zh-CN" altLang="en-US" dirty="0"/>
              <a:t>＝</a:t>
            </a:r>
            <a:r>
              <a:rPr lang="en-US" altLang="zh-CN" dirty="0"/>
              <a:t>x</a:t>
            </a:r>
            <a:r>
              <a:rPr lang="zh-CN" altLang="en-US" dirty="0"/>
              <a:t>，所以</a:t>
            </a:r>
            <a:r>
              <a:rPr lang="en-US" altLang="zh-CN" dirty="0"/>
              <a:t>0</a:t>
            </a:r>
            <a:r>
              <a:rPr lang="zh-CN" altLang="en-US" dirty="0"/>
              <a:t>是＋的</a:t>
            </a:r>
            <a:r>
              <a:rPr lang="zh-CN" altLang="en-US" dirty="0">
                <a:solidFill>
                  <a:srgbClr val="CC0066"/>
                </a:solidFill>
              </a:rPr>
              <a:t>右</a:t>
            </a:r>
            <a:r>
              <a:rPr lang="zh-CN" altLang="en-US" dirty="0"/>
              <a:t>幺元</a:t>
            </a:r>
          </a:p>
          <a:p>
            <a:pPr eaLnBrk="1" hangingPunct="1">
              <a:lnSpc>
                <a:spcPct val="105000"/>
              </a:lnSpc>
            </a:pPr>
            <a:r>
              <a:rPr lang="zh-CN" altLang="en-US" dirty="0">
                <a:solidFill>
                  <a:schemeClr val="accent1"/>
                </a:solidFill>
              </a:rPr>
              <a:t>关于</a:t>
            </a:r>
            <a:r>
              <a:rPr lang="en-US" altLang="zh-CN" dirty="0">
                <a:solidFill>
                  <a:schemeClr val="accent1"/>
                </a:solidFill>
              </a:rPr>
              <a:t>×</a:t>
            </a:r>
            <a:r>
              <a:rPr lang="zh-CN" altLang="en-US" dirty="0"/>
              <a:t>，对任意</a:t>
            </a:r>
            <a:r>
              <a:rPr lang="en-US" altLang="zh-CN" dirty="0" err="1"/>
              <a:t>x∈R</a:t>
            </a:r>
            <a:endParaRPr lang="en-US" altLang="zh-CN" dirty="0"/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由于</a:t>
            </a:r>
            <a:r>
              <a:rPr lang="en-US" altLang="zh-CN" dirty="0"/>
              <a:t>1×x</a:t>
            </a:r>
            <a:r>
              <a:rPr lang="zh-CN" altLang="en-US" dirty="0"/>
              <a:t>＝</a:t>
            </a:r>
            <a:r>
              <a:rPr lang="en-US" altLang="zh-CN" dirty="0"/>
              <a:t>x</a:t>
            </a:r>
            <a:r>
              <a:rPr lang="zh-CN" altLang="en-US" dirty="0"/>
              <a:t>，所以</a:t>
            </a:r>
            <a:r>
              <a:rPr lang="en-US" altLang="zh-CN" dirty="0"/>
              <a:t>1</a:t>
            </a:r>
            <a:r>
              <a:rPr lang="zh-CN" altLang="en-US" dirty="0"/>
              <a:t>是</a:t>
            </a:r>
            <a:r>
              <a:rPr lang="en-US" altLang="zh-CN" dirty="0"/>
              <a:t>×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FF"/>
                </a:solidFill>
              </a:rPr>
              <a:t>左</a:t>
            </a:r>
            <a:r>
              <a:rPr lang="zh-CN" altLang="en-US" dirty="0"/>
              <a:t>幺元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由于</a:t>
            </a:r>
            <a:r>
              <a:rPr lang="en-US" altLang="zh-CN" dirty="0"/>
              <a:t>x×1</a:t>
            </a:r>
            <a:r>
              <a:rPr lang="zh-CN" altLang="en-US" dirty="0"/>
              <a:t>＝</a:t>
            </a:r>
            <a:r>
              <a:rPr lang="en-US" altLang="zh-CN" dirty="0"/>
              <a:t>x</a:t>
            </a:r>
            <a:r>
              <a:rPr lang="zh-CN" altLang="en-US" dirty="0"/>
              <a:t>，所以</a:t>
            </a:r>
            <a:r>
              <a:rPr lang="en-US" altLang="zh-CN" dirty="0"/>
              <a:t>1</a:t>
            </a:r>
            <a:r>
              <a:rPr lang="zh-CN" altLang="en-US" dirty="0"/>
              <a:t>是</a:t>
            </a:r>
            <a:r>
              <a:rPr lang="en-US" altLang="zh-CN" dirty="0"/>
              <a:t>×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FF"/>
                </a:solidFill>
              </a:rPr>
              <a:t>右</a:t>
            </a:r>
            <a:r>
              <a:rPr lang="zh-CN" altLang="en-US" dirty="0"/>
              <a:t>幺元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8">
            <a:extLst>
              <a:ext uri="{FF2B5EF4-FFF2-40B4-BE49-F238E27FC236}">
                <a16:creationId xmlns:a16="http://schemas.microsoft.com/office/drawing/2014/main" id="{7EA42646-BB1C-BD90-AE33-DF58766795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5.2.1 </a:t>
            </a:r>
            <a:r>
              <a:rPr lang="zh-CN" altLang="en-US" sz="5400"/>
              <a:t>幺元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0EEBC956-0E69-9761-5FDC-D89F458B595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2017713"/>
            <a:ext cx="8532812" cy="4840287"/>
          </a:xfrm>
        </p:spPr>
        <p:txBody>
          <a:bodyPr/>
          <a:lstStyle/>
          <a:p>
            <a:pPr eaLnBrk="1" hangingPunct="1">
              <a:lnSpc>
                <a:spcPct val="105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例如</a:t>
            </a:r>
            <a:r>
              <a:rPr lang="zh-CN" altLang="en-US" dirty="0"/>
              <a:t>，代数系统</a:t>
            </a:r>
            <a:r>
              <a:rPr lang="en-US" altLang="zh-CN" dirty="0">
                <a:latin typeface="宋体" panose="02010600030101010101" pitchFamily="2" charset="-122"/>
              </a:rPr>
              <a:t>&lt;</a:t>
            </a:r>
            <a:r>
              <a:rPr lang="en-US" altLang="zh-CN" dirty="0"/>
              <a:t>P(A),∩,∪</a:t>
            </a:r>
            <a:r>
              <a:rPr lang="en-US" altLang="zh-CN" dirty="0">
                <a:latin typeface="宋体" panose="02010600030101010101" pitchFamily="2" charset="-122"/>
              </a:rPr>
              <a:t>&gt;</a:t>
            </a:r>
            <a:r>
              <a:rPr lang="zh-CN" altLang="en-US" dirty="0"/>
              <a:t>，其中</a:t>
            </a:r>
            <a:r>
              <a:rPr lang="en-US" altLang="zh-CN" dirty="0"/>
              <a:t>P(A)</a:t>
            </a:r>
            <a:r>
              <a:rPr lang="zh-CN" altLang="en-US" dirty="0"/>
              <a:t>是有限集合</a:t>
            </a:r>
            <a:r>
              <a:rPr lang="en-US" altLang="zh-CN" dirty="0"/>
              <a:t>A</a:t>
            </a:r>
            <a:r>
              <a:rPr lang="zh-CN" altLang="en-US" dirty="0"/>
              <a:t>的幂集，∩与∪是集合交与并运算。</a:t>
            </a:r>
          </a:p>
          <a:p>
            <a:pPr eaLnBrk="1" hangingPunct="1">
              <a:lnSpc>
                <a:spcPct val="105000"/>
              </a:lnSpc>
            </a:pPr>
            <a:r>
              <a:rPr lang="zh-CN" altLang="en-US" dirty="0">
                <a:solidFill>
                  <a:schemeClr val="accent1"/>
                </a:solidFill>
              </a:rPr>
              <a:t>关于∩</a:t>
            </a:r>
            <a:r>
              <a:rPr lang="zh-CN" altLang="en-US" dirty="0"/>
              <a:t>，对任意</a:t>
            </a:r>
            <a:r>
              <a:rPr lang="en-US" altLang="zh-CN" dirty="0" err="1"/>
              <a:t>x∈P</a:t>
            </a:r>
            <a:r>
              <a:rPr lang="en-US" altLang="zh-CN" dirty="0"/>
              <a:t>(A)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由于</a:t>
            </a:r>
            <a:r>
              <a:rPr lang="en-US" altLang="zh-CN" dirty="0" err="1"/>
              <a:t>A∩x</a:t>
            </a:r>
            <a:r>
              <a:rPr lang="zh-CN" altLang="en-US" dirty="0"/>
              <a:t>＝</a:t>
            </a:r>
            <a:r>
              <a:rPr lang="en-US" altLang="zh-CN" dirty="0"/>
              <a:t>x</a:t>
            </a:r>
            <a:r>
              <a:rPr lang="zh-CN" altLang="en-US" dirty="0"/>
              <a:t>，所以</a:t>
            </a:r>
            <a:r>
              <a:rPr lang="en-US" altLang="zh-CN" dirty="0"/>
              <a:t>A</a:t>
            </a:r>
            <a:r>
              <a:rPr lang="zh-CN" altLang="en-US" dirty="0"/>
              <a:t>是∩的</a:t>
            </a:r>
            <a:r>
              <a:rPr lang="zh-CN" altLang="en-US" dirty="0">
                <a:solidFill>
                  <a:srgbClr val="CC0066"/>
                </a:solidFill>
              </a:rPr>
              <a:t>左</a:t>
            </a:r>
            <a:r>
              <a:rPr lang="zh-CN" altLang="en-US" dirty="0"/>
              <a:t>幺元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由于</a:t>
            </a:r>
            <a:r>
              <a:rPr lang="en-US" altLang="zh-CN" dirty="0" err="1"/>
              <a:t>x∩A</a:t>
            </a:r>
            <a:r>
              <a:rPr lang="zh-CN" altLang="en-US" dirty="0"/>
              <a:t>＝</a:t>
            </a:r>
            <a:r>
              <a:rPr lang="en-US" altLang="zh-CN" dirty="0"/>
              <a:t>x</a:t>
            </a:r>
            <a:r>
              <a:rPr lang="zh-CN" altLang="en-US" dirty="0"/>
              <a:t>，所以</a:t>
            </a:r>
            <a:r>
              <a:rPr lang="en-US" altLang="zh-CN" dirty="0"/>
              <a:t>A</a:t>
            </a:r>
            <a:r>
              <a:rPr lang="zh-CN" altLang="en-US" dirty="0"/>
              <a:t>是∩的</a:t>
            </a:r>
            <a:r>
              <a:rPr lang="zh-CN" altLang="en-US" dirty="0">
                <a:solidFill>
                  <a:srgbClr val="CC0066"/>
                </a:solidFill>
              </a:rPr>
              <a:t>右</a:t>
            </a:r>
            <a:r>
              <a:rPr lang="zh-CN" altLang="en-US" dirty="0"/>
              <a:t>幺元 </a:t>
            </a:r>
          </a:p>
          <a:p>
            <a:pPr eaLnBrk="1" hangingPunct="1">
              <a:lnSpc>
                <a:spcPct val="105000"/>
              </a:lnSpc>
            </a:pPr>
            <a:r>
              <a:rPr lang="zh-CN" altLang="en-US" dirty="0">
                <a:solidFill>
                  <a:schemeClr val="accent1"/>
                </a:solidFill>
              </a:rPr>
              <a:t>关于∪</a:t>
            </a:r>
            <a:r>
              <a:rPr lang="zh-CN" altLang="en-US" dirty="0"/>
              <a:t>，对任意</a:t>
            </a:r>
            <a:r>
              <a:rPr lang="en-US" altLang="zh-CN" dirty="0" err="1"/>
              <a:t>x∈P</a:t>
            </a:r>
            <a:r>
              <a:rPr lang="en-US" altLang="zh-CN" dirty="0"/>
              <a:t>(A)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由于  ∪</a:t>
            </a:r>
            <a:r>
              <a:rPr lang="en-US" altLang="zh-CN" dirty="0"/>
              <a:t>x</a:t>
            </a:r>
            <a:r>
              <a:rPr lang="zh-CN" altLang="en-US" dirty="0"/>
              <a:t>＝</a:t>
            </a:r>
            <a:r>
              <a:rPr lang="en-US" altLang="zh-CN" dirty="0"/>
              <a:t>x</a:t>
            </a:r>
            <a:r>
              <a:rPr lang="zh-CN" altLang="en-US" dirty="0"/>
              <a:t>，所以  是∪的</a:t>
            </a:r>
            <a:r>
              <a:rPr lang="zh-CN" altLang="en-US" dirty="0">
                <a:solidFill>
                  <a:srgbClr val="CC0066"/>
                </a:solidFill>
              </a:rPr>
              <a:t>左</a:t>
            </a:r>
            <a:r>
              <a:rPr lang="zh-CN" altLang="en-US" dirty="0"/>
              <a:t>幺元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由于</a:t>
            </a:r>
            <a:r>
              <a:rPr lang="en-US" altLang="zh-CN" dirty="0"/>
              <a:t>x∪  </a:t>
            </a:r>
            <a:r>
              <a:rPr lang="zh-CN" altLang="en-US" dirty="0"/>
              <a:t>＝</a:t>
            </a:r>
            <a:r>
              <a:rPr lang="en-US" altLang="zh-CN" dirty="0"/>
              <a:t>x</a:t>
            </a:r>
            <a:r>
              <a:rPr lang="zh-CN" altLang="en-US" dirty="0"/>
              <a:t>，所以  是∪的</a:t>
            </a:r>
            <a:r>
              <a:rPr lang="zh-CN" altLang="en-US" dirty="0">
                <a:solidFill>
                  <a:srgbClr val="CC0066"/>
                </a:solidFill>
              </a:rPr>
              <a:t>右</a:t>
            </a:r>
            <a:r>
              <a:rPr lang="zh-CN" altLang="en-US" dirty="0"/>
              <a:t>幺元 </a:t>
            </a:r>
          </a:p>
        </p:txBody>
      </p:sp>
      <p:graphicFrame>
        <p:nvGraphicFramePr>
          <p:cNvPr id="8196" name="Object 10">
            <a:extLst>
              <a:ext uri="{FF2B5EF4-FFF2-40B4-BE49-F238E27FC236}">
                <a16:creationId xmlns:a16="http://schemas.microsoft.com/office/drawing/2014/main" id="{0AE9DE43-AA6C-5C61-47FA-34CE872417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14513" y="5643563"/>
          <a:ext cx="417512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814" imgH="177492" progId="Equation.DSMT4">
                  <p:embed/>
                </p:oleObj>
              </mc:Choice>
              <mc:Fallback>
                <p:oleObj name="Equation" r:id="rId2" imgW="164814" imgH="1774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4513" y="5643563"/>
                        <a:ext cx="417512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11">
            <a:extLst>
              <a:ext uri="{FF2B5EF4-FFF2-40B4-BE49-F238E27FC236}">
                <a16:creationId xmlns:a16="http://schemas.microsoft.com/office/drawing/2014/main" id="{907FDAA3-30AF-AFB3-B077-178A800646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3263" y="5643563"/>
          <a:ext cx="417512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814" imgH="177492" progId="Equation.DSMT4">
                  <p:embed/>
                </p:oleObj>
              </mc:Choice>
              <mc:Fallback>
                <p:oleObj name="Equation" r:id="rId4" imgW="164814" imgH="177492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3263" y="5643563"/>
                        <a:ext cx="417512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Object 12">
            <a:extLst>
              <a:ext uri="{FF2B5EF4-FFF2-40B4-BE49-F238E27FC236}">
                <a16:creationId xmlns:a16="http://schemas.microsoft.com/office/drawing/2014/main" id="{EE763FE6-6616-6E1F-6C25-2260057120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98713" y="6257925"/>
          <a:ext cx="417512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4814" imgH="177492" progId="Equation.DSMT4">
                  <p:embed/>
                </p:oleObj>
              </mc:Choice>
              <mc:Fallback>
                <p:oleObj name="Equation" r:id="rId5" imgW="164814" imgH="177492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8713" y="6257925"/>
                        <a:ext cx="417512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9" name="Object 13">
            <a:extLst>
              <a:ext uri="{FF2B5EF4-FFF2-40B4-BE49-F238E27FC236}">
                <a16:creationId xmlns:a16="http://schemas.microsoft.com/office/drawing/2014/main" id="{1DD68ED5-F30F-CF62-2922-F8400515C4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6242050"/>
          <a:ext cx="417512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14" imgH="177492" progId="Equation.DSMT4">
                  <p:embed/>
                </p:oleObj>
              </mc:Choice>
              <mc:Fallback>
                <p:oleObj name="Equation" r:id="rId6" imgW="164814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6242050"/>
                        <a:ext cx="417512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13B340A8-B89B-EBB0-C37F-43BCC5CB36F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836712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设代数系统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&lt;R,*&gt;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，其中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为实数集，且对任意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x,y∈R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,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定义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x*y=x+y-2xy,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则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*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运算的幺元为（    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1342777-3BD8-E2B4-AFAC-C9F1EB672A4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1D6144F-FC30-DEA3-9153-69379CD92D9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E2C1895-8AAE-4E1E-1508-50AEF7FDDB5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10131F3-28F3-099D-98F9-DA2F392FEC6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20AB2AEB-B1B6-4536-9ECF-A0EE7FC5B55B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2F40C8AC-E76D-F199-7508-D20EEDD8FF08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F5F8A67C-4601-4655-6DFB-F23F85EF254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1C966D61-2D7D-C6E6-4114-2A1AFD7EF052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2C7229F-24DD-E417-B2DC-0F086B7EC2B3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80C2AB33-726E-758A-43A7-ADAC5E4E1AF1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8" name="TitleBackground">
              <a:extLst>
                <a:ext uri="{FF2B5EF4-FFF2-40B4-BE49-F238E27FC236}">
                  <a16:creationId xmlns:a16="http://schemas.microsoft.com/office/drawing/2014/main" id="{A43C3A94-B41C-B26C-6DC0-0287DC4BDA1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ColorBlock">
              <a:extLst>
                <a:ext uri="{FF2B5EF4-FFF2-40B4-BE49-F238E27FC236}">
                  <a16:creationId xmlns:a16="http://schemas.microsoft.com/office/drawing/2014/main" id="{01D2BDA6-9C44-432C-537D-FDB5298214F6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TypeText">
              <a:extLst>
                <a:ext uri="{FF2B5EF4-FFF2-40B4-BE49-F238E27FC236}">
                  <a16:creationId xmlns:a16="http://schemas.microsoft.com/office/drawing/2014/main" id="{CE0A05D0-C541-DBC7-E7D4-3EF72E82E2B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1" name="TipText">
              <a:extLst>
                <a:ext uri="{FF2B5EF4-FFF2-40B4-BE49-F238E27FC236}">
                  <a16:creationId xmlns:a16="http://schemas.microsoft.com/office/drawing/2014/main" id="{5BACA6B3-8359-AD64-F498-5818608C1580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FA7C10F4-E31C-6E5F-56B9-5DB8350CC4D8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11404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5ED22DC-DE4E-9DF6-EAEB-AA42FD2D75E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P(S)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为集合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的幂集，则代数系统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&lt;P(S),U&gt;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的幺元为（       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B9E520-B54F-521F-2EC1-250F54B0785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074A5F9-AF45-5DD1-A92A-7C2E9945CCA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14AF072-8AE5-C7EB-69AB-2AB72D46AC13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或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CF2F5E2-FCCA-451F-CCFF-177B530B7EE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不存在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9A8CE70-EBE7-1044-4976-BA8A8DF9E1EC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D7F5873-737C-9D3B-AE87-DA62E663E6CF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83BF0D5-9BC2-9E0A-5B1E-B772983AD82B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B4C75A7-81D6-F790-B39C-3A4CD1A2C130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447A950-4F95-B896-94A0-E88716475877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aphicFrame>
        <p:nvGraphicFramePr>
          <p:cNvPr id="20" name="Object 11">
            <a:extLst>
              <a:ext uri="{FF2B5EF4-FFF2-40B4-BE49-F238E27FC236}">
                <a16:creationId xmlns:a16="http://schemas.microsoft.com/office/drawing/2014/main" id="{6665A48D-19CB-7322-0186-AD1D82C386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0670802"/>
              </p:ext>
            </p:extLst>
          </p:nvPr>
        </p:nvGraphicFramePr>
        <p:xfrm>
          <a:off x="1828800" y="3719514"/>
          <a:ext cx="417512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64814" imgH="177492" progId="Equation.DSMT4">
                  <p:embed/>
                </p:oleObj>
              </mc:Choice>
              <mc:Fallback>
                <p:oleObj name="Equation" r:id="rId19" imgW="164814" imgH="177492" progId="Equation.DSMT4">
                  <p:embed/>
                  <p:pic>
                    <p:nvPicPr>
                      <p:cNvPr id="8197" name="Object 11">
                        <a:extLst>
                          <a:ext uri="{FF2B5EF4-FFF2-40B4-BE49-F238E27FC236}">
                            <a16:creationId xmlns:a16="http://schemas.microsoft.com/office/drawing/2014/main" id="{907FDAA3-30AF-AFB3-B077-178A800646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719514"/>
                        <a:ext cx="417512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1">
            <a:extLst>
              <a:ext uri="{FF2B5EF4-FFF2-40B4-BE49-F238E27FC236}">
                <a16:creationId xmlns:a16="http://schemas.microsoft.com/office/drawing/2014/main" id="{ED6CFD13-787D-E37F-F059-A62C86CB44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6751218"/>
              </p:ext>
            </p:extLst>
          </p:nvPr>
        </p:nvGraphicFramePr>
        <p:xfrm>
          <a:off x="2460149" y="4597400"/>
          <a:ext cx="417512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64814" imgH="177492" progId="Equation.DSMT4">
                  <p:embed/>
                </p:oleObj>
              </mc:Choice>
              <mc:Fallback>
                <p:oleObj name="Equation" r:id="rId19" imgW="164814" imgH="177492" progId="Equation.DSMT4">
                  <p:embed/>
                  <p:pic>
                    <p:nvPicPr>
                      <p:cNvPr id="20" name="Object 11">
                        <a:extLst>
                          <a:ext uri="{FF2B5EF4-FFF2-40B4-BE49-F238E27FC236}">
                            <a16:creationId xmlns:a16="http://schemas.microsoft.com/office/drawing/2014/main" id="{6665A48D-19CB-7322-0186-AD1D82C386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0149" y="4597400"/>
                        <a:ext cx="417512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2FCB7AB3-A6C7-39FF-B4BD-3AC7432AE698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C207A916-6B7A-2120-EFEE-5A9B338123E9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A3C561C1-55AF-D9B6-07FB-E74C7FAFE14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BE7189FD-1CEA-E7F2-BE62-9720B805510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9BBE5AA0-2401-40D6-435B-636BA20FE63F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4E28467A-2BA6-647C-725F-EEF032F5921F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99129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4FECFD87-A8A1-E03B-80FE-91A83AE2E2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5.2.1 </a:t>
            </a:r>
            <a:r>
              <a:rPr lang="zh-CN" altLang="en-US" sz="5400"/>
              <a:t>零元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406B5C6B-C5D1-D424-004B-4595D8711E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844675"/>
            <a:ext cx="8820150" cy="4941888"/>
          </a:xfrm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en-US" dirty="0"/>
              <a:t>设代数系统</a:t>
            </a:r>
            <a:r>
              <a:rPr lang="en-US" altLang="zh-CN" dirty="0">
                <a:latin typeface="宋体" panose="02010600030101010101" pitchFamily="2" charset="-122"/>
              </a:rPr>
              <a:t>&lt;</a:t>
            </a:r>
            <a:r>
              <a:rPr lang="en-US" altLang="zh-CN" dirty="0"/>
              <a:t>A,</a:t>
            </a:r>
            <a:r>
              <a:rPr lang="en-US" altLang="en-US" dirty="0"/>
              <a:t>＊</a:t>
            </a:r>
            <a:r>
              <a:rPr lang="en-US" altLang="zh-CN" dirty="0">
                <a:latin typeface="宋体" panose="02010600030101010101" pitchFamily="2" charset="-122"/>
              </a:rPr>
              <a:t>&gt;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en-US" dirty="0"/>
              <a:t> ＊</a:t>
            </a:r>
            <a:r>
              <a:rPr lang="zh-CN" altLang="en-US" dirty="0">
                <a:latin typeface="宋体" panose="02010600030101010101" pitchFamily="2" charset="-122"/>
              </a:rPr>
              <a:t>运算的</a:t>
            </a:r>
            <a:endParaRPr lang="zh-CN" altLang="en-US" dirty="0"/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</a:t>
            </a:r>
            <a:r>
              <a:rPr lang="zh-CN" altLang="en-US" b="1" dirty="0">
                <a:solidFill>
                  <a:srgbClr val="CC0066"/>
                </a:solidFill>
              </a:rPr>
              <a:t>左零元</a:t>
            </a:r>
            <a:r>
              <a:rPr lang="en-US" altLang="zh-CN" dirty="0"/>
              <a:t>   </a:t>
            </a:r>
            <a:r>
              <a:rPr lang="zh-CN" altLang="en-US" dirty="0"/>
              <a:t>若</a:t>
            </a:r>
            <a:r>
              <a:rPr lang="zh-CN" altLang="en-US" dirty="0">
                <a:sym typeface="Symbol" panose="05050102010706020507" pitchFamily="18" charset="2"/>
              </a:rPr>
              <a:t></a:t>
            </a:r>
            <a:r>
              <a:rPr lang="en-US" altLang="zh-CN" dirty="0" err="1">
                <a:solidFill>
                  <a:schemeClr val="hlink"/>
                </a:solidFill>
              </a:rPr>
              <a:t>o</a:t>
            </a:r>
            <a:r>
              <a:rPr lang="en-US" altLang="zh-CN" baseline="-25000" dirty="0" err="1">
                <a:solidFill>
                  <a:schemeClr val="hlink"/>
                </a:solidFill>
              </a:rPr>
              <a:t>l</a:t>
            </a:r>
            <a:r>
              <a:rPr lang="en-US" altLang="zh-CN" dirty="0" err="1"/>
              <a:t>∈A</a:t>
            </a:r>
            <a:r>
              <a:rPr lang="zh-CN" altLang="en-US" dirty="0"/>
              <a:t>对</a:t>
            </a:r>
            <a:r>
              <a:rPr lang="zh-CN" altLang="en-US" dirty="0">
                <a:solidFill>
                  <a:srgbClr val="FF00FF"/>
                </a:solidFill>
                <a:sym typeface="Symbol" panose="05050102010706020507" pitchFamily="18" charset="2"/>
              </a:rPr>
              <a:t></a:t>
            </a:r>
            <a:r>
              <a:rPr lang="en-US" altLang="zh-CN" dirty="0" err="1"/>
              <a:t>x∈A</a:t>
            </a:r>
            <a:r>
              <a:rPr lang="zh-CN" altLang="en-US" dirty="0"/>
              <a:t>有</a:t>
            </a:r>
            <a:r>
              <a:rPr lang="en-US" altLang="zh-CN" dirty="0" err="1">
                <a:solidFill>
                  <a:schemeClr val="hlink"/>
                </a:solidFill>
              </a:rPr>
              <a:t>o</a:t>
            </a:r>
            <a:r>
              <a:rPr lang="en-US" altLang="zh-CN" baseline="-25000" dirty="0" err="1">
                <a:solidFill>
                  <a:schemeClr val="hlink"/>
                </a:solidFill>
              </a:rPr>
              <a:t>l</a:t>
            </a:r>
            <a:r>
              <a:rPr lang="en-US" altLang="en-US" dirty="0" err="1"/>
              <a:t>＊</a:t>
            </a:r>
            <a:r>
              <a:rPr lang="en-US" altLang="zh-CN" dirty="0" err="1"/>
              <a:t>x</a:t>
            </a:r>
            <a:r>
              <a:rPr lang="zh-CN" altLang="en-US" dirty="0"/>
              <a:t>＝</a:t>
            </a:r>
            <a:r>
              <a:rPr lang="en-US" altLang="zh-CN" dirty="0" err="1">
                <a:solidFill>
                  <a:schemeClr val="hlink"/>
                </a:solidFill>
              </a:rPr>
              <a:t>o</a:t>
            </a:r>
            <a:r>
              <a:rPr lang="en-US" altLang="zh-CN" baseline="-25000" dirty="0" err="1">
                <a:solidFill>
                  <a:schemeClr val="hlink"/>
                </a:solidFill>
              </a:rPr>
              <a:t>l</a:t>
            </a:r>
            <a:r>
              <a:rPr lang="en-US" altLang="zh-CN" dirty="0"/>
              <a:t> 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b="1" dirty="0">
                <a:solidFill>
                  <a:schemeClr val="accent1"/>
                </a:solidFill>
              </a:rPr>
              <a:t>右零元</a:t>
            </a:r>
            <a:r>
              <a:rPr lang="en-US" altLang="zh-CN" dirty="0"/>
              <a:t>   </a:t>
            </a:r>
            <a:r>
              <a:rPr lang="zh-CN" altLang="en-US" dirty="0"/>
              <a:t>若</a:t>
            </a:r>
            <a:r>
              <a:rPr lang="zh-CN" altLang="en-US" dirty="0">
                <a:sym typeface="Symbol" panose="05050102010706020507" pitchFamily="18" charset="2"/>
              </a:rPr>
              <a:t></a:t>
            </a:r>
            <a:r>
              <a:rPr lang="en-US" altLang="zh-CN" dirty="0" err="1">
                <a:solidFill>
                  <a:schemeClr val="hlink"/>
                </a:solidFill>
              </a:rPr>
              <a:t>o</a:t>
            </a:r>
            <a:r>
              <a:rPr lang="en-US" altLang="zh-CN" baseline="-25000" dirty="0" err="1">
                <a:solidFill>
                  <a:schemeClr val="hlink"/>
                </a:solidFill>
              </a:rPr>
              <a:t>r</a:t>
            </a:r>
            <a:r>
              <a:rPr lang="en-US" altLang="zh-CN" dirty="0" err="1"/>
              <a:t>∈A</a:t>
            </a:r>
            <a:r>
              <a:rPr lang="zh-CN" altLang="en-US" dirty="0"/>
              <a:t>对</a:t>
            </a:r>
            <a:r>
              <a:rPr lang="zh-CN" altLang="en-US" dirty="0">
                <a:solidFill>
                  <a:srgbClr val="FF00FF"/>
                </a:solidFill>
                <a:sym typeface="Symbol" panose="05050102010706020507" pitchFamily="18" charset="2"/>
              </a:rPr>
              <a:t></a:t>
            </a:r>
            <a:r>
              <a:rPr lang="en-US" altLang="zh-CN" dirty="0" err="1"/>
              <a:t>x∈A</a:t>
            </a:r>
            <a:r>
              <a:rPr lang="zh-CN" altLang="en-US" dirty="0"/>
              <a:t>有</a:t>
            </a:r>
            <a:r>
              <a:rPr lang="en-US" altLang="zh-CN" dirty="0" err="1"/>
              <a:t>x</a:t>
            </a:r>
            <a:r>
              <a:rPr lang="en-US" altLang="en-US" dirty="0" err="1"/>
              <a:t>＊</a:t>
            </a:r>
            <a:r>
              <a:rPr lang="en-US" altLang="zh-CN" dirty="0" err="1">
                <a:solidFill>
                  <a:schemeClr val="hlink"/>
                </a:solidFill>
              </a:rPr>
              <a:t>o</a:t>
            </a:r>
            <a:r>
              <a:rPr lang="en-US" altLang="zh-CN" baseline="-25000" dirty="0" err="1">
                <a:solidFill>
                  <a:schemeClr val="hlink"/>
                </a:solidFill>
              </a:rPr>
              <a:t>r</a:t>
            </a:r>
            <a:r>
              <a:rPr lang="zh-CN" altLang="en-US" dirty="0"/>
              <a:t>＝</a:t>
            </a:r>
            <a:r>
              <a:rPr lang="en-US" altLang="zh-CN" dirty="0">
                <a:solidFill>
                  <a:schemeClr val="hlink"/>
                </a:solidFill>
              </a:rPr>
              <a:t>o</a:t>
            </a:r>
            <a:r>
              <a:rPr lang="en-US" altLang="zh-CN" baseline="-25000" dirty="0">
                <a:solidFill>
                  <a:schemeClr val="hlink"/>
                </a:solidFill>
              </a:rPr>
              <a:t>r</a:t>
            </a:r>
            <a:endParaRPr lang="en-US" altLang="zh-CN" dirty="0"/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b="1" dirty="0">
                <a:solidFill>
                  <a:srgbClr val="FF00FF"/>
                </a:solidFill>
              </a:rPr>
              <a:t>零元</a:t>
            </a:r>
            <a:r>
              <a:rPr lang="en-US" altLang="zh-CN" dirty="0"/>
              <a:t>      </a:t>
            </a:r>
            <a:r>
              <a:rPr lang="zh-CN" altLang="en-US" dirty="0"/>
              <a:t>若</a:t>
            </a:r>
            <a:r>
              <a:rPr lang="zh-CN" altLang="en-US" dirty="0">
                <a:sym typeface="Symbol" panose="05050102010706020507" pitchFamily="18" charset="2"/>
              </a:rPr>
              <a:t></a:t>
            </a:r>
            <a:r>
              <a:rPr lang="en-US" altLang="zh-CN" dirty="0" err="1">
                <a:solidFill>
                  <a:schemeClr val="hlink"/>
                </a:solidFill>
              </a:rPr>
              <a:t>o</a:t>
            </a:r>
            <a:r>
              <a:rPr lang="en-US" altLang="zh-CN" dirty="0" err="1"/>
              <a:t>∈A</a:t>
            </a:r>
            <a:r>
              <a:rPr lang="zh-CN" altLang="en-US" dirty="0"/>
              <a:t>对</a:t>
            </a:r>
            <a:r>
              <a:rPr lang="zh-CN" altLang="en-US" dirty="0">
                <a:solidFill>
                  <a:srgbClr val="FF00FF"/>
                </a:solidFill>
                <a:sym typeface="Symbol" panose="05050102010706020507" pitchFamily="18" charset="2"/>
              </a:rPr>
              <a:t></a:t>
            </a:r>
            <a:r>
              <a:rPr lang="en-US" altLang="zh-CN" dirty="0" err="1"/>
              <a:t>x∈A</a:t>
            </a:r>
            <a:r>
              <a:rPr lang="zh-CN" altLang="en-US" dirty="0"/>
              <a:t>有</a:t>
            </a:r>
            <a:r>
              <a:rPr lang="en-US" altLang="zh-CN" dirty="0" err="1">
                <a:solidFill>
                  <a:schemeClr val="hlink"/>
                </a:solidFill>
              </a:rPr>
              <a:t>o</a:t>
            </a:r>
            <a:r>
              <a:rPr lang="en-US" altLang="en-US" dirty="0" err="1"/>
              <a:t>＊</a:t>
            </a:r>
            <a:r>
              <a:rPr lang="en-US" altLang="zh-CN" dirty="0" err="1"/>
              <a:t>x</a:t>
            </a:r>
            <a:r>
              <a:rPr lang="zh-CN" altLang="en-US" dirty="0"/>
              <a:t>＝</a:t>
            </a:r>
            <a:r>
              <a:rPr lang="en-US" altLang="zh-CN" dirty="0">
                <a:solidFill>
                  <a:schemeClr val="hlink"/>
                </a:solidFill>
              </a:rPr>
              <a:t>o</a:t>
            </a:r>
            <a:r>
              <a:rPr lang="zh-CN" altLang="en-US" dirty="0"/>
              <a:t>＝</a:t>
            </a:r>
            <a:r>
              <a:rPr lang="en-US" altLang="zh-CN" dirty="0" err="1"/>
              <a:t>x</a:t>
            </a:r>
            <a:r>
              <a:rPr lang="en-US" altLang="en-US" dirty="0" err="1"/>
              <a:t>＊</a:t>
            </a:r>
            <a:r>
              <a:rPr lang="en-US" altLang="zh-CN" dirty="0" err="1">
                <a:solidFill>
                  <a:schemeClr val="hlink"/>
                </a:solidFill>
              </a:rPr>
              <a:t>o</a:t>
            </a:r>
            <a:endParaRPr lang="en-US" altLang="zh-CN" dirty="0">
              <a:solidFill>
                <a:schemeClr val="hlink"/>
              </a:solidFill>
            </a:endParaRPr>
          </a:p>
        </p:txBody>
      </p:sp>
      <p:sp>
        <p:nvSpPr>
          <p:cNvPr id="2" name="左大括号 1">
            <a:extLst>
              <a:ext uri="{FF2B5EF4-FFF2-40B4-BE49-F238E27FC236}">
                <a16:creationId xmlns:a16="http://schemas.microsoft.com/office/drawing/2014/main" id="{F0AB618D-FC1C-0F99-2406-CDC64E0CE64C}"/>
              </a:ext>
            </a:extLst>
          </p:cNvPr>
          <p:cNvSpPr/>
          <p:nvPr/>
        </p:nvSpPr>
        <p:spPr>
          <a:xfrm>
            <a:off x="684213" y="3644900"/>
            <a:ext cx="155575" cy="2138363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3289243-6E90-12FF-9070-9628F706FA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5.2.2 </a:t>
            </a:r>
            <a:r>
              <a:rPr lang="zh-CN" altLang="en-US" sz="5400"/>
              <a:t>零元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37C89AB7-98C3-64EC-E0AF-0D301257AF6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defTabSz="901700" eaLnBrk="1" hangingPunct="1">
              <a:lnSpc>
                <a:spcPct val="150000"/>
              </a:lnSpc>
              <a:tabLst>
                <a:tab pos="6184900" algn="l"/>
              </a:tabLst>
            </a:pPr>
            <a:r>
              <a:rPr lang="zh-CN" altLang="en-US"/>
              <a:t>例如，设</a:t>
            </a:r>
            <a:r>
              <a:rPr lang="en-US" altLang="zh-CN"/>
              <a:t>A</a:t>
            </a:r>
            <a:r>
              <a:rPr lang="zh-CN" altLang="en-US"/>
              <a:t>＝</a:t>
            </a:r>
            <a:r>
              <a:rPr lang="en-US" altLang="zh-CN"/>
              <a:t>{1,2,3,4}</a:t>
            </a:r>
            <a:r>
              <a:rPr lang="zh-CN" altLang="en-US"/>
              <a:t>，</a:t>
            </a:r>
            <a:r>
              <a:rPr lang="en-US" altLang="zh-CN"/>
              <a:t>A</a:t>
            </a:r>
            <a:r>
              <a:rPr lang="zh-CN" altLang="en-US"/>
              <a:t>上的二元运算</a:t>
            </a:r>
            <a:r>
              <a:rPr lang="en-US" altLang="zh-CN"/>
              <a:t>﹡</a:t>
            </a:r>
            <a:r>
              <a:rPr lang="zh-CN" altLang="en-US"/>
              <a:t>与△的</a:t>
            </a:r>
            <a:r>
              <a:rPr lang="zh-CN" altLang="en-US">
                <a:solidFill>
                  <a:schemeClr val="hlink"/>
                </a:solidFill>
              </a:rPr>
              <a:t>运算表</a:t>
            </a:r>
            <a:r>
              <a:rPr lang="zh-CN" altLang="en-US"/>
              <a:t>如下：</a:t>
            </a:r>
          </a:p>
          <a:p>
            <a:pPr defTabSz="901700" eaLnBrk="1" hangingPunct="1">
              <a:tabLst>
                <a:tab pos="6184900" algn="l"/>
              </a:tabLst>
            </a:pPr>
            <a:endParaRPr lang="zh-CN" altLang="en-US" sz="2800"/>
          </a:p>
          <a:p>
            <a:pPr defTabSz="901700" eaLnBrk="1" hangingPunct="1">
              <a:tabLst>
                <a:tab pos="6184900" algn="l"/>
              </a:tabLst>
            </a:pPr>
            <a:endParaRPr lang="en-US" altLang="zh-CN" sz="2800"/>
          </a:p>
        </p:txBody>
      </p:sp>
      <p:graphicFrame>
        <p:nvGraphicFramePr>
          <p:cNvPr id="143364" name="Group 4">
            <a:extLst>
              <a:ext uri="{FF2B5EF4-FFF2-40B4-BE49-F238E27FC236}">
                <a16:creationId xmlns:a16="http://schemas.microsoft.com/office/drawing/2014/main" id="{34205132-4E75-1B8D-ADB4-C82FD1187A99}"/>
              </a:ext>
            </a:extLst>
          </p:cNvPr>
          <p:cNvGraphicFramePr>
            <a:graphicFrameLocks noGrp="1"/>
          </p:cNvGraphicFramePr>
          <p:nvPr>
            <p:ph sz="quarter" idx="3"/>
          </p:nvPr>
        </p:nvGraphicFramePr>
        <p:xfrm>
          <a:off x="1116013" y="3544888"/>
          <a:ext cx="3311525" cy="2914650"/>
        </p:xfrm>
        <a:graphic>
          <a:graphicData uri="http://schemas.openxmlformats.org/drawingml/2006/table">
            <a:tbl>
              <a:tblPr/>
              <a:tblGrid>
                <a:gridCol w="566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4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2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﹡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1   2   3   4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53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4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1   3   2   4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2   2   2   2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3   3   3   3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1   2   3   4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3379" name="Group 19">
            <a:extLst>
              <a:ext uri="{FF2B5EF4-FFF2-40B4-BE49-F238E27FC236}">
                <a16:creationId xmlns:a16="http://schemas.microsoft.com/office/drawing/2014/main" id="{A96805FF-FA45-D1D1-6A5D-E87780021153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5145088" y="3544888"/>
          <a:ext cx="3243262" cy="2914650"/>
        </p:xfrm>
        <a:graphic>
          <a:graphicData uri="http://schemas.openxmlformats.org/drawingml/2006/table">
            <a:tbl>
              <a:tblPr/>
              <a:tblGrid>
                <a:gridCol w="554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2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△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1   2   3   4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53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4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2   1  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1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  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3   3   3   3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4   4  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4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A7DA0E4-2D76-CC94-65F5-1A3EF7E465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5.2.2 </a:t>
            </a:r>
            <a:r>
              <a:rPr lang="zh-CN" altLang="en-US" sz="5400"/>
              <a:t>零元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81E2E27B-DC4E-926E-AD88-79BDEA8ED8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180000"/>
              </a:lnSpc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5.2.2</a:t>
            </a:r>
            <a:r>
              <a:rPr lang="zh-CN" altLang="en-US"/>
              <a:t>设代数系统</a:t>
            </a:r>
            <a:r>
              <a:rPr lang="en-US" altLang="zh-CN">
                <a:latin typeface="宋体" panose="02010600030101010101" pitchFamily="2" charset="-122"/>
              </a:rPr>
              <a:t>&lt;</a:t>
            </a:r>
            <a:r>
              <a:rPr lang="en-US" altLang="zh-CN"/>
              <a:t>A,</a:t>
            </a:r>
            <a:r>
              <a:rPr lang="en-US" altLang="en-US"/>
              <a:t>＊</a:t>
            </a:r>
            <a:r>
              <a:rPr lang="en-US" altLang="zh-CN">
                <a:latin typeface="宋体" panose="02010600030101010101" pitchFamily="2" charset="-122"/>
              </a:rPr>
              <a:t>&gt;</a:t>
            </a:r>
            <a:r>
              <a:rPr lang="zh-CN" altLang="en-US"/>
              <a:t>，若</a:t>
            </a:r>
            <a:r>
              <a:rPr lang="en-US" altLang="zh-CN"/>
              <a:t>A</a:t>
            </a:r>
            <a:r>
              <a:rPr lang="zh-CN" altLang="en-US"/>
              <a:t>中有关于运算</a:t>
            </a:r>
            <a:r>
              <a:rPr lang="en-US" altLang="en-US"/>
              <a:t>＊</a:t>
            </a:r>
            <a:r>
              <a:rPr lang="zh-CN" altLang="en-US"/>
              <a:t>的左零元</a:t>
            </a:r>
            <a:r>
              <a:rPr lang="en-US" altLang="zh-CN" sz="2800"/>
              <a:t>O</a:t>
            </a:r>
            <a:r>
              <a:rPr lang="en-US" altLang="zh-CN" sz="2800" baseline="-25000"/>
              <a:t>l</a:t>
            </a:r>
            <a:r>
              <a:rPr lang="zh-CN" altLang="en-US"/>
              <a:t>与右零元</a:t>
            </a:r>
            <a:r>
              <a:rPr lang="en-US" altLang="zh-CN" sz="2800"/>
              <a:t>O</a:t>
            </a:r>
            <a:r>
              <a:rPr lang="en-US" altLang="zh-CN" sz="2800" baseline="-25000"/>
              <a:t>r</a:t>
            </a:r>
            <a:r>
              <a:rPr lang="zh-CN" altLang="en-US"/>
              <a:t>，则</a:t>
            </a:r>
            <a:r>
              <a:rPr lang="en-US" altLang="zh-CN" sz="2800"/>
              <a:t>O</a:t>
            </a:r>
            <a:r>
              <a:rPr lang="en-US" altLang="zh-CN" sz="2800" baseline="-25000"/>
              <a:t>l</a:t>
            </a:r>
            <a:r>
              <a:rPr lang="zh-CN" altLang="en-US"/>
              <a:t>＝</a:t>
            </a:r>
            <a:r>
              <a:rPr lang="en-US" altLang="zh-CN" sz="2800"/>
              <a:t>O</a:t>
            </a:r>
            <a:r>
              <a:rPr lang="en-US" altLang="zh-CN" sz="2800" baseline="-25000"/>
              <a:t>r</a:t>
            </a:r>
            <a:r>
              <a:rPr lang="zh-CN" altLang="en-US"/>
              <a:t>＝</a:t>
            </a:r>
            <a:r>
              <a:rPr lang="en-US" altLang="zh-CN"/>
              <a:t>O</a:t>
            </a:r>
            <a:r>
              <a:rPr lang="zh-CN" altLang="en-US"/>
              <a:t>，且</a:t>
            </a:r>
            <a:r>
              <a:rPr lang="en-US" altLang="zh-CN"/>
              <a:t>A</a:t>
            </a:r>
            <a:r>
              <a:rPr lang="zh-CN" altLang="en-US"/>
              <a:t>中零元唯一。</a:t>
            </a:r>
            <a:endParaRPr lang="zh-CN" altLang="en-US" b="1"/>
          </a:p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hlink"/>
                </a:solidFill>
              </a:rPr>
              <a:t>   证明</a:t>
            </a:r>
            <a:r>
              <a:rPr lang="zh-CN" altLang="en-US"/>
              <a:t>        </a:t>
            </a:r>
            <a:r>
              <a:rPr lang="en-US" altLang="zh-CN" sz="2800"/>
              <a:t>O</a:t>
            </a:r>
            <a:r>
              <a:rPr lang="en-US" altLang="zh-CN" sz="2800" baseline="-25000"/>
              <a:t>l</a:t>
            </a:r>
            <a:r>
              <a:rPr lang="zh-CN" altLang="en-US"/>
              <a:t>＝</a:t>
            </a:r>
            <a:r>
              <a:rPr lang="en-US" altLang="zh-CN" sz="2800"/>
              <a:t>O</a:t>
            </a:r>
            <a:r>
              <a:rPr lang="en-US" altLang="zh-CN" sz="2800" baseline="-25000"/>
              <a:t>l</a:t>
            </a:r>
            <a:r>
              <a:rPr lang="en-US" altLang="en-US"/>
              <a:t>＊</a:t>
            </a:r>
            <a:r>
              <a:rPr lang="en-US" altLang="zh-CN" sz="2800">
                <a:solidFill>
                  <a:srgbClr val="CC0066"/>
                </a:solidFill>
              </a:rPr>
              <a:t>O</a:t>
            </a:r>
            <a:r>
              <a:rPr lang="en-US" altLang="zh-CN" sz="2800" baseline="-25000">
                <a:solidFill>
                  <a:srgbClr val="CC0066"/>
                </a:solidFill>
              </a:rPr>
              <a:t>r</a:t>
            </a:r>
            <a:r>
              <a:rPr lang="zh-CN" altLang="en-US"/>
              <a:t>＝</a:t>
            </a:r>
            <a:r>
              <a:rPr lang="en-US" altLang="zh-CN" sz="2800">
                <a:solidFill>
                  <a:srgbClr val="CC0066"/>
                </a:solidFill>
              </a:rPr>
              <a:t>O</a:t>
            </a:r>
            <a:r>
              <a:rPr lang="en-US" altLang="zh-CN" sz="2800" baseline="-25000">
                <a:solidFill>
                  <a:srgbClr val="CC0066"/>
                </a:solidFill>
              </a:rPr>
              <a:t>r</a:t>
            </a:r>
            <a:endParaRPr lang="en-US" altLang="zh-CN">
              <a:solidFill>
                <a:srgbClr val="CC0066"/>
              </a:solidFill>
            </a:endParaRPr>
          </a:p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en-US" altLang="zh-CN"/>
              <a:t>   </a:t>
            </a:r>
            <a:r>
              <a:rPr lang="zh-CN" altLang="en-US"/>
              <a:t>假设</a:t>
            </a:r>
            <a:r>
              <a:rPr lang="en-US" altLang="zh-CN"/>
              <a:t>A</a:t>
            </a:r>
            <a:r>
              <a:rPr lang="zh-CN" altLang="en-US"/>
              <a:t>中有两个零元</a:t>
            </a:r>
            <a:r>
              <a:rPr lang="en-US" altLang="zh-CN"/>
              <a:t>O</a:t>
            </a:r>
            <a:r>
              <a:rPr lang="zh-CN" altLang="en-US"/>
              <a:t>与</a:t>
            </a:r>
            <a:r>
              <a:rPr lang="en-US" altLang="zh-CN"/>
              <a:t>d</a:t>
            </a:r>
            <a:r>
              <a:rPr lang="zh-CN" altLang="en-US"/>
              <a:t>，则</a:t>
            </a:r>
            <a:r>
              <a:rPr lang="en-US" altLang="zh-CN"/>
              <a:t>d</a:t>
            </a:r>
            <a:r>
              <a:rPr lang="zh-CN" altLang="en-US"/>
              <a:t>＝</a:t>
            </a:r>
            <a:r>
              <a:rPr lang="en-US" altLang="zh-CN"/>
              <a:t>d</a:t>
            </a:r>
            <a:r>
              <a:rPr lang="en-US" altLang="en-US"/>
              <a:t>＊</a:t>
            </a:r>
            <a:r>
              <a:rPr lang="en-US" altLang="zh-CN">
                <a:solidFill>
                  <a:srgbClr val="FF00FF"/>
                </a:solidFill>
              </a:rPr>
              <a:t>O</a:t>
            </a:r>
            <a:r>
              <a:rPr lang="zh-CN" altLang="en-US"/>
              <a:t>＝</a:t>
            </a:r>
            <a:r>
              <a:rPr lang="en-US" altLang="zh-CN">
                <a:solidFill>
                  <a:srgbClr val="FF00FF"/>
                </a:solidFill>
              </a:rPr>
              <a:t>O</a:t>
            </a:r>
            <a:r>
              <a:rPr lang="en-US" altLang="zh-CN" sz="2400"/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2C83535-D8D7-8016-43CA-0AD580D16F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5.2.2 </a:t>
            </a:r>
            <a:r>
              <a:rPr lang="zh-CN" altLang="en-US" sz="5400"/>
              <a:t>零元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4572A97B-8550-CDE4-41CE-F5BC1EF77F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16113"/>
            <a:ext cx="8353425" cy="4941887"/>
          </a:xfrm>
        </p:spPr>
        <p:txBody>
          <a:bodyPr/>
          <a:lstStyle/>
          <a:p>
            <a:pPr eaLnBrk="1" hangingPunct="1">
              <a:lnSpc>
                <a:spcPct val="105000"/>
              </a:lnSpc>
            </a:pPr>
            <a:r>
              <a:rPr lang="zh-CN" altLang="en-US">
                <a:solidFill>
                  <a:schemeClr val="hlink"/>
                </a:solidFill>
              </a:rPr>
              <a:t>例如</a:t>
            </a:r>
            <a:r>
              <a:rPr lang="en-US" altLang="zh-CN">
                <a:latin typeface="宋体" panose="02010600030101010101" pitchFamily="2" charset="-122"/>
              </a:rPr>
              <a:t>,</a:t>
            </a:r>
            <a:r>
              <a:rPr lang="zh-CN" altLang="en-US">
                <a:latin typeface="宋体" panose="02010600030101010101" pitchFamily="2" charset="-122"/>
              </a:rPr>
              <a:t>设</a:t>
            </a:r>
            <a:r>
              <a:rPr lang="zh-CN" altLang="en-US"/>
              <a:t>代数系统</a:t>
            </a:r>
            <a:r>
              <a:rPr lang="en-US" altLang="zh-CN">
                <a:latin typeface="宋体" panose="02010600030101010101" pitchFamily="2" charset="-122"/>
              </a:rPr>
              <a:t>&lt;</a:t>
            </a:r>
            <a:r>
              <a:rPr lang="en-US" altLang="zh-CN"/>
              <a:t>R,</a:t>
            </a:r>
            <a:r>
              <a:rPr lang="zh-CN" altLang="en-US"/>
              <a:t>＋</a:t>
            </a:r>
            <a:r>
              <a:rPr lang="en-US" altLang="zh-CN"/>
              <a:t>,×</a:t>
            </a:r>
            <a:r>
              <a:rPr lang="en-US" altLang="zh-CN">
                <a:latin typeface="宋体" panose="02010600030101010101" pitchFamily="2" charset="-122"/>
              </a:rPr>
              <a:t>&gt;,</a:t>
            </a:r>
            <a:r>
              <a:rPr lang="zh-CN" altLang="en-US"/>
              <a:t>其中</a:t>
            </a:r>
            <a:r>
              <a:rPr lang="en-US" altLang="zh-CN"/>
              <a:t>R</a:t>
            </a:r>
            <a:r>
              <a:rPr lang="zh-CN" altLang="en-US"/>
              <a:t>是实数集</a:t>
            </a:r>
            <a:r>
              <a:rPr lang="en-US" altLang="zh-CN">
                <a:latin typeface="宋体" panose="02010600030101010101" pitchFamily="2" charset="-122"/>
              </a:rPr>
              <a:t>,</a:t>
            </a:r>
            <a:r>
              <a:rPr lang="zh-CN" altLang="en-US"/>
              <a:t>＋与</a:t>
            </a:r>
            <a:r>
              <a:rPr lang="en-US" altLang="zh-CN"/>
              <a:t>×</a:t>
            </a:r>
            <a:r>
              <a:rPr lang="zh-CN" altLang="en-US"/>
              <a:t>是实数加与乘运算。</a:t>
            </a:r>
          </a:p>
          <a:p>
            <a:pPr eaLnBrk="1" hangingPunct="1">
              <a:lnSpc>
                <a:spcPct val="105000"/>
              </a:lnSpc>
            </a:pPr>
            <a:r>
              <a:rPr lang="zh-CN" altLang="en-US">
                <a:solidFill>
                  <a:schemeClr val="accent1"/>
                </a:solidFill>
              </a:rPr>
              <a:t>关于＋</a:t>
            </a:r>
            <a:r>
              <a:rPr lang="zh-CN" altLang="en-US"/>
              <a:t>，对任意</a:t>
            </a:r>
            <a:r>
              <a:rPr lang="en-US" altLang="zh-CN"/>
              <a:t>x∈R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/>
              <a:t>   </a:t>
            </a:r>
            <a:r>
              <a:rPr lang="zh-CN" altLang="en-US"/>
              <a:t>  由于 ？＋</a:t>
            </a:r>
            <a:r>
              <a:rPr lang="en-US" altLang="zh-CN"/>
              <a:t>x</a:t>
            </a:r>
            <a:r>
              <a:rPr lang="zh-CN" altLang="en-US"/>
              <a:t>＝？， 所以＋没</a:t>
            </a:r>
            <a:r>
              <a:rPr lang="zh-CN" altLang="en-US">
                <a:solidFill>
                  <a:srgbClr val="CC0066"/>
                </a:solidFill>
              </a:rPr>
              <a:t>左</a:t>
            </a:r>
            <a:r>
              <a:rPr lang="zh-CN" altLang="en-US"/>
              <a:t>零元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/>
              <a:t>     由于 </a:t>
            </a:r>
            <a:r>
              <a:rPr lang="en-US" altLang="zh-CN"/>
              <a:t>x</a:t>
            </a:r>
            <a:r>
              <a:rPr lang="zh-CN" altLang="en-US"/>
              <a:t>＋？＝？， 所以＋没</a:t>
            </a:r>
            <a:r>
              <a:rPr lang="zh-CN" altLang="en-US">
                <a:solidFill>
                  <a:srgbClr val="CC0066"/>
                </a:solidFill>
              </a:rPr>
              <a:t>右</a:t>
            </a:r>
            <a:r>
              <a:rPr lang="zh-CN" altLang="en-US"/>
              <a:t>零元</a:t>
            </a:r>
          </a:p>
          <a:p>
            <a:pPr eaLnBrk="1" hangingPunct="1">
              <a:lnSpc>
                <a:spcPct val="105000"/>
              </a:lnSpc>
            </a:pPr>
            <a:r>
              <a:rPr lang="zh-CN" altLang="en-US">
                <a:solidFill>
                  <a:schemeClr val="accent1"/>
                </a:solidFill>
              </a:rPr>
              <a:t>关于</a:t>
            </a:r>
            <a:r>
              <a:rPr lang="en-US" altLang="zh-CN">
                <a:solidFill>
                  <a:schemeClr val="accent1"/>
                </a:solidFill>
              </a:rPr>
              <a:t>×</a:t>
            </a:r>
            <a:r>
              <a:rPr lang="zh-CN" altLang="en-US"/>
              <a:t>，对任意</a:t>
            </a:r>
            <a:r>
              <a:rPr lang="en-US" altLang="zh-CN"/>
              <a:t>x∈R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/>
              <a:t>   </a:t>
            </a:r>
            <a:r>
              <a:rPr lang="zh-CN" altLang="en-US"/>
              <a:t>  由于</a:t>
            </a:r>
            <a:r>
              <a:rPr lang="en-US" altLang="zh-CN"/>
              <a:t>0×x</a:t>
            </a:r>
            <a:r>
              <a:rPr lang="zh-CN" altLang="en-US"/>
              <a:t>＝</a:t>
            </a:r>
            <a:r>
              <a:rPr lang="en-US" altLang="zh-CN"/>
              <a:t>x</a:t>
            </a:r>
            <a:r>
              <a:rPr lang="zh-CN" altLang="en-US"/>
              <a:t>，   所以</a:t>
            </a:r>
            <a:r>
              <a:rPr lang="en-US" altLang="zh-CN"/>
              <a:t>0</a:t>
            </a:r>
            <a:r>
              <a:rPr lang="zh-CN" altLang="en-US"/>
              <a:t>是</a:t>
            </a:r>
            <a:r>
              <a:rPr lang="en-US" altLang="zh-CN"/>
              <a:t>×</a:t>
            </a:r>
            <a:r>
              <a:rPr lang="zh-CN" altLang="en-US"/>
              <a:t>的</a:t>
            </a:r>
            <a:r>
              <a:rPr lang="zh-CN" altLang="en-US">
                <a:solidFill>
                  <a:srgbClr val="FF00FF"/>
                </a:solidFill>
              </a:rPr>
              <a:t>左</a:t>
            </a:r>
            <a:r>
              <a:rPr lang="zh-CN" altLang="en-US"/>
              <a:t>零元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/>
              <a:t>     由于</a:t>
            </a:r>
            <a:r>
              <a:rPr lang="en-US" altLang="zh-CN"/>
              <a:t>x×0</a:t>
            </a:r>
            <a:r>
              <a:rPr lang="zh-CN" altLang="en-US"/>
              <a:t>＝</a:t>
            </a:r>
            <a:r>
              <a:rPr lang="en-US" altLang="zh-CN"/>
              <a:t>x</a:t>
            </a:r>
            <a:r>
              <a:rPr lang="zh-CN" altLang="en-US"/>
              <a:t>，   所以</a:t>
            </a:r>
            <a:r>
              <a:rPr lang="en-US" altLang="zh-CN"/>
              <a:t>0</a:t>
            </a:r>
            <a:r>
              <a:rPr lang="zh-CN" altLang="en-US"/>
              <a:t>是</a:t>
            </a:r>
            <a:r>
              <a:rPr lang="en-US" altLang="zh-CN"/>
              <a:t>×</a:t>
            </a:r>
            <a:r>
              <a:rPr lang="zh-CN" altLang="en-US"/>
              <a:t>的</a:t>
            </a:r>
            <a:r>
              <a:rPr lang="zh-CN" altLang="en-US">
                <a:solidFill>
                  <a:srgbClr val="FF00FF"/>
                </a:solidFill>
              </a:rPr>
              <a:t>右</a:t>
            </a:r>
            <a:r>
              <a:rPr lang="zh-CN" altLang="en-US"/>
              <a:t>零元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2">
            <a:extLst>
              <a:ext uri="{FF2B5EF4-FFF2-40B4-BE49-F238E27FC236}">
                <a16:creationId xmlns:a16="http://schemas.microsoft.com/office/drawing/2014/main" id="{8F28AE2A-1D58-2FEA-1D24-EEB7D794CF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5.2.2 </a:t>
            </a:r>
            <a:r>
              <a:rPr lang="zh-CN" altLang="en-US" sz="5400"/>
              <a:t>零元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F3656A92-DA14-192E-877B-2A9BA1CBBF2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989138"/>
            <a:ext cx="8532812" cy="4868862"/>
          </a:xfrm>
        </p:spPr>
        <p:txBody>
          <a:bodyPr/>
          <a:lstStyle/>
          <a:p>
            <a:pPr eaLnBrk="1" hangingPunct="1">
              <a:lnSpc>
                <a:spcPct val="105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例如</a:t>
            </a:r>
            <a:r>
              <a:rPr lang="en-US" altLang="zh-CN" dirty="0">
                <a:latin typeface="宋体" panose="02010600030101010101" pitchFamily="2" charset="-122"/>
              </a:rPr>
              <a:t>,</a:t>
            </a:r>
            <a:r>
              <a:rPr lang="zh-CN" altLang="en-US" dirty="0"/>
              <a:t>设代数系统</a:t>
            </a:r>
            <a:r>
              <a:rPr lang="en-US" altLang="zh-CN" dirty="0">
                <a:latin typeface="宋体" panose="02010600030101010101" pitchFamily="2" charset="-122"/>
              </a:rPr>
              <a:t>&lt;</a:t>
            </a:r>
            <a:r>
              <a:rPr lang="en-US" altLang="zh-CN" dirty="0"/>
              <a:t>P(A),∩,∪</a:t>
            </a:r>
            <a:r>
              <a:rPr lang="en-US" altLang="zh-CN" dirty="0">
                <a:latin typeface="宋体" panose="02010600030101010101" pitchFamily="2" charset="-122"/>
              </a:rPr>
              <a:t>&gt;,</a:t>
            </a:r>
            <a:r>
              <a:rPr lang="zh-CN" altLang="en-US" dirty="0"/>
              <a:t>其中</a:t>
            </a:r>
            <a:r>
              <a:rPr lang="en-US" altLang="zh-CN" dirty="0"/>
              <a:t>P(A)</a:t>
            </a:r>
            <a:r>
              <a:rPr lang="zh-CN" altLang="en-US" dirty="0"/>
              <a:t>是有限集合</a:t>
            </a:r>
            <a:r>
              <a:rPr lang="en-US" altLang="zh-CN" dirty="0"/>
              <a:t>A</a:t>
            </a:r>
            <a:r>
              <a:rPr lang="zh-CN" altLang="en-US" dirty="0"/>
              <a:t>的幂集</a:t>
            </a:r>
            <a:r>
              <a:rPr lang="en-US" altLang="zh-CN" dirty="0">
                <a:latin typeface="宋体" panose="02010600030101010101" pitchFamily="2" charset="-122"/>
              </a:rPr>
              <a:t>,</a:t>
            </a:r>
            <a:r>
              <a:rPr lang="en-US" altLang="zh-CN" dirty="0"/>
              <a:t>∩</a:t>
            </a:r>
            <a:r>
              <a:rPr lang="zh-CN" altLang="en-US" dirty="0"/>
              <a:t>与∪是集合交与并运算。</a:t>
            </a:r>
          </a:p>
          <a:p>
            <a:pPr eaLnBrk="1" hangingPunct="1">
              <a:lnSpc>
                <a:spcPct val="105000"/>
              </a:lnSpc>
            </a:pPr>
            <a:r>
              <a:rPr lang="zh-CN" altLang="en-US" dirty="0">
                <a:solidFill>
                  <a:schemeClr val="accent1"/>
                </a:solidFill>
              </a:rPr>
              <a:t>关于∪</a:t>
            </a:r>
            <a:r>
              <a:rPr lang="zh-CN" altLang="en-US" dirty="0"/>
              <a:t>，对任意</a:t>
            </a:r>
            <a:r>
              <a:rPr lang="en-US" altLang="zh-CN" dirty="0" err="1"/>
              <a:t>x∈P</a:t>
            </a:r>
            <a:r>
              <a:rPr lang="en-US" altLang="zh-CN" dirty="0"/>
              <a:t>(A)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由于</a:t>
            </a:r>
            <a:r>
              <a:rPr lang="en-US" altLang="zh-CN" dirty="0" err="1"/>
              <a:t>A∪x</a:t>
            </a:r>
            <a:r>
              <a:rPr lang="zh-CN" altLang="en-US" dirty="0"/>
              <a:t>＝</a:t>
            </a:r>
            <a:r>
              <a:rPr lang="en-US" altLang="zh-CN" dirty="0"/>
              <a:t>A</a:t>
            </a:r>
            <a:r>
              <a:rPr lang="zh-CN" altLang="en-US" dirty="0"/>
              <a:t>，所以</a:t>
            </a:r>
            <a:r>
              <a:rPr lang="en-US" altLang="zh-CN" dirty="0"/>
              <a:t>A</a:t>
            </a:r>
            <a:r>
              <a:rPr lang="zh-CN" altLang="en-US" dirty="0"/>
              <a:t>是∪的</a:t>
            </a:r>
            <a:r>
              <a:rPr lang="zh-CN" altLang="en-US" dirty="0">
                <a:solidFill>
                  <a:srgbClr val="CC0066"/>
                </a:solidFill>
              </a:rPr>
              <a:t>左</a:t>
            </a:r>
            <a:r>
              <a:rPr lang="zh-CN" altLang="en-US" dirty="0"/>
              <a:t>零元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由于</a:t>
            </a:r>
            <a:r>
              <a:rPr lang="en-US" altLang="zh-CN" dirty="0" err="1"/>
              <a:t>x∪A</a:t>
            </a:r>
            <a:r>
              <a:rPr lang="zh-CN" altLang="en-US" dirty="0"/>
              <a:t>＝</a:t>
            </a:r>
            <a:r>
              <a:rPr lang="en-US" altLang="zh-CN" dirty="0"/>
              <a:t>A</a:t>
            </a:r>
            <a:r>
              <a:rPr lang="zh-CN" altLang="en-US" dirty="0"/>
              <a:t>，所以</a:t>
            </a:r>
            <a:r>
              <a:rPr lang="en-US" altLang="zh-CN" dirty="0"/>
              <a:t>A</a:t>
            </a:r>
            <a:r>
              <a:rPr lang="zh-CN" altLang="en-US" dirty="0"/>
              <a:t>是∪的</a:t>
            </a:r>
            <a:r>
              <a:rPr lang="zh-CN" altLang="en-US" dirty="0">
                <a:solidFill>
                  <a:srgbClr val="CC0066"/>
                </a:solidFill>
              </a:rPr>
              <a:t>右</a:t>
            </a:r>
            <a:r>
              <a:rPr lang="zh-CN" altLang="en-US" dirty="0"/>
              <a:t>零元 </a:t>
            </a:r>
          </a:p>
          <a:p>
            <a:pPr eaLnBrk="1" hangingPunct="1">
              <a:lnSpc>
                <a:spcPct val="105000"/>
              </a:lnSpc>
            </a:pPr>
            <a:r>
              <a:rPr lang="zh-CN" altLang="en-US" dirty="0">
                <a:solidFill>
                  <a:schemeClr val="accent1"/>
                </a:solidFill>
              </a:rPr>
              <a:t>关于∩</a:t>
            </a:r>
            <a:r>
              <a:rPr lang="zh-CN" altLang="en-US" dirty="0"/>
              <a:t>，对任意</a:t>
            </a:r>
            <a:r>
              <a:rPr lang="en-US" altLang="zh-CN" dirty="0" err="1"/>
              <a:t>x∈P</a:t>
            </a:r>
            <a:r>
              <a:rPr lang="en-US" altLang="zh-CN" dirty="0"/>
              <a:t>(A)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由于  ∩</a:t>
            </a:r>
            <a:r>
              <a:rPr lang="en-US" altLang="zh-CN" dirty="0"/>
              <a:t>x</a:t>
            </a:r>
            <a:r>
              <a:rPr lang="zh-CN" altLang="en-US" dirty="0"/>
              <a:t>＝   ，所以  是∩的</a:t>
            </a:r>
            <a:r>
              <a:rPr lang="zh-CN" altLang="en-US" dirty="0">
                <a:solidFill>
                  <a:srgbClr val="CC0066"/>
                </a:solidFill>
              </a:rPr>
              <a:t>左</a:t>
            </a:r>
            <a:r>
              <a:rPr lang="zh-CN" altLang="en-US" dirty="0"/>
              <a:t>零元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由于</a:t>
            </a:r>
            <a:r>
              <a:rPr lang="en-US" altLang="zh-CN" dirty="0"/>
              <a:t>x∩  </a:t>
            </a:r>
            <a:r>
              <a:rPr lang="zh-CN" altLang="en-US" dirty="0"/>
              <a:t>＝   ，所以  是∩的</a:t>
            </a:r>
            <a:r>
              <a:rPr lang="zh-CN" altLang="en-US" dirty="0">
                <a:solidFill>
                  <a:srgbClr val="CC0066"/>
                </a:solidFill>
              </a:rPr>
              <a:t>右</a:t>
            </a:r>
            <a:r>
              <a:rPr lang="zh-CN" altLang="en-US" dirty="0"/>
              <a:t>零元 </a:t>
            </a:r>
          </a:p>
        </p:txBody>
      </p:sp>
      <p:graphicFrame>
        <p:nvGraphicFramePr>
          <p:cNvPr id="13316" name="Object 4">
            <a:extLst>
              <a:ext uri="{FF2B5EF4-FFF2-40B4-BE49-F238E27FC236}">
                <a16:creationId xmlns:a16="http://schemas.microsoft.com/office/drawing/2014/main" id="{0599E431-1127-A365-FE8D-96A53526DC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14513" y="5643563"/>
          <a:ext cx="417512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814" imgH="177492" progId="Equation.DSMT4">
                  <p:embed/>
                </p:oleObj>
              </mc:Choice>
              <mc:Fallback>
                <p:oleObj name="Equation" r:id="rId2" imgW="164814" imgH="177492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4513" y="5643563"/>
                        <a:ext cx="417512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5">
            <a:extLst>
              <a:ext uri="{FF2B5EF4-FFF2-40B4-BE49-F238E27FC236}">
                <a16:creationId xmlns:a16="http://schemas.microsoft.com/office/drawing/2014/main" id="{9805DC7D-D54E-31DC-FB69-51C3421F47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72013" y="5643563"/>
          <a:ext cx="417512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814" imgH="177492" progId="Equation.DSMT4">
                  <p:embed/>
                </p:oleObj>
              </mc:Choice>
              <mc:Fallback>
                <p:oleObj name="Equation" r:id="rId4" imgW="164814" imgH="177492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2013" y="5643563"/>
                        <a:ext cx="417512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6">
            <a:extLst>
              <a:ext uri="{FF2B5EF4-FFF2-40B4-BE49-F238E27FC236}">
                <a16:creationId xmlns:a16="http://schemas.microsoft.com/office/drawing/2014/main" id="{9BE92F25-26CE-F9E7-8DB2-38B6FCED94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98713" y="6257925"/>
          <a:ext cx="417512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4814" imgH="177492" progId="Equation.DSMT4">
                  <p:embed/>
                </p:oleObj>
              </mc:Choice>
              <mc:Fallback>
                <p:oleObj name="Equation" r:id="rId5" imgW="164814" imgH="177492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8713" y="6257925"/>
                        <a:ext cx="417512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Object 7">
            <a:extLst>
              <a:ext uri="{FF2B5EF4-FFF2-40B4-BE49-F238E27FC236}">
                <a16:creationId xmlns:a16="http://schemas.microsoft.com/office/drawing/2014/main" id="{9941F49E-9450-00FA-ABCE-039ECF3BA1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72013" y="6242050"/>
          <a:ext cx="417512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14" imgH="177492" progId="Equation.DSMT4">
                  <p:embed/>
                </p:oleObj>
              </mc:Choice>
              <mc:Fallback>
                <p:oleObj name="Equation" r:id="rId6" imgW="164814" imgH="177492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2013" y="6242050"/>
                        <a:ext cx="417512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0" name="Object 14">
            <a:extLst>
              <a:ext uri="{FF2B5EF4-FFF2-40B4-BE49-F238E27FC236}">
                <a16:creationId xmlns:a16="http://schemas.microsoft.com/office/drawing/2014/main" id="{7BBF72D7-04EB-B4F9-3C29-BB244E1848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00388" y="6219825"/>
          <a:ext cx="417512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4814" imgH="177492" progId="Equation.DSMT4">
                  <p:embed/>
                </p:oleObj>
              </mc:Choice>
              <mc:Fallback>
                <p:oleObj name="Equation" r:id="rId7" imgW="164814" imgH="177492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0388" y="6219825"/>
                        <a:ext cx="417512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1" name="Object 15">
            <a:extLst>
              <a:ext uri="{FF2B5EF4-FFF2-40B4-BE49-F238E27FC236}">
                <a16:creationId xmlns:a16="http://schemas.microsoft.com/office/drawing/2014/main" id="{ED8DD7F0-0211-6D88-81A9-466E9AE52E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00388" y="5630863"/>
          <a:ext cx="417512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4814" imgH="177492" progId="Equation.DSMT4">
                  <p:embed/>
                </p:oleObj>
              </mc:Choice>
              <mc:Fallback>
                <p:oleObj name="Equation" r:id="rId8" imgW="164814" imgH="177492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0388" y="5630863"/>
                        <a:ext cx="417512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F10DF465-1B2E-C1BE-8644-775AEEC3DFB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代数系统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&lt;R,+&gt;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的零元为（     ），其中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为实数集，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+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为实数加。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C1B1435-2A8D-7DF0-63F5-B0474724F1D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AE22A85-64C8-A6D5-21EF-D4E33569C96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-1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8AF6BCF-6B66-2BDF-3542-C4AEAFE3472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52FBB05-B888-D343-88CE-FFEF08384DF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不存在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25F82BD-D00F-96C0-3EB3-F9F1FCD0794C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F99E6F8-A955-3DC1-14F9-743F8E39A1E9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73DFF69B-90B5-D4AF-B491-E15A9BB9039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F1DB37A-B31F-DDE2-245C-108FB98CD57A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FA4A3A3-EC2C-C64A-EFF1-BA60E26C13E5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743EC0ED-139B-AA91-2089-53ABC3449542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8" name="TitleBackground">
              <a:extLst>
                <a:ext uri="{FF2B5EF4-FFF2-40B4-BE49-F238E27FC236}">
                  <a16:creationId xmlns:a16="http://schemas.microsoft.com/office/drawing/2014/main" id="{62710E35-C869-193D-BA03-4E5F0E2433E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ColorBlock">
              <a:extLst>
                <a:ext uri="{FF2B5EF4-FFF2-40B4-BE49-F238E27FC236}">
                  <a16:creationId xmlns:a16="http://schemas.microsoft.com/office/drawing/2014/main" id="{EE0088D6-E2F6-603B-D01C-84A87083B4E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TypeText">
              <a:extLst>
                <a:ext uri="{FF2B5EF4-FFF2-40B4-BE49-F238E27FC236}">
                  <a16:creationId xmlns:a16="http://schemas.microsoft.com/office/drawing/2014/main" id="{29794F10-230D-67F9-1C09-9D7ABB355A43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1" name="TipText">
              <a:extLst>
                <a:ext uri="{FF2B5EF4-FFF2-40B4-BE49-F238E27FC236}">
                  <a16:creationId xmlns:a16="http://schemas.microsoft.com/office/drawing/2014/main" id="{FF2BA0C3-3DDB-71C6-8670-BBBC535F65D1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13E5046A-CB01-5724-127A-DB2C874E8FA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67492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12642AF-1DA9-E5FF-FBCB-3E6BA4AA59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5.2.2 </a:t>
            </a:r>
            <a:r>
              <a:rPr lang="zh-CN" altLang="en-US" sz="5400"/>
              <a:t>零元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59618563-6DED-1335-7082-A581F46CB4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180000"/>
              </a:lnSpc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5.2.3 </a:t>
            </a:r>
            <a:r>
              <a:rPr lang="zh-CN" altLang="en-US"/>
              <a:t>设代数系统</a:t>
            </a:r>
            <a:r>
              <a:rPr lang="en-US" altLang="zh-CN">
                <a:latin typeface="宋体" panose="02010600030101010101" pitchFamily="2" charset="-122"/>
              </a:rPr>
              <a:t>&lt;</a:t>
            </a:r>
            <a:r>
              <a:rPr lang="en-US" altLang="zh-CN"/>
              <a:t>A,</a:t>
            </a:r>
            <a:r>
              <a:rPr lang="en-US" altLang="en-US"/>
              <a:t>＊</a:t>
            </a:r>
            <a:r>
              <a:rPr lang="en-US" altLang="zh-CN">
                <a:latin typeface="宋体" panose="02010600030101010101" pitchFamily="2" charset="-122"/>
              </a:rPr>
              <a:t>&gt;</a:t>
            </a:r>
            <a:r>
              <a:rPr lang="zh-CN" altLang="en-US"/>
              <a:t>，且</a:t>
            </a:r>
            <a:r>
              <a:rPr lang="en-US" altLang="zh-CN"/>
              <a:t>A</a:t>
            </a:r>
            <a:r>
              <a:rPr lang="zh-CN" altLang="en-US"/>
              <a:t>中元素的个数不小于</a:t>
            </a:r>
            <a:r>
              <a:rPr lang="en-US" altLang="zh-CN"/>
              <a:t>2</a:t>
            </a:r>
            <a:r>
              <a:rPr lang="zh-CN" altLang="en-US"/>
              <a:t>。若该代数系统存在幺元</a:t>
            </a:r>
            <a:r>
              <a:rPr lang="en-US" altLang="zh-CN"/>
              <a:t>e</a:t>
            </a:r>
            <a:r>
              <a:rPr lang="zh-CN" altLang="en-US"/>
              <a:t>和零元</a:t>
            </a:r>
            <a:r>
              <a:rPr lang="en-US" altLang="zh-CN"/>
              <a:t>θ</a:t>
            </a:r>
            <a:r>
              <a:rPr lang="zh-CN" altLang="en-US"/>
              <a:t>，则</a:t>
            </a:r>
            <a:r>
              <a:rPr lang="en-US" altLang="zh-CN"/>
              <a:t>e ≠ θ </a:t>
            </a:r>
            <a:endParaRPr lang="en-US" altLang="zh-CN" b="1"/>
          </a:p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hlink"/>
                </a:solidFill>
              </a:rPr>
              <a:t>   </a:t>
            </a:r>
            <a:r>
              <a:rPr lang="zh-CN" altLang="en-US" b="1">
                <a:solidFill>
                  <a:schemeClr val="hlink"/>
                </a:solidFill>
              </a:rPr>
              <a:t>证明</a:t>
            </a:r>
            <a:r>
              <a:rPr lang="zh-CN" altLang="en-US"/>
              <a:t> 假设</a:t>
            </a:r>
            <a:r>
              <a:rPr lang="en-US" altLang="zh-CN"/>
              <a:t>e</a:t>
            </a:r>
            <a:r>
              <a:rPr lang="zh-CN" altLang="en-US"/>
              <a:t>＝</a:t>
            </a:r>
            <a:r>
              <a:rPr lang="en-US" altLang="zh-CN"/>
              <a:t>θ</a:t>
            </a:r>
            <a:r>
              <a:rPr lang="zh-CN" altLang="en-US"/>
              <a:t>，则对</a:t>
            </a:r>
            <a:r>
              <a:rPr lang="zh-CN" altLang="en-US">
                <a:solidFill>
                  <a:schemeClr val="accent1"/>
                </a:solidFill>
              </a:rPr>
              <a:t>任意</a:t>
            </a:r>
            <a:r>
              <a:rPr lang="en-US" altLang="zh-CN"/>
              <a:t>a∈A</a:t>
            </a:r>
            <a:r>
              <a:rPr lang="zh-CN" altLang="en-US"/>
              <a:t>，有</a:t>
            </a:r>
          </a:p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zh-CN" altLang="en-US"/>
              <a:t>             </a:t>
            </a:r>
            <a:r>
              <a:rPr lang="en-US" altLang="zh-CN"/>
              <a:t>a</a:t>
            </a:r>
            <a:r>
              <a:rPr lang="zh-CN" altLang="en-US"/>
              <a:t>＝</a:t>
            </a:r>
            <a:r>
              <a:rPr lang="en-US" altLang="zh-CN"/>
              <a:t>a</a:t>
            </a:r>
            <a:r>
              <a:rPr lang="en-US" altLang="en-US"/>
              <a:t>＊</a:t>
            </a:r>
            <a:r>
              <a:rPr lang="en-US" altLang="zh-CN"/>
              <a:t>e</a:t>
            </a:r>
            <a:r>
              <a:rPr lang="zh-CN" altLang="en-US"/>
              <a:t>＝</a:t>
            </a:r>
            <a:r>
              <a:rPr lang="en-US" altLang="zh-CN"/>
              <a:t>a</a:t>
            </a:r>
            <a:r>
              <a:rPr lang="en-US" altLang="en-US"/>
              <a:t>＊</a:t>
            </a:r>
            <a:r>
              <a:rPr lang="en-US" altLang="zh-CN"/>
              <a:t>θ</a:t>
            </a:r>
            <a:r>
              <a:rPr lang="zh-CN" altLang="en-US"/>
              <a:t>＝</a:t>
            </a:r>
            <a:r>
              <a:rPr lang="en-US" altLang="zh-CN"/>
              <a:t>θ</a:t>
            </a:r>
            <a:r>
              <a:rPr lang="zh-CN" altLang="en-US"/>
              <a:t>＝</a:t>
            </a:r>
            <a:r>
              <a:rPr lang="en-US" altLang="zh-CN"/>
              <a:t>e     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EFE70AE-5E4C-DDD1-306E-148F465F89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5.2.3 </a:t>
            </a:r>
            <a:r>
              <a:rPr lang="zh-CN" altLang="en-US" sz="5400"/>
              <a:t>逆元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E6A870B-7AEF-E1D2-8F0E-AAA040AA98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16113"/>
            <a:ext cx="8424862" cy="4941887"/>
          </a:xfrm>
        </p:spPr>
        <p:txBody>
          <a:bodyPr/>
          <a:lstStyle/>
          <a:p>
            <a:pPr eaLnBrk="1" hangingPunct="1">
              <a:lnSpc>
                <a:spcPct val="200000"/>
              </a:lnSpc>
              <a:defRPr/>
            </a:pPr>
            <a:r>
              <a:rPr lang="zh-CN" altLang="en-US" dirty="0"/>
              <a:t>设代数系统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A,</a:t>
            </a:r>
            <a:r>
              <a:rPr lang="en-US" altLang="en-US" dirty="0"/>
              <a:t>＊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zh-CN" altLang="en-US" dirty="0"/>
              <a:t>且</a:t>
            </a:r>
            <a:r>
              <a:rPr lang="en-US" altLang="zh-CN" dirty="0"/>
              <a:t>e</a:t>
            </a:r>
            <a:r>
              <a:rPr lang="zh-CN" altLang="en-US" dirty="0"/>
              <a:t>为幺元。</a:t>
            </a:r>
            <a:r>
              <a:rPr lang="en-US" altLang="zh-CN" dirty="0"/>
              <a:t> </a:t>
            </a:r>
            <a:r>
              <a:rPr lang="en-US" altLang="zh-CN" dirty="0" err="1"/>
              <a:t>a∈A</a:t>
            </a:r>
            <a:r>
              <a:rPr lang="zh-CN" altLang="en-US" dirty="0"/>
              <a:t>，</a:t>
            </a:r>
            <a:r>
              <a:rPr lang="en-US" altLang="zh-CN" dirty="0"/>
              <a:t>a</a:t>
            </a:r>
            <a:r>
              <a:rPr lang="zh-CN" altLang="en-US" dirty="0"/>
              <a:t>的</a:t>
            </a:r>
            <a:endParaRPr lang="en-US" altLang="zh-CN" dirty="0"/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rgbClr val="0066FF"/>
                </a:solidFill>
              </a:rPr>
              <a:t>    </a:t>
            </a:r>
            <a:r>
              <a:rPr lang="zh-CN" altLang="en-US" b="1" dirty="0">
                <a:solidFill>
                  <a:srgbClr val="FF0000"/>
                </a:solidFill>
              </a:rPr>
              <a:t>左逆元</a:t>
            </a:r>
            <a:r>
              <a:rPr lang="en-US" altLang="zh-CN" dirty="0"/>
              <a:t>       </a:t>
            </a:r>
            <a:r>
              <a:rPr lang="zh-CN" altLang="en-US" dirty="0"/>
              <a:t>若</a:t>
            </a:r>
            <a:r>
              <a:rPr lang="en-US" altLang="zh-CN" dirty="0" err="1"/>
              <a:t>b∈A</a:t>
            </a:r>
            <a:r>
              <a:rPr lang="zh-CN" altLang="en-US" dirty="0"/>
              <a:t>，使</a:t>
            </a:r>
            <a:r>
              <a:rPr lang="en-US" altLang="zh-CN" dirty="0" err="1">
                <a:solidFill>
                  <a:srgbClr val="FF0000"/>
                </a:solidFill>
              </a:rPr>
              <a:t>b</a:t>
            </a:r>
            <a:r>
              <a:rPr lang="en-US" altLang="en-US" dirty="0" err="1"/>
              <a:t>＊</a:t>
            </a:r>
            <a:r>
              <a:rPr lang="en-US" altLang="zh-CN" dirty="0" err="1"/>
              <a:t>a</a:t>
            </a:r>
            <a:r>
              <a:rPr lang="zh-CN" altLang="en-US" dirty="0"/>
              <a:t>＝</a:t>
            </a:r>
            <a:r>
              <a:rPr lang="en-US" altLang="zh-CN" dirty="0"/>
              <a:t>e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</a:t>
            </a:r>
            <a:r>
              <a:rPr lang="zh-CN" altLang="en-US" b="1" dirty="0">
                <a:solidFill>
                  <a:schemeClr val="accent1"/>
                </a:solidFill>
              </a:rPr>
              <a:t>右逆元</a:t>
            </a:r>
            <a:r>
              <a:rPr lang="en-US" altLang="zh-CN" dirty="0"/>
              <a:t>       </a:t>
            </a:r>
            <a:r>
              <a:rPr lang="zh-CN" altLang="en-US" dirty="0"/>
              <a:t>若</a:t>
            </a:r>
            <a:r>
              <a:rPr lang="en-US" altLang="zh-CN" dirty="0" err="1"/>
              <a:t>b∈A</a:t>
            </a:r>
            <a:r>
              <a:rPr lang="zh-CN" altLang="en-US" dirty="0"/>
              <a:t>，使</a:t>
            </a:r>
            <a:r>
              <a:rPr lang="en-US" altLang="zh-CN" dirty="0" err="1"/>
              <a:t>a</a:t>
            </a:r>
            <a:r>
              <a:rPr lang="en-US" altLang="en-US" dirty="0" err="1"/>
              <a:t>＊</a:t>
            </a:r>
            <a:r>
              <a:rPr lang="en-US" altLang="zh-CN" dirty="0" err="1">
                <a:solidFill>
                  <a:schemeClr val="accent1"/>
                </a:solidFill>
              </a:rPr>
              <a:t>b</a:t>
            </a:r>
            <a:r>
              <a:rPr lang="zh-CN" altLang="en-US" dirty="0"/>
              <a:t>＝</a:t>
            </a:r>
            <a:r>
              <a:rPr lang="en-US" altLang="zh-CN" dirty="0"/>
              <a:t>e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</a:t>
            </a:r>
            <a:r>
              <a:rPr lang="zh-CN" altLang="en-US" b="1" dirty="0">
                <a:solidFill>
                  <a:srgbClr val="FF00FF"/>
                </a:solidFill>
              </a:rPr>
              <a:t>逆元</a:t>
            </a:r>
            <a:r>
              <a:rPr lang="en-US" altLang="zh-CN" dirty="0"/>
              <a:t>          </a:t>
            </a:r>
            <a:r>
              <a:rPr lang="zh-CN" altLang="en-US" dirty="0"/>
              <a:t>若</a:t>
            </a:r>
            <a:r>
              <a:rPr lang="en-US" altLang="zh-CN" dirty="0" err="1"/>
              <a:t>b∈A</a:t>
            </a:r>
            <a:r>
              <a:rPr lang="zh-CN" altLang="en-US" dirty="0"/>
              <a:t>，使</a:t>
            </a:r>
            <a:r>
              <a:rPr lang="en-US" altLang="zh-CN" dirty="0" err="1">
                <a:solidFill>
                  <a:srgbClr val="FF00FF"/>
                </a:solidFill>
              </a:rPr>
              <a:t>b</a:t>
            </a:r>
            <a:r>
              <a:rPr lang="en-US" altLang="en-US" dirty="0" err="1"/>
              <a:t>＊</a:t>
            </a:r>
            <a:r>
              <a:rPr lang="en-US" altLang="zh-CN" dirty="0" err="1"/>
              <a:t>a</a:t>
            </a:r>
            <a:r>
              <a:rPr lang="zh-CN" altLang="en-US" dirty="0"/>
              <a:t>＝</a:t>
            </a:r>
            <a:r>
              <a:rPr lang="en-US" altLang="zh-CN" dirty="0"/>
              <a:t>e</a:t>
            </a:r>
            <a:r>
              <a:rPr lang="zh-CN" altLang="en-US" dirty="0"/>
              <a:t>＝</a:t>
            </a:r>
            <a:r>
              <a:rPr lang="en-US" altLang="zh-CN" dirty="0" err="1"/>
              <a:t>a</a:t>
            </a:r>
            <a:r>
              <a:rPr lang="en-US" altLang="en-US" dirty="0" err="1"/>
              <a:t>＊</a:t>
            </a:r>
            <a:r>
              <a:rPr lang="en-US" altLang="zh-CN" dirty="0" err="1">
                <a:solidFill>
                  <a:srgbClr val="FF00FF"/>
                </a:solidFill>
              </a:rPr>
              <a:t>b</a:t>
            </a:r>
            <a:endParaRPr lang="en-US" altLang="zh-CN" dirty="0">
              <a:solidFill>
                <a:srgbClr val="FF00FF"/>
              </a:solidFill>
            </a:endParaRPr>
          </a:p>
        </p:txBody>
      </p:sp>
      <p:sp>
        <p:nvSpPr>
          <p:cNvPr id="2" name="左大括号 1">
            <a:extLst>
              <a:ext uri="{FF2B5EF4-FFF2-40B4-BE49-F238E27FC236}">
                <a16:creationId xmlns:a16="http://schemas.microsoft.com/office/drawing/2014/main" id="{1D704B6D-DFAC-7F27-E20B-631C7DF5ADE6}"/>
              </a:ext>
            </a:extLst>
          </p:cNvPr>
          <p:cNvSpPr/>
          <p:nvPr/>
        </p:nvSpPr>
        <p:spPr>
          <a:xfrm>
            <a:off x="1038225" y="3716338"/>
            <a:ext cx="77788" cy="2016125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46E8DC9C-6667-F45B-D682-D355C1D5E5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5.2.3 </a:t>
            </a:r>
            <a:r>
              <a:rPr lang="zh-CN" altLang="en-US" sz="5400"/>
              <a:t>逆元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4D5BF1D2-E896-32B9-C6EF-7733BFCB117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defTabSz="901700" eaLnBrk="1" hangingPunct="1">
              <a:lnSpc>
                <a:spcPct val="150000"/>
              </a:lnSpc>
              <a:tabLst>
                <a:tab pos="6184900" algn="l"/>
              </a:tabLst>
            </a:pPr>
            <a:r>
              <a:rPr lang="zh-CN" altLang="en-US"/>
              <a:t>例如，设代数系统</a:t>
            </a:r>
            <a:r>
              <a:rPr lang="en-US" altLang="zh-CN">
                <a:latin typeface="宋体" panose="02010600030101010101" pitchFamily="2" charset="-122"/>
              </a:rPr>
              <a:t>&lt;</a:t>
            </a:r>
            <a:r>
              <a:rPr lang="en-US" altLang="zh-CN"/>
              <a:t>A,</a:t>
            </a:r>
            <a:r>
              <a:rPr lang="en-US" altLang="en-US"/>
              <a:t>＊</a:t>
            </a:r>
            <a:r>
              <a:rPr lang="en-US" altLang="zh-CN">
                <a:latin typeface="宋体" panose="02010600030101010101" pitchFamily="2" charset="-122"/>
              </a:rPr>
              <a:t>&gt;</a:t>
            </a:r>
            <a:r>
              <a:rPr lang="zh-CN" altLang="en-US"/>
              <a:t>的</a:t>
            </a:r>
            <a:r>
              <a:rPr lang="zh-CN" altLang="en-US">
                <a:solidFill>
                  <a:schemeClr val="hlink"/>
                </a:solidFill>
              </a:rPr>
              <a:t>运算表</a:t>
            </a:r>
            <a:endParaRPr lang="zh-CN" altLang="en-US"/>
          </a:p>
          <a:p>
            <a:pPr defTabSz="901700" eaLnBrk="1" hangingPunct="1">
              <a:tabLst>
                <a:tab pos="6184900" algn="l"/>
              </a:tabLst>
            </a:pPr>
            <a:endParaRPr lang="zh-CN" altLang="en-US" sz="2800"/>
          </a:p>
          <a:p>
            <a:pPr defTabSz="901700" eaLnBrk="1" hangingPunct="1">
              <a:tabLst>
                <a:tab pos="6184900" algn="l"/>
              </a:tabLst>
            </a:pPr>
            <a:endParaRPr lang="en-US" altLang="zh-CN" sz="2800"/>
          </a:p>
        </p:txBody>
      </p:sp>
      <p:graphicFrame>
        <p:nvGraphicFramePr>
          <p:cNvPr id="152580" name="Group 4">
            <a:extLst>
              <a:ext uri="{FF2B5EF4-FFF2-40B4-BE49-F238E27FC236}">
                <a16:creationId xmlns:a16="http://schemas.microsoft.com/office/drawing/2014/main" id="{201CE644-9ABC-FBD8-126A-3B06F93BE49D}"/>
              </a:ext>
            </a:extLst>
          </p:cNvPr>
          <p:cNvGraphicFramePr>
            <a:graphicFrameLocks noGrp="1"/>
          </p:cNvGraphicFramePr>
          <p:nvPr>
            <p:ph sz="quarter" idx="3"/>
          </p:nvPr>
        </p:nvGraphicFramePr>
        <p:xfrm>
          <a:off x="971550" y="3068638"/>
          <a:ext cx="3311525" cy="2914650"/>
        </p:xfrm>
        <a:graphic>
          <a:graphicData uri="http://schemas.openxmlformats.org/drawingml/2006/table">
            <a:tbl>
              <a:tblPr/>
              <a:tblGrid>
                <a:gridCol w="566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4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2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en-US" altLang="en-US" sz="3200" dirty="0"/>
                        <a:t>＊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32" marB="4573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1   2   3   4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53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4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1   2   3   4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4   3   1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4   4   2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3   3   1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395" name="Text Box 19">
            <a:extLst>
              <a:ext uri="{FF2B5EF4-FFF2-40B4-BE49-F238E27FC236}">
                <a16:creationId xmlns:a16="http://schemas.microsoft.com/office/drawing/2014/main" id="{C0B018C3-3775-6720-C590-1A8A66461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740025"/>
            <a:ext cx="4572000" cy="378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3200"/>
              <a:t>1</a:t>
            </a:r>
            <a:r>
              <a:rPr lang="zh-CN" altLang="en-US" sz="3200"/>
              <a:t>为幺元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3200">
                <a:solidFill>
                  <a:schemeClr val="accent1"/>
                </a:solidFill>
              </a:rPr>
              <a:t>1</a:t>
            </a:r>
            <a:r>
              <a:rPr lang="zh-CN" altLang="en-US" sz="3200"/>
              <a:t>逆元为</a:t>
            </a:r>
            <a:r>
              <a:rPr lang="en-US" altLang="zh-CN" sz="3200"/>
              <a:t>1               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3200">
                <a:solidFill>
                  <a:schemeClr val="accent1"/>
                </a:solidFill>
              </a:rPr>
              <a:t>2</a:t>
            </a:r>
            <a:r>
              <a:rPr lang="zh-CN" altLang="en-US" sz="3200"/>
              <a:t>右逆元</a:t>
            </a:r>
            <a:r>
              <a:rPr lang="en-US" altLang="zh-CN" sz="3200"/>
              <a:t>4</a:t>
            </a:r>
            <a:r>
              <a:rPr lang="en-US" altLang="zh-CN" sz="3200">
                <a:latin typeface="宋体" panose="02010600030101010101" pitchFamily="2" charset="-122"/>
              </a:rPr>
              <a:t>,</a:t>
            </a:r>
            <a:r>
              <a:rPr lang="zh-CN" altLang="en-US" sz="3200"/>
              <a:t>无左逆元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3200">
                <a:solidFill>
                  <a:schemeClr val="accent1"/>
                </a:solidFill>
              </a:rPr>
              <a:t>3</a:t>
            </a:r>
            <a:r>
              <a:rPr lang="zh-CN" altLang="en-US" sz="3200"/>
              <a:t>既无左逆元又无右逆元    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3200">
                <a:solidFill>
                  <a:schemeClr val="accent1"/>
                </a:solidFill>
              </a:rPr>
              <a:t>4</a:t>
            </a:r>
            <a:r>
              <a:rPr lang="zh-CN" altLang="en-US" sz="3200"/>
              <a:t>左逆元</a:t>
            </a:r>
            <a:r>
              <a:rPr lang="en-US" altLang="zh-CN" sz="3200"/>
              <a:t>2</a:t>
            </a:r>
            <a:r>
              <a:rPr lang="zh-CN" altLang="en-US" sz="3200"/>
              <a:t>与</a:t>
            </a:r>
            <a:r>
              <a:rPr lang="en-US" altLang="zh-CN" sz="3200"/>
              <a:t>4</a:t>
            </a:r>
            <a:r>
              <a:rPr lang="en-US" altLang="zh-CN" sz="3200">
                <a:latin typeface="宋体" panose="02010600030101010101" pitchFamily="2" charset="-122"/>
              </a:rPr>
              <a:t>,</a:t>
            </a:r>
            <a:r>
              <a:rPr lang="zh-CN" altLang="en-US" sz="3200"/>
              <a:t>右逆元</a:t>
            </a:r>
            <a:r>
              <a:rPr lang="en-US" altLang="zh-CN" sz="3200"/>
              <a:t>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>
            <a:extLst>
              <a:ext uri="{FF2B5EF4-FFF2-40B4-BE49-F238E27FC236}">
                <a16:creationId xmlns:a16="http://schemas.microsoft.com/office/drawing/2014/main" id="{79A5E7F9-45F7-CF0B-0F32-6B15224B3C2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defTabSz="901700" eaLnBrk="1" hangingPunct="1">
              <a:lnSpc>
                <a:spcPct val="150000"/>
              </a:lnSpc>
              <a:tabLst>
                <a:tab pos="6184900" algn="l"/>
              </a:tabLst>
            </a:pPr>
            <a:r>
              <a:rPr lang="zh-CN" altLang="en-US"/>
              <a:t>例如，设代数系统</a:t>
            </a:r>
            <a:r>
              <a:rPr lang="en-US" altLang="zh-CN">
                <a:latin typeface="宋体" panose="02010600030101010101" pitchFamily="2" charset="-122"/>
              </a:rPr>
              <a:t>&lt;</a:t>
            </a:r>
            <a:r>
              <a:rPr lang="en-US" altLang="zh-CN"/>
              <a:t>A,</a:t>
            </a:r>
            <a:r>
              <a:rPr lang="zh-CN" altLang="en-US"/>
              <a:t> △</a:t>
            </a:r>
            <a:r>
              <a:rPr lang="en-US" altLang="zh-CN">
                <a:latin typeface="宋体" panose="02010600030101010101" pitchFamily="2" charset="-122"/>
              </a:rPr>
              <a:t>&gt;</a:t>
            </a:r>
            <a:r>
              <a:rPr lang="zh-CN" altLang="en-US"/>
              <a:t>的</a:t>
            </a:r>
            <a:r>
              <a:rPr lang="zh-CN" altLang="en-US">
                <a:solidFill>
                  <a:schemeClr val="hlink"/>
                </a:solidFill>
              </a:rPr>
              <a:t>运算表</a:t>
            </a:r>
            <a:endParaRPr lang="zh-CN" altLang="en-US" sz="2800"/>
          </a:p>
        </p:txBody>
      </p:sp>
      <p:graphicFrame>
        <p:nvGraphicFramePr>
          <p:cNvPr id="149523" name="Group 19">
            <a:extLst>
              <a:ext uri="{FF2B5EF4-FFF2-40B4-BE49-F238E27FC236}">
                <a16:creationId xmlns:a16="http://schemas.microsoft.com/office/drawing/2014/main" id="{66022B71-45D3-8F05-1E6D-EAC768D611E4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1184275" y="3141663"/>
          <a:ext cx="3243263" cy="2914650"/>
        </p:xfrm>
        <a:graphic>
          <a:graphicData uri="http://schemas.openxmlformats.org/drawingml/2006/table">
            <a:tbl>
              <a:tblPr/>
              <a:tblGrid>
                <a:gridCol w="554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92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2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△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1   2   3   4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53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4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4   4   4 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4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4   4 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4   4   4 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1   2   3   4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418" name="Rectangle 35">
            <a:extLst>
              <a:ext uri="{FF2B5EF4-FFF2-40B4-BE49-F238E27FC236}">
                <a16:creationId xmlns:a16="http://schemas.microsoft.com/office/drawing/2014/main" id="{BF04E556-D79B-440D-61CA-5DF9C60D46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sz="5400"/>
              <a:t>5.2.3 </a:t>
            </a:r>
            <a:r>
              <a:rPr lang="zh-CN" altLang="en-US" sz="5400"/>
              <a:t>逆元</a:t>
            </a:r>
          </a:p>
        </p:txBody>
      </p:sp>
      <p:sp>
        <p:nvSpPr>
          <p:cNvPr id="17419" name="Text Box 36">
            <a:extLst>
              <a:ext uri="{FF2B5EF4-FFF2-40B4-BE49-F238E27FC236}">
                <a16:creationId xmlns:a16="http://schemas.microsoft.com/office/drawing/2014/main" id="{F99F347E-D448-E837-FB60-67642B9CB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6188" y="2811463"/>
            <a:ext cx="3908425" cy="3786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3200" dirty="0"/>
              <a:t>4</a:t>
            </a:r>
            <a:r>
              <a:rPr lang="zh-CN" altLang="en-US" sz="3200" dirty="0"/>
              <a:t>为幺元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3200" dirty="0">
                <a:solidFill>
                  <a:schemeClr val="accent1"/>
                </a:solidFill>
              </a:rPr>
              <a:t>1</a:t>
            </a:r>
            <a:r>
              <a:rPr lang="zh-CN" altLang="en-US" sz="3200" dirty="0"/>
              <a:t>的逆元为</a:t>
            </a:r>
            <a:r>
              <a:rPr lang="en-US" altLang="zh-CN" sz="3200" dirty="0"/>
              <a:t>:1</a:t>
            </a:r>
            <a:r>
              <a:rPr lang="en-US" altLang="zh-CN" sz="3200" dirty="0">
                <a:latin typeface="宋体" panose="02010600030101010101" pitchFamily="2" charset="-122"/>
              </a:rPr>
              <a:t>,</a:t>
            </a:r>
            <a:r>
              <a:rPr lang="en-US" altLang="zh-CN" sz="3200" dirty="0"/>
              <a:t>2</a:t>
            </a:r>
            <a:r>
              <a:rPr lang="en-US" altLang="zh-CN" sz="3200" dirty="0">
                <a:latin typeface="宋体" panose="02010600030101010101" pitchFamily="2" charset="-122"/>
              </a:rPr>
              <a:t>,</a:t>
            </a:r>
            <a:r>
              <a:rPr lang="en-US" altLang="zh-CN" sz="3200" dirty="0"/>
              <a:t>3          </a:t>
            </a:r>
            <a:r>
              <a:rPr lang="en-US" altLang="zh-CN" sz="3200" dirty="0">
                <a:solidFill>
                  <a:schemeClr val="accent1"/>
                </a:solidFill>
              </a:rPr>
              <a:t>2</a:t>
            </a:r>
            <a:r>
              <a:rPr lang="zh-CN" altLang="en-US" sz="3200" dirty="0"/>
              <a:t>的逆元为</a:t>
            </a:r>
            <a:r>
              <a:rPr lang="en-US" altLang="zh-CN" sz="3200" dirty="0"/>
              <a:t>:1</a:t>
            </a:r>
            <a:r>
              <a:rPr lang="en-US" altLang="zh-CN" sz="3200" dirty="0">
                <a:latin typeface="宋体" panose="02010600030101010101" pitchFamily="2" charset="-122"/>
              </a:rPr>
              <a:t>,</a:t>
            </a:r>
            <a:r>
              <a:rPr lang="en-US" altLang="zh-CN" sz="3200" dirty="0"/>
              <a:t>2</a:t>
            </a:r>
            <a:r>
              <a:rPr lang="en-US" altLang="zh-CN" sz="3200" dirty="0">
                <a:latin typeface="宋体" panose="02010600030101010101" pitchFamily="2" charset="-122"/>
              </a:rPr>
              <a:t>,</a:t>
            </a:r>
            <a:r>
              <a:rPr lang="en-US" altLang="zh-CN" sz="3200" dirty="0"/>
              <a:t>3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3200" dirty="0">
                <a:solidFill>
                  <a:schemeClr val="accent1"/>
                </a:solidFill>
              </a:rPr>
              <a:t>3</a:t>
            </a:r>
            <a:r>
              <a:rPr lang="zh-CN" altLang="en-US" sz="3200" dirty="0"/>
              <a:t>的逆元为</a:t>
            </a:r>
            <a:r>
              <a:rPr lang="en-US" altLang="zh-CN" sz="3200" dirty="0"/>
              <a:t>:1</a:t>
            </a:r>
            <a:r>
              <a:rPr lang="en-US" altLang="zh-CN" sz="3200" dirty="0">
                <a:latin typeface="宋体" panose="02010600030101010101" pitchFamily="2" charset="-122"/>
              </a:rPr>
              <a:t>,</a:t>
            </a:r>
            <a:r>
              <a:rPr lang="en-US" altLang="zh-CN" sz="3200" dirty="0"/>
              <a:t>2</a:t>
            </a:r>
            <a:r>
              <a:rPr lang="en-US" altLang="zh-CN" sz="3200" dirty="0">
                <a:latin typeface="宋体" panose="02010600030101010101" pitchFamily="2" charset="-122"/>
              </a:rPr>
              <a:t>,</a:t>
            </a:r>
            <a:r>
              <a:rPr lang="en-US" altLang="zh-CN" sz="3200" dirty="0"/>
              <a:t>3           </a:t>
            </a:r>
            <a:r>
              <a:rPr lang="en-US" altLang="zh-CN" sz="3200" dirty="0">
                <a:solidFill>
                  <a:schemeClr val="accent1"/>
                </a:solidFill>
              </a:rPr>
              <a:t>4</a:t>
            </a:r>
            <a:r>
              <a:rPr lang="zh-CN" altLang="en-US" sz="3200" dirty="0"/>
              <a:t>的逆元为</a:t>
            </a:r>
            <a:r>
              <a:rPr lang="en-US" altLang="zh-CN" sz="3200" dirty="0"/>
              <a:t>:4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B99AB0CA-5950-A790-9726-0E4E780E16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5.2.3 </a:t>
            </a:r>
            <a:r>
              <a:rPr lang="zh-CN" altLang="en-US" sz="5400"/>
              <a:t>逆元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BDE5E17D-5911-610D-E6F9-6B502CD1EA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16113"/>
            <a:ext cx="8532812" cy="4941887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5.2.4</a:t>
            </a:r>
            <a:r>
              <a:rPr lang="zh-CN" altLang="en-US" dirty="0"/>
              <a:t>设</a:t>
            </a:r>
            <a:r>
              <a:rPr lang="en-US" altLang="zh-CN" dirty="0"/>
              <a:t>e</a:t>
            </a:r>
            <a:r>
              <a:rPr lang="zh-CN" altLang="en-US" dirty="0"/>
              <a:t>为代数系统</a:t>
            </a:r>
            <a:r>
              <a:rPr lang="en-US" altLang="zh-CN" dirty="0">
                <a:latin typeface="宋体" panose="02010600030101010101" pitchFamily="2" charset="-122"/>
              </a:rPr>
              <a:t>&lt;</a:t>
            </a:r>
            <a:r>
              <a:rPr lang="en-US" altLang="zh-CN" dirty="0"/>
              <a:t>A,</a:t>
            </a:r>
            <a:r>
              <a:rPr lang="en-US" altLang="en-US" dirty="0"/>
              <a:t>＊</a:t>
            </a:r>
            <a:r>
              <a:rPr lang="en-US" altLang="zh-CN" dirty="0">
                <a:latin typeface="宋体" panose="02010600030101010101" pitchFamily="2" charset="-122"/>
              </a:rPr>
              <a:t>&gt;</a:t>
            </a:r>
            <a:r>
              <a:rPr lang="zh-CN" altLang="en-US" dirty="0"/>
              <a:t>的幺元，运算</a:t>
            </a:r>
            <a:r>
              <a:rPr lang="en-US" altLang="en-US" dirty="0"/>
              <a:t>＊</a:t>
            </a:r>
            <a:r>
              <a:rPr lang="zh-CN" altLang="en-US" dirty="0"/>
              <a:t>在</a:t>
            </a:r>
            <a:r>
              <a:rPr lang="en-US" altLang="zh-CN" dirty="0"/>
              <a:t>A</a:t>
            </a:r>
            <a:r>
              <a:rPr lang="zh-CN" altLang="en-US" dirty="0"/>
              <a:t>上</a:t>
            </a:r>
            <a:r>
              <a:rPr lang="zh-CN" altLang="en-US" dirty="0">
                <a:solidFill>
                  <a:schemeClr val="accent1"/>
                </a:solidFill>
              </a:rPr>
              <a:t>结合</a:t>
            </a:r>
            <a:r>
              <a:rPr lang="zh-CN" altLang="en-US" dirty="0"/>
              <a:t>。</a:t>
            </a:r>
            <a:r>
              <a:rPr lang="en-US" altLang="zh-CN" dirty="0"/>
              <a:t> </a:t>
            </a:r>
            <a:r>
              <a:rPr lang="en-US" altLang="zh-CN" dirty="0" err="1"/>
              <a:t>a∈A</a:t>
            </a:r>
            <a:r>
              <a:rPr lang="zh-CN" altLang="en-US" dirty="0"/>
              <a:t>，若</a:t>
            </a:r>
            <a:r>
              <a:rPr lang="en-US" altLang="zh-CN" dirty="0" err="1"/>
              <a:t>b</a:t>
            </a:r>
            <a:r>
              <a:rPr lang="en-US" altLang="zh-CN" baseline="-25000" dirty="0" err="1"/>
              <a:t>l</a:t>
            </a:r>
            <a:r>
              <a:rPr lang="en-US" altLang="en-US" dirty="0" err="1"/>
              <a:t>＊</a:t>
            </a:r>
            <a:r>
              <a:rPr lang="en-US" altLang="zh-CN" dirty="0" err="1"/>
              <a:t>a</a:t>
            </a:r>
            <a:r>
              <a:rPr lang="zh-CN" altLang="en-US" dirty="0"/>
              <a:t>＝</a:t>
            </a:r>
            <a:r>
              <a:rPr lang="en-US" altLang="zh-CN" dirty="0"/>
              <a:t>e</a:t>
            </a:r>
            <a:r>
              <a:rPr lang="zh-CN" altLang="en-US" dirty="0"/>
              <a:t>＝</a:t>
            </a:r>
            <a:r>
              <a:rPr lang="en-US" altLang="zh-CN" dirty="0" err="1"/>
              <a:t>a</a:t>
            </a:r>
            <a:r>
              <a:rPr lang="en-US" altLang="en-US" dirty="0" err="1"/>
              <a:t>＊</a:t>
            </a:r>
            <a:r>
              <a:rPr lang="en-US" altLang="zh-CN" dirty="0" err="1"/>
              <a:t>b</a:t>
            </a:r>
            <a:r>
              <a:rPr lang="en-US" altLang="zh-CN" baseline="-25000" dirty="0" err="1"/>
              <a:t>r</a:t>
            </a:r>
            <a:r>
              <a:rPr lang="en-US" altLang="zh-CN" dirty="0"/>
              <a:t> </a:t>
            </a:r>
            <a:r>
              <a:rPr lang="zh-CN" altLang="en-US" dirty="0"/>
              <a:t>，则</a:t>
            </a:r>
            <a:r>
              <a:rPr lang="en-US" altLang="zh-CN" dirty="0"/>
              <a:t>b</a:t>
            </a:r>
            <a:r>
              <a:rPr lang="en-US" altLang="zh-CN" baseline="-25000" dirty="0"/>
              <a:t>l</a:t>
            </a:r>
            <a:r>
              <a:rPr lang="zh-CN" altLang="en-US" dirty="0"/>
              <a:t>＝</a:t>
            </a:r>
            <a:r>
              <a:rPr lang="en-US" altLang="zh-CN" dirty="0" err="1"/>
              <a:t>b</a:t>
            </a:r>
            <a:r>
              <a:rPr lang="en-US" altLang="zh-CN" baseline="-25000" dirty="0" err="1"/>
              <a:t>r</a:t>
            </a:r>
            <a:r>
              <a:rPr lang="zh-CN" altLang="en-US" dirty="0"/>
              <a:t>＝</a:t>
            </a:r>
            <a:r>
              <a:rPr lang="en-US" altLang="zh-CN" dirty="0"/>
              <a:t>b</a:t>
            </a:r>
            <a:r>
              <a:rPr lang="zh-CN" altLang="en-US" dirty="0"/>
              <a:t>，且</a:t>
            </a:r>
            <a:r>
              <a:rPr lang="en-US" altLang="zh-CN" dirty="0"/>
              <a:t>b</a:t>
            </a:r>
            <a:r>
              <a:rPr lang="zh-CN" altLang="en-US" dirty="0"/>
              <a:t>是</a:t>
            </a:r>
            <a:r>
              <a:rPr lang="en-US" altLang="zh-CN" dirty="0"/>
              <a:t>a</a:t>
            </a:r>
            <a:r>
              <a:rPr lang="zh-CN" altLang="en-US" dirty="0"/>
              <a:t>的唯一逆元。</a:t>
            </a:r>
            <a:endParaRPr lang="zh-CN" altLang="en-US" b="1" dirty="0"/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b="1" dirty="0"/>
              <a:t>   </a:t>
            </a:r>
            <a:r>
              <a:rPr lang="zh-CN" altLang="en-US" b="1" dirty="0">
                <a:solidFill>
                  <a:schemeClr val="hlink"/>
                </a:solidFill>
              </a:rPr>
              <a:t>证明</a:t>
            </a:r>
            <a:r>
              <a:rPr lang="zh-CN" altLang="en-US" b="1" dirty="0"/>
              <a:t>  </a:t>
            </a:r>
            <a:r>
              <a:rPr lang="zh-CN" altLang="en-US" dirty="0"/>
              <a:t>由</a:t>
            </a:r>
            <a:r>
              <a:rPr lang="en-US" altLang="zh-CN" dirty="0" err="1"/>
              <a:t>b</a:t>
            </a:r>
            <a:r>
              <a:rPr lang="en-US" altLang="zh-CN" baseline="-25000" dirty="0" err="1"/>
              <a:t>l</a:t>
            </a:r>
            <a:r>
              <a:rPr lang="en-US" altLang="en-US" dirty="0" err="1"/>
              <a:t>＊</a:t>
            </a:r>
            <a:r>
              <a:rPr lang="en-US" altLang="zh-CN" dirty="0" err="1"/>
              <a:t>a</a:t>
            </a:r>
            <a:r>
              <a:rPr lang="zh-CN" altLang="en-US" dirty="0"/>
              <a:t>＝</a:t>
            </a:r>
            <a:r>
              <a:rPr lang="en-US" altLang="zh-CN" dirty="0"/>
              <a:t>e</a:t>
            </a:r>
            <a:r>
              <a:rPr lang="zh-CN" altLang="en-US" dirty="0"/>
              <a:t>＝</a:t>
            </a:r>
            <a:r>
              <a:rPr lang="en-US" altLang="zh-CN" dirty="0" err="1"/>
              <a:t>a</a:t>
            </a:r>
            <a:r>
              <a:rPr lang="en-US" altLang="en-US" dirty="0" err="1"/>
              <a:t>＊</a:t>
            </a:r>
            <a:r>
              <a:rPr lang="en-US" altLang="zh-CN" dirty="0" err="1"/>
              <a:t>b</a:t>
            </a:r>
            <a:r>
              <a:rPr lang="en-US" altLang="zh-CN" baseline="-25000" dirty="0" err="1"/>
              <a:t>r</a:t>
            </a:r>
            <a:r>
              <a:rPr lang="zh-CN" altLang="en-US" dirty="0"/>
              <a:t>知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</a:t>
            </a:r>
            <a:r>
              <a:rPr lang="en-US" altLang="zh-CN" sz="2800" dirty="0"/>
              <a:t>b</a:t>
            </a:r>
            <a:r>
              <a:rPr lang="en-US" altLang="zh-CN" sz="2800" baseline="-25000" dirty="0"/>
              <a:t>l</a:t>
            </a:r>
            <a:r>
              <a:rPr lang="zh-CN" altLang="en-US" sz="2800" dirty="0"/>
              <a:t>＝</a:t>
            </a:r>
            <a:r>
              <a:rPr lang="en-US" altLang="zh-CN" sz="2800" dirty="0" err="1"/>
              <a:t>b</a:t>
            </a:r>
            <a:r>
              <a:rPr lang="en-US" altLang="zh-CN" sz="2800" baseline="-25000" dirty="0" err="1"/>
              <a:t>l</a:t>
            </a:r>
            <a:r>
              <a:rPr lang="en-US" altLang="en-US" sz="2800" dirty="0" err="1"/>
              <a:t>＊</a:t>
            </a:r>
            <a:r>
              <a:rPr lang="en-US" altLang="zh-CN" sz="2800" dirty="0" err="1"/>
              <a:t>e</a:t>
            </a:r>
            <a:r>
              <a:rPr lang="zh-CN" altLang="en-US" sz="2800" dirty="0"/>
              <a:t>＝</a:t>
            </a:r>
            <a:r>
              <a:rPr lang="en-US" altLang="zh-CN" sz="2800" dirty="0"/>
              <a:t>b</a:t>
            </a:r>
            <a:r>
              <a:rPr lang="en-US" altLang="zh-CN" sz="2800" baseline="-25000" dirty="0"/>
              <a:t>l</a:t>
            </a:r>
            <a:r>
              <a:rPr lang="en-US" altLang="en-US" sz="2800" dirty="0"/>
              <a:t>＊</a:t>
            </a:r>
            <a:r>
              <a:rPr lang="en-US" altLang="zh-CN" sz="2800" dirty="0"/>
              <a:t>(</a:t>
            </a:r>
            <a:r>
              <a:rPr lang="en-US" altLang="zh-CN" sz="2800" dirty="0" err="1"/>
              <a:t>a</a:t>
            </a:r>
            <a:r>
              <a:rPr lang="en-US" altLang="en-US" sz="2800" dirty="0" err="1"/>
              <a:t>＊</a:t>
            </a:r>
            <a:r>
              <a:rPr lang="en-US" altLang="zh-CN" sz="2800" dirty="0" err="1"/>
              <a:t>b</a:t>
            </a:r>
            <a:r>
              <a:rPr lang="en-US" altLang="zh-CN" sz="2800" baseline="-25000" dirty="0" err="1"/>
              <a:t>r</a:t>
            </a:r>
            <a:r>
              <a:rPr lang="en-US" altLang="zh-CN" sz="2800" dirty="0"/>
              <a:t>)</a:t>
            </a:r>
            <a:r>
              <a:rPr lang="zh-CN" altLang="en-US" sz="2800" dirty="0"/>
              <a:t>＝</a:t>
            </a:r>
            <a:r>
              <a:rPr lang="en-US" altLang="zh-CN" sz="2800" dirty="0"/>
              <a:t>(</a:t>
            </a:r>
            <a:r>
              <a:rPr lang="en-US" altLang="zh-CN" sz="2800" dirty="0" err="1"/>
              <a:t>b</a:t>
            </a:r>
            <a:r>
              <a:rPr lang="en-US" altLang="zh-CN" sz="2800" baseline="-25000" dirty="0" err="1"/>
              <a:t>l</a:t>
            </a:r>
            <a:r>
              <a:rPr lang="en-US" altLang="en-US" sz="2800" dirty="0" err="1"/>
              <a:t>＊</a:t>
            </a:r>
            <a:r>
              <a:rPr lang="en-US" altLang="zh-CN" sz="2800" dirty="0" err="1"/>
              <a:t>a</a:t>
            </a:r>
            <a:r>
              <a:rPr lang="en-US" altLang="zh-CN" sz="2800" dirty="0"/>
              <a:t>)</a:t>
            </a:r>
            <a:r>
              <a:rPr lang="en-US" altLang="en-US" sz="2800" dirty="0"/>
              <a:t>＊</a:t>
            </a:r>
            <a:r>
              <a:rPr lang="en-US" altLang="zh-CN" sz="2800" dirty="0" err="1"/>
              <a:t>b</a:t>
            </a:r>
            <a:r>
              <a:rPr lang="en-US" altLang="zh-CN" sz="2800" baseline="-25000" dirty="0" err="1"/>
              <a:t>r</a:t>
            </a:r>
            <a:r>
              <a:rPr lang="zh-CN" altLang="en-US" sz="2800" dirty="0"/>
              <a:t>＝</a:t>
            </a:r>
            <a:r>
              <a:rPr lang="en-US" altLang="zh-CN" sz="2800" dirty="0" err="1"/>
              <a:t>e</a:t>
            </a:r>
            <a:r>
              <a:rPr lang="en-US" altLang="en-US" sz="2800" dirty="0" err="1"/>
              <a:t>＊</a:t>
            </a:r>
            <a:r>
              <a:rPr lang="en-US" altLang="zh-CN" sz="2800" dirty="0" err="1"/>
              <a:t>b</a:t>
            </a:r>
            <a:r>
              <a:rPr lang="en-US" altLang="zh-CN" sz="2800" baseline="-25000" dirty="0" err="1"/>
              <a:t>r</a:t>
            </a:r>
            <a:r>
              <a:rPr lang="zh-CN" altLang="en-US" sz="2800" dirty="0"/>
              <a:t>＝</a:t>
            </a:r>
            <a:r>
              <a:rPr lang="en-US" altLang="zh-CN" sz="2800" dirty="0" err="1"/>
              <a:t>b</a:t>
            </a:r>
            <a:r>
              <a:rPr lang="en-US" altLang="zh-CN" sz="2800" baseline="-25000" dirty="0" err="1"/>
              <a:t>r</a:t>
            </a:r>
            <a:endParaRPr lang="en-US" altLang="zh-CN" sz="2800" dirty="0"/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假设</a:t>
            </a:r>
            <a:r>
              <a:rPr lang="en-US" altLang="zh-CN" dirty="0"/>
              <a:t>b</a:t>
            </a:r>
            <a:r>
              <a:rPr lang="zh-CN" altLang="en-US" dirty="0"/>
              <a:t>和</a:t>
            </a:r>
            <a:r>
              <a:rPr lang="en-US" altLang="zh-CN" dirty="0"/>
              <a:t>c</a:t>
            </a:r>
            <a:r>
              <a:rPr lang="zh-CN" altLang="en-US" dirty="0"/>
              <a:t>都是</a:t>
            </a:r>
            <a:r>
              <a:rPr lang="en-US" altLang="zh-CN" dirty="0"/>
              <a:t>a</a:t>
            </a:r>
            <a:r>
              <a:rPr lang="zh-CN" altLang="en-US" dirty="0"/>
              <a:t>的逆元，则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</a:t>
            </a:r>
            <a:r>
              <a:rPr lang="en-US" altLang="zh-CN" dirty="0"/>
              <a:t>b</a:t>
            </a:r>
            <a:r>
              <a:rPr lang="zh-CN" altLang="en-US" dirty="0"/>
              <a:t>＝</a:t>
            </a:r>
            <a:r>
              <a:rPr lang="en-US" altLang="zh-CN" dirty="0" err="1"/>
              <a:t>b</a:t>
            </a:r>
            <a:r>
              <a:rPr lang="en-US" altLang="en-US" dirty="0" err="1"/>
              <a:t>＊</a:t>
            </a:r>
            <a:r>
              <a:rPr lang="en-US" altLang="zh-CN" dirty="0" err="1"/>
              <a:t>e</a:t>
            </a:r>
            <a:r>
              <a:rPr lang="zh-CN" altLang="en-US" dirty="0"/>
              <a:t>＝</a:t>
            </a:r>
            <a:r>
              <a:rPr lang="en-US" altLang="zh-CN" dirty="0"/>
              <a:t>b</a:t>
            </a:r>
            <a:r>
              <a:rPr lang="en-US" altLang="en-US" dirty="0"/>
              <a:t>＊</a:t>
            </a:r>
            <a:r>
              <a:rPr lang="en-US" altLang="zh-CN" dirty="0"/>
              <a:t>(</a:t>
            </a:r>
            <a:r>
              <a:rPr lang="en-US" altLang="zh-CN" dirty="0" err="1"/>
              <a:t>a</a:t>
            </a:r>
            <a:r>
              <a:rPr lang="en-US" altLang="en-US" dirty="0" err="1"/>
              <a:t>＊</a:t>
            </a:r>
            <a:r>
              <a:rPr lang="en-US" altLang="zh-CN" dirty="0" err="1"/>
              <a:t>c</a:t>
            </a:r>
            <a:r>
              <a:rPr lang="en-US" altLang="zh-CN" dirty="0"/>
              <a:t>)</a:t>
            </a:r>
            <a:r>
              <a:rPr lang="zh-CN" altLang="en-US" dirty="0"/>
              <a:t>＝</a:t>
            </a:r>
            <a:r>
              <a:rPr lang="en-US" altLang="zh-CN" dirty="0"/>
              <a:t>(</a:t>
            </a:r>
            <a:r>
              <a:rPr lang="en-US" altLang="zh-CN" dirty="0" err="1"/>
              <a:t>b</a:t>
            </a:r>
            <a:r>
              <a:rPr lang="en-US" altLang="en-US" dirty="0" err="1"/>
              <a:t>＊</a:t>
            </a:r>
            <a:r>
              <a:rPr lang="en-US" altLang="zh-CN" dirty="0" err="1"/>
              <a:t>a</a:t>
            </a:r>
            <a:r>
              <a:rPr lang="en-US" altLang="zh-CN" dirty="0"/>
              <a:t>)</a:t>
            </a:r>
            <a:r>
              <a:rPr lang="en-US" altLang="en-US" dirty="0"/>
              <a:t>＊</a:t>
            </a:r>
            <a:r>
              <a:rPr lang="en-US" altLang="zh-CN" dirty="0"/>
              <a:t>c</a:t>
            </a:r>
            <a:r>
              <a:rPr lang="zh-CN" altLang="en-US" dirty="0"/>
              <a:t>＝</a:t>
            </a:r>
            <a:r>
              <a:rPr lang="en-US" altLang="zh-CN" dirty="0" err="1"/>
              <a:t>e</a:t>
            </a:r>
            <a:r>
              <a:rPr lang="en-US" altLang="en-US" dirty="0" err="1"/>
              <a:t>＊</a:t>
            </a:r>
            <a:r>
              <a:rPr lang="en-US" altLang="zh-CN" dirty="0" err="1"/>
              <a:t>c</a:t>
            </a:r>
            <a:r>
              <a:rPr lang="zh-CN" altLang="en-US" dirty="0"/>
              <a:t>＝</a:t>
            </a:r>
            <a:r>
              <a:rPr lang="en-US" altLang="zh-CN" dirty="0"/>
              <a:t>c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5">
            <a:extLst>
              <a:ext uri="{FF2B5EF4-FFF2-40B4-BE49-F238E27FC236}">
                <a16:creationId xmlns:a16="http://schemas.microsoft.com/office/drawing/2014/main" id="{8571F757-8935-F9E2-0ECF-9845965B65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5.2.3 </a:t>
            </a:r>
            <a:r>
              <a:rPr lang="zh-CN" altLang="en-US" sz="5400"/>
              <a:t>逆元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3A547F37-BFDC-E1CC-31FD-79E5C03C57F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250000"/>
              </a:lnSpc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注释</a:t>
            </a:r>
            <a:endParaRPr lang="en-US" altLang="zh-CN" b="1" dirty="0">
              <a:solidFill>
                <a:schemeClr val="hlink"/>
              </a:solidFill>
            </a:endParaRPr>
          </a:p>
          <a:p>
            <a:pPr marL="0" indent="0" eaLnBrk="1" hangingPunct="1">
              <a:lnSpc>
                <a:spcPct val="2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设代数系统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A,</a:t>
            </a:r>
            <a:r>
              <a:rPr lang="en-US" altLang="en-US" dirty="0"/>
              <a:t>＊</a:t>
            </a:r>
            <a:r>
              <a:rPr lang="en-US" altLang="zh-CN" dirty="0">
                <a:latin typeface="宋体" pitchFamily="2" charset="-122"/>
              </a:rPr>
              <a:t>&gt;,</a:t>
            </a:r>
            <a:r>
              <a:rPr lang="zh-CN" altLang="en-US" dirty="0"/>
              <a:t>若</a:t>
            </a:r>
            <a:r>
              <a:rPr lang="en-US" altLang="en-US" dirty="0"/>
              <a:t>＊</a:t>
            </a:r>
            <a:r>
              <a:rPr lang="zh-CN" altLang="en-US" dirty="0"/>
              <a:t>运算在</a:t>
            </a:r>
            <a:r>
              <a:rPr lang="en-US" altLang="zh-CN" dirty="0"/>
              <a:t>A</a:t>
            </a:r>
            <a:r>
              <a:rPr lang="zh-CN" altLang="en-US" dirty="0"/>
              <a:t>上</a:t>
            </a:r>
            <a:r>
              <a:rPr lang="zh-CN" altLang="en-US" dirty="0">
                <a:solidFill>
                  <a:schemeClr val="accent1"/>
                </a:solidFill>
              </a:rPr>
              <a:t>结合</a:t>
            </a:r>
            <a:r>
              <a:rPr lang="zh-CN" altLang="en-US" dirty="0"/>
              <a:t>。则 </a:t>
            </a:r>
            <a:endParaRPr lang="en-US" altLang="zh-CN" dirty="0"/>
          </a:p>
          <a:p>
            <a:pPr marL="0" indent="0" eaLnBrk="1" hangingPunct="1">
              <a:lnSpc>
                <a:spcPct val="2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A</a:t>
            </a:r>
            <a:r>
              <a:rPr lang="zh-CN" altLang="en-US" dirty="0"/>
              <a:t>中元素</a:t>
            </a:r>
            <a:r>
              <a:rPr lang="en-US" altLang="zh-CN" dirty="0"/>
              <a:t>a</a:t>
            </a:r>
            <a:r>
              <a:rPr lang="zh-CN" altLang="en-US" dirty="0"/>
              <a:t>若有逆元</a:t>
            </a:r>
            <a:r>
              <a:rPr lang="en-US" altLang="zh-CN" dirty="0">
                <a:latin typeface="宋体" pitchFamily="2" charset="-122"/>
              </a:rPr>
              <a:t>,</a:t>
            </a:r>
            <a:r>
              <a:rPr lang="zh-CN" altLang="en-US" dirty="0"/>
              <a:t>则逆元唯一</a:t>
            </a:r>
            <a:r>
              <a:rPr lang="en-US" altLang="zh-CN" dirty="0">
                <a:latin typeface="宋体" pitchFamily="2" charset="-122"/>
              </a:rPr>
              <a:t>,</a:t>
            </a:r>
            <a:r>
              <a:rPr lang="zh-CN" altLang="en-US" dirty="0"/>
              <a:t>记作</a:t>
            </a:r>
            <a:r>
              <a:rPr lang="en-US" altLang="zh-CN" dirty="0">
                <a:solidFill>
                  <a:srgbClr val="FF00FF"/>
                </a:solidFill>
              </a:rPr>
              <a:t>a</a:t>
            </a:r>
            <a:r>
              <a:rPr lang="en-US" altLang="zh-CN" baseline="30000" dirty="0">
                <a:solidFill>
                  <a:srgbClr val="FF00FF"/>
                </a:solidFill>
              </a:rPr>
              <a:t>-1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5">
            <a:extLst>
              <a:ext uri="{FF2B5EF4-FFF2-40B4-BE49-F238E27FC236}">
                <a16:creationId xmlns:a16="http://schemas.microsoft.com/office/drawing/2014/main" id="{3CBFF7B5-3EE2-8357-1AC6-905F07BF86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5.2.3 </a:t>
            </a:r>
            <a:r>
              <a:rPr lang="zh-CN" altLang="en-US" sz="5400"/>
              <a:t>逆元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EFB9EA48-C103-B026-8E88-467FA497634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例如</a:t>
            </a:r>
            <a:r>
              <a:rPr lang="en-US" altLang="zh-CN" dirty="0">
                <a:latin typeface="宋体" panose="02010600030101010101" pitchFamily="2" charset="-122"/>
              </a:rPr>
              <a:t>,</a:t>
            </a:r>
            <a:r>
              <a:rPr lang="zh-CN" altLang="en-US" dirty="0"/>
              <a:t>设代数系统</a:t>
            </a:r>
            <a:r>
              <a:rPr lang="en-US" altLang="zh-CN" dirty="0">
                <a:latin typeface="宋体" panose="02010600030101010101" pitchFamily="2" charset="-122"/>
              </a:rPr>
              <a:t>&lt;</a:t>
            </a:r>
            <a:r>
              <a:rPr lang="en-US" altLang="zh-CN" dirty="0"/>
              <a:t>R,</a:t>
            </a:r>
            <a:r>
              <a:rPr lang="zh-CN" altLang="en-US" dirty="0"/>
              <a:t>＋</a:t>
            </a:r>
            <a:r>
              <a:rPr lang="en-US" altLang="zh-CN" dirty="0"/>
              <a:t>,×</a:t>
            </a:r>
            <a:r>
              <a:rPr lang="en-US" altLang="zh-CN" dirty="0">
                <a:latin typeface="宋体" panose="02010600030101010101" pitchFamily="2" charset="-122"/>
              </a:rPr>
              <a:t>&gt;,</a:t>
            </a:r>
            <a:r>
              <a:rPr lang="zh-CN" altLang="en-US" dirty="0"/>
              <a:t>其中</a:t>
            </a:r>
            <a:r>
              <a:rPr lang="en-US" altLang="zh-CN" dirty="0"/>
              <a:t>R</a:t>
            </a:r>
            <a:r>
              <a:rPr lang="zh-CN" altLang="en-US" dirty="0"/>
              <a:t>是实数集</a:t>
            </a:r>
            <a:r>
              <a:rPr lang="en-US" altLang="zh-CN" dirty="0">
                <a:latin typeface="宋体" panose="02010600030101010101" pitchFamily="2" charset="-122"/>
              </a:rPr>
              <a:t>,</a:t>
            </a:r>
            <a:r>
              <a:rPr lang="zh-CN" altLang="en-US" dirty="0"/>
              <a:t>＋与</a:t>
            </a:r>
            <a:r>
              <a:rPr lang="en-US" altLang="zh-CN" dirty="0"/>
              <a:t>×</a:t>
            </a:r>
            <a:r>
              <a:rPr lang="zh-CN" altLang="en-US" dirty="0"/>
              <a:t>是实数加与乘运算。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</a:t>
            </a:r>
            <a:r>
              <a:rPr lang="zh-CN" altLang="en-US" dirty="0">
                <a:solidFill>
                  <a:schemeClr val="accent1"/>
                </a:solidFill>
              </a:rPr>
              <a:t>关于＋</a:t>
            </a:r>
            <a:r>
              <a:rPr lang="zh-CN" altLang="en-US" dirty="0"/>
              <a:t>   </a:t>
            </a:r>
            <a:r>
              <a:rPr lang="en-US" altLang="zh-CN" dirty="0"/>
              <a:t>0</a:t>
            </a:r>
            <a:r>
              <a:rPr lang="zh-CN" altLang="en-US" dirty="0"/>
              <a:t>幺元</a:t>
            </a:r>
            <a:r>
              <a:rPr lang="en-US" altLang="zh-CN" dirty="0">
                <a:latin typeface="宋体" panose="02010600030101010101" pitchFamily="2" charset="-122"/>
              </a:rPr>
              <a:t>,</a:t>
            </a:r>
            <a:r>
              <a:rPr lang="zh-CN" altLang="en-US" dirty="0"/>
              <a:t>结合</a:t>
            </a:r>
            <a:r>
              <a:rPr lang="en-US" altLang="zh-CN" dirty="0">
                <a:latin typeface="宋体" panose="02010600030101010101" pitchFamily="2" charset="-122"/>
              </a:rPr>
              <a:t>,</a:t>
            </a:r>
            <a:r>
              <a:rPr lang="zh-CN" altLang="en-US" dirty="0"/>
              <a:t>任意</a:t>
            </a:r>
            <a:r>
              <a:rPr lang="en-US" altLang="zh-CN" dirty="0" err="1"/>
              <a:t>a∈A</a:t>
            </a:r>
            <a:r>
              <a:rPr lang="en-US" altLang="zh-CN" dirty="0">
                <a:latin typeface="宋体" panose="02010600030101010101" pitchFamily="2" charset="-122"/>
              </a:rPr>
              <a:t>,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宋体" panose="02010600030101010101" pitchFamily="2" charset="-122"/>
              </a:rPr>
              <a:t>          </a:t>
            </a:r>
            <a:r>
              <a:rPr lang="en-US" altLang="zh-CN" dirty="0"/>
              <a:t>a</a:t>
            </a:r>
            <a:r>
              <a:rPr lang="zh-CN" altLang="en-US" dirty="0"/>
              <a:t>的逆元</a:t>
            </a:r>
            <a:r>
              <a:rPr lang="en-US" altLang="zh-CN" dirty="0">
                <a:solidFill>
                  <a:srgbClr val="CC0066"/>
                </a:solidFill>
              </a:rPr>
              <a:t>a</a:t>
            </a:r>
            <a:r>
              <a:rPr lang="en-US" altLang="zh-CN" baseline="30000" dirty="0">
                <a:solidFill>
                  <a:srgbClr val="CC0066"/>
                </a:solidFill>
              </a:rPr>
              <a:t>-1</a:t>
            </a:r>
            <a:r>
              <a:rPr lang="zh-CN" altLang="en-US" dirty="0"/>
              <a:t>＝－</a:t>
            </a:r>
            <a:r>
              <a:rPr lang="en-US" altLang="zh-CN" dirty="0"/>
              <a:t>a </a:t>
            </a:r>
            <a:r>
              <a:rPr lang="zh-CN" altLang="en-US" dirty="0"/>
              <a:t>。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</a:t>
            </a:r>
            <a:r>
              <a:rPr lang="zh-CN" altLang="en-US" dirty="0">
                <a:solidFill>
                  <a:schemeClr val="accent1"/>
                </a:solidFill>
              </a:rPr>
              <a:t>关于</a:t>
            </a:r>
            <a:r>
              <a:rPr lang="en-US" altLang="zh-CN" dirty="0">
                <a:solidFill>
                  <a:schemeClr val="accent1"/>
                </a:solidFill>
              </a:rPr>
              <a:t>×</a:t>
            </a:r>
            <a:r>
              <a:rPr lang="en-US" altLang="zh-CN" dirty="0"/>
              <a:t>   1</a:t>
            </a:r>
            <a:r>
              <a:rPr lang="zh-CN" altLang="en-US" dirty="0"/>
              <a:t>幺元</a:t>
            </a:r>
            <a:r>
              <a:rPr lang="en-US" altLang="zh-CN" dirty="0">
                <a:latin typeface="宋体" panose="02010600030101010101" pitchFamily="2" charset="-122"/>
              </a:rPr>
              <a:t>,</a:t>
            </a:r>
            <a:r>
              <a:rPr lang="zh-CN" altLang="en-US" dirty="0"/>
              <a:t>结合</a:t>
            </a:r>
            <a:r>
              <a:rPr lang="en-US" altLang="zh-CN" dirty="0">
                <a:latin typeface="宋体" panose="02010600030101010101" pitchFamily="2" charset="-122"/>
              </a:rPr>
              <a:t>,</a:t>
            </a:r>
            <a:r>
              <a:rPr lang="zh-CN" altLang="en-US" dirty="0"/>
              <a:t>任意</a:t>
            </a:r>
            <a:r>
              <a:rPr lang="en-US" altLang="zh-CN" dirty="0" err="1"/>
              <a:t>a∈A</a:t>
            </a:r>
            <a:r>
              <a:rPr lang="en-US" altLang="zh-CN" dirty="0"/>
              <a:t>(a≠0)</a:t>
            </a:r>
            <a:r>
              <a:rPr lang="en-US" altLang="zh-CN" dirty="0">
                <a:latin typeface="宋体" panose="02010600030101010101" pitchFamily="2" charset="-122"/>
              </a:rPr>
              <a:t>,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宋体" panose="02010600030101010101" pitchFamily="2" charset="-122"/>
              </a:rPr>
              <a:t>          </a:t>
            </a:r>
            <a:r>
              <a:rPr lang="en-US" altLang="zh-CN" dirty="0"/>
              <a:t>a</a:t>
            </a:r>
            <a:r>
              <a:rPr lang="zh-CN" altLang="en-US" dirty="0"/>
              <a:t>的逆元 </a:t>
            </a:r>
            <a:r>
              <a:rPr lang="en-US" altLang="zh-CN" dirty="0">
                <a:solidFill>
                  <a:srgbClr val="CC0066"/>
                </a:solidFill>
              </a:rPr>
              <a:t>a</a:t>
            </a:r>
            <a:r>
              <a:rPr lang="en-US" altLang="zh-CN" baseline="30000" dirty="0">
                <a:solidFill>
                  <a:srgbClr val="CC0066"/>
                </a:solidFill>
              </a:rPr>
              <a:t>-1</a:t>
            </a:r>
            <a:r>
              <a:rPr lang="zh-CN" altLang="en-US" dirty="0"/>
              <a:t>＝ </a:t>
            </a:r>
          </a:p>
        </p:txBody>
      </p:sp>
      <p:graphicFrame>
        <p:nvGraphicFramePr>
          <p:cNvPr id="20484" name="Object 4">
            <a:extLst>
              <a:ext uri="{FF2B5EF4-FFF2-40B4-BE49-F238E27FC236}">
                <a16:creationId xmlns:a16="http://schemas.microsoft.com/office/drawing/2014/main" id="{33DC9D58-6621-E85C-4CBC-7B39DED0B0BB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5219700" y="5949950"/>
          <a:ext cx="284163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334" imgH="393529" progId="Equation.DSMT4">
                  <p:embed/>
                </p:oleObj>
              </mc:Choice>
              <mc:Fallback>
                <p:oleObj name="Equation" r:id="rId2" imgW="152334" imgH="393529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5949950"/>
                        <a:ext cx="284163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741678D3-BCE6-3051-4E11-73C494D823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5.2.4 </a:t>
            </a:r>
            <a:r>
              <a:rPr lang="zh-CN" altLang="en-US" sz="5400"/>
              <a:t>独异点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B7472870-7BDC-6D16-5DFD-EEA45A9C5E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916113"/>
            <a:ext cx="8604250" cy="4941887"/>
          </a:xfrm>
        </p:spPr>
        <p:txBody>
          <a:bodyPr/>
          <a:lstStyle/>
          <a:p>
            <a:pPr eaLnBrk="1" hangingPunct="1">
              <a:lnSpc>
                <a:spcPct val="185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hlink"/>
                </a:solidFill>
              </a:rPr>
              <a:t>5.2.1 </a:t>
            </a:r>
            <a:r>
              <a:rPr lang="zh-CN" altLang="en-US" dirty="0"/>
              <a:t>设</a:t>
            </a:r>
            <a:r>
              <a:rPr lang="en-US" altLang="zh-CN" dirty="0">
                <a:latin typeface="宋体" panose="02010600030101010101" pitchFamily="2" charset="-122"/>
              </a:rPr>
              <a:t>&lt;</a:t>
            </a:r>
            <a:r>
              <a:rPr lang="en-US" altLang="zh-CN" dirty="0"/>
              <a:t>A,</a:t>
            </a:r>
            <a:r>
              <a:rPr lang="en-US" altLang="en-US" dirty="0"/>
              <a:t>＊</a:t>
            </a:r>
            <a:r>
              <a:rPr lang="en-US" altLang="zh-CN" dirty="0">
                <a:latin typeface="宋体" panose="02010600030101010101" pitchFamily="2" charset="-122"/>
              </a:rPr>
              <a:t>&gt;</a:t>
            </a:r>
            <a:r>
              <a:rPr lang="zh-CN" altLang="en-US" dirty="0"/>
              <a:t>是半群，若</a:t>
            </a:r>
            <a:r>
              <a:rPr lang="en-US" altLang="zh-CN" dirty="0"/>
              <a:t>A</a:t>
            </a:r>
            <a:r>
              <a:rPr lang="zh-CN" altLang="en-US" dirty="0"/>
              <a:t>中有关于</a:t>
            </a:r>
            <a:r>
              <a:rPr lang="en-US" altLang="en-US" dirty="0"/>
              <a:t>＊</a:t>
            </a:r>
            <a:r>
              <a:rPr lang="zh-CN" altLang="en-US" dirty="0"/>
              <a:t>运算的幺元，则称</a:t>
            </a:r>
            <a:r>
              <a:rPr lang="en-US" altLang="zh-CN" dirty="0">
                <a:latin typeface="宋体" panose="02010600030101010101" pitchFamily="2" charset="-122"/>
              </a:rPr>
              <a:t>&lt;</a:t>
            </a:r>
            <a:r>
              <a:rPr lang="en-US" altLang="zh-CN" dirty="0"/>
              <a:t>A,</a:t>
            </a:r>
            <a:r>
              <a:rPr lang="en-US" altLang="en-US" dirty="0"/>
              <a:t>＊</a:t>
            </a:r>
            <a:r>
              <a:rPr lang="en-US" altLang="zh-CN" dirty="0">
                <a:latin typeface="宋体" panose="02010600030101010101" pitchFamily="2" charset="-122"/>
              </a:rPr>
              <a:t>&gt;</a:t>
            </a:r>
            <a:r>
              <a:rPr lang="zh-CN" altLang="en-US" dirty="0"/>
              <a:t>为</a:t>
            </a:r>
            <a:r>
              <a:rPr lang="zh-CN" altLang="en-US" b="1" dirty="0">
                <a:solidFill>
                  <a:schemeClr val="hlink"/>
                </a:solidFill>
              </a:rPr>
              <a:t>独异点</a:t>
            </a:r>
            <a:r>
              <a:rPr lang="en-US" altLang="zh-CN" dirty="0"/>
              <a:t>(monoid)</a:t>
            </a:r>
            <a:r>
              <a:rPr lang="zh-CN" altLang="en-US" dirty="0"/>
              <a:t>。</a:t>
            </a:r>
            <a:endParaRPr lang="en-US" altLang="zh-CN" dirty="0"/>
          </a:p>
          <a:p>
            <a:pPr eaLnBrk="1" hangingPunct="1">
              <a:lnSpc>
                <a:spcPct val="185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hlink"/>
                </a:solidFill>
              </a:rPr>
              <a:t>5.2.2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dirty="0">
                <a:latin typeface="宋体" panose="02010600030101010101" pitchFamily="2" charset="-122"/>
              </a:rPr>
              <a:t>&lt;</a:t>
            </a:r>
            <a:r>
              <a:rPr lang="en-US" altLang="zh-CN" dirty="0"/>
              <a:t>A,</a:t>
            </a:r>
            <a:r>
              <a:rPr lang="en-US" altLang="en-US" dirty="0"/>
              <a:t>＊</a:t>
            </a:r>
            <a:r>
              <a:rPr lang="en-US" altLang="zh-CN" dirty="0">
                <a:latin typeface="宋体" panose="02010600030101010101" pitchFamily="2" charset="-122"/>
              </a:rPr>
              <a:t>&gt;</a:t>
            </a:r>
            <a:r>
              <a:rPr lang="zh-CN" altLang="en-US" dirty="0"/>
              <a:t>是独异点，</a:t>
            </a:r>
            <a:r>
              <a:rPr lang="en-US" altLang="zh-CN" dirty="0"/>
              <a:t>B</a:t>
            </a:r>
            <a:r>
              <a:rPr lang="zh-CN" altLang="en-US" dirty="0"/>
              <a:t>是</a:t>
            </a:r>
            <a:r>
              <a:rPr lang="en-US" altLang="zh-CN" dirty="0"/>
              <a:t>A</a:t>
            </a:r>
            <a:r>
              <a:rPr lang="zh-CN" altLang="en-US" dirty="0"/>
              <a:t>的非空子集，若</a:t>
            </a:r>
            <a:r>
              <a:rPr lang="en-US" altLang="zh-CN" dirty="0">
                <a:latin typeface="宋体" panose="02010600030101010101" pitchFamily="2" charset="-122"/>
              </a:rPr>
              <a:t>&lt;</a:t>
            </a:r>
            <a:r>
              <a:rPr lang="en-US" altLang="zh-CN" dirty="0"/>
              <a:t>B,</a:t>
            </a:r>
            <a:r>
              <a:rPr lang="en-US" altLang="en-US" dirty="0"/>
              <a:t>＊</a:t>
            </a:r>
            <a:r>
              <a:rPr lang="en-US" altLang="zh-CN" dirty="0">
                <a:latin typeface="宋体" panose="02010600030101010101" pitchFamily="2" charset="-122"/>
              </a:rPr>
              <a:t>&gt;</a:t>
            </a:r>
            <a:r>
              <a:rPr lang="zh-CN" altLang="en-US" dirty="0"/>
              <a:t>也是独异点，则称</a:t>
            </a:r>
            <a:r>
              <a:rPr lang="en-US" altLang="zh-CN" dirty="0">
                <a:latin typeface="宋体" panose="02010600030101010101" pitchFamily="2" charset="-122"/>
              </a:rPr>
              <a:t>&lt;</a:t>
            </a:r>
            <a:r>
              <a:rPr lang="en-US" altLang="zh-CN" dirty="0"/>
              <a:t>B,</a:t>
            </a:r>
            <a:r>
              <a:rPr lang="en-US" altLang="en-US" dirty="0"/>
              <a:t>＊</a:t>
            </a:r>
            <a:r>
              <a:rPr lang="en-US" altLang="zh-CN" dirty="0">
                <a:latin typeface="宋体" panose="02010600030101010101" pitchFamily="2" charset="-122"/>
              </a:rPr>
              <a:t>&gt;</a:t>
            </a:r>
            <a:r>
              <a:rPr lang="zh-CN" altLang="en-US" dirty="0"/>
              <a:t>是独异点</a:t>
            </a:r>
            <a:r>
              <a:rPr lang="en-US" altLang="zh-CN" dirty="0">
                <a:latin typeface="宋体" panose="02010600030101010101" pitchFamily="2" charset="-122"/>
              </a:rPr>
              <a:t>&lt;</a:t>
            </a:r>
            <a:r>
              <a:rPr lang="en-US" altLang="zh-CN" dirty="0"/>
              <a:t>A,</a:t>
            </a:r>
            <a:r>
              <a:rPr lang="en-US" altLang="en-US" dirty="0"/>
              <a:t>＊</a:t>
            </a:r>
            <a:r>
              <a:rPr lang="en-US" altLang="zh-CN" dirty="0">
                <a:latin typeface="宋体" panose="02010600030101010101" pitchFamily="2" charset="-122"/>
              </a:rPr>
              <a:t>&gt;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chemeClr val="hlink"/>
                </a:solidFill>
              </a:rPr>
              <a:t>子独异点</a:t>
            </a:r>
            <a:r>
              <a:rPr lang="en-US" altLang="zh-CN" dirty="0"/>
              <a:t>(</a:t>
            </a:r>
            <a:r>
              <a:rPr lang="en-US" altLang="zh-CN" dirty="0" err="1"/>
              <a:t>submonoid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34CEB330-9FB0-F515-5461-74C05025BF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5.2.4 </a:t>
            </a:r>
            <a:r>
              <a:rPr lang="zh-CN" altLang="en-US" sz="5400"/>
              <a:t>独异点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91BFA2F0-5600-4A35-91E6-C13D1F759B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424862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独异点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R,</a:t>
            </a:r>
            <a:r>
              <a:rPr lang="zh-CN" altLang="en-US" dirty="0"/>
              <a:t>＋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zh-CN" altLang="en-US" dirty="0">
                <a:latin typeface="宋体" pitchFamily="2" charset="-122"/>
              </a:rPr>
              <a:t>与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I,</a:t>
            </a:r>
            <a:r>
              <a:rPr lang="zh-CN" altLang="en-US" dirty="0"/>
              <a:t>＋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zh-CN" altLang="en-US" dirty="0">
                <a:latin typeface="宋体" pitchFamily="2" charset="-122"/>
              </a:rPr>
              <a:t>，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R,×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zh-CN" altLang="en-US" dirty="0">
                <a:latin typeface="宋体" pitchFamily="2" charset="-122"/>
              </a:rPr>
              <a:t>与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I,×</a:t>
            </a:r>
            <a:r>
              <a:rPr lang="en-US" altLang="zh-CN" dirty="0">
                <a:latin typeface="宋体" pitchFamily="2" charset="-122"/>
              </a:rPr>
              <a:t>&gt;</a:t>
            </a: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设</a:t>
            </a:r>
            <a:r>
              <a:rPr lang="en-US" altLang="zh-CN" dirty="0"/>
              <a:t>R</a:t>
            </a:r>
            <a:r>
              <a:rPr lang="zh-CN" altLang="en-US" dirty="0"/>
              <a:t>实数集，</a:t>
            </a:r>
            <a:r>
              <a:rPr lang="en-US" altLang="zh-CN" dirty="0"/>
              <a:t>I</a:t>
            </a:r>
            <a:r>
              <a:rPr lang="zh-CN" altLang="en-US" dirty="0"/>
              <a:t>整数集， ＋</a:t>
            </a:r>
            <a:r>
              <a:rPr lang="en-US" altLang="zh-CN" dirty="0"/>
              <a:t>,×</a:t>
            </a:r>
            <a:r>
              <a:rPr lang="zh-CN" altLang="en-US" dirty="0"/>
              <a:t>分别是实数加 </a:t>
            </a:r>
            <a:endParaRPr lang="en-US" altLang="zh-CN" dirty="0"/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en-US" dirty="0"/>
              <a:t>运算与乘运算。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独异点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P(A),∩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zh-CN" altLang="en-US" dirty="0">
                <a:latin typeface="宋体" pitchFamily="2" charset="-122"/>
              </a:rPr>
              <a:t>与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P(A),∪</a:t>
            </a:r>
            <a:r>
              <a:rPr lang="en-US" altLang="zh-CN" dirty="0">
                <a:latin typeface="宋体" pitchFamily="2" charset="-122"/>
              </a:rPr>
              <a:t>&gt;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P(A)</a:t>
            </a:r>
            <a:r>
              <a:rPr lang="zh-CN" altLang="en-US" dirty="0"/>
              <a:t>是有限集</a:t>
            </a:r>
            <a:r>
              <a:rPr lang="en-US" altLang="zh-CN" dirty="0"/>
              <a:t>A</a:t>
            </a:r>
            <a:r>
              <a:rPr lang="zh-CN" altLang="en-US" dirty="0"/>
              <a:t>的幂集，∩</a:t>
            </a:r>
            <a:r>
              <a:rPr lang="en-US" altLang="zh-CN" dirty="0"/>
              <a:t>,∪</a:t>
            </a:r>
            <a:r>
              <a:rPr lang="zh-CN" altLang="en-US" dirty="0"/>
              <a:t>分别是集合的交运算与并运算。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859959A6-2A2B-3E74-DF40-F9F01868E3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5.2.4 </a:t>
            </a:r>
            <a:r>
              <a:rPr lang="zh-CN" altLang="en-US" sz="5400"/>
              <a:t>独异点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C48F5FDC-DFC6-227B-F3E5-EAC4ED9017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424862" cy="5013325"/>
          </a:xfrm>
        </p:spPr>
        <p:txBody>
          <a:bodyPr/>
          <a:lstStyle/>
          <a:p>
            <a:pPr eaLnBrk="1" hangingPunct="1">
              <a:lnSpc>
                <a:spcPct val="19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5.2.1</a:t>
            </a:r>
            <a:r>
              <a:rPr lang="zh-CN" altLang="en-US" dirty="0"/>
              <a:t>设</a:t>
            </a:r>
            <a:r>
              <a:rPr lang="en-US" altLang="zh-CN" dirty="0"/>
              <a:t>m</a:t>
            </a:r>
            <a:r>
              <a:rPr lang="zh-CN" altLang="en-US" dirty="0"/>
              <a:t>是大于</a:t>
            </a:r>
            <a:r>
              <a:rPr lang="en-US" altLang="zh-CN" dirty="0"/>
              <a:t>1</a:t>
            </a:r>
            <a:r>
              <a:rPr lang="zh-CN" altLang="en-US" dirty="0"/>
              <a:t>的正整数</a:t>
            </a:r>
            <a:r>
              <a:rPr lang="en-US" altLang="zh-CN" dirty="0">
                <a:latin typeface="宋体" panose="02010600030101010101" pitchFamily="2" charset="-122"/>
              </a:rPr>
              <a:t>,</a:t>
            </a:r>
            <a:r>
              <a:rPr lang="zh-CN" altLang="en-US" dirty="0"/>
              <a:t>模</a:t>
            </a:r>
            <a:r>
              <a:rPr lang="en-US" altLang="zh-CN" dirty="0"/>
              <a:t>m</a:t>
            </a:r>
            <a:r>
              <a:rPr lang="zh-CN" altLang="en-US" dirty="0"/>
              <a:t>同余类集合</a:t>
            </a:r>
            <a:r>
              <a:rPr lang="en-US" altLang="zh-CN" dirty="0" err="1"/>
              <a:t>Z</a:t>
            </a:r>
            <a:r>
              <a:rPr lang="en-US" altLang="zh-CN" baseline="-25000" dirty="0" err="1"/>
              <a:t>m</a:t>
            </a:r>
            <a:r>
              <a:rPr lang="zh-CN" altLang="en-US" dirty="0"/>
              <a:t>＝</a:t>
            </a:r>
            <a:r>
              <a:rPr lang="en-US" altLang="zh-CN" dirty="0"/>
              <a:t>{[0],[1],</a:t>
            </a:r>
            <a:r>
              <a:rPr lang="en-US" altLang="zh-CN" dirty="0">
                <a:latin typeface="Arial" panose="020B0604020202020204" pitchFamily="34" charset="0"/>
              </a:rPr>
              <a:t>…</a:t>
            </a:r>
            <a:r>
              <a:rPr lang="en-US" altLang="zh-CN" dirty="0"/>
              <a:t>,[m-1]}</a:t>
            </a:r>
            <a:r>
              <a:rPr lang="en-US" altLang="zh-CN" dirty="0">
                <a:latin typeface="宋体" panose="02010600030101010101" pitchFamily="2" charset="-122"/>
              </a:rPr>
              <a:t>,</a:t>
            </a:r>
            <a:r>
              <a:rPr lang="zh-CN" altLang="en-US" dirty="0"/>
              <a:t>任意</a:t>
            </a:r>
            <a:r>
              <a:rPr lang="en-US" altLang="zh-CN" dirty="0" err="1"/>
              <a:t>a,b∈Z</a:t>
            </a:r>
            <a:r>
              <a:rPr lang="en-US" altLang="zh-CN" baseline="-25000" dirty="0" err="1"/>
              <a:t>m</a:t>
            </a:r>
            <a:r>
              <a:rPr lang="en-US" altLang="zh-CN" dirty="0">
                <a:latin typeface="宋体" panose="02010600030101010101" pitchFamily="2" charset="-122"/>
              </a:rPr>
              <a:t>,</a:t>
            </a:r>
            <a:r>
              <a:rPr lang="zh-CN" altLang="en-US" dirty="0"/>
              <a:t>规定  </a:t>
            </a:r>
            <a:r>
              <a:rPr lang="en-US" altLang="zh-CN" dirty="0"/>
              <a:t>a</a:t>
            </a:r>
            <a:r>
              <a:rPr lang="zh-CN" altLang="en-US" dirty="0"/>
              <a:t>＋</a:t>
            </a:r>
            <a:r>
              <a:rPr lang="en-US" altLang="zh-CN" baseline="-25000" dirty="0"/>
              <a:t>m</a:t>
            </a:r>
            <a:r>
              <a:rPr lang="en-US" altLang="zh-CN" dirty="0"/>
              <a:t>b</a:t>
            </a:r>
            <a:r>
              <a:rPr lang="zh-CN" altLang="en-US" dirty="0"/>
              <a:t>＝</a:t>
            </a:r>
            <a:r>
              <a:rPr lang="en-US" altLang="zh-CN" dirty="0"/>
              <a:t>(a</a:t>
            </a:r>
            <a:r>
              <a:rPr lang="zh-CN" altLang="en-US" dirty="0"/>
              <a:t>＋</a:t>
            </a:r>
            <a:r>
              <a:rPr lang="en-US" altLang="zh-CN" dirty="0"/>
              <a:t>b)mod m   </a:t>
            </a:r>
          </a:p>
          <a:p>
            <a:pPr eaLnBrk="1" hangingPunct="1">
              <a:lnSpc>
                <a:spcPct val="1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a×</a:t>
            </a:r>
            <a:r>
              <a:rPr lang="en-US" altLang="zh-CN" baseline="-25000" dirty="0" err="1"/>
              <a:t>m</a:t>
            </a:r>
            <a:r>
              <a:rPr lang="en-US" altLang="zh-CN" dirty="0" err="1"/>
              <a:t>b</a:t>
            </a:r>
            <a:r>
              <a:rPr lang="zh-CN" altLang="en-US" dirty="0"/>
              <a:t>＝</a:t>
            </a:r>
            <a:r>
              <a:rPr lang="en-US" altLang="zh-CN" dirty="0"/>
              <a:t>(</a:t>
            </a:r>
            <a:r>
              <a:rPr lang="en-US" altLang="zh-CN" dirty="0" err="1"/>
              <a:t>a×b</a:t>
            </a:r>
            <a:r>
              <a:rPr lang="en-US" altLang="zh-CN" dirty="0"/>
              <a:t>)mod m</a:t>
            </a:r>
          </a:p>
          <a:p>
            <a:pPr eaLnBrk="1" hangingPunct="1">
              <a:lnSpc>
                <a:spcPct val="1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则</a:t>
            </a:r>
            <a:r>
              <a:rPr lang="en-US" altLang="zh-CN" dirty="0">
                <a:latin typeface="宋体" panose="02010600030101010101" pitchFamily="2" charset="-122"/>
              </a:rPr>
              <a:t>&lt;</a:t>
            </a:r>
            <a:r>
              <a:rPr lang="en-US" altLang="zh-CN" dirty="0" err="1"/>
              <a:t>Z</a:t>
            </a:r>
            <a:r>
              <a:rPr lang="en-US" altLang="zh-CN" baseline="-25000" dirty="0" err="1"/>
              <a:t>m</a:t>
            </a:r>
            <a:r>
              <a:rPr lang="en-US" altLang="zh-CN" dirty="0"/>
              <a:t>,</a:t>
            </a:r>
            <a:r>
              <a:rPr lang="zh-CN" altLang="en-US" dirty="0"/>
              <a:t>＋</a:t>
            </a:r>
            <a:r>
              <a:rPr lang="en-US" altLang="zh-CN" baseline="-25000" dirty="0"/>
              <a:t>m</a:t>
            </a:r>
            <a:r>
              <a:rPr lang="en-US" altLang="zh-CN" dirty="0">
                <a:latin typeface="宋体" panose="02010600030101010101" pitchFamily="2" charset="-122"/>
              </a:rPr>
              <a:t>&gt;</a:t>
            </a:r>
            <a:r>
              <a:rPr lang="zh-CN" altLang="en-US" dirty="0"/>
              <a:t>与</a:t>
            </a:r>
            <a:r>
              <a:rPr lang="en-US" altLang="zh-CN" dirty="0">
                <a:latin typeface="宋体" panose="02010600030101010101" pitchFamily="2" charset="-122"/>
              </a:rPr>
              <a:t>&lt;</a:t>
            </a:r>
            <a:r>
              <a:rPr lang="en-US" altLang="zh-CN" dirty="0" err="1"/>
              <a:t>Z</a:t>
            </a:r>
            <a:r>
              <a:rPr lang="en-US" altLang="zh-CN" baseline="-25000" dirty="0" err="1"/>
              <a:t>m</a:t>
            </a:r>
            <a:r>
              <a:rPr lang="en-US" altLang="zh-CN" dirty="0"/>
              <a:t>,×</a:t>
            </a:r>
            <a:r>
              <a:rPr lang="en-US" altLang="zh-CN" baseline="-25000" dirty="0"/>
              <a:t>m</a:t>
            </a:r>
            <a:r>
              <a:rPr lang="en-US" altLang="zh-CN" dirty="0">
                <a:latin typeface="宋体" panose="02010600030101010101" pitchFamily="2" charset="-122"/>
              </a:rPr>
              <a:t>&gt;</a:t>
            </a:r>
            <a:r>
              <a:rPr lang="zh-CN" altLang="en-US" dirty="0"/>
              <a:t>都是独异点。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7CB6298-7D45-4B2E-08A4-87C74AC74F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5.2.4 </a:t>
            </a:r>
            <a:r>
              <a:rPr lang="zh-CN" altLang="en-US" sz="5400"/>
              <a:t>独异点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A6362A98-A6C1-B25A-E07E-6BE5337CA4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zh-CN" altLang="en-US" b="1" dirty="0">
                <a:solidFill>
                  <a:schemeClr val="hlink"/>
                </a:solidFill>
              </a:rPr>
              <a:t>证明</a:t>
            </a:r>
            <a:r>
              <a:rPr lang="zh-CN" altLang="en-US" dirty="0"/>
              <a:t>  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accent1"/>
                </a:solidFill>
              </a:rPr>
              <a:t>1</a:t>
            </a:r>
            <a:r>
              <a:rPr lang="en-US" altLang="zh-CN" dirty="0"/>
              <a:t>)</a:t>
            </a:r>
            <a:r>
              <a:rPr lang="zh-CN" altLang="en-US" dirty="0"/>
              <a:t>＋</a:t>
            </a:r>
            <a:r>
              <a:rPr lang="en-US" altLang="zh-CN" baseline="-25000" dirty="0"/>
              <a:t>m</a:t>
            </a:r>
            <a:r>
              <a:rPr lang="zh-CN" altLang="en-US" dirty="0"/>
              <a:t>与</a:t>
            </a:r>
            <a:r>
              <a:rPr lang="en-US" altLang="zh-CN" dirty="0"/>
              <a:t>×</a:t>
            </a:r>
            <a:r>
              <a:rPr lang="en-US" altLang="zh-CN" baseline="-25000" dirty="0"/>
              <a:t>m</a:t>
            </a:r>
            <a:r>
              <a:rPr lang="zh-CN" altLang="en-US" dirty="0"/>
              <a:t>都是</a:t>
            </a:r>
            <a:r>
              <a:rPr lang="en-US" altLang="zh-CN" dirty="0" err="1"/>
              <a:t>Z</a:t>
            </a:r>
            <a:r>
              <a:rPr lang="en-US" altLang="zh-CN" baseline="-25000" dirty="0" err="1"/>
              <a:t>m</a:t>
            </a:r>
            <a:r>
              <a:rPr lang="zh-CN" altLang="en-US" dirty="0"/>
              <a:t>上的代数运算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0066FF"/>
                </a:solidFill>
              </a:rPr>
              <a:t>2</a:t>
            </a:r>
            <a:r>
              <a:rPr lang="en-US" altLang="zh-CN" dirty="0"/>
              <a:t>)</a:t>
            </a:r>
            <a:r>
              <a:rPr lang="zh-CN" altLang="en-US" dirty="0"/>
              <a:t>任取</a:t>
            </a:r>
            <a:r>
              <a:rPr lang="en-US" altLang="zh-CN" dirty="0" err="1"/>
              <a:t>i,j,k∈Z</a:t>
            </a:r>
            <a:r>
              <a:rPr lang="en-US" altLang="zh-CN" baseline="-25000" dirty="0" err="1"/>
              <a:t>m</a:t>
            </a:r>
            <a:r>
              <a:rPr lang="en-US" altLang="zh-CN" dirty="0">
                <a:latin typeface="宋体" panose="02010600030101010101" pitchFamily="2" charset="-122"/>
              </a:rPr>
              <a:t>,</a:t>
            </a:r>
            <a:r>
              <a:rPr lang="zh-CN" altLang="en-US" dirty="0"/>
              <a:t>则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  </a:t>
            </a:r>
            <a:r>
              <a:rPr lang="en-US" altLang="zh-CN" dirty="0">
                <a:solidFill>
                  <a:srgbClr val="CC0066"/>
                </a:solidFill>
              </a:rPr>
              <a:t>(</a:t>
            </a:r>
            <a:r>
              <a:rPr lang="en-US" altLang="zh-CN" dirty="0" err="1"/>
              <a:t>i</a:t>
            </a:r>
            <a:r>
              <a:rPr lang="zh-CN" altLang="en-US" dirty="0"/>
              <a:t>＋</a:t>
            </a:r>
            <a:r>
              <a:rPr lang="en-US" altLang="zh-CN" baseline="-25000" dirty="0" err="1"/>
              <a:t>m</a:t>
            </a:r>
            <a:r>
              <a:rPr lang="en-US" altLang="zh-CN" dirty="0" err="1"/>
              <a:t>j</a:t>
            </a:r>
            <a:r>
              <a:rPr lang="en-US" altLang="zh-CN" dirty="0">
                <a:solidFill>
                  <a:srgbClr val="CC0066"/>
                </a:solidFill>
              </a:rPr>
              <a:t>)</a:t>
            </a:r>
            <a:r>
              <a:rPr lang="zh-CN" altLang="en-US" dirty="0"/>
              <a:t>＋</a:t>
            </a:r>
            <a:r>
              <a:rPr lang="en-US" altLang="zh-CN" baseline="-25000" dirty="0" err="1"/>
              <a:t>m</a:t>
            </a:r>
            <a:r>
              <a:rPr lang="en-US" altLang="zh-CN" dirty="0" err="1"/>
              <a:t>k</a:t>
            </a:r>
            <a:endParaRPr lang="en-US" altLang="zh-CN" dirty="0"/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</a:t>
            </a:r>
            <a:r>
              <a:rPr lang="zh-CN" altLang="en-US" dirty="0"/>
              <a:t>＝</a:t>
            </a:r>
            <a:r>
              <a:rPr lang="en-US" altLang="zh-CN" dirty="0" err="1"/>
              <a:t>i</a:t>
            </a:r>
            <a:r>
              <a:rPr lang="zh-CN" altLang="en-US" dirty="0"/>
              <a:t>＋</a:t>
            </a:r>
            <a:r>
              <a:rPr lang="en-US" altLang="zh-CN" baseline="-25000" dirty="0"/>
              <a:t>m</a:t>
            </a:r>
            <a:r>
              <a:rPr lang="en-US" altLang="zh-CN" dirty="0">
                <a:solidFill>
                  <a:srgbClr val="CC0066"/>
                </a:solidFill>
              </a:rPr>
              <a:t>(</a:t>
            </a:r>
            <a:r>
              <a:rPr lang="en-US" altLang="zh-CN" dirty="0"/>
              <a:t>j</a:t>
            </a:r>
            <a:r>
              <a:rPr lang="zh-CN" altLang="en-US" dirty="0"/>
              <a:t>＋</a:t>
            </a:r>
            <a:r>
              <a:rPr lang="en-US" altLang="zh-CN" baseline="-25000" dirty="0" err="1"/>
              <a:t>m</a:t>
            </a:r>
            <a:r>
              <a:rPr lang="en-US" altLang="zh-CN" dirty="0" err="1"/>
              <a:t>k</a:t>
            </a:r>
            <a:r>
              <a:rPr lang="en-US" altLang="zh-CN" dirty="0">
                <a:solidFill>
                  <a:srgbClr val="CC0066"/>
                </a:solidFill>
              </a:rPr>
              <a:t>)</a:t>
            </a:r>
            <a:r>
              <a:rPr lang="zh-CN" altLang="en-US" dirty="0"/>
              <a:t>＝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zh-CN" altLang="en-US" dirty="0"/>
              <a:t>＋</a:t>
            </a:r>
            <a:r>
              <a:rPr lang="en-US" altLang="zh-CN" dirty="0"/>
              <a:t>j</a:t>
            </a:r>
            <a:r>
              <a:rPr lang="zh-CN" altLang="en-US" dirty="0"/>
              <a:t>＋</a:t>
            </a:r>
            <a:r>
              <a:rPr lang="en-US" altLang="zh-CN" dirty="0"/>
              <a:t>k)mod m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</a:t>
            </a:r>
            <a:r>
              <a:rPr lang="en-US" altLang="zh-CN" dirty="0">
                <a:solidFill>
                  <a:srgbClr val="339933"/>
                </a:solidFill>
              </a:rPr>
              <a:t>(</a:t>
            </a:r>
            <a:r>
              <a:rPr lang="en-US" altLang="zh-CN" dirty="0" err="1"/>
              <a:t>i×</a:t>
            </a:r>
            <a:r>
              <a:rPr lang="en-US" altLang="zh-CN" baseline="-25000" dirty="0" err="1"/>
              <a:t>m</a:t>
            </a:r>
            <a:r>
              <a:rPr lang="en-US" altLang="zh-CN" dirty="0" err="1"/>
              <a:t>j</a:t>
            </a:r>
            <a:r>
              <a:rPr lang="en-US" altLang="zh-CN" dirty="0">
                <a:solidFill>
                  <a:srgbClr val="339933"/>
                </a:solidFill>
              </a:rPr>
              <a:t>)</a:t>
            </a:r>
            <a:r>
              <a:rPr lang="en-US" altLang="zh-CN" dirty="0"/>
              <a:t>×</a:t>
            </a:r>
            <a:r>
              <a:rPr lang="en-US" altLang="zh-CN" baseline="-25000" dirty="0" err="1"/>
              <a:t>m</a:t>
            </a:r>
            <a:r>
              <a:rPr lang="en-US" altLang="zh-CN" dirty="0" err="1"/>
              <a:t>k</a:t>
            </a:r>
            <a:endParaRPr lang="en-US" altLang="zh-CN" dirty="0"/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</a:t>
            </a:r>
            <a:r>
              <a:rPr lang="zh-CN" altLang="en-US" dirty="0"/>
              <a:t>＝</a:t>
            </a:r>
            <a:r>
              <a:rPr lang="en-US" altLang="zh-CN" dirty="0" err="1"/>
              <a:t>i×</a:t>
            </a:r>
            <a:r>
              <a:rPr lang="en-US" altLang="zh-CN" baseline="-25000" dirty="0" err="1"/>
              <a:t>m</a:t>
            </a:r>
            <a:r>
              <a:rPr lang="en-US" altLang="zh-CN" dirty="0">
                <a:solidFill>
                  <a:srgbClr val="339933"/>
                </a:solidFill>
              </a:rPr>
              <a:t>(</a:t>
            </a:r>
            <a:r>
              <a:rPr lang="en-US" altLang="zh-CN" dirty="0" err="1"/>
              <a:t>j×</a:t>
            </a:r>
            <a:r>
              <a:rPr lang="en-US" altLang="zh-CN" baseline="-25000" dirty="0" err="1"/>
              <a:t>m</a:t>
            </a:r>
            <a:r>
              <a:rPr lang="en-US" altLang="zh-CN" dirty="0" err="1"/>
              <a:t>k</a:t>
            </a:r>
            <a:r>
              <a:rPr lang="en-US" altLang="zh-CN" dirty="0">
                <a:solidFill>
                  <a:srgbClr val="339933"/>
                </a:solidFill>
              </a:rPr>
              <a:t>)</a:t>
            </a:r>
            <a:r>
              <a:rPr lang="zh-CN" altLang="en-US" dirty="0"/>
              <a:t>＝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 j k)mod m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(</a:t>
            </a:r>
            <a:r>
              <a:rPr lang="en-US" altLang="zh-CN" dirty="0">
                <a:solidFill>
                  <a:schemeClr val="accent1"/>
                </a:solidFill>
              </a:rPr>
              <a:t>3</a:t>
            </a:r>
            <a:r>
              <a:rPr lang="en-US" altLang="zh-CN" dirty="0"/>
              <a:t>)</a:t>
            </a:r>
            <a:r>
              <a:rPr lang="zh-CN" altLang="en-US" dirty="0"/>
              <a:t>＋</a:t>
            </a:r>
            <a:r>
              <a:rPr lang="en-US" altLang="zh-CN" baseline="-25000" dirty="0"/>
              <a:t>m</a:t>
            </a:r>
            <a:r>
              <a:rPr lang="zh-CN" altLang="en-US" dirty="0"/>
              <a:t>的幺元为</a:t>
            </a:r>
            <a:r>
              <a:rPr lang="en-US" altLang="zh-CN" dirty="0"/>
              <a:t>0</a:t>
            </a:r>
            <a:r>
              <a:rPr lang="en-US" altLang="zh-CN" dirty="0">
                <a:latin typeface="宋体" panose="02010600030101010101" pitchFamily="2" charset="-122"/>
              </a:rPr>
              <a:t>,</a:t>
            </a:r>
            <a:r>
              <a:rPr lang="en-US" altLang="zh-CN" dirty="0"/>
              <a:t>×</a:t>
            </a:r>
            <a:r>
              <a:rPr lang="en-US" altLang="zh-CN" baseline="-25000" dirty="0"/>
              <a:t>m</a:t>
            </a:r>
            <a:r>
              <a:rPr lang="zh-CN" altLang="en-US" dirty="0"/>
              <a:t>的幺元为</a:t>
            </a:r>
            <a:r>
              <a:rPr lang="en-US" altLang="zh-CN" dirty="0"/>
              <a:t>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06A1E8FE-53DE-39F0-9573-3B18B1BDF97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defTabSz="901700" eaLnBrk="1" hangingPunct="1">
              <a:lnSpc>
                <a:spcPct val="120000"/>
              </a:lnSpc>
              <a:tabLst>
                <a:tab pos="6184900" algn="l"/>
              </a:tabLst>
            </a:pPr>
            <a:r>
              <a:rPr lang="zh-CN" altLang="en-US">
                <a:solidFill>
                  <a:schemeClr val="hlink"/>
                </a:solidFill>
              </a:rPr>
              <a:t>例如</a:t>
            </a:r>
            <a:r>
              <a:rPr lang="zh-CN" altLang="en-US"/>
              <a:t>，</a:t>
            </a:r>
            <a:r>
              <a:rPr lang="en-US" altLang="zh-CN">
                <a:latin typeface="宋体" panose="02010600030101010101" pitchFamily="2" charset="-122"/>
              </a:rPr>
              <a:t>&lt;</a:t>
            </a:r>
            <a:r>
              <a:rPr lang="en-US" altLang="zh-CN"/>
              <a:t>Z</a:t>
            </a:r>
            <a:r>
              <a:rPr lang="en-US" altLang="zh-CN" baseline="-25000"/>
              <a:t>6</a:t>
            </a:r>
            <a:r>
              <a:rPr lang="en-US" altLang="zh-CN"/>
              <a:t>,</a:t>
            </a:r>
            <a:r>
              <a:rPr lang="zh-CN" altLang="en-US"/>
              <a:t>＋</a:t>
            </a:r>
            <a:r>
              <a:rPr lang="en-US" altLang="zh-CN" baseline="-25000"/>
              <a:t>6</a:t>
            </a:r>
            <a:r>
              <a:rPr lang="en-US" altLang="zh-CN">
                <a:latin typeface="宋体" panose="02010600030101010101" pitchFamily="2" charset="-122"/>
              </a:rPr>
              <a:t>&gt;</a:t>
            </a:r>
            <a:r>
              <a:rPr lang="zh-CN" altLang="en-US">
                <a:latin typeface="宋体" panose="02010600030101010101" pitchFamily="2" charset="-122"/>
              </a:rPr>
              <a:t>的运算表</a:t>
            </a:r>
            <a:endParaRPr lang="zh-CN" altLang="en-US"/>
          </a:p>
          <a:p>
            <a:pPr defTabSz="901700" eaLnBrk="1" hangingPunct="1">
              <a:tabLst>
                <a:tab pos="6184900" algn="l"/>
              </a:tabLst>
            </a:pPr>
            <a:endParaRPr lang="zh-CN" altLang="en-US" sz="2800"/>
          </a:p>
          <a:p>
            <a:pPr defTabSz="901700" eaLnBrk="1" hangingPunct="1">
              <a:tabLst>
                <a:tab pos="6184900" algn="l"/>
              </a:tabLst>
            </a:pPr>
            <a:endParaRPr lang="en-US" altLang="zh-CN" sz="2800"/>
          </a:p>
        </p:txBody>
      </p:sp>
      <p:graphicFrame>
        <p:nvGraphicFramePr>
          <p:cNvPr id="161821" name="Group 29">
            <a:extLst>
              <a:ext uri="{FF2B5EF4-FFF2-40B4-BE49-F238E27FC236}">
                <a16:creationId xmlns:a16="http://schemas.microsoft.com/office/drawing/2014/main" id="{88FAE472-5E05-B2F8-F089-DA923DB21C76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1116013" y="2565400"/>
          <a:ext cx="6480175" cy="4152900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6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＋</a:t>
                      </a:r>
                      <a:r>
                        <a:rPr kumimoji="0" lang="en-US" altLang="zh-CN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[0]   [1]   [2]   [3]   [4]   [5]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7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[0]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[1]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[2]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[3]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[4]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[5]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[0]   [1]   [2]   [3]   [4]   [5]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[1]   [2]   [3]   [4]   [5]   [0]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[2]   [3]   [4]   [5]   [0]   [1] 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[3]   [4]   [5]   [0]   [1]   [2]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[4]   [5]   [0]   [1]   [2]   [3]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[5]   [0]   [1]   [2]   [3]   [4]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610" name="Rectangle 18">
            <a:extLst>
              <a:ext uri="{FF2B5EF4-FFF2-40B4-BE49-F238E27FC236}">
                <a16:creationId xmlns:a16="http://schemas.microsoft.com/office/drawing/2014/main" id="{B755CA66-4E4D-E5F0-2A5E-A9C289EB38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sz="5400"/>
              <a:t>5.2.4 </a:t>
            </a:r>
            <a:r>
              <a:rPr lang="zh-CN" altLang="en-US" sz="5400"/>
              <a:t>独异点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73F81A85-D16F-871E-177A-E15C14C42D7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defTabSz="901700" eaLnBrk="1" hangingPunct="1">
              <a:lnSpc>
                <a:spcPct val="120000"/>
              </a:lnSpc>
              <a:tabLst>
                <a:tab pos="6184900" algn="l"/>
              </a:tabLst>
            </a:pPr>
            <a:r>
              <a:rPr lang="zh-CN" altLang="en-US">
                <a:solidFill>
                  <a:schemeClr val="hlink"/>
                </a:solidFill>
              </a:rPr>
              <a:t>例如</a:t>
            </a:r>
            <a:r>
              <a:rPr lang="zh-CN" altLang="en-US"/>
              <a:t>，</a:t>
            </a:r>
            <a:r>
              <a:rPr lang="en-US" altLang="zh-CN">
                <a:latin typeface="宋体" panose="02010600030101010101" pitchFamily="2" charset="-122"/>
              </a:rPr>
              <a:t>&lt;</a:t>
            </a:r>
            <a:r>
              <a:rPr lang="en-US" altLang="zh-CN"/>
              <a:t>Z</a:t>
            </a:r>
            <a:r>
              <a:rPr lang="en-US" altLang="zh-CN" baseline="-25000"/>
              <a:t>6</a:t>
            </a:r>
            <a:r>
              <a:rPr lang="en-US" altLang="zh-CN"/>
              <a:t>,×</a:t>
            </a:r>
            <a:r>
              <a:rPr lang="en-US" altLang="zh-CN" baseline="-25000"/>
              <a:t>6</a:t>
            </a:r>
            <a:r>
              <a:rPr lang="en-US" altLang="zh-CN">
                <a:latin typeface="宋体" panose="02010600030101010101" pitchFamily="2" charset="-122"/>
              </a:rPr>
              <a:t>&gt;</a:t>
            </a:r>
            <a:r>
              <a:rPr lang="zh-CN" altLang="en-US">
                <a:latin typeface="宋体" panose="02010600030101010101" pitchFamily="2" charset="-122"/>
              </a:rPr>
              <a:t>的运算表</a:t>
            </a:r>
            <a:endParaRPr lang="zh-CN" altLang="en-US"/>
          </a:p>
          <a:p>
            <a:pPr defTabSz="901700" eaLnBrk="1" hangingPunct="1">
              <a:tabLst>
                <a:tab pos="6184900" algn="l"/>
              </a:tabLst>
            </a:pPr>
            <a:endParaRPr lang="zh-CN" altLang="en-US" sz="2800"/>
          </a:p>
          <a:p>
            <a:pPr defTabSz="901700" eaLnBrk="1" hangingPunct="1">
              <a:tabLst>
                <a:tab pos="6184900" algn="l"/>
              </a:tabLst>
            </a:pPr>
            <a:endParaRPr lang="en-US" altLang="zh-CN" sz="2800"/>
          </a:p>
        </p:txBody>
      </p:sp>
      <p:graphicFrame>
        <p:nvGraphicFramePr>
          <p:cNvPr id="168984" name="Group 24">
            <a:extLst>
              <a:ext uri="{FF2B5EF4-FFF2-40B4-BE49-F238E27FC236}">
                <a16:creationId xmlns:a16="http://schemas.microsoft.com/office/drawing/2014/main" id="{552DC979-344D-DAF2-1BEF-68C8D6C1B5B4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1116013" y="2565400"/>
          <a:ext cx="6480175" cy="4152900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6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×</a:t>
                      </a:r>
                      <a:r>
                        <a:rPr kumimoji="0" lang="en-US" altLang="zh-CN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[0]   [1]   [2]   [3]   [4]   [5]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7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[0]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[1]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[2]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[3]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[4]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[5]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[0]   [0]   [0]   [0]   [0]   [0]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[0]   [1]   [2]   [3]   [4]   [5]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[0]   [2]   [4]   [0]   [2]   [4] 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[0]   [3]   [0]   [3]   [0]   [3]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[0]   [4]   [2]   [0]   [4]   [2]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[0]   [5]   [4]   [3]   [2]   [1]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634" name="Rectangle 18">
            <a:extLst>
              <a:ext uri="{FF2B5EF4-FFF2-40B4-BE49-F238E27FC236}">
                <a16:creationId xmlns:a16="http://schemas.microsoft.com/office/drawing/2014/main" id="{0F5A9CEE-1615-A360-19C5-0D098FC265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sz="5400"/>
              <a:t>5.2.4 </a:t>
            </a:r>
            <a:r>
              <a:rPr lang="zh-CN" altLang="en-US" sz="5400"/>
              <a:t>独异点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4">
            <a:extLst>
              <a:ext uri="{FF2B5EF4-FFF2-40B4-BE49-F238E27FC236}">
                <a16:creationId xmlns:a16="http://schemas.microsoft.com/office/drawing/2014/main" id="{6DB798ED-024A-5BC9-4F20-5B7B57B21E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5.2.4 </a:t>
            </a:r>
            <a:r>
              <a:rPr lang="zh-CN" altLang="en-US" sz="5400"/>
              <a:t>独异点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40930F1E-A0AB-484D-2F48-789A8974AF0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844675"/>
            <a:ext cx="8424862" cy="5013325"/>
          </a:xfrm>
        </p:spPr>
        <p:txBody>
          <a:bodyPr/>
          <a:lstStyle/>
          <a:p>
            <a:pPr eaLnBrk="1" hangingPunct="1">
              <a:lnSpc>
                <a:spcPct val="135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5.2.5</a:t>
            </a:r>
            <a:r>
              <a:rPr lang="zh-CN" altLang="en-US" dirty="0"/>
              <a:t>设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A,</a:t>
            </a:r>
            <a:r>
              <a:rPr lang="en-US" altLang="en-US" dirty="0"/>
              <a:t>＊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zh-CN" altLang="en-US" dirty="0"/>
              <a:t>是一个独异点，则</a:t>
            </a:r>
            <a:r>
              <a:rPr lang="en-US" altLang="en-US" dirty="0"/>
              <a:t>＊</a:t>
            </a:r>
            <a:r>
              <a:rPr lang="zh-CN" altLang="en-US" dirty="0"/>
              <a:t>运算的运算表中任意两行或两列都不相同。</a:t>
            </a:r>
            <a:endParaRPr lang="zh-CN" altLang="en-US" b="1" dirty="0"/>
          </a:p>
          <a:p>
            <a:pPr marL="0" indent="0" eaLnBrk="1" hangingPunct="1">
              <a:lnSpc>
                <a:spcPct val="135000"/>
              </a:lnSpc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   证明</a:t>
            </a:r>
            <a:r>
              <a:rPr lang="zh-CN" altLang="en-US" dirty="0"/>
              <a:t>设</a:t>
            </a:r>
            <a:r>
              <a:rPr lang="en-US" altLang="zh-CN" dirty="0"/>
              <a:t>e</a:t>
            </a:r>
            <a:r>
              <a:rPr lang="zh-CN" altLang="en-US" dirty="0"/>
              <a:t>为幺元，任取</a:t>
            </a:r>
            <a:r>
              <a:rPr lang="en-US" altLang="zh-CN" dirty="0" err="1"/>
              <a:t>a,b∈A</a:t>
            </a:r>
            <a:r>
              <a:rPr lang="zh-CN" altLang="en-US" dirty="0"/>
              <a:t>且</a:t>
            </a:r>
            <a:r>
              <a:rPr lang="en-US" altLang="zh-CN" dirty="0" err="1"/>
              <a:t>a≠b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</a:t>
            </a:r>
          </a:p>
        </p:txBody>
      </p:sp>
      <p:graphicFrame>
        <p:nvGraphicFramePr>
          <p:cNvPr id="129107" name="Group 83">
            <a:extLst>
              <a:ext uri="{FF2B5EF4-FFF2-40B4-BE49-F238E27FC236}">
                <a16:creationId xmlns:a16="http://schemas.microsoft.com/office/drawing/2014/main" id="{4F0B2CEF-84B6-B2AB-8EA2-9CA4A60B7DFD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2124075" y="4202113"/>
          <a:ext cx="4968875" cy="2540000"/>
        </p:xfrm>
        <a:graphic>
          <a:graphicData uri="http://schemas.openxmlformats.org/drawingml/2006/table">
            <a:tbl>
              <a:tblPr/>
              <a:tblGrid>
                <a:gridCol w="75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3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＊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T="45729" marB="45729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</a:t>
                      </a:r>
                      <a:r>
                        <a:rPr kumimoji="0" lang="zh-CN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charset="-122"/>
                        </a:rPr>
                        <a:t>…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a 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charset="-122"/>
                        </a:rPr>
                        <a:t>…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b  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charset="-122"/>
                        </a:rPr>
                        <a:t>…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96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T="45729" marB="45729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</a:t>
                      </a:r>
                      <a:r>
                        <a:rPr kumimoji="0" lang="zh-CN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charset="-122"/>
                        </a:rPr>
                        <a:t>…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e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＊</a:t>
                      </a:r>
                      <a:r>
                        <a:rPr kumimoji="0" lang="en-US" altLang="en-US" sz="3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a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</a:t>
                      </a:r>
                      <a:r>
                        <a:rPr kumimoji="0" lang="zh-CN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charset="-122"/>
                        </a:rPr>
                        <a:t>…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e</a:t>
                      </a:r>
                      <a:r>
                        <a:rPr kumimoji="0" lang="en-US" alt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＊</a:t>
                      </a:r>
                      <a:r>
                        <a:rPr kumimoji="0" lang="en-US" altLang="en-US" sz="3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b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</a:t>
                      </a:r>
                      <a:r>
                        <a:rPr kumimoji="0" lang="zh-CN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charset="-122"/>
                        </a:rPr>
                        <a:t>…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659" name="Object 37">
            <a:extLst>
              <a:ext uri="{FF2B5EF4-FFF2-40B4-BE49-F238E27FC236}">
                <a16:creationId xmlns:a16="http://schemas.microsoft.com/office/drawing/2014/main" id="{BE7824B9-438B-76E8-BB87-1E156A0750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17738" y="4891088"/>
          <a:ext cx="1936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101" imgH="190252" progId="Equation.DSMT4">
                  <p:embed/>
                </p:oleObj>
              </mc:Choice>
              <mc:Fallback>
                <p:oleObj name="Equation" r:id="rId2" imgW="76101" imgH="190252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7738" y="4891088"/>
                        <a:ext cx="1936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0" name="Object 38">
            <a:extLst>
              <a:ext uri="{FF2B5EF4-FFF2-40B4-BE49-F238E27FC236}">
                <a16:creationId xmlns:a16="http://schemas.microsoft.com/office/drawing/2014/main" id="{BEBF2FF7-9855-0D8B-2584-AE2118693B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73725" y="4891088"/>
          <a:ext cx="1936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6101" imgH="190252" progId="Equation.DSMT4">
                  <p:embed/>
                </p:oleObj>
              </mc:Choice>
              <mc:Fallback>
                <p:oleObj name="Equation" r:id="rId4" imgW="76101" imgH="190252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3725" y="4891088"/>
                        <a:ext cx="1936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1" name="Object 39">
            <a:extLst>
              <a:ext uri="{FF2B5EF4-FFF2-40B4-BE49-F238E27FC236}">
                <a16:creationId xmlns:a16="http://schemas.microsoft.com/office/drawing/2014/main" id="{4C3E63BD-002A-31D4-EFF8-A672679E4F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0" y="5970588"/>
          <a:ext cx="1936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6101" imgH="190252" progId="Equation.DSMT4">
                  <p:embed/>
                </p:oleObj>
              </mc:Choice>
              <mc:Fallback>
                <p:oleObj name="Equation" r:id="rId5" imgW="76101" imgH="190252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5970588"/>
                        <a:ext cx="1936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2" name="Object 40">
            <a:extLst>
              <a:ext uri="{FF2B5EF4-FFF2-40B4-BE49-F238E27FC236}">
                <a16:creationId xmlns:a16="http://schemas.microsoft.com/office/drawing/2014/main" id="{FCF24095-3EDA-78A0-79F7-86109EB5A0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3" y="5899150"/>
          <a:ext cx="1936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6101" imgH="190252" progId="Equation.DSMT4">
                  <p:embed/>
                </p:oleObj>
              </mc:Choice>
              <mc:Fallback>
                <p:oleObj name="Equation" r:id="rId6" imgW="76101" imgH="190252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5899150"/>
                        <a:ext cx="1936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3" name="Object 48">
            <a:extLst>
              <a:ext uri="{FF2B5EF4-FFF2-40B4-BE49-F238E27FC236}">
                <a16:creationId xmlns:a16="http://schemas.microsoft.com/office/drawing/2014/main" id="{01C54115-B6AF-203C-09C5-238179C9D5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7175" y="5970588"/>
          <a:ext cx="1936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6101" imgH="190252" progId="Equation.DSMT4">
                  <p:embed/>
                </p:oleObj>
              </mc:Choice>
              <mc:Fallback>
                <p:oleObj name="Equation" r:id="rId7" imgW="76101" imgH="190252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5970588"/>
                        <a:ext cx="1936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4" name="Object 85">
            <a:extLst>
              <a:ext uri="{FF2B5EF4-FFF2-40B4-BE49-F238E27FC236}">
                <a16:creationId xmlns:a16="http://schemas.microsoft.com/office/drawing/2014/main" id="{30D4B866-6842-0D83-2FC2-18881115DE82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4067175" y="4868863"/>
          <a:ext cx="1936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6101" imgH="190252" progId="Equation.DSMT4">
                  <p:embed/>
                </p:oleObj>
              </mc:Choice>
              <mc:Fallback>
                <p:oleObj name="Equation" r:id="rId8" imgW="76101" imgH="190252" progId="Equation.DSMT4">
                  <p:embed/>
                  <p:pic>
                    <p:nvPicPr>
                      <p:cNvPr id="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4868863"/>
                        <a:ext cx="1936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61A01E5B-64D2-F885-3B59-CAE2318B964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1556792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代数系统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&lt;R,*&gt;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，其中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为实数集，且对任意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y∈R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，定义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x*y=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x+y+xy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，则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&lt;R,*&gt;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是半群吗？是独异点吗？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A812A74-F721-01E4-DD45-94FDD2172EA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E8810AF3-38B2-0199-5016-C52CA7E0D4A6}"/>
              </a:ext>
            </a:extLst>
          </p:cNvPr>
          <p:cNvSpPr txBox="1">
            <a:spLocks/>
          </p:cNvSpPr>
          <p:nvPr/>
        </p:nvSpPr>
        <p:spPr>
          <a:xfrm>
            <a:off x="1096963" y="742565"/>
            <a:ext cx="7793037" cy="146208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sz="5400" kern="0" dirty="0"/>
              <a:t>作  业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74B18D2A-1068-203B-3B5E-F7A6A852E392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0" name="TitleBackground">
              <a:extLst>
                <a:ext uri="{FF2B5EF4-FFF2-40B4-BE49-F238E27FC236}">
                  <a16:creationId xmlns:a16="http://schemas.microsoft.com/office/drawing/2014/main" id="{08738751-243F-A861-9ADE-8AF71957D540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ColorBlock">
              <a:extLst>
                <a:ext uri="{FF2B5EF4-FFF2-40B4-BE49-F238E27FC236}">
                  <a16:creationId xmlns:a16="http://schemas.microsoft.com/office/drawing/2014/main" id="{D8455ED6-0880-6E2D-D01F-674C07F6A47C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TypeText">
              <a:extLst>
                <a:ext uri="{FF2B5EF4-FFF2-40B4-BE49-F238E27FC236}">
                  <a16:creationId xmlns:a16="http://schemas.microsoft.com/office/drawing/2014/main" id="{C6D77D4B-1970-7606-6A51-C12148E60E56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3" name="TipText">
              <a:extLst>
                <a:ext uri="{FF2B5EF4-FFF2-40B4-BE49-F238E27FC236}">
                  <a16:creationId xmlns:a16="http://schemas.microsoft.com/office/drawing/2014/main" id="{410AE135-786C-183F-52AE-409DA2E42E4A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120C4DEF-12AE-8284-3B41-8ABBA8E00941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259599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1961</TotalTime>
  <Words>2354</Words>
  <Application>Microsoft Office PowerPoint</Application>
  <PresentationFormat>全屏显示(4:3)</PresentationFormat>
  <Paragraphs>262</Paragraphs>
  <Slides>29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6" baseType="lpstr">
      <vt:lpstr>宋体</vt:lpstr>
      <vt:lpstr>Microsoft Yahei</vt:lpstr>
      <vt:lpstr>Arial</vt:lpstr>
      <vt:lpstr>Tahoma</vt:lpstr>
      <vt:lpstr>Wingdings</vt:lpstr>
      <vt:lpstr>Blends</vt:lpstr>
      <vt:lpstr>Equation</vt:lpstr>
      <vt:lpstr> 5.2 幺元、零元和逆元 </vt:lpstr>
      <vt:lpstr>5.2.1 幺元</vt:lpstr>
      <vt:lpstr>5.2.1 幺元</vt:lpstr>
      <vt:lpstr>5.2.1 幺元</vt:lpstr>
      <vt:lpstr>5.2.1 幺元</vt:lpstr>
      <vt:lpstr>5.2.1 幺元</vt:lpstr>
      <vt:lpstr>PowerPoint 演示文稿</vt:lpstr>
      <vt:lpstr>PowerPoint 演示文稿</vt:lpstr>
      <vt:lpstr>5.2.1 零元</vt:lpstr>
      <vt:lpstr>5.2.2 零元</vt:lpstr>
      <vt:lpstr>5.2.2 零元</vt:lpstr>
      <vt:lpstr>5.2.2 零元</vt:lpstr>
      <vt:lpstr>5.2.2 零元</vt:lpstr>
      <vt:lpstr>PowerPoint 演示文稿</vt:lpstr>
      <vt:lpstr>5.2.2 零元</vt:lpstr>
      <vt:lpstr>5.2.3 逆元</vt:lpstr>
      <vt:lpstr>5.2.3 逆元</vt:lpstr>
      <vt:lpstr>5.2.3 逆元</vt:lpstr>
      <vt:lpstr>5.2.3 逆元</vt:lpstr>
      <vt:lpstr>5.2.3 逆元</vt:lpstr>
      <vt:lpstr>5.2.3 逆元</vt:lpstr>
      <vt:lpstr>5.2.4 独异点</vt:lpstr>
      <vt:lpstr>5.2.4 独异点</vt:lpstr>
      <vt:lpstr>5.2.4 独异点</vt:lpstr>
      <vt:lpstr>5.2.4 独异点</vt:lpstr>
      <vt:lpstr>5.2.4 独异点</vt:lpstr>
      <vt:lpstr>5.2.4 独异点</vt:lpstr>
      <vt:lpstr>5.2.4 独异点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LENOVO</cp:lastModifiedBy>
  <cp:revision>58</cp:revision>
  <dcterms:created xsi:type="dcterms:W3CDTF">2010-04-09T13:44:14Z</dcterms:created>
  <dcterms:modified xsi:type="dcterms:W3CDTF">2023-12-21T07:46:28Z</dcterms:modified>
</cp:coreProperties>
</file>