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47" r:id="rId2"/>
  </p:sldMasterIdLst>
  <p:sldIdLst>
    <p:sldId id="304" r:id="rId3"/>
    <p:sldId id="349" r:id="rId4"/>
    <p:sldId id="305" r:id="rId5"/>
    <p:sldId id="393" r:id="rId6"/>
    <p:sldId id="394" r:id="rId7"/>
    <p:sldId id="307" r:id="rId8"/>
    <p:sldId id="308" r:id="rId9"/>
    <p:sldId id="412" r:id="rId10"/>
    <p:sldId id="365" r:id="rId11"/>
    <p:sldId id="310" r:id="rId12"/>
    <p:sldId id="414" r:id="rId13"/>
    <p:sldId id="311" r:id="rId14"/>
    <p:sldId id="369" r:id="rId15"/>
    <p:sldId id="312" r:id="rId16"/>
    <p:sldId id="396" r:id="rId17"/>
    <p:sldId id="398" r:id="rId18"/>
    <p:sldId id="313" r:id="rId19"/>
    <p:sldId id="373" r:id="rId20"/>
    <p:sldId id="379" r:id="rId21"/>
    <p:sldId id="383" r:id="rId22"/>
    <p:sldId id="314" r:id="rId23"/>
    <p:sldId id="375" r:id="rId24"/>
    <p:sldId id="404" r:id="rId25"/>
    <p:sldId id="386" r:id="rId26"/>
    <p:sldId id="427" r:id="rId27"/>
    <p:sldId id="428" r:id="rId28"/>
    <p:sldId id="429" r:id="rId29"/>
    <p:sldId id="430" r:id="rId30"/>
    <p:sldId id="387" r:id="rId31"/>
    <p:sldId id="402" r:id="rId32"/>
    <p:sldId id="319" r:id="rId33"/>
    <p:sldId id="323" r:id="rId34"/>
    <p:sldId id="422" r:id="rId35"/>
    <p:sldId id="389" r:id="rId36"/>
    <p:sldId id="425" r:id="rId37"/>
    <p:sldId id="426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66"/>
    <a:srgbClr val="FF00FF"/>
    <a:srgbClr val="008080"/>
    <a:srgbClr val="339933"/>
    <a:srgbClr val="CC0066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A1A5AF-EE07-D302-FB99-620D9AAEAC1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882959F-2248-4080-8FDC-DFB0B539B6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1D5BBEF-CF61-DA79-3BE5-0C09C8335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CC28EF3-3CB5-43C5-5907-7CBBDE158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9583C9C-3B3F-2361-FB2F-27F00637D5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699A59-D097-399C-8936-8480A5F7E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44F06D-E4FE-B4B5-1443-F0F618F6F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E1735F6-7C84-D8FD-C286-AA8A095E2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470DFCF-DD4C-D513-A472-4CC7E6B9B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98EABD1B-CE6A-4E28-D318-F5D33DA3BD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92680D8-BDB0-501B-E5FC-E348216139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FDD9C5D8-2E17-ABBD-07C3-872EE5F03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318CC62-B1E4-CCBC-F1ED-1B9CFFAB6D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C90EED3-6C3B-40F3-A48B-2B00C61A59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842DE2-7128-1551-AC96-3F9D8D6463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3CB75FB-110A-2AB1-364B-C38129A0C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D3CD2E7-FCD6-8067-ACE1-D47302F50B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5CB11-8650-436D-8D0F-0A06905D12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41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542EBFF-A8B9-1D03-325E-875479D119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C2C5AA1-5C0B-C1E7-3CE0-F875487032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3876807-F344-36A1-78D8-831E086B1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F77A3-9ACE-4422-98BB-0C27D61D01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69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00AD03F-09CA-BF22-DFDF-C907B723F7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15461DE-5DCB-8CB9-51F4-8942C5FED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A2830F9-11F8-FC12-7B1A-9BAAB84E6A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51DAB-A2A5-402F-9970-86D1F78B11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44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B2B06C9-51D7-C90D-163B-A7059B1E00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C57F473-751B-DB7C-08A0-D768FA6754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A570D5F-1636-9A3F-CB0A-B20C9A5086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2A488-2942-488D-90E7-4716EAC751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50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E1C756F-61EE-4E21-356F-859224C963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015AF38-F1A0-B391-B745-2E6790282B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F7F70CF-55AB-9B7E-54FA-BC8D5770A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7A0E70-D28C-4D43-8808-9BE328EF09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85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BB25A03-FFC3-0776-E6EF-7091DD1B87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650600B4-55F3-EED2-EF8C-B50D96ED62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BE29B4A-8D8C-AD06-B883-4D291F5181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2F553-29C4-428D-80DF-3784270035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47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92A6138-9519-F1B2-C1F1-D7241215B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78DFF44-784D-0DAC-68A1-2CA4F09D02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E371B17-DD61-3EF3-F05D-1B915067FE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2B3D7-6201-4B8A-AAAE-8B65C6BC33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78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9DC1192-2656-26AD-9EB2-5A10450299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3040CF1-0CD2-7A4F-EA05-E707F8ED2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88AFD77-DE46-1DDC-BB8D-C219C366D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CABA9-A92C-4BFD-A48B-617C76E3F4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455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1680992-754B-A438-32E3-F72FCC7AA2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601D33B-8529-3302-8FEA-030D313358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C89F24B-B251-924C-8129-C135705AD4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4393F-4A0F-4244-85DF-DB8F170EAB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94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BD9FD0A-D84F-5CBA-C034-78E70274C9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07E9324-EE6C-E0E2-9571-F1A657D8D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E4ED49D-9C24-8D60-EE84-E90EDCA367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31692-87AC-4897-952A-999F5385B7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54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6EBB58A-250F-72A9-5787-AC8B1C8D7F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86EC76B-3D62-61F6-C445-88D61AE60B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5316F06-09EB-B927-049C-85EBBA55B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DB566-79A4-4127-91B0-873A596D48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826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4641BFA-2A5A-2841-1C0D-322D3C741D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D430640-5375-265A-9C21-E2B8073755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A3F1CCA-BD89-EDBF-DFC0-0FE492340D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18633-A891-4674-B20A-1C55DF59EB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466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5A7FAF-A152-768A-883A-FD3C1C0FCC5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DD8BAF0-4F51-D9C9-AE3F-3F45160C39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0AB0661-9C34-CC1F-6477-1FE6C754E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A12CDA29-AAE6-5234-D737-8A5E7F226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DB92EEFE-1C18-36B2-C9D3-A5B81B955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34B94B6-CFE9-2A59-9CB8-831D3FBCF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E5911BA-73FA-FA39-0FF0-E24826A88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03C9171C-4B7B-DF67-F38E-5D64951F1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72D2688-C473-1568-6224-BBEDAE77F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8555A207-16BC-F74E-C2B0-2A61A545C4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49BFABD-63F0-497E-8F01-01FAD3B9E3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30388C9-88A4-D828-0EE9-79D1F968FD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A9EC624-1DBD-FAAF-85AC-413876A3FC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0030570B-C8A8-4D8F-B66D-5E62944A8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151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2BCF6AA-EF1F-1D1D-4C41-6D40A4BB5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F369463-D74E-59E4-D4E5-ED0F18D5F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10EB7E6-84B8-5D5D-9F33-29303DE6B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A302B-D857-4F63-9C79-FC311685F9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2079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D7F8492-6651-23C2-D913-EA05B67D2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8B1E4FB-A432-5623-B3D2-E32FDF9775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9387425-8371-8CF5-9627-4B06B147A9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D2187-FBC3-4E1D-B71F-F94CB8035A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148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30687AC-C5A2-3DAC-E031-C4C0F56A3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1076F7C-C05C-F984-D003-61FA5E17E8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8F6A4B2-C643-A217-1031-B86824C9D5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55B45-B05A-4451-A06C-E5200D2BB4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41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60B4952-2F32-E3F4-522E-D919939174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35FE703-F35F-82DE-B299-2F4568EB01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E6BD256-B6EA-FEB6-6BBB-1DD6AB88D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3FA57-51C1-491B-AF3F-0E624E8F5A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88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4302475-E5BB-36E1-218D-26978DC8EB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E00B1E6-BFE9-92A8-10EB-E43009C69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3CA4FF2-A460-3161-C22C-02A080A322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37C13-30A6-40E9-B574-AD1CB49D2F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580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91FA4520-7CBF-40A4-8095-BC811D48C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C1F68CB-0C31-B442-7209-7146FB0A60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47601F3-F34E-12AC-F5DE-AF357BB4A4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9A8ED3-F368-42DD-AC7A-25A3CF15E9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074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1B0FCB1-D954-F1F3-7C9A-BC8BB6FB1D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714DDE6-A604-496A-9A3C-D69D02DA09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681AC5C-89EB-E15C-BBCD-56B19A2528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8462E-4733-45B7-81B0-CBF787BFAD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3797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11FFD01-71B1-5AF5-2869-3C973F2638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491B2D9-A29B-4492-442B-0437901C55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FA77E10-B055-F412-A88A-085128B48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D76C9-341A-4D0A-9AAD-3B9C2AB705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978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7067F3D-FC4E-5508-FEF1-5FD50BBAAE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EEA7BE4-462C-AC90-DEFE-755C85344E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DD92F31-BC29-AE25-CB9F-177EF20B6C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76C87-DC30-4CCE-BAB2-C8C8ED7A88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147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4FD1AAF-19AD-FA47-6F48-CB75A2FA71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C2D95AF-57E8-D20C-6606-E409A1C28D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1412288-8882-8CF9-BEA8-93B2A5E9B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FD058-269B-47A1-81FC-1FD2B7448A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587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9762333-A81A-A694-9538-1CB399AC08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DFB8E4A6-73CC-B5BC-FA80-67558AD50B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859B518-C85B-9980-CAE1-6CD78DBDD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ECB52-CF2B-4160-A807-DA07374CC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2188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F251FCE-9390-A86E-37FF-CAC5399C90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C12FAA7-C749-B522-E22A-03459ED581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453431B-25A9-D7FE-6CFF-F8A15C936D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B8297-3FC2-4670-84DA-F4C4FFC9C6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583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09B9C6-2318-B09F-4304-2F4D6E9AFF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16F3349-D94D-09E7-9F54-B4DF912B5B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A286D1-82E2-CC92-1E74-56E17C762D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84068D3-A788-5A66-0C99-8335BC4414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351050-B963-5FFD-119A-37394E60EF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3AC3D6B-9919-A551-305E-4DFFA4CAB1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B2E4A27-CFE2-9CF9-D2BC-FFE33A2876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B06B9559-9D35-99DA-815A-2EB850F53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5D43179-2B34-0496-1490-2159F53C4B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5F8F4454-5361-A848-EB32-6194FD9367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F53F20CA-D6A2-DE17-3CA6-E37CC62FF1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E14EFD25-7D83-6FB3-D396-AC7006A2A4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400" b="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818CF56D-69CC-4286-B41E-CE788C9399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F3E42E8-67CE-E25B-4FBA-48CC6CCC94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2E413C7-A117-52A0-8A9A-907557A7BF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180894C-C3DA-3900-6FBF-881CC0F011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23A6557-2F76-8D93-BD20-C4B82A511B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505B0CA-EA82-13B9-F073-FBBE996513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D7F9630-C69A-ED65-0771-B7B8FA9C07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F3A5900C-4840-3129-2432-D2760D2768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736F04F4-3795-9E3B-B248-78B047CE9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0D610C11-CB3E-CE55-5BE1-083A647DE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8B01E278-30D2-A082-F6EB-6134C7BBB9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FE93ECE5-F9E2-14E5-4A47-4906E2ABD9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85FC8FAF-517D-EFBB-4136-E8688FC341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400" b="0" smtClean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9F153AF5-F283-47C1-844F-94F660283B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image" Target="../media/image1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image" Target="../media/image3.wmf"/><Relationship Id="rId7" Type="http://schemas.openxmlformats.org/officeDocument/2006/relationships/oleObject" Target="../embeddings/oleObject18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oleObject" Target="../embeddings/oleObject24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8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1.bin"/><Relationship Id="rId11" Type="http://schemas.openxmlformats.org/officeDocument/2006/relationships/oleObject" Target="../embeddings/oleObject36.bin"/><Relationship Id="rId5" Type="http://schemas.openxmlformats.org/officeDocument/2006/relationships/image" Target="../media/image1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0.bin"/><Relationship Id="rId9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4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oleObject" Target="../embeddings/oleObject55.bin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1.wmf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49.bin"/><Relationship Id="rId12" Type="http://schemas.openxmlformats.org/officeDocument/2006/relationships/oleObject" Target="../embeddings/oleObject54.bin"/><Relationship Id="rId17" Type="http://schemas.openxmlformats.org/officeDocument/2006/relationships/oleObject" Target="../embeddings/oleObject59.bin"/><Relationship Id="rId2" Type="http://schemas.openxmlformats.org/officeDocument/2006/relationships/oleObject" Target="../embeddings/oleObject45.bin"/><Relationship Id="rId16" Type="http://schemas.openxmlformats.org/officeDocument/2006/relationships/oleObject" Target="../embeddings/oleObject58.bin"/><Relationship Id="rId20" Type="http://schemas.openxmlformats.org/officeDocument/2006/relationships/image" Target="../media/image3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8.bin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7.bin"/><Relationship Id="rId10" Type="http://schemas.openxmlformats.org/officeDocument/2006/relationships/oleObject" Target="../embeddings/oleObject52.bin"/><Relationship Id="rId19" Type="http://schemas.openxmlformats.org/officeDocument/2006/relationships/oleObject" Target="../embeddings/oleObject61.bin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51.bin"/><Relationship Id="rId14" Type="http://schemas.openxmlformats.org/officeDocument/2006/relationships/oleObject" Target="../embeddings/oleObject56.bin"/><Relationship Id="rId22" Type="http://schemas.openxmlformats.org/officeDocument/2006/relationships/oleObject" Target="../embeddings/oleObject6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oleObject" Target="../embeddings/oleObject73.bin"/><Relationship Id="rId18" Type="http://schemas.openxmlformats.org/officeDocument/2006/relationships/oleObject" Target="../embeddings/oleObject78.bin"/><Relationship Id="rId26" Type="http://schemas.openxmlformats.org/officeDocument/2006/relationships/oleObject" Target="../embeddings/oleObject85.bin"/><Relationship Id="rId3" Type="http://schemas.openxmlformats.org/officeDocument/2006/relationships/image" Target="../media/image1.wmf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67.bin"/><Relationship Id="rId12" Type="http://schemas.openxmlformats.org/officeDocument/2006/relationships/oleObject" Target="../embeddings/oleObject72.bin"/><Relationship Id="rId17" Type="http://schemas.openxmlformats.org/officeDocument/2006/relationships/oleObject" Target="../embeddings/oleObject77.bin"/><Relationship Id="rId25" Type="http://schemas.openxmlformats.org/officeDocument/2006/relationships/oleObject" Target="../embeddings/oleObject84.bin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80.bin"/><Relationship Id="rId29" Type="http://schemas.openxmlformats.org/officeDocument/2006/relationships/oleObject" Target="../embeddings/oleObject8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6.bin"/><Relationship Id="rId11" Type="http://schemas.openxmlformats.org/officeDocument/2006/relationships/oleObject" Target="../embeddings/oleObject71.bin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7.wmf"/><Relationship Id="rId15" Type="http://schemas.openxmlformats.org/officeDocument/2006/relationships/oleObject" Target="../embeddings/oleObject75.bin"/><Relationship Id="rId23" Type="http://schemas.openxmlformats.org/officeDocument/2006/relationships/image" Target="../media/image8.wmf"/><Relationship Id="rId28" Type="http://schemas.openxmlformats.org/officeDocument/2006/relationships/oleObject" Target="../embeddings/oleObject87.bin"/><Relationship Id="rId10" Type="http://schemas.openxmlformats.org/officeDocument/2006/relationships/oleObject" Target="../embeddings/oleObject70.bin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90.bin"/><Relationship Id="rId4" Type="http://schemas.openxmlformats.org/officeDocument/2006/relationships/oleObject" Target="../embeddings/oleObject65.bin"/><Relationship Id="rId9" Type="http://schemas.openxmlformats.org/officeDocument/2006/relationships/oleObject" Target="../embeddings/oleObject69.bin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82.bin"/><Relationship Id="rId27" Type="http://schemas.openxmlformats.org/officeDocument/2006/relationships/oleObject" Target="../embeddings/oleObject86.bin"/><Relationship Id="rId30" Type="http://schemas.openxmlformats.org/officeDocument/2006/relationships/oleObject" Target="../embeddings/oleObject8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95.bin"/><Relationship Id="rId12" Type="http://schemas.openxmlformats.org/officeDocument/2006/relationships/oleObject" Target="../embeddings/oleObject99.bin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3.wmf"/><Relationship Id="rId5" Type="http://schemas.openxmlformats.org/officeDocument/2006/relationships/oleObject" Target="../embeddings/oleObject93.bin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oleObject" Target="../embeddings/oleObject104.bin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3.bin"/><Relationship Id="rId5" Type="http://schemas.openxmlformats.org/officeDocument/2006/relationships/oleObject" Target="../embeddings/oleObject102.bin"/><Relationship Id="rId4" Type="http://schemas.openxmlformats.org/officeDocument/2006/relationships/oleObject" Target="../embeddings/oleObject10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4.xml"/><Relationship Id="rId5" Type="http://schemas.openxmlformats.org/officeDocument/2006/relationships/oleObject" Target="../embeddings/oleObject107.bin"/><Relationship Id="rId4" Type="http://schemas.openxmlformats.org/officeDocument/2006/relationships/oleObject" Target="../embeddings/oleObject10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9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9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9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1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2.wmf"/><Relationship Id="rId3" Type="http://schemas.openxmlformats.org/officeDocument/2006/relationships/image" Target="../media/image1.wmf"/><Relationship Id="rId7" Type="http://schemas.openxmlformats.org/officeDocument/2006/relationships/oleObject" Target="../embeddings/oleObject115.bin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113.bin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2.bin"/><Relationship Id="rId9" Type="http://schemas.openxmlformats.org/officeDocument/2006/relationships/oleObject" Target="../embeddings/oleObject117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2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12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9.png"/><Relationship Id="rId5" Type="http://schemas.openxmlformats.org/officeDocument/2006/relationships/tags" Target="../tags/tag7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8500CEF-FE2F-AE5B-6475-A86E5C563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 </a:t>
            </a:r>
            <a:r>
              <a:rPr lang="zh-CN" altLang="en-US"/>
              <a:t>偏序关系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797DFC9-2B0D-2C2E-8EE7-153F82DAE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1844675"/>
            <a:ext cx="7767638" cy="501332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3.8.1 </a:t>
            </a:r>
            <a:r>
              <a:rPr lang="zh-CN" altLang="en-US" sz="3600" b="1"/>
              <a:t>偏序关系的概念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3.8.2 </a:t>
            </a:r>
            <a:r>
              <a:rPr lang="zh-CN" altLang="en-US" sz="3600" b="1"/>
              <a:t>盖住关系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3.8.3 </a:t>
            </a:r>
            <a:r>
              <a:rPr lang="zh-CN" altLang="en-US" sz="3600" b="1"/>
              <a:t>哈斯图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3.8.4 </a:t>
            </a:r>
            <a:r>
              <a:rPr lang="zh-CN" altLang="en-US" sz="3600" b="1"/>
              <a:t>最大元与极大元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3.8.5 </a:t>
            </a:r>
            <a:r>
              <a:rPr lang="zh-CN" altLang="en-US" sz="3600" b="1"/>
              <a:t>上界与下界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3.8.6 </a:t>
            </a:r>
            <a:r>
              <a:rPr lang="zh-CN" altLang="en-US" sz="3600" b="1"/>
              <a:t>线序集与良序集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F5B1C3F4-D8E2-C2B2-080E-7FDF1156E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3.8.1 </a:t>
            </a:r>
            <a:r>
              <a:rPr lang="zh-CN" altLang="en-US" sz="4800"/>
              <a:t>偏序关系的概念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433630D4-1FB7-3F26-A426-F8512452FC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399462" cy="5013325"/>
          </a:xfrm>
        </p:spPr>
        <p:txBody>
          <a:bodyPr/>
          <a:lstStyle/>
          <a:p>
            <a:pPr eaLnBrk="1" hangingPunct="1">
              <a:lnSpc>
                <a:spcPct val="2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3.8.1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为任意集合，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上的关系，若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自反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FF"/>
                </a:solidFill>
              </a:rPr>
              <a:t>反对称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1"/>
                </a:solidFill>
              </a:rPr>
              <a:t>传递</a:t>
            </a:r>
            <a:r>
              <a:rPr lang="zh-CN" altLang="en-US" dirty="0"/>
              <a:t>关系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则称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hlink"/>
                </a:solidFill>
              </a:rPr>
              <a:t>偏序关系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partial ordering relation</a:t>
            </a:r>
            <a:r>
              <a:rPr lang="en-US" altLang="zh-CN" dirty="0"/>
              <a:t>)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记   </a:t>
            </a:r>
            <a:endParaRPr lang="en-US" altLang="zh-CN" dirty="0"/>
          </a:p>
          <a:p>
            <a:pPr eaLnBrk="1" hangingPunct="1">
              <a:lnSpc>
                <a:spcPct val="220000"/>
              </a:lnSpc>
              <a:defRPr/>
            </a:pPr>
            <a:r>
              <a:rPr lang="zh-CN" altLang="en-US" dirty="0"/>
              <a:t>序偶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/>
              <a:t>称作</a:t>
            </a:r>
            <a:r>
              <a:rPr lang="zh-CN" altLang="en-US" b="1" dirty="0">
                <a:solidFill>
                  <a:srgbClr val="FF00FF"/>
                </a:solidFill>
              </a:rPr>
              <a:t>偏序集</a:t>
            </a:r>
            <a:r>
              <a:rPr lang="en-US" altLang="zh-CN" dirty="0"/>
              <a:t>(</a:t>
            </a:r>
            <a:r>
              <a:rPr lang="en-US" altLang="zh-CN" dirty="0" err="1"/>
              <a:t>poset</a:t>
            </a:r>
            <a:r>
              <a:rPr lang="en-US" altLang="zh-CN" dirty="0"/>
              <a:t>)</a:t>
            </a:r>
            <a:endParaRPr lang="en-US" altLang="zh-CN" sz="2800" dirty="0"/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504CC62E-44E3-AF2F-AF41-29B262024A88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68538" y="5589588"/>
          <a:ext cx="4159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589588"/>
                        <a:ext cx="4159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7">
            <a:extLst>
              <a:ext uri="{FF2B5EF4-FFF2-40B4-BE49-F238E27FC236}">
                <a16:creationId xmlns:a16="http://schemas.microsoft.com/office/drawing/2014/main" id="{FA146717-8D9C-F316-353A-DB8340DA186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8101013" y="4365625"/>
          <a:ext cx="4175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365625"/>
                        <a:ext cx="41751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>
            <a:extLst>
              <a:ext uri="{FF2B5EF4-FFF2-40B4-BE49-F238E27FC236}">
                <a16:creationId xmlns:a16="http://schemas.microsoft.com/office/drawing/2014/main" id="{99E68C3A-25BB-3FC0-9AF1-AF88DA6D3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3.8.1 </a:t>
            </a:r>
            <a:r>
              <a:rPr lang="zh-CN" altLang="en-US" sz="4800"/>
              <a:t>偏序关系的概念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81864CC-69C9-D6DD-B980-300FDA8961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b="1">
                <a:solidFill>
                  <a:schemeClr val="hlink"/>
                </a:solidFill>
              </a:rPr>
              <a:t>注意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(1)</a:t>
            </a:r>
            <a:r>
              <a:rPr lang="zh-CN" altLang="en-US">
                <a:solidFill>
                  <a:srgbClr val="00B050"/>
                </a:solidFill>
              </a:rPr>
              <a:t>偏序关系</a:t>
            </a:r>
            <a:r>
              <a:rPr lang="zh-CN" altLang="en-US"/>
              <a:t>         数的</a:t>
            </a:r>
            <a:r>
              <a:rPr lang="zh-CN" altLang="en-US">
                <a:solidFill>
                  <a:srgbClr val="FF00FF"/>
                </a:solidFill>
              </a:rPr>
              <a:t>不大于</a:t>
            </a:r>
            <a:r>
              <a:rPr lang="zh-CN" altLang="en-US"/>
              <a:t>≤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(2)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  </a:t>
            </a:r>
            <a:r>
              <a:rPr lang="zh-CN" altLang="en-US"/>
              <a:t>  </a:t>
            </a:r>
            <a:r>
              <a:rPr lang="en-US" altLang="zh-CN">
                <a:sym typeface="Symbol" panose="05050102010706020507" pitchFamily="18" charset="2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zh-CN" altLang="en-US">
                <a:sym typeface="Symbol" panose="05050102010706020507" pitchFamily="18" charset="2"/>
              </a:rPr>
              <a:t>    </a:t>
            </a:r>
            <a:r>
              <a:rPr lang="en-US" altLang="zh-CN"/>
              <a:t>a   b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/>
              <a:t>    (3)</a:t>
            </a:r>
            <a:r>
              <a:rPr lang="zh-CN" altLang="en-US"/>
              <a:t>第</a:t>
            </a:r>
            <a:r>
              <a:rPr lang="zh-CN" altLang="en-US">
                <a:solidFill>
                  <a:srgbClr val="FF0066"/>
                </a:solidFill>
              </a:rPr>
              <a:t>六</a:t>
            </a:r>
            <a:r>
              <a:rPr lang="zh-CN" altLang="en-US"/>
              <a:t>章    特殊的偏序集</a:t>
            </a:r>
            <a:r>
              <a:rPr lang="en-US" altLang="zh-CN">
                <a:latin typeface="Arial" panose="020B0604020202020204" pitchFamily="34" charset="0"/>
              </a:rPr>
              <a:t>——</a:t>
            </a:r>
            <a:r>
              <a:rPr lang="zh-CN" altLang="en-US">
                <a:solidFill>
                  <a:schemeClr val="hlink"/>
                </a:solidFill>
              </a:rPr>
              <a:t>格</a:t>
            </a:r>
            <a:r>
              <a:rPr lang="zh-CN" altLang="en-US"/>
              <a:t> </a:t>
            </a:r>
          </a:p>
        </p:txBody>
      </p:sp>
      <p:graphicFrame>
        <p:nvGraphicFramePr>
          <p:cNvPr id="7172" name="Object 10">
            <a:extLst>
              <a:ext uri="{FF2B5EF4-FFF2-40B4-BE49-F238E27FC236}">
                <a16:creationId xmlns:a16="http://schemas.microsoft.com/office/drawing/2014/main" id="{F64A565D-518A-85E6-D044-59854CD22A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0225" y="436562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436562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1">
            <a:extLst>
              <a:ext uri="{FF2B5EF4-FFF2-40B4-BE49-F238E27FC236}">
                <a16:creationId xmlns:a16="http://schemas.microsoft.com/office/drawing/2014/main" id="{CA4D5381-5722-6F2C-1828-B832E4D03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330993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30993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4">
            <a:extLst>
              <a:ext uri="{FF2B5EF4-FFF2-40B4-BE49-F238E27FC236}">
                <a16:creationId xmlns:a16="http://schemas.microsoft.com/office/drawing/2014/main" id="{291CD0D9-0168-680A-D671-7F5188AA5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6350" y="44259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44259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5">
            <a:extLst>
              <a:ext uri="{FF2B5EF4-FFF2-40B4-BE49-F238E27FC236}">
                <a16:creationId xmlns:a16="http://schemas.microsoft.com/office/drawing/2014/main" id="{4533B347-6B1E-132B-1881-78404D672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3.8.1 </a:t>
            </a:r>
            <a:r>
              <a:rPr lang="zh-CN" altLang="en-US"/>
              <a:t>偏序关系的概念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9A8C888-34B9-0E64-4447-3336230F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2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3.8.2    </a:t>
            </a:r>
            <a:r>
              <a:rPr lang="zh-CN" altLang="en-US" dirty="0"/>
              <a:t>设偏序集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，</a:t>
            </a:r>
            <a:r>
              <a:rPr lang="zh-CN" altLang="en-US" dirty="0"/>
              <a:t>任取</a:t>
            </a:r>
            <a:r>
              <a:rPr lang="en-US" altLang="zh-CN" dirty="0" err="1"/>
              <a:t>a,b∈A</a:t>
            </a:r>
            <a:r>
              <a:rPr lang="zh-CN" altLang="en-US" dirty="0">
                <a:latin typeface="宋体" pitchFamily="2" charset="-122"/>
              </a:rPr>
              <a:t>，</a:t>
            </a:r>
            <a:endParaRPr lang="en-US" altLang="zh-CN" dirty="0">
              <a:latin typeface="宋体" pitchFamily="2" charset="-122"/>
            </a:endParaRPr>
          </a:p>
          <a:p>
            <a:pPr marL="0" indent="0"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rgbClr val="00B050"/>
                </a:solidFill>
              </a:rPr>
              <a:t>若</a:t>
            </a:r>
            <a:r>
              <a:rPr lang="en-US" altLang="zh-CN" dirty="0"/>
              <a:t>a   b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/>
              <a:t>称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b="1" dirty="0">
                <a:solidFill>
                  <a:schemeClr val="hlink"/>
                </a:solidFill>
              </a:rPr>
              <a:t>可比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comparable</a:t>
            </a:r>
            <a:r>
              <a:rPr lang="en-US" altLang="zh-CN" dirty="0"/>
              <a:t>)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zh-CN" altLang="en-US" b="1" dirty="0">
                <a:solidFill>
                  <a:schemeClr val="accent1"/>
                </a:solidFill>
              </a:rPr>
              <a:t>小</a:t>
            </a:r>
            <a:r>
              <a:rPr lang="en-US" altLang="zh-CN" dirty="0"/>
              <a:t>b</a:t>
            </a:r>
            <a:r>
              <a:rPr lang="zh-CN" altLang="en-US" b="1" dirty="0">
                <a:solidFill>
                  <a:srgbClr val="FF00FF"/>
                </a:solidFill>
              </a:rPr>
              <a:t>大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若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   </a:t>
            </a:r>
            <a:r>
              <a:rPr lang="zh-CN" altLang="en-US" b="1" dirty="0">
                <a:latin typeface="宋体" pitchFamily="2" charset="-122"/>
              </a:rPr>
              <a:t>且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b,a</a:t>
            </a:r>
            <a:r>
              <a:rPr lang="en-US" altLang="zh-CN" b="1" dirty="0">
                <a:latin typeface="宋体" pitchFamily="2" charset="-122"/>
              </a:rPr>
              <a:t>&gt;   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/>
              <a:t>称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b="1" dirty="0">
                <a:solidFill>
                  <a:srgbClr val="FF00FF"/>
                </a:solidFill>
              </a:rPr>
              <a:t>不可比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8196" name="对象 7">
            <a:extLst>
              <a:ext uri="{FF2B5EF4-FFF2-40B4-BE49-F238E27FC236}">
                <a16:creationId xmlns:a16="http://schemas.microsoft.com/office/drawing/2014/main" id="{D8965375-E765-0EE9-5619-46CC29549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7782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7782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对象 8">
            <a:extLst>
              <a:ext uri="{FF2B5EF4-FFF2-40B4-BE49-F238E27FC236}">
                <a16:creationId xmlns:a16="http://schemas.microsoft.com/office/drawing/2014/main" id="{20EB729F-3E17-1CC2-5BC0-C28E58465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0593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0593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对象 9">
            <a:extLst>
              <a:ext uri="{FF2B5EF4-FFF2-40B4-BE49-F238E27FC236}">
                <a16:creationId xmlns:a16="http://schemas.microsoft.com/office/drawing/2014/main" id="{A3C3B740-543E-83FC-5A0C-B7B725577B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05142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05142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对象 10">
            <a:extLst>
              <a:ext uri="{FF2B5EF4-FFF2-40B4-BE49-F238E27FC236}">
                <a16:creationId xmlns:a16="http://schemas.microsoft.com/office/drawing/2014/main" id="{7053F519-B173-2B30-3FBA-A853A6B9A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43363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43363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对象 11">
            <a:extLst>
              <a:ext uri="{FF2B5EF4-FFF2-40B4-BE49-F238E27FC236}">
                <a16:creationId xmlns:a16="http://schemas.microsoft.com/office/drawing/2014/main" id="{81065629-0ECB-E12F-910C-D31BA58EA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5060950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835" imgH="152202" progId="Equation.DSMT4">
                  <p:embed/>
                </p:oleObj>
              </mc:Choice>
              <mc:Fallback>
                <p:oleObj name="Equation" r:id="rId7" imgW="126835" imgH="152202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060950"/>
                        <a:ext cx="3206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对象 12">
            <a:extLst>
              <a:ext uri="{FF2B5EF4-FFF2-40B4-BE49-F238E27FC236}">
                <a16:creationId xmlns:a16="http://schemas.microsoft.com/office/drawing/2014/main" id="{2E9E2AA5-568E-8A3A-7ADB-ADC28A15C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094288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835" imgH="152202" progId="Equation.DSMT4">
                  <p:embed/>
                </p:oleObj>
              </mc:Choice>
              <mc:Fallback>
                <p:oleObj name="Equation" r:id="rId9" imgW="126835" imgH="152202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094288"/>
                        <a:ext cx="3206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8F9A1C0E-C656-8DE7-E743-C883FC3AF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3.8.1 </a:t>
            </a:r>
            <a:r>
              <a:rPr lang="zh-CN" altLang="en-US"/>
              <a:t>偏序关系的概念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20DA3-5F6F-66F2-1C59-4CA5E2A8D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844675"/>
            <a:ext cx="8567737" cy="50133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3.8.3</a:t>
            </a:r>
            <a:r>
              <a:rPr lang="zh-CN" altLang="en-US" dirty="0"/>
              <a:t>设偏序集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/>
              <a:t>，且 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{1,2,3,4,5}</a:t>
            </a:r>
            <a:r>
              <a:rPr lang="zh-CN" altLang="en-US" dirty="0"/>
              <a:t>，  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+mn-ea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5,4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}∪I</a:t>
            </a:r>
            <a:r>
              <a:rPr lang="en-US" altLang="zh-CN" baseline="-25000" dirty="0"/>
              <a:t>A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则</a:t>
            </a:r>
            <a:r>
              <a:rPr lang="zh-CN" altLang="en-US" dirty="0"/>
              <a:t>    </a:t>
            </a:r>
            <a:r>
              <a:rPr lang="en-US" altLang="zh-CN" dirty="0"/>
              <a:t>1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可比，且</a:t>
            </a:r>
            <a:r>
              <a:rPr lang="en-US" altLang="zh-CN" dirty="0"/>
              <a:t>1</a:t>
            </a:r>
            <a:r>
              <a:rPr lang="zh-CN" altLang="en-US" dirty="0"/>
              <a:t>小</a:t>
            </a:r>
            <a:r>
              <a:rPr lang="en-US" altLang="zh-CN" dirty="0"/>
              <a:t>1</a:t>
            </a:r>
            <a:r>
              <a:rPr lang="zh-CN" altLang="en-US" dirty="0"/>
              <a:t>大；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1</a:t>
            </a:r>
            <a:r>
              <a:rPr lang="zh-CN" altLang="en-US" dirty="0"/>
              <a:t>与</a:t>
            </a:r>
            <a:r>
              <a:rPr lang="en-US" altLang="zh-CN" dirty="0"/>
              <a:t>2</a:t>
            </a:r>
            <a:r>
              <a:rPr lang="zh-CN" altLang="en-US" dirty="0"/>
              <a:t>可比，且</a:t>
            </a:r>
            <a:r>
              <a:rPr lang="en-US" altLang="zh-CN" dirty="0"/>
              <a:t>1</a:t>
            </a:r>
            <a:r>
              <a:rPr lang="zh-CN" altLang="en-US" dirty="0"/>
              <a:t>小</a:t>
            </a:r>
            <a:r>
              <a:rPr lang="en-US" altLang="zh-CN" dirty="0"/>
              <a:t>2</a:t>
            </a:r>
            <a:r>
              <a:rPr lang="zh-CN" altLang="en-US" dirty="0"/>
              <a:t>大；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3</a:t>
            </a:r>
            <a:r>
              <a:rPr lang="zh-CN" altLang="en-US" dirty="0"/>
              <a:t>与</a:t>
            </a:r>
            <a:r>
              <a:rPr lang="en-US" altLang="zh-CN" dirty="0"/>
              <a:t>2</a:t>
            </a:r>
            <a:r>
              <a:rPr lang="zh-CN" altLang="en-US" dirty="0"/>
              <a:t>可比，且</a:t>
            </a:r>
            <a:r>
              <a:rPr lang="en-US" altLang="zh-CN" dirty="0"/>
              <a:t>3</a:t>
            </a:r>
            <a:r>
              <a:rPr lang="zh-CN" altLang="en-US" dirty="0"/>
              <a:t>小</a:t>
            </a:r>
            <a:r>
              <a:rPr lang="en-US" altLang="zh-CN" dirty="0"/>
              <a:t>2</a:t>
            </a:r>
            <a:r>
              <a:rPr lang="zh-CN" altLang="en-US" dirty="0"/>
              <a:t>大；</a:t>
            </a:r>
            <a:r>
              <a:rPr lang="en-US" altLang="zh-CN" dirty="0">
                <a:latin typeface="Arial"/>
              </a:rPr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/>
              </a:rPr>
              <a:t>            … …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00FF"/>
                </a:solidFill>
              </a:rPr>
              <a:t>而   </a:t>
            </a:r>
            <a:r>
              <a:rPr lang="en-US" altLang="zh-CN" dirty="0"/>
              <a:t>1</a:t>
            </a:r>
            <a:r>
              <a:rPr lang="zh-CN" altLang="en-US" dirty="0"/>
              <a:t>与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与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与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>
                <a:latin typeface="Arial"/>
              </a:rPr>
              <a:t>…</a:t>
            </a:r>
            <a:r>
              <a:rPr lang="zh-CN" altLang="en-US" dirty="0"/>
              <a:t>   不可比</a:t>
            </a:r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</p:txBody>
      </p:sp>
      <p:graphicFrame>
        <p:nvGraphicFramePr>
          <p:cNvPr id="9220" name="对象 3">
            <a:extLst>
              <a:ext uri="{FF2B5EF4-FFF2-40B4-BE49-F238E27FC236}">
                <a16:creationId xmlns:a16="http://schemas.microsoft.com/office/drawing/2014/main" id="{DDF3A18A-58AA-7B27-4DAC-4F640802C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8650" y="198437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198437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对象 4">
            <a:extLst>
              <a:ext uri="{FF2B5EF4-FFF2-40B4-BE49-F238E27FC236}">
                <a16:creationId xmlns:a16="http://schemas.microsoft.com/office/drawing/2014/main" id="{46B33D14-9A24-398B-AB5F-4D738DEF2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6606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606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7">
            <a:extLst>
              <a:ext uri="{FF2B5EF4-FFF2-40B4-BE49-F238E27FC236}">
                <a16:creationId xmlns:a16="http://schemas.microsoft.com/office/drawing/2014/main" id="{5D15F6B8-69BA-D4FB-0E69-CABD2D67E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3.8.1 </a:t>
            </a:r>
            <a:r>
              <a:rPr lang="zh-CN" altLang="en-US" sz="4800"/>
              <a:t>偏序关系的概念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A24BAC21-CC62-3268-52F8-BDCCE31662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675687" cy="48974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3.8.3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为任意集合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上的关系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反自反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反对称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1"/>
                </a:solidFill>
              </a:rPr>
              <a:t>传递</a:t>
            </a:r>
            <a:r>
              <a:rPr lang="zh-CN" altLang="en-US" dirty="0"/>
              <a:t>关系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/>
              <a:t>则称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hlink"/>
                </a:solidFill>
              </a:rPr>
              <a:t>拟序关系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quasi ordering relation</a:t>
            </a:r>
            <a:r>
              <a:rPr lang="en-US" altLang="zh-CN" dirty="0"/>
              <a:t>)</a:t>
            </a:r>
            <a:r>
              <a:rPr lang="zh-CN" altLang="en-US" dirty="0"/>
              <a:t>，记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339933"/>
                </a:solidFill>
              </a:rPr>
              <a:t>拟序集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8080"/>
                </a:solidFill>
              </a:rPr>
              <a:t>quasi ordering set</a:t>
            </a:r>
            <a:r>
              <a:rPr lang="en-US" altLang="zh-CN" dirty="0"/>
              <a:t>)</a:t>
            </a:r>
            <a:r>
              <a:rPr lang="zh-CN" altLang="en-US" dirty="0"/>
              <a:t>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 </a:t>
            </a:r>
            <a:r>
              <a:rPr lang="en-US" altLang="zh-CN" b="1" dirty="0">
                <a:latin typeface="宋体" pitchFamily="2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lang="en-US" altLang="zh-CN" dirty="0"/>
              <a:t>x   y </a:t>
            </a:r>
            <a:r>
              <a:rPr lang="zh-CN" altLang="en-US" dirty="0">
                <a:solidFill>
                  <a:srgbClr val="FF0000"/>
                </a:solidFill>
              </a:rPr>
              <a:t>当且仅当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00"/>
                </a:solidFill>
              </a:rPr>
              <a:t>x   y</a:t>
            </a:r>
            <a:r>
              <a:rPr lang="zh-CN" altLang="en-US" dirty="0">
                <a:solidFill>
                  <a:srgbClr val="000000"/>
                </a:solidFill>
              </a:rPr>
              <a:t>但</a:t>
            </a:r>
            <a:r>
              <a:rPr lang="en-US" altLang="zh-CN" dirty="0" err="1">
                <a:solidFill>
                  <a:srgbClr val="000000"/>
                </a:solidFill>
              </a:rPr>
              <a:t>x≠y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rgbClr val="000000"/>
                </a:solidFill>
              </a:rPr>
              <a:t>x   y </a:t>
            </a:r>
            <a:r>
              <a:rPr lang="zh-CN" altLang="en-US" dirty="0">
                <a:solidFill>
                  <a:srgbClr val="0066FF"/>
                </a:solidFill>
              </a:rPr>
              <a:t>读</a:t>
            </a:r>
            <a:r>
              <a:rPr lang="zh-CN" altLang="en-US" dirty="0">
                <a:solidFill>
                  <a:srgbClr val="000000"/>
                </a:solidFill>
              </a:rPr>
              <a:t>“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小于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”或“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大于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”。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dirty="0"/>
          </a:p>
        </p:txBody>
      </p:sp>
      <p:graphicFrame>
        <p:nvGraphicFramePr>
          <p:cNvPr id="10244" name="Object 13">
            <a:extLst>
              <a:ext uri="{FF2B5EF4-FFF2-40B4-BE49-F238E27FC236}">
                <a16:creationId xmlns:a16="http://schemas.microsoft.com/office/drawing/2014/main" id="{A4B05415-134F-FABA-9CD8-6A9E86E7B5E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72450" y="3538538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" imgH="139700" progId="Equation.DSMT4">
                  <p:embed/>
                </p:oleObj>
              </mc:Choice>
              <mc:Fallback>
                <p:oleObj name="Equation" r:id="rId2" imgW="139700" imgH="139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3538538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对象 1">
            <a:extLst>
              <a:ext uri="{FF2B5EF4-FFF2-40B4-BE49-F238E27FC236}">
                <a16:creationId xmlns:a16="http://schemas.microsoft.com/office/drawing/2014/main" id="{479D74A4-A071-EB4B-F69C-247754327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3088" y="4411663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" imgH="139700" progId="Equation.DSMT4">
                  <p:embed/>
                </p:oleObj>
              </mc:Choice>
              <mc:Fallback>
                <p:oleObj name="Equation" r:id="rId4" imgW="139700" imgH="139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8" y="4411663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对象 1">
            <a:extLst>
              <a:ext uri="{FF2B5EF4-FFF2-40B4-BE49-F238E27FC236}">
                <a16:creationId xmlns:a16="http://schemas.microsoft.com/office/drawing/2014/main" id="{89A93284-8D3A-0676-D8D1-930D91F5E4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6092825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00" imgH="139700" progId="Equation.DSMT4">
                  <p:embed/>
                </p:oleObj>
              </mc:Choice>
              <mc:Fallback>
                <p:oleObj name="Equation" r:id="rId5" imgW="139700" imgH="139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6092825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对象 2">
            <a:extLst>
              <a:ext uri="{FF2B5EF4-FFF2-40B4-BE49-F238E27FC236}">
                <a16:creationId xmlns:a16="http://schemas.microsoft.com/office/drawing/2014/main" id="{57BEB4E4-AB76-B0FB-C2A1-0F8000D64C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5300663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700" imgH="139700" progId="Equation.DSMT4">
                  <p:embed/>
                </p:oleObj>
              </mc:Choice>
              <mc:Fallback>
                <p:oleObj name="Equation" r:id="rId6" imgW="139700" imgH="1397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300663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对象 3">
            <a:extLst>
              <a:ext uri="{FF2B5EF4-FFF2-40B4-BE49-F238E27FC236}">
                <a16:creationId xmlns:a16="http://schemas.microsoft.com/office/drawing/2014/main" id="{69C6CB2D-FC5C-314F-5CE2-108403B12C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22922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177646" progId="Equation.DSMT4">
                  <p:embed/>
                </p:oleObj>
              </mc:Choice>
              <mc:Fallback>
                <p:oleObj name="Equation" r:id="rId7" imgW="139579" imgH="177646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22922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5">
            <a:extLst>
              <a:ext uri="{FF2B5EF4-FFF2-40B4-BE49-F238E27FC236}">
                <a16:creationId xmlns:a16="http://schemas.microsoft.com/office/drawing/2014/main" id="{4D81F22A-F941-DA92-EA5E-C5D4E2CCC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3.8.1 </a:t>
            </a:r>
            <a:r>
              <a:rPr lang="zh-CN" altLang="en-US" sz="4800"/>
              <a:t>偏序关系的概念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BBEEE43-081D-1370-6B90-1309E4E03F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133600"/>
            <a:ext cx="8532812" cy="4724400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/>
              <a:t>     －</a:t>
            </a:r>
            <a:r>
              <a:rPr lang="en-US" altLang="zh-CN"/>
              <a:t>I</a:t>
            </a:r>
            <a:r>
              <a:rPr lang="en-US" altLang="zh-CN" baseline="-25000"/>
              <a:t>A</a:t>
            </a:r>
            <a:r>
              <a:rPr lang="zh-CN" altLang="en-US"/>
              <a:t>      拟序关系</a:t>
            </a:r>
            <a:endParaRPr lang="en-US" altLang="zh-CN" b="1"/>
          </a:p>
          <a:p>
            <a:pPr eaLnBrk="1" hangingPunct="1">
              <a:lnSpc>
                <a:spcPct val="300000"/>
              </a:lnSpc>
            </a:pPr>
            <a:r>
              <a:rPr lang="zh-CN" altLang="en-US"/>
              <a:t>     ∪</a:t>
            </a:r>
            <a:r>
              <a:rPr lang="en-US" altLang="zh-CN"/>
              <a:t>I</a:t>
            </a:r>
            <a:r>
              <a:rPr lang="en-US" altLang="zh-CN" baseline="-25000"/>
              <a:t>A</a:t>
            </a:r>
            <a:r>
              <a:rPr lang="zh-CN" altLang="en-US"/>
              <a:t>      偏序关系</a:t>
            </a:r>
            <a:endParaRPr lang="en-US" altLang="zh-CN" b="1"/>
          </a:p>
          <a:p>
            <a:pPr eaLnBrk="1" hangingPunct="1">
              <a:lnSpc>
                <a:spcPct val="300000"/>
              </a:lnSpc>
            </a:pPr>
            <a:endParaRPr lang="zh-CN" altLang="en-US" sz="2800"/>
          </a:p>
        </p:txBody>
      </p:sp>
      <p:graphicFrame>
        <p:nvGraphicFramePr>
          <p:cNvPr id="12292" name="Object 10">
            <a:extLst>
              <a:ext uri="{FF2B5EF4-FFF2-40B4-BE49-F238E27FC236}">
                <a16:creationId xmlns:a16="http://schemas.microsoft.com/office/drawing/2014/main" id="{B16937EF-E7D2-F325-D245-02E1E904B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3025" y="29146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9146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对象 1">
            <a:extLst>
              <a:ext uri="{FF2B5EF4-FFF2-40B4-BE49-F238E27FC236}">
                <a16:creationId xmlns:a16="http://schemas.microsoft.com/office/drawing/2014/main" id="{7D96F17C-9BFB-880A-F0EE-C557D6021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4450" y="4508500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" imgH="139700" progId="Equation.DSMT4">
                  <p:embed/>
                </p:oleObj>
              </mc:Choice>
              <mc:Fallback>
                <p:oleObj name="Equation" r:id="rId4" imgW="139700" imgH="139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4508500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2982AA8-195C-A2A8-7569-A650DE5ED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3.8.1 </a:t>
            </a:r>
            <a:r>
              <a:rPr lang="zh-CN" altLang="en-US" sz="4800"/>
              <a:t>偏序关系的概念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9F3C1DB2-9CFF-4452-2628-D9B52A90C3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7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3.8.4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为集合</a:t>
            </a:r>
            <a:r>
              <a:rPr lang="en-US" altLang="zh-CN" dirty="0"/>
              <a:t>A</a:t>
            </a:r>
            <a:r>
              <a:rPr lang="zh-CN" altLang="en-US" dirty="0"/>
              <a:t>上的关系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反自反关系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1"/>
                </a:solidFill>
              </a:rPr>
              <a:t>传递</a:t>
            </a:r>
            <a:r>
              <a:rPr lang="zh-CN" altLang="en-US" dirty="0"/>
              <a:t>关系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/>
              <a:t>则称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反对称关系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75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证明</a:t>
            </a:r>
            <a:r>
              <a:rPr lang="zh-CN" altLang="en-US" dirty="0"/>
              <a:t>  假设</a:t>
            </a:r>
            <a:r>
              <a:rPr lang="en-US" altLang="zh-CN" dirty="0"/>
              <a:t>R</a:t>
            </a:r>
            <a:r>
              <a:rPr lang="zh-CN" altLang="en-US" dirty="0"/>
              <a:t>不是反对称关系，则</a:t>
            </a:r>
            <a:endParaRPr lang="en-US" altLang="zh-CN" dirty="0"/>
          </a:p>
          <a:p>
            <a:pPr marL="0" indent="0"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对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 err="1"/>
              <a:t>a,b∈A</a:t>
            </a:r>
            <a:r>
              <a:rPr lang="zh-CN" altLang="en-US" dirty="0"/>
              <a:t>且</a:t>
            </a:r>
            <a:r>
              <a:rPr lang="en-US" altLang="zh-CN" dirty="0" err="1"/>
              <a:t>a≠b</a:t>
            </a:r>
            <a:r>
              <a:rPr lang="zh-CN" altLang="en-US" dirty="0"/>
              <a:t>，每当</a:t>
            </a:r>
            <a:r>
              <a:rPr lang="en-US" altLang="zh-CN" dirty="0" err="1"/>
              <a:t>aRb</a:t>
            </a:r>
            <a:r>
              <a:rPr lang="zh-CN" altLang="en-US" dirty="0"/>
              <a:t>时，若有</a:t>
            </a:r>
            <a:r>
              <a:rPr lang="en-US" altLang="zh-CN" dirty="0" err="1"/>
              <a:t>bRa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由</a:t>
            </a:r>
            <a:r>
              <a:rPr lang="en-US" altLang="zh-CN" dirty="0"/>
              <a:t>R</a:t>
            </a:r>
            <a:r>
              <a:rPr lang="zh-CN" altLang="en-US" dirty="0"/>
              <a:t>的传递性可知</a:t>
            </a:r>
            <a:r>
              <a:rPr lang="en-US" altLang="zh-CN" dirty="0" err="1"/>
              <a:t>aRa</a:t>
            </a:r>
            <a:r>
              <a:rPr lang="zh-CN" altLang="en-US" dirty="0"/>
              <a:t>。     </a:t>
            </a:r>
            <a:r>
              <a:rPr lang="zh-CN" altLang="en-US" dirty="0">
                <a:solidFill>
                  <a:srgbClr val="FF0000"/>
                </a:solidFill>
              </a:rPr>
              <a:t>矛盾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0C10C25-E52F-CBEF-06E3-BB68AB735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3.8.2 </a:t>
            </a:r>
            <a:r>
              <a:rPr lang="zh-CN" altLang="en-US" sz="4800"/>
              <a:t>盖住关系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2E5BE37F-2D0E-99CB-3491-7C2B4F9BA8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604250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3.8.4  </a:t>
            </a:r>
            <a:r>
              <a:rPr lang="zh-CN" altLang="en-US" dirty="0"/>
              <a:t>设偏序集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，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若</a:t>
            </a:r>
            <a:r>
              <a:rPr lang="en-US" altLang="zh-CN" dirty="0" err="1"/>
              <a:t>a,b∈A</a:t>
            </a:r>
            <a:r>
              <a:rPr lang="zh-CN" altLang="en-US" dirty="0"/>
              <a:t>，</a:t>
            </a:r>
            <a:r>
              <a:rPr lang="en-US" altLang="zh-CN" dirty="0"/>
              <a:t>a   b</a:t>
            </a:r>
            <a:r>
              <a:rPr lang="zh-CN" altLang="en-US" dirty="0"/>
              <a:t>，且</a:t>
            </a:r>
            <a:r>
              <a:rPr lang="zh-CN" altLang="en-US" dirty="0">
                <a:solidFill>
                  <a:schemeClr val="accent1"/>
                </a:solidFill>
              </a:rPr>
              <a:t>不</a:t>
            </a:r>
            <a:r>
              <a:rPr lang="zh-CN" altLang="en-US" dirty="0"/>
              <a:t>存在</a:t>
            </a:r>
            <a:r>
              <a:rPr lang="zh-CN" altLang="en-US" dirty="0">
                <a:solidFill>
                  <a:srgbClr val="FF00FF"/>
                </a:solidFill>
              </a:rPr>
              <a:t>其它</a:t>
            </a:r>
            <a:r>
              <a:rPr lang="zh-CN" altLang="en-US" dirty="0"/>
              <a:t>元素</a:t>
            </a:r>
            <a:r>
              <a:rPr lang="en-US" altLang="zh-CN" dirty="0" err="1"/>
              <a:t>z∈A</a:t>
            </a:r>
            <a:r>
              <a:rPr lang="zh-CN" altLang="en-US" dirty="0"/>
              <a:t>， 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使得</a:t>
            </a:r>
            <a:r>
              <a:rPr lang="en-US" altLang="zh-CN" dirty="0"/>
              <a:t>a   </a:t>
            </a:r>
            <a:r>
              <a:rPr lang="en-US" altLang="zh-CN" dirty="0">
                <a:solidFill>
                  <a:srgbClr val="FF00FF"/>
                </a:solidFill>
              </a:rPr>
              <a:t>z</a:t>
            </a:r>
            <a:r>
              <a:rPr lang="zh-CN" altLang="en-US" dirty="0"/>
              <a:t>且</a:t>
            </a:r>
            <a:r>
              <a:rPr lang="en-US" altLang="zh-CN" dirty="0">
                <a:solidFill>
                  <a:srgbClr val="FF00FF"/>
                </a:solidFill>
              </a:rPr>
              <a:t>z</a:t>
            </a:r>
            <a:r>
              <a:rPr lang="en-US" altLang="zh-CN" dirty="0"/>
              <a:t>   b</a:t>
            </a:r>
            <a:r>
              <a:rPr lang="zh-CN" altLang="en-US" dirty="0"/>
              <a:t>，则称元素</a:t>
            </a:r>
            <a:r>
              <a:rPr lang="en-US" altLang="zh-CN" dirty="0"/>
              <a:t>b</a:t>
            </a:r>
            <a:r>
              <a:rPr lang="zh-CN" altLang="en-US" b="1" dirty="0">
                <a:solidFill>
                  <a:schemeClr val="hlink"/>
                </a:solidFill>
              </a:rPr>
              <a:t>盖住</a:t>
            </a:r>
            <a:r>
              <a:rPr lang="en-US" altLang="zh-CN" dirty="0"/>
              <a:t>a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   盖住关系</a:t>
            </a:r>
            <a:r>
              <a:rPr lang="en-US" altLang="zh-CN" dirty="0" err="1"/>
              <a:t>cov</a:t>
            </a:r>
            <a:r>
              <a:rPr lang="en-US" altLang="zh-CN" dirty="0"/>
              <a:t>(A)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a,b∈A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盖住</a:t>
            </a:r>
            <a:r>
              <a:rPr lang="en-US" altLang="zh-CN" dirty="0"/>
              <a:t>a}</a:t>
            </a:r>
            <a:endParaRPr lang="zh-CN" altLang="en-US" b="1" dirty="0"/>
          </a:p>
        </p:txBody>
      </p:sp>
      <p:graphicFrame>
        <p:nvGraphicFramePr>
          <p:cNvPr id="14340" name="Object 6">
            <a:extLst>
              <a:ext uri="{FF2B5EF4-FFF2-40B4-BE49-F238E27FC236}">
                <a16:creationId xmlns:a16="http://schemas.microsoft.com/office/drawing/2014/main" id="{A18B91CC-67ED-1A22-3A0D-45E9831C6E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27647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27647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1">
            <a:extLst>
              <a:ext uri="{FF2B5EF4-FFF2-40B4-BE49-F238E27FC236}">
                <a16:creationId xmlns:a16="http://schemas.microsoft.com/office/drawing/2014/main" id="{CD9C74CB-B05E-200C-97A7-9C55B20A76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491038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" imgH="139700" progId="Equation.DSMT4">
                  <p:embed/>
                </p:oleObj>
              </mc:Choice>
              <mc:Fallback>
                <p:oleObj name="Equation" r:id="rId4" imgW="139700" imgH="139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491038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对象 2">
            <a:extLst>
              <a:ext uri="{FF2B5EF4-FFF2-40B4-BE49-F238E27FC236}">
                <a16:creationId xmlns:a16="http://schemas.microsoft.com/office/drawing/2014/main" id="{4D917D18-C413-C528-71EC-0E7A82A099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437063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700" imgH="139700" progId="Equation.DSMT4">
                  <p:embed/>
                </p:oleObj>
              </mc:Choice>
              <mc:Fallback>
                <p:oleObj name="Equation" r:id="rId6" imgW="139700" imgH="1397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437063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对象 3">
            <a:extLst>
              <a:ext uri="{FF2B5EF4-FFF2-40B4-BE49-F238E27FC236}">
                <a16:creationId xmlns:a16="http://schemas.microsoft.com/office/drawing/2014/main" id="{34EBC743-ADC0-A3DA-7CAD-8C2D4BEAA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357563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700" imgH="139700" progId="Equation.DSMT4">
                  <p:embed/>
                </p:oleObj>
              </mc:Choice>
              <mc:Fallback>
                <p:oleObj name="Equation" r:id="rId7" imgW="139700" imgH="1397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357563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9A303D03-028E-1E6E-108F-6FB58F7AA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3.8.2 </a:t>
            </a:r>
            <a:r>
              <a:rPr lang="zh-CN" altLang="en-US" sz="4800"/>
              <a:t>盖住关系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BAEBE7E-7B5D-34FE-41AC-29C3928F30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3.8.5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{1,2,3,4,6,8,12}</a:t>
            </a:r>
            <a:r>
              <a:rPr lang="zh-CN" altLang="en-US" dirty="0"/>
              <a:t>  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整除</a:t>
            </a:r>
            <a:r>
              <a:rPr lang="en-US" altLang="zh-CN" dirty="0"/>
              <a:t>y}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     </a:t>
            </a:r>
            <a:r>
              <a:rPr lang="zh-CN" altLang="en-US" b="1" dirty="0"/>
              <a:t>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1,6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&lt;</a:t>
            </a:r>
            <a:r>
              <a:rPr lang="en-US" altLang="zh-CN" dirty="0"/>
              <a:t>1,8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2,6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2,8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&lt;</a:t>
            </a:r>
            <a:r>
              <a:rPr lang="en-US" altLang="zh-CN" dirty="0"/>
              <a:t>2,12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3,6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3,12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4,8</a:t>
            </a:r>
            <a:r>
              <a:rPr lang="en-US" altLang="zh-CN" b="1" dirty="0">
                <a:solidFill>
                  <a:srgbClr val="FF00FF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4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accent1"/>
                </a:solidFill>
              </a:rPr>
              <a:t>12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6,6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6,12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8,8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12,12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en-US" altLang="zh-CN" dirty="0"/>
              <a:t>,2,3,6,8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4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hlink"/>
                </a:solidFill>
              </a:rPr>
              <a:t>z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hlink"/>
                </a:solidFill>
              </a:rPr>
              <a:t>z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accent1"/>
                </a:solidFill>
              </a:rPr>
              <a:t>12</a:t>
            </a:r>
            <a:r>
              <a:rPr lang="en-US" altLang="zh-CN" b="1" dirty="0">
                <a:latin typeface="宋体" pitchFamily="2" charset="-122"/>
              </a:rPr>
              <a:t>&gt; </a:t>
            </a:r>
            <a:r>
              <a:rPr lang="zh-CN" altLang="en-US" b="1" dirty="0">
                <a:solidFill>
                  <a:schemeClr val="hlink"/>
                </a:solidFill>
                <a:latin typeface="宋体" pitchFamily="2" charset="-122"/>
              </a:rPr>
              <a:t>没有 </a:t>
            </a:r>
            <a:r>
              <a:rPr lang="zh-CN" altLang="en-US" b="1" dirty="0">
                <a:solidFill>
                  <a:srgbClr val="339933"/>
                </a:solidFill>
                <a:latin typeface="宋体" pitchFamily="2" charset="-122"/>
              </a:rPr>
              <a:t>盖住</a:t>
            </a:r>
          </a:p>
        </p:txBody>
      </p:sp>
      <p:graphicFrame>
        <p:nvGraphicFramePr>
          <p:cNvPr id="15364" name="Object 12">
            <a:extLst>
              <a:ext uri="{FF2B5EF4-FFF2-40B4-BE49-F238E27FC236}">
                <a16:creationId xmlns:a16="http://schemas.microsoft.com/office/drawing/2014/main" id="{7082ABCD-A3AD-F0A0-000D-0C67D71BE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63683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63683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21">
            <a:extLst>
              <a:ext uri="{FF2B5EF4-FFF2-40B4-BE49-F238E27FC236}">
                <a16:creationId xmlns:a16="http://schemas.microsoft.com/office/drawing/2014/main" id="{4A821D27-B06A-5C36-AFC1-D1C5DF2D3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275" y="6161088"/>
            <a:ext cx="1655763" cy="482600"/>
          </a:xfrm>
          <a:prstGeom prst="rect">
            <a:avLst/>
          </a:prstGeom>
          <a:noFill/>
          <a:ln w="25400" algn="ctr">
            <a:solidFill>
              <a:srgbClr val="00CC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5366" name="Line 22">
            <a:extLst>
              <a:ext uri="{FF2B5EF4-FFF2-40B4-BE49-F238E27FC236}">
                <a16:creationId xmlns:a16="http://schemas.microsoft.com/office/drawing/2014/main" id="{EE443A20-4A1B-1B33-B2A3-062E0E2391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5876925"/>
            <a:ext cx="503238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23">
            <a:extLst>
              <a:ext uri="{FF2B5EF4-FFF2-40B4-BE49-F238E27FC236}">
                <a16:creationId xmlns:a16="http://schemas.microsoft.com/office/drawing/2014/main" id="{B9D202D0-C59D-5B6F-308E-F6F5F48A6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6381750"/>
            <a:ext cx="792163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TextBox 2">
            <a:extLst>
              <a:ext uri="{FF2B5EF4-FFF2-40B4-BE49-F238E27FC236}">
                <a16:creationId xmlns:a16="http://schemas.microsoft.com/office/drawing/2014/main" id="{09EB7F30-F049-513C-2960-7241053B3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5867400"/>
            <a:ext cx="8048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8080"/>
                </a:solidFill>
                <a:latin typeface="宋体" panose="02010600030101010101" pitchFamily="2" charset="-122"/>
              </a:rPr>
              <a:t>z</a:t>
            </a:r>
            <a:r>
              <a:rPr lang="zh-CN" altLang="en-US">
                <a:solidFill>
                  <a:srgbClr val="FF00FF"/>
                </a:solidFill>
                <a:latin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1716A01F-3F89-5940-8B57-56F7312A4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3.8.2 </a:t>
            </a:r>
            <a:r>
              <a:rPr lang="zh-CN" altLang="en-US" sz="4800" b="1"/>
              <a:t>盖住关系</a:t>
            </a:r>
            <a:r>
              <a:rPr lang="zh-CN" altLang="en-US" sz="4800"/>
              <a:t> 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839A8A3-AA39-F40B-19F7-A28EBF3450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solidFill>
                  <a:schemeClr val="hlink"/>
                </a:solidFill>
              </a:rPr>
              <a:t>Example3.8.6 </a:t>
            </a:r>
            <a:r>
              <a:rPr lang="en-US" altLang="zh-CN" dirty="0"/>
              <a:t>Let A</a:t>
            </a:r>
            <a:r>
              <a:rPr lang="zh-CN" altLang="en-US" dirty="0"/>
              <a:t>＝</a:t>
            </a:r>
            <a:r>
              <a:rPr lang="en-US" altLang="zh-CN" dirty="0"/>
              <a:t>{1,2,3,4,5,6,7,8,9}, and  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B0F0"/>
                </a:solidFill>
              </a:rPr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9,6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9,7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  &lt;</a:t>
            </a:r>
            <a:r>
              <a:rPr lang="en-US" altLang="zh-CN" dirty="0"/>
              <a:t>9,8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8,4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8,6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7,1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7,3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7,4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7,5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  &lt;</a:t>
            </a:r>
            <a:r>
              <a:rPr lang="en-US" altLang="zh-CN" dirty="0"/>
              <a:t>7,6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6,4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5,1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5,3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5,4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B0F0"/>
                </a:solidFill>
              </a:rPr>
              <a:t>}</a:t>
            </a:r>
            <a:r>
              <a:rPr lang="en-US" altLang="zh-CN" dirty="0"/>
              <a:t> ∪I</a:t>
            </a:r>
            <a:r>
              <a:rPr lang="en-US" altLang="zh-CN" baseline="-25000" dirty="0"/>
              <a:t>A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15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1,2,3,5,7,8,9</a:t>
            </a:r>
            <a:r>
              <a:rPr lang="en-US" altLang="zh-CN" dirty="0"/>
              <a:t>        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E4A8"/>
                </a:solidFill>
              </a:rPr>
              <a:t>6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E4A8"/>
                </a:solidFill>
              </a:rPr>
              <a:t>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 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没有 </a:t>
            </a:r>
            <a:r>
              <a:rPr lang="zh-CN" altLang="en-US" b="1" dirty="0">
                <a:solidFill>
                  <a:srgbClr val="339933"/>
                </a:solidFill>
                <a:latin typeface="宋体" pitchFamily="2" charset="-122"/>
              </a:rPr>
              <a:t>盖住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endParaRPr lang="en-US" altLang="zh-CN" dirty="0"/>
          </a:p>
        </p:txBody>
      </p:sp>
      <p:graphicFrame>
        <p:nvGraphicFramePr>
          <p:cNvPr id="16388" name="Object 12">
            <a:extLst>
              <a:ext uri="{FF2B5EF4-FFF2-40B4-BE49-F238E27FC236}">
                <a16:creationId xmlns:a16="http://schemas.microsoft.com/office/drawing/2014/main" id="{98E6677D-4E52-E0E6-583E-A36B78294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543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543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21">
            <a:extLst>
              <a:ext uri="{FF2B5EF4-FFF2-40B4-BE49-F238E27FC236}">
                <a16:creationId xmlns:a16="http://schemas.microsoft.com/office/drawing/2014/main" id="{AF67AD4A-BDB9-8270-4766-1886F1FF9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5949950"/>
            <a:ext cx="2500312" cy="482600"/>
          </a:xfrm>
          <a:prstGeom prst="rect">
            <a:avLst/>
          </a:prstGeom>
          <a:noFill/>
          <a:ln w="25400" algn="ctr">
            <a:solidFill>
              <a:srgbClr val="00CC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6390" name="Line 23">
            <a:extLst>
              <a:ext uri="{FF2B5EF4-FFF2-40B4-BE49-F238E27FC236}">
                <a16:creationId xmlns:a16="http://schemas.microsoft.com/office/drawing/2014/main" id="{E90E0C80-F52E-5999-894E-6E39F7372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6203950"/>
            <a:ext cx="792163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1" name="TextBox 2">
            <a:extLst>
              <a:ext uri="{FF2B5EF4-FFF2-40B4-BE49-F238E27FC236}">
                <a16:creationId xmlns:a16="http://schemas.microsoft.com/office/drawing/2014/main" id="{FA212F65-33D5-8567-FC90-62340481B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5656263"/>
            <a:ext cx="8048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8080"/>
                </a:solidFill>
                <a:latin typeface="宋体" panose="02010600030101010101" pitchFamily="2" charset="-122"/>
              </a:rPr>
              <a:t>z</a:t>
            </a:r>
            <a:r>
              <a:rPr lang="zh-CN" altLang="en-US">
                <a:solidFill>
                  <a:srgbClr val="FF00FF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6392" name="Line 22">
            <a:extLst>
              <a:ext uri="{FF2B5EF4-FFF2-40B4-BE49-F238E27FC236}">
                <a16:creationId xmlns:a16="http://schemas.microsoft.com/office/drawing/2014/main" id="{C56C125F-785B-28CA-B9BA-12CDCA6142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250" y="5589588"/>
            <a:ext cx="792163" cy="28733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7">
            <a:extLst>
              <a:ext uri="{FF2B5EF4-FFF2-40B4-BE49-F238E27FC236}">
                <a16:creationId xmlns:a16="http://schemas.microsoft.com/office/drawing/2014/main" id="{19143E6B-7D2A-75AC-E1FD-33145097E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3.8.2 </a:t>
            </a:r>
            <a:r>
              <a:rPr lang="zh-CN" altLang="en-US" sz="4800"/>
              <a:t>盖住关系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6E7F1AD9-8C41-771A-F642-4430D51A95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2060575"/>
            <a:ext cx="8604250" cy="47974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3.8.7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</a:t>
            </a:r>
            <a:endParaRPr lang="zh-CN" altLang="en-US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</a:t>
            </a:r>
            <a:r>
              <a:rPr lang="en-US" altLang="zh-CN" dirty="0"/>
              <a:t>P(A)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FF"/>
                </a:solidFill>
              </a:rPr>
              <a:t>{</a:t>
            </a:r>
            <a:r>
              <a:rPr lang="en-US" altLang="zh-CN" dirty="0"/>
              <a:t>  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{1}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{2}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{3}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{1,2}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{1,3}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{2,3}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0000FF"/>
                </a:solidFill>
              </a:rPr>
              <a:t>}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x,y∈P</a:t>
            </a:r>
            <a:r>
              <a:rPr lang="en-US" altLang="zh-CN" dirty="0"/>
              <a:t>(A)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en-US" altLang="zh-CN" dirty="0"/>
              <a:t>y</a:t>
            </a:r>
            <a:r>
              <a:rPr lang="zh-CN" altLang="en-US" dirty="0"/>
              <a:t>的子集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求</a:t>
            </a:r>
            <a:r>
              <a:rPr lang="en-US" altLang="zh-CN" dirty="0" err="1"/>
              <a:t>cov</a:t>
            </a:r>
            <a:r>
              <a:rPr lang="en-US" altLang="zh-CN" dirty="0"/>
              <a:t>(P(A))</a:t>
            </a:r>
            <a:endParaRPr lang="en-US" altLang="zh-CN" b="1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    </a:t>
            </a:r>
            <a:endParaRPr lang="en-US" altLang="zh-CN" sz="2400" dirty="0"/>
          </a:p>
        </p:txBody>
      </p:sp>
      <p:graphicFrame>
        <p:nvGraphicFramePr>
          <p:cNvPr id="17412" name="Object 10">
            <a:extLst>
              <a:ext uri="{FF2B5EF4-FFF2-40B4-BE49-F238E27FC236}">
                <a16:creationId xmlns:a16="http://schemas.microsoft.com/office/drawing/2014/main" id="{E92C54AD-E820-CBB0-8646-34FC8EF18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35734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734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22">
            <a:extLst>
              <a:ext uri="{FF2B5EF4-FFF2-40B4-BE49-F238E27FC236}">
                <a16:creationId xmlns:a16="http://schemas.microsoft.com/office/drawing/2014/main" id="{DDB98B2E-7900-C92A-949A-FE6EC006C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6529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6529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12EEFBF-DC1C-0447-0C33-854DDD345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3.8.2 </a:t>
            </a:r>
            <a:r>
              <a:rPr lang="zh-CN" altLang="en-US" sz="4800"/>
              <a:t>盖住关系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1DBF3698-C06B-94BD-8048-A4DBE36EA8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sz="2800" b="1" dirty="0">
                <a:solidFill>
                  <a:schemeClr val="hlink"/>
                </a:solidFill>
              </a:rPr>
              <a:t>解</a:t>
            </a:r>
            <a:r>
              <a:rPr lang="zh-CN" altLang="en-US" sz="2800" b="1" dirty="0"/>
              <a:t>    </a:t>
            </a:r>
            <a:r>
              <a:rPr lang="zh-CN" altLang="en-US" sz="2800" dirty="0"/>
              <a:t>＝</a:t>
            </a:r>
            <a:r>
              <a:rPr lang="en-US" altLang="zh-CN" sz="2800" dirty="0">
                <a:solidFill>
                  <a:schemeClr val="accent1"/>
                </a:solidFill>
              </a:rPr>
              <a:t>{</a:t>
            </a:r>
            <a:r>
              <a:rPr lang="en-US" altLang="zh-CN" sz="2800" b="1" dirty="0">
                <a:latin typeface="宋体" pitchFamily="2" charset="-122"/>
              </a:rPr>
              <a:t>&lt;  </a:t>
            </a:r>
            <a:r>
              <a:rPr lang="en-US" altLang="zh-CN" sz="2800" dirty="0"/>
              <a:t>,   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b="1" dirty="0">
                <a:latin typeface="宋体" pitchFamily="2" charset="-122"/>
              </a:rPr>
              <a:t>  </a:t>
            </a:r>
            <a:r>
              <a:rPr lang="en-US" altLang="zh-CN" sz="2800" dirty="0"/>
              <a:t>,{1}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b="1" dirty="0">
                <a:latin typeface="宋体" pitchFamily="2" charset="-122"/>
              </a:rPr>
              <a:t>  </a:t>
            </a:r>
            <a:r>
              <a:rPr lang="en-US" altLang="zh-CN" sz="2800" dirty="0"/>
              <a:t>,{2}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b="1" dirty="0">
                <a:latin typeface="宋体" pitchFamily="2" charset="-122"/>
              </a:rPr>
              <a:t>  </a:t>
            </a:r>
            <a:r>
              <a:rPr lang="en-US" altLang="zh-CN" sz="2800" dirty="0"/>
              <a:t>,{3}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     &lt;  </a:t>
            </a:r>
            <a:r>
              <a:rPr lang="en-US" altLang="zh-CN" sz="2800" dirty="0"/>
              <a:t>,{1,2}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 </a:t>
            </a:r>
            <a:r>
              <a:rPr lang="en-US" altLang="zh-CN" sz="2800" b="1" dirty="0">
                <a:latin typeface="宋体" pitchFamily="2" charset="-122"/>
              </a:rPr>
              <a:t>&lt;  </a:t>
            </a:r>
            <a:r>
              <a:rPr lang="en-US" altLang="zh-CN" sz="2800" dirty="0"/>
              <a:t>,{1,3}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  </a:t>
            </a:r>
            <a:r>
              <a:rPr lang="en-US" altLang="zh-CN" sz="2800" dirty="0"/>
              <a:t>,{2,3}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  </a:t>
            </a:r>
            <a:r>
              <a:rPr lang="en-US" altLang="zh-CN" sz="2800" dirty="0"/>
              <a:t>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&lt;</a:t>
            </a:r>
            <a:r>
              <a:rPr lang="en-US" altLang="zh-CN" sz="2800" dirty="0"/>
              <a:t>{1},{1</a:t>
            </a:r>
            <a:r>
              <a:rPr lang="en-US" altLang="zh-CN" sz="2800" dirty="0">
                <a:latin typeface="+mn-ea"/>
              </a:rPr>
              <a:t>}</a:t>
            </a:r>
            <a:r>
              <a:rPr lang="en-US" altLang="zh-CN" sz="2800" b="1" dirty="0"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{1},{1,2}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{1},{1,3}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{1},A</a:t>
            </a:r>
            <a:r>
              <a:rPr lang="en-US" altLang="zh-CN" sz="2800" b="1" dirty="0"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&lt;</a:t>
            </a:r>
            <a:r>
              <a:rPr lang="en-US" altLang="zh-CN" sz="2800" dirty="0"/>
              <a:t>{2},{2}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{2},{1,2}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{2},{2,3}</a:t>
            </a:r>
            <a:r>
              <a:rPr lang="en-US" altLang="zh-CN" sz="2800" b="1" dirty="0">
                <a:solidFill>
                  <a:schemeClr val="hlink"/>
                </a:solidFill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{2},A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&lt;</a:t>
            </a:r>
            <a:r>
              <a:rPr lang="en-US" altLang="zh-CN" sz="2800" dirty="0"/>
              <a:t>{3},{3}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{3},{1,3}</a:t>
            </a:r>
            <a:r>
              <a:rPr lang="en-US" altLang="zh-CN" sz="2800" b="1" dirty="0">
                <a:solidFill>
                  <a:schemeClr val="hlink"/>
                </a:solidFill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{3},{2,3}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{3},A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&lt;</a:t>
            </a:r>
            <a:r>
              <a:rPr lang="en-US" altLang="zh-CN" sz="2800" dirty="0"/>
              <a:t>{1,2},{1,2}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{1,2},A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{1,3},{1,3}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{1,3},A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&lt;</a:t>
            </a:r>
            <a:r>
              <a:rPr lang="en-US" altLang="zh-CN" sz="2800" dirty="0"/>
              <a:t>{2,3},{2,3}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/>
              <a:t>{2,3},A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A,A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chemeClr val="accent1"/>
                </a:solidFill>
              </a:rPr>
              <a:t>}</a:t>
            </a:r>
            <a:endParaRPr lang="en-US" altLang="zh-CN" sz="2800" dirty="0"/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4AA22DE1-1B52-D7A2-BB45-B0287716E5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4163" y="207962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207962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16">
            <a:extLst>
              <a:ext uri="{FF2B5EF4-FFF2-40B4-BE49-F238E27FC236}">
                <a16:creationId xmlns:a16="http://schemas.microsoft.com/office/drawing/2014/main" id="{55B90284-9018-5DDB-B341-420E95175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09867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09867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对象 1">
            <a:extLst>
              <a:ext uri="{FF2B5EF4-FFF2-40B4-BE49-F238E27FC236}">
                <a16:creationId xmlns:a16="http://schemas.microsoft.com/office/drawing/2014/main" id="{F7322926-159E-7A17-790C-BB8D274DC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8725" y="2781300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8725" y="2781300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对象 2">
            <a:extLst>
              <a:ext uri="{FF2B5EF4-FFF2-40B4-BE49-F238E27FC236}">
                <a16:creationId xmlns:a16="http://schemas.microsoft.com/office/drawing/2014/main" id="{D55BBF8B-A110-7CA4-02CC-56C94C49C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7225" y="2781300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14" imgH="177492" progId="Equation.DSMT4">
                  <p:embed/>
                </p:oleObj>
              </mc:Choice>
              <mc:Fallback>
                <p:oleObj name="Equation" r:id="rId7" imgW="164814" imgH="17749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7225" y="2781300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对象 3">
            <a:extLst>
              <a:ext uri="{FF2B5EF4-FFF2-40B4-BE49-F238E27FC236}">
                <a16:creationId xmlns:a16="http://schemas.microsoft.com/office/drawing/2014/main" id="{97AB9CCB-7ABD-2585-33F7-D5A7390F8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8900" y="2768600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14" imgH="177492" progId="Equation.DSMT4">
                  <p:embed/>
                </p:oleObj>
              </mc:Choice>
              <mc:Fallback>
                <p:oleObj name="Equation" r:id="rId8" imgW="164814" imgH="17749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2768600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对象 4">
            <a:extLst>
              <a:ext uri="{FF2B5EF4-FFF2-40B4-BE49-F238E27FC236}">
                <a16:creationId xmlns:a16="http://schemas.microsoft.com/office/drawing/2014/main" id="{FC7B761C-93EE-4973-A632-F397B2CC7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5700" y="209867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14" imgH="177492" progId="Equation.DSMT4">
                  <p:embed/>
                </p:oleObj>
              </mc:Choice>
              <mc:Fallback>
                <p:oleObj name="Equation" r:id="rId9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209867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对象 5">
            <a:extLst>
              <a:ext uri="{FF2B5EF4-FFF2-40B4-BE49-F238E27FC236}">
                <a16:creationId xmlns:a16="http://schemas.microsoft.com/office/drawing/2014/main" id="{026AC70D-CE94-A541-AB11-068FC242B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0" y="208597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14" imgH="177492" progId="Equation.DSMT4">
                  <p:embed/>
                </p:oleObj>
              </mc:Choice>
              <mc:Fallback>
                <p:oleObj name="Equation" r:id="rId10" imgW="164814" imgH="177492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208597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对象 6">
            <a:extLst>
              <a:ext uri="{FF2B5EF4-FFF2-40B4-BE49-F238E27FC236}">
                <a16:creationId xmlns:a16="http://schemas.microsoft.com/office/drawing/2014/main" id="{BE0014B6-1E76-4334-FE30-C8B635EF2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5288" y="208597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4814" imgH="177492" progId="Equation.DSMT4">
                  <p:embed/>
                </p:oleObj>
              </mc:Choice>
              <mc:Fallback>
                <p:oleObj name="Equation" r:id="rId11" imgW="164814" imgH="177492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208597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对象 7">
            <a:extLst>
              <a:ext uri="{FF2B5EF4-FFF2-40B4-BE49-F238E27FC236}">
                <a16:creationId xmlns:a16="http://schemas.microsoft.com/office/drawing/2014/main" id="{4B06313F-2233-110A-FD62-6B93BC35F6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7275" y="209867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14" imgH="177492" progId="Equation.DSMT4">
                  <p:embed/>
                </p:oleObj>
              </mc:Choice>
              <mc:Fallback>
                <p:oleObj name="Equation" r:id="rId12" imgW="164814" imgH="177492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209867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对象 8">
            <a:extLst>
              <a:ext uri="{FF2B5EF4-FFF2-40B4-BE49-F238E27FC236}">
                <a16:creationId xmlns:a16="http://schemas.microsoft.com/office/drawing/2014/main" id="{8A33C408-DD64-C980-8DDA-2BB0BA92F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1513" y="2768600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14" imgH="177492" progId="Equation.DSMT4">
                  <p:embed/>
                </p:oleObj>
              </mc:Choice>
              <mc:Fallback>
                <p:oleObj name="Equation" r:id="rId13" imgW="164814" imgH="17749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2768600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79095130-0AAC-BC8C-AD1F-090C9A792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3.8.3 </a:t>
            </a:r>
            <a:r>
              <a:rPr lang="zh-CN" altLang="en-US" sz="4800"/>
              <a:t>哈斯图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EC2AFAD-C3D2-9C60-2285-8969C362E2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75000"/>
              </a:lnSpc>
            </a:pPr>
            <a:r>
              <a:rPr lang="zh-CN" altLang="en-US"/>
              <a:t>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的</a:t>
            </a:r>
            <a:r>
              <a:rPr lang="zh-CN" altLang="en-US" b="1">
                <a:solidFill>
                  <a:schemeClr val="hlink"/>
                </a:solidFill>
              </a:rPr>
              <a:t>哈斯图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Hasse graph</a:t>
            </a:r>
            <a:r>
              <a:rPr lang="en-US" altLang="zh-CN"/>
              <a:t>)</a:t>
            </a:r>
            <a:endParaRPr lang="zh-CN" altLang="en-US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(1)</a:t>
            </a:r>
            <a:r>
              <a:rPr lang="zh-CN" altLang="en-US"/>
              <a:t>用小圆圈代表</a:t>
            </a:r>
            <a:r>
              <a:rPr lang="en-US" altLang="zh-CN"/>
              <a:t>A</a:t>
            </a:r>
            <a:r>
              <a:rPr lang="zh-CN" altLang="en-US"/>
              <a:t>中的元素；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(2)</a:t>
            </a:r>
            <a:r>
              <a:rPr lang="zh-CN" altLang="en-US"/>
              <a:t>如果</a:t>
            </a:r>
            <a:r>
              <a:rPr lang="en-US" altLang="zh-CN"/>
              <a:t>a   </a:t>
            </a:r>
            <a:r>
              <a:rPr lang="en-US" altLang="zh-CN">
                <a:solidFill>
                  <a:srgbClr val="FF00FF"/>
                </a:solidFill>
              </a:rPr>
              <a:t>b</a:t>
            </a:r>
            <a:r>
              <a:rPr lang="zh-CN" altLang="en-US"/>
              <a:t>，则代表</a:t>
            </a:r>
            <a:r>
              <a:rPr lang="en-US" altLang="zh-CN"/>
              <a:t>b</a:t>
            </a:r>
            <a:r>
              <a:rPr lang="zh-CN" altLang="en-US"/>
              <a:t>的小圆圈画在代表</a:t>
            </a:r>
            <a:r>
              <a:rPr lang="en-US" altLang="zh-CN"/>
              <a:t>a</a:t>
            </a:r>
            <a:r>
              <a:rPr lang="zh-CN" altLang="en-US"/>
              <a:t>的</a:t>
            </a:r>
            <a:endParaRPr lang="en-US" altLang="zh-CN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小圆圈之</a:t>
            </a:r>
            <a:r>
              <a:rPr lang="zh-CN" altLang="en-US">
                <a:solidFill>
                  <a:srgbClr val="FF00FF"/>
                </a:solidFill>
              </a:rPr>
              <a:t>上</a:t>
            </a:r>
            <a:r>
              <a:rPr lang="zh-CN" altLang="en-US"/>
              <a:t>；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(3)</a:t>
            </a:r>
            <a:r>
              <a:rPr lang="zh-CN" altLang="en-US"/>
              <a:t>若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∈cov(A)</a:t>
            </a:r>
            <a:r>
              <a:rPr lang="zh-CN" altLang="en-US"/>
              <a:t>，则</a:t>
            </a:r>
            <a:r>
              <a:rPr lang="en-US" altLang="zh-CN"/>
              <a:t>a</a:t>
            </a:r>
            <a:r>
              <a:rPr lang="zh-CN" altLang="en-US"/>
              <a:t>与</a:t>
            </a:r>
            <a:r>
              <a:rPr lang="en-US" altLang="zh-CN"/>
              <a:t>b</a:t>
            </a:r>
            <a:r>
              <a:rPr lang="zh-CN" altLang="en-US"/>
              <a:t>之间用边联结。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400"/>
              <a:t> </a:t>
            </a:r>
          </a:p>
        </p:txBody>
      </p:sp>
      <p:graphicFrame>
        <p:nvGraphicFramePr>
          <p:cNvPr id="19460" name="Object 10">
            <a:extLst>
              <a:ext uri="{FF2B5EF4-FFF2-40B4-BE49-F238E27FC236}">
                <a16:creationId xmlns:a16="http://schemas.microsoft.com/office/drawing/2014/main" id="{6D995B34-DCD0-874E-EC13-9CDED90FE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0175" y="216217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216217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对象 1">
            <a:extLst>
              <a:ext uri="{FF2B5EF4-FFF2-40B4-BE49-F238E27FC236}">
                <a16:creationId xmlns:a16="http://schemas.microsoft.com/office/drawing/2014/main" id="{BDA70FB5-9CE8-BADA-479C-A784C730C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9838" y="4089400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" imgH="139700" progId="Equation.DSMT4">
                  <p:embed/>
                </p:oleObj>
              </mc:Choice>
              <mc:Fallback>
                <p:oleObj name="Equation" r:id="rId4" imgW="139700" imgH="139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4089400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8">
            <a:extLst>
              <a:ext uri="{FF2B5EF4-FFF2-40B4-BE49-F238E27FC236}">
                <a16:creationId xmlns:a16="http://schemas.microsoft.com/office/drawing/2014/main" id="{C2A501D4-300D-823F-64A9-C82E54A9F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3.8.3 </a:t>
            </a:r>
            <a:r>
              <a:rPr lang="zh-CN" altLang="en-US" sz="4800"/>
              <a:t>哈斯图</a:t>
            </a:r>
          </a:p>
        </p:txBody>
      </p:sp>
      <p:graphicFrame>
        <p:nvGraphicFramePr>
          <p:cNvPr id="20483" name="Object 37">
            <a:extLst>
              <a:ext uri="{FF2B5EF4-FFF2-40B4-BE49-F238E27FC236}">
                <a16:creationId xmlns:a16="http://schemas.microsoft.com/office/drawing/2014/main" id="{69BD5971-3C56-20ED-550E-71B77DAD3A7A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613275" y="2962275"/>
          <a:ext cx="3524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275" y="2962275"/>
                        <a:ext cx="3524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2" name="Rectangle 8">
            <a:extLst>
              <a:ext uri="{FF2B5EF4-FFF2-40B4-BE49-F238E27FC236}">
                <a16:creationId xmlns:a16="http://schemas.microsoft.com/office/drawing/2014/main" id="{A31B294A-DE0D-F4C4-5050-40277C372AA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211638" y="1825625"/>
            <a:ext cx="4932362" cy="50323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3.8.8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A</a:t>
            </a:r>
            <a:r>
              <a:rPr lang="zh-CN" altLang="en-US" dirty="0"/>
              <a:t>＝</a:t>
            </a:r>
            <a:r>
              <a:rPr lang="en-US" altLang="zh-CN" dirty="0"/>
              <a:t>{1,2,3,4,5,6,7,8,9}  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&lt;</a:t>
            </a:r>
            <a:r>
              <a:rPr lang="en-US" altLang="zh-CN" dirty="0"/>
              <a:t>9,5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9,6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9,7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9,8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8,4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8,6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  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&lt;</a:t>
            </a:r>
            <a:r>
              <a:rPr lang="en-US" altLang="zh-CN" dirty="0"/>
              <a:t>7,1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7,3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7,4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7,5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7,6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6,4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  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&lt;</a:t>
            </a:r>
            <a:r>
              <a:rPr lang="en-US" altLang="zh-CN" dirty="0"/>
              <a:t>5,1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5,3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5,4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 ∪I</a:t>
            </a:r>
            <a:r>
              <a:rPr lang="en-US" altLang="zh-CN" baseline="-25000" dirty="0"/>
              <a:t>A</a:t>
            </a:r>
            <a:endParaRPr lang="en-US" altLang="zh-CN" dirty="0"/>
          </a:p>
          <a:p>
            <a:pPr eaLnBrk="1" hangingPunct="1">
              <a:defRPr/>
            </a:pPr>
            <a:endParaRPr lang="en-US" altLang="zh-CN" dirty="0">
              <a:latin typeface="+mn-ea"/>
            </a:endParaRPr>
          </a:p>
          <a:p>
            <a:pPr eaLnBrk="1" hangingPunct="1">
              <a:defRPr/>
            </a:pPr>
            <a:endParaRPr lang="en-US" altLang="zh-CN" dirty="0">
              <a:latin typeface="+mn-ea"/>
            </a:endParaRPr>
          </a:p>
          <a:p>
            <a:pPr eaLnBrk="1" hangingPunct="1">
              <a:defRPr/>
            </a:pPr>
            <a:endParaRPr lang="zh-CN" altLang="en-US" dirty="0">
              <a:latin typeface="Times New Roman" pitchFamily="18" charset="0"/>
            </a:endParaRPr>
          </a:p>
          <a:p>
            <a:pPr eaLnBrk="1" hangingPunct="1">
              <a:defRPr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20485" name="Oval 11">
            <a:extLst>
              <a:ext uri="{FF2B5EF4-FFF2-40B4-BE49-F238E27FC236}">
                <a16:creationId xmlns:a16="http://schemas.microsoft.com/office/drawing/2014/main" id="{92BA22CD-5EA9-2C11-39C8-42CE0CE11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86" name="Oval 12">
            <a:extLst>
              <a:ext uri="{FF2B5EF4-FFF2-40B4-BE49-F238E27FC236}">
                <a16:creationId xmlns:a16="http://schemas.microsoft.com/office/drawing/2014/main" id="{24283647-8284-DE9D-AB93-EBA99D6A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370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87" name="Oval 13">
            <a:extLst>
              <a:ext uri="{FF2B5EF4-FFF2-40B4-BE49-F238E27FC236}">
                <a16:creationId xmlns:a16="http://schemas.microsoft.com/office/drawing/2014/main" id="{13A6EBD2-BA0D-C242-FE73-3B3F8C729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88" name="Oval 14">
            <a:extLst>
              <a:ext uri="{FF2B5EF4-FFF2-40B4-BE49-F238E27FC236}">
                <a16:creationId xmlns:a16="http://schemas.microsoft.com/office/drawing/2014/main" id="{F96CC42C-FD3D-C9AF-077C-94BE92384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89" name="Oval 15">
            <a:extLst>
              <a:ext uri="{FF2B5EF4-FFF2-40B4-BE49-F238E27FC236}">
                <a16:creationId xmlns:a16="http://schemas.microsoft.com/office/drawing/2014/main" id="{0C612C64-6D69-0ED2-2D93-6A403752A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894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90" name="Oval 16">
            <a:extLst>
              <a:ext uri="{FF2B5EF4-FFF2-40B4-BE49-F238E27FC236}">
                <a16:creationId xmlns:a16="http://schemas.microsoft.com/office/drawing/2014/main" id="{7D47316A-BB8A-2FDB-C305-F188CC321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94188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91" name="Oval 17">
            <a:extLst>
              <a:ext uri="{FF2B5EF4-FFF2-40B4-BE49-F238E27FC236}">
                <a16:creationId xmlns:a16="http://schemas.microsoft.com/office/drawing/2014/main" id="{3796F97E-89BB-6216-5F83-BD4310823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6229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492" name="Line 18">
            <a:extLst>
              <a:ext uri="{FF2B5EF4-FFF2-40B4-BE49-F238E27FC236}">
                <a16:creationId xmlns:a16="http://schemas.microsoft.com/office/drawing/2014/main" id="{B1908102-7C10-F59F-0166-C99F5E903A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5051425"/>
            <a:ext cx="8636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3" name="Line 19">
            <a:extLst>
              <a:ext uri="{FF2B5EF4-FFF2-40B4-BE49-F238E27FC236}">
                <a16:creationId xmlns:a16="http://schemas.microsoft.com/office/drawing/2014/main" id="{376ABF42-F45F-968E-1254-40160FA8C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5013325"/>
            <a:ext cx="10080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20">
            <a:extLst>
              <a:ext uri="{FF2B5EF4-FFF2-40B4-BE49-F238E27FC236}">
                <a16:creationId xmlns:a16="http://schemas.microsoft.com/office/drawing/2014/main" id="{1855A50B-8E1F-0C5B-FE39-E033FE0944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4246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21">
            <a:extLst>
              <a:ext uri="{FF2B5EF4-FFF2-40B4-BE49-F238E27FC236}">
                <a16:creationId xmlns:a16="http://schemas.microsoft.com/office/drawing/2014/main" id="{5A06E181-121F-A877-6314-005FD9DB0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3053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22">
            <a:extLst>
              <a:ext uri="{FF2B5EF4-FFF2-40B4-BE49-F238E27FC236}">
                <a16:creationId xmlns:a16="http://schemas.microsoft.com/office/drawing/2014/main" id="{7686777B-8DC9-5B1C-6F57-51DBA6C35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34877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23">
            <a:extLst>
              <a:ext uri="{FF2B5EF4-FFF2-40B4-BE49-F238E27FC236}">
                <a16:creationId xmlns:a16="http://schemas.microsoft.com/office/drawing/2014/main" id="{004CDB0C-4EC6-8ED3-A6AA-1F9A47A7E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775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24">
            <a:extLst>
              <a:ext uri="{FF2B5EF4-FFF2-40B4-BE49-F238E27FC236}">
                <a16:creationId xmlns:a16="http://schemas.microsoft.com/office/drawing/2014/main" id="{E81E9FB5-F1D6-FBDC-EFC2-FA20CDAC93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2275" y="4221163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Line 25">
            <a:extLst>
              <a:ext uri="{FF2B5EF4-FFF2-40B4-BE49-F238E27FC236}">
                <a16:creationId xmlns:a16="http://schemas.microsoft.com/office/drawing/2014/main" id="{23D3267F-64E6-7DCA-F36C-84FB342B50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250" y="3449638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Text Box 27">
            <a:extLst>
              <a:ext uri="{FF2B5EF4-FFF2-40B4-BE49-F238E27FC236}">
                <a16:creationId xmlns:a16="http://schemas.microsoft.com/office/drawing/2014/main" id="{5F3B923C-539C-FCCF-2437-182AE8819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635625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9</a:t>
            </a:r>
          </a:p>
        </p:txBody>
      </p:sp>
      <p:sp>
        <p:nvSpPr>
          <p:cNvPr id="20501" name="Text Box 29">
            <a:extLst>
              <a:ext uri="{FF2B5EF4-FFF2-40B4-BE49-F238E27FC236}">
                <a16:creationId xmlns:a16="http://schemas.microsoft.com/office/drawing/2014/main" id="{FBE215D4-DC11-C1AB-2D7F-16F8540C1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763" y="3175000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0502" name="Text Box 30">
            <a:extLst>
              <a:ext uri="{FF2B5EF4-FFF2-40B4-BE49-F238E27FC236}">
                <a16:creationId xmlns:a16="http://schemas.microsoft.com/office/drawing/2014/main" id="{38E37460-8FB4-CC00-9685-29CA7EA49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3200400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0503" name="Text Box 31">
            <a:extLst>
              <a:ext uri="{FF2B5EF4-FFF2-40B4-BE49-F238E27FC236}">
                <a16:creationId xmlns:a16="http://schemas.microsoft.com/office/drawing/2014/main" id="{58F5CB73-6DBB-B0B9-7DB8-4CC124A25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716463"/>
            <a:ext cx="339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7</a:t>
            </a:r>
          </a:p>
        </p:txBody>
      </p:sp>
      <p:sp>
        <p:nvSpPr>
          <p:cNvPr id="20504" name="Text Box 33">
            <a:extLst>
              <a:ext uri="{FF2B5EF4-FFF2-40B4-BE49-F238E27FC236}">
                <a16:creationId xmlns:a16="http://schemas.microsoft.com/office/drawing/2014/main" id="{E3EBC43A-93B3-71FC-E1D3-68EDBE6AB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762500"/>
            <a:ext cx="339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0505" name="Text Box 34">
            <a:extLst>
              <a:ext uri="{FF2B5EF4-FFF2-40B4-BE49-F238E27FC236}">
                <a16:creationId xmlns:a16="http://schemas.microsoft.com/office/drawing/2014/main" id="{CF54269E-F655-F38B-39CC-E0755B29E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37000"/>
            <a:ext cx="339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5</a:t>
            </a:r>
          </a:p>
        </p:txBody>
      </p:sp>
      <p:sp>
        <p:nvSpPr>
          <p:cNvPr id="20506" name="Text Box 36">
            <a:extLst>
              <a:ext uri="{FF2B5EF4-FFF2-40B4-BE49-F238E27FC236}">
                <a16:creationId xmlns:a16="http://schemas.microsoft.com/office/drawing/2014/main" id="{47773D72-F820-CCB6-6738-89B6578BD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39544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sp>
        <p:nvSpPr>
          <p:cNvPr id="20507" name="Oval 11">
            <a:extLst>
              <a:ext uri="{FF2B5EF4-FFF2-40B4-BE49-F238E27FC236}">
                <a16:creationId xmlns:a16="http://schemas.microsoft.com/office/drawing/2014/main" id="{9BB6F6E0-F890-FA63-9F6B-E52B4DC30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24209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508" name="Oval 11">
            <a:extLst>
              <a:ext uri="{FF2B5EF4-FFF2-40B4-BE49-F238E27FC236}">
                <a16:creationId xmlns:a16="http://schemas.microsoft.com/office/drawing/2014/main" id="{17EEA987-D6EF-20AD-C495-AD76A4015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24209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0509" name="Text Box 29">
            <a:extLst>
              <a:ext uri="{FF2B5EF4-FFF2-40B4-BE49-F238E27FC236}">
                <a16:creationId xmlns:a16="http://schemas.microsoft.com/office/drawing/2014/main" id="{0B5C606B-8EB5-A84B-79A0-D06AD1603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2014538"/>
            <a:ext cx="339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cxnSp>
        <p:nvCxnSpPr>
          <p:cNvPr id="20510" name="直接连接符 2">
            <a:extLst>
              <a:ext uri="{FF2B5EF4-FFF2-40B4-BE49-F238E27FC236}">
                <a16:creationId xmlns:a16="http://schemas.microsoft.com/office/drawing/2014/main" id="{39AA4F92-B15B-4170-2BAB-44A8CF0F8FC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22425" y="2519363"/>
            <a:ext cx="12700" cy="8413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1" name="Text Box 30">
            <a:extLst>
              <a:ext uri="{FF2B5EF4-FFF2-40B4-BE49-F238E27FC236}">
                <a16:creationId xmlns:a16="http://schemas.microsoft.com/office/drawing/2014/main" id="{1E8F1EEF-5E9D-C066-0E94-75D06873C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2005013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355A6A8-A60A-2F70-7D2E-5FC6F666D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3.8.3 </a:t>
            </a:r>
            <a:r>
              <a:rPr lang="zh-CN" altLang="en-US" sz="4800"/>
              <a:t>哈斯图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0B57CFF4-80B9-F255-6679-659352EDAF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844675"/>
            <a:ext cx="8604250" cy="5013325"/>
          </a:xfrm>
        </p:spPr>
        <p:txBody>
          <a:bodyPr/>
          <a:lstStyle/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</a:t>
            </a:r>
            <a:r>
              <a:rPr lang="zh-CN" altLang="en-US" b="1" dirty="0">
                <a:solidFill>
                  <a:srgbClr val="FF0000"/>
                </a:solidFill>
              </a:rPr>
              <a:t>哈斯图</a:t>
            </a:r>
            <a:r>
              <a:rPr lang="zh-CN" altLang="en-US" dirty="0"/>
              <a:t>   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/>
              <a:t>德国数学家</a:t>
            </a:r>
            <a:r>
              <a:rPr lang="zh-CN" altLang="en-US" dirty="0">
                <a:solidFill>
                  <a:srgbClr val="00B050"/>
                </a:solidFill>
              </a:rPr>
              <a:t>哈斯</a:t>
            </a:r>
            <a:r>
              <a:rPr lang="en-US" altLang="zh-CN" dirty="0"/>
              <a:t>(Hasse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1898</a:t>
            </a:r>
            <a:r>
              <a:rPr lang="zh-CN" altLang="en-US" dirty="0"/>
              <a:t>－</a:t>
            </a:r>
            <a:r>
              <a:rPr lang="en-US" altLang="zh-CN" dirty="0"/>
              <a:t>1979)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>
                <a:solidFill>
                  <a:srgbClr val="FF00FF"/>
                </a:solidFill>
              </a:rPr>
              <a:t>偏序</a:t>
            </a:r>
            <a:r>
              <a:rPr lang="zh-CN" altLang="en-US" dirty="0">
                <a:solidFill>
                  <a:schemeClr val="accent4"/>
                </a:solidFill>
              </a:rPr>
              <a:t>关系图</a:t>
            </a:r>
            <a:r>
              <a:rPr lang="zh-CN" altLang="en-US" dirty="0">
                <a:solidFill>
                  <a:srgbClr val="FF00FF"/>
                </a:solidFill>
              </a:rPr>
              <a:t>的简化</a:t>
            </a:r>
            <a:r>
              <a:rPr lang="zh-CN" altLang="en-US" dirty="0"/>
              <a:t>，即省略</a:t>
            </a:r>
            <a:r>
              <a:rPr lang="zh-CN" altLang="en-US" dirty="0">
                <a:solidFill>
                  <a:srgbClr val="FF00FF"/>
                </a:solidFill>
              </a:rPr>
              <a:t>自反性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FF"/>
                </a:solidFill>
              </a:rPr>
              <a:t>传递性</a:t>
            </a:r>
            <a:r>
              <a:rPr lang="zh-CN" altLang="en-US" dirty="0"/>
              <a:t>必须出现的边</a:t>
            </a:r>
            <a:endParaRPr lang="en-US" altLang="zh-CN" dirty="0"/>
          </a:p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/>
              <a:t>偏序关系刻画的集合中</a:t>
            </a:r>
            <a:r>
              <a:rPr lang="zh-CN" altLang="en-US" dirty="0">
                <a:solidFill>
                  <a:schemeClr val="accent1"/>
                </a:solidFill>
              </a:rPr>
              <a:t>各元素间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某种层次</a:t>
            </a:r>
            <a:r>
              <a:rPr lang="zh-CN" altLang="en-US" sz="1400" dirty="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8">
            <a:extLst>
              <a:ext uri="{FF2B5EF4-FFF2-40B4-BE49-F238E27FC236}">
                <a16:creationId xmlns:a16="http://schemas.microsoft.com/office/drawing/2014/main" id="{97ED94DD-70C5-3FC6-FC36-8D531FBB0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3.8.3 </a:t>
            </a:r>
            <a:r>
              <a:rPr lang="zh-CN" altLang="en-US" sz="4800"/>
              <a:t>哈斯图</a:t>
            </a:r>
          </a:p>
        </p:txBody>
      </p:sp>
      <p:sp>
        <p:nvSpPr>
          <p:cNvPr id="22531" name="Rectangle 8">
            <a:extLst>
              <a:ext uri="{FF2B5EF4-FFF2-40B4-BE49-F238E27FC236}">
                <a16:creationId xmlns:a16="http://schemas.microsoft.com/office/drawing/2014/main" id="{EE2D5A40-ED5B-DD8C-4CE0-CCFD050D05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8281987" cy="48688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3.8.9  </a:t>
            </a:r>
            <a:r>
              <a:rPr lang="zh-CN" altLang="en-US" dirty="0"/>
              <a:t>例</a:t>
            </a:r>
            <a:r>
              <a:rPr lang="en-US" altLang="zh-CN" dirty="0"/>
              <a:t>3.8.5</a:t>
            </a:r>
            <a:r>
              <a:rPr lang="zh-CN" altLang="en-US" dirty="0"/>
              <a:t>偏序集</a:t>
            </a:r>
            <a:r>
              <a:rPr lang="en-US" altLang="zh-CN" b="1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  </a:t>
            </a:r>
            <a:r>
              <a:rPr lang="en-US" altLang="zh-CN" b="1" dirty="0">
                <a:latin typeface="宋体" panose="02010600030101010101" pitchFamily="2" charset="-122"/>
              </a:rPr>
              <a:t>&gt;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en-US" altLang="zh-CN" dirty="0" err="1">
                <a:latin typeface="Times New Roman" panose="02020603050405020304" pitchFamily="18" charset="0"/>
              </a:rPr>
              <a:t>Hasse</a:t>
            </a:r>
            <a:r>
              <a:rPr lang="zh-CN" altLang="en-US" dirty="0">
                <a:latin typeface="Times New Roman" panose="02020603050405020304" pitchFamily="18" charset="0"/>
              </a:rPr>
              <a:t>图</a:t>
            </a:r>
          </a:p>
          <a:p>
            <a:pPr eaLnBrk="1" hangingPunct="1"/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2532" name="Oval 11">
            <a:extLst>
              <a:ext uri="{FF2B5EF4-FFF2-40B4-BE49-F238E27FC236}">
                <a16:creationId xmlns:a16="http://schemas.microsoft.com/office/drawing/2014/main" id="{BB4CF9D7-8D2F-F056-2EB8-93D9756B7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33575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3" name="Oval 12">
            <a:extLst>
              <a:ext uri="{FF2B5EF4-FFF2-40B4-BE49-F238E27FC236}">
                <a16:creationId xmlns:a16="http://schemas.microsoft.com/office/drawing/2014/main" id="{18E4DC7E-577B-418F-E2A0-70838B8DA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370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4" name="Oval 13">
            <a:extLst>
              <a:ext uri="{FF2B5EF4-FFF2-40B4-BE49-F238E27FC236}">
                <a16:creationId xmlns:a16="http://schemas.microsoft.com/office/drawing/2014/main" id="{0DBCBBD7-E0B5-41B3-234D-2BDD3328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5" name="Oval 14">
            <a:extLst>
              <a:ext uri="{FF2B5EF4-FFF2-40B4-BE49-F238E27FC236}">
                <a16:creationId xmlns:a16="http://schemas.microsoft.com/office/drawing/2014/main" id="{DBD31F41-7CD9-185C-B287-79B0CE1D3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6" name="Oval 15">
            <a:extLst>
              <a:ext uri="{FF2B5EF4-FFF2-40B4-BE49-F238E27FC236}">
                <a16:creationId xmlns:a16="http://schemas.microsoft.com/office/drawing/2014/main" id="{95AA9053-02D9-1694-7DE9-11075B3A4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894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7" name="Oval 16">
            <a:extLst>
              <a:ext uri="{FF2B5EF4-FFF2-40B4-BE49-F238E27FC236}">
                <a16:creationId xmlns:a16="http://schemas.microsoft.com/office/drawing/2014/main" id="{82FBF8FE-527A-694E-FD34-6168F49D7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94188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8" name="Oval 17">
            <a:extLst>
              <a:ext uri="{FF2B5EF4-FFF2-40B4-BE49-F238E27FC236}">
                <a16:creationId xmlns:a16="http://schemas.microsoft.com/office/drawing/2014/main" id="{786824B3-1BC1-6F7C-2B1E-161948117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56229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2539" name="Line 18">
            <a:extLst>
              <a:ext uri="{FF2B5EF4-FFF2-40B4-BE49-F238E27FC236}">
                <a16:creationId xmlns:a16="http://schemas.microsoft.com/office/drawing/2014/main" id="{DA7EB463-97C9-88FE-BF7C-DB7217057B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2538" y="5051425"/>
            <a:ext cx="8636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19">
            <a:extLst>
              <a:ext uri="{FF2B5EF4-FFF2-40B4-BE49-F238E27FC236}">
                <a16:creationId xmlns:a16="http://schemas.microsoft.com/office/drawing/2014/main" id="{1C64FF2D-390B-3193-A846-7A36DC3FD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013325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1" name="Line 20">
            <a:extLst>
              <a:ext uri="{FF2B5EF4-FFF2-40B4-BE49-F238E27FC236}">
                <a16:creationId xmlns:a16="http://schemas.microsoft.com/office/drawing/2014/main" id="{088AEC73-6BF4-9861-4E29-D2ABF7442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638" y="4246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21">
            <a:extLst>
              <a:ext uri="{FF2B5EF4-FFF2-40B4-BE49-F238E27FC236}">
                <a16:creationId xmlns:a16="http://schemas.microsoft.com/office/drawing/2014/main" id="{F4E030C5-CC92-F354-98B2-B230CDAE2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42799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22">
            <a:extLst>
              <a:ext uri="{FF2B5EF4-FFF2-40B4-BE49-F238E27FC236}">
                <a16:creationId xmlns:a16="http://schemas.microsoft.com/office/drawing/2014/main" id="{8BFD3EE6-B3EA-A00C-715D-5A0BCCE70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2713" y="34877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23">
            <a:extLst>
              <a:ext uri="{FF2B5EF4-FFF2-40B4-BE49-F238E27FC236}">
                <a16:creationId xmlns:a16="http://schemas.microsoft.com/office/drawing/2014/main" id="{7643E708-45E1-310D-77F5-742E8B890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24">
            <a:extLst>
              <a:ext uri="{FF2B5EF4-FFF2-40B4-BE49-F238E27FC236}">
                <a16:creationId xmlns:a16="http://schemas.microsoft.com/office/drawing/2014/main" id="{07FAF288-F443-A40C-7B9E-9FBE150AEA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3038" y="4221163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25">
            <a:extLst>
              <a:ext uri="{FF2B5EF4-FFF2-40B4-BE49-F238E27FC236}">
                <a16:creationId xmlns:a16="http://schemas.microsoft.com/office/drawing/2014/main" id="{A613C889-0EA7-96E1-AFB5-C7DF023E8E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449638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Text Box 27">
            <a:extLst>
              <a:ext uri="{FF2B5EF4-FFF2-40B4-BE49-F238E27FC236}">
                <a16:creationId xmlns:a16="http://schemas.microsoft.com/office/drawing/2014/main" id="{89E68BC0-610C-1539-453E-CBAE6AC73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5635625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2548" name="Text Box 29">
            <a:extLst>
              <a:ext uri="{FF2B5EF4-FFF2-40B4-BE49-F238E27FC236}">
                <a16:creationId xmlns:a16="http://schemas.microsoft.com/office/drawing/2014/main" id="{62F61EB0-F857-FB61-A947-C4CDE00C7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903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2549" name="Text Box 30">
            <a:extLst>
              <a:ext uri="{FF2B5EF4-FFF2-40B4-BE49-F238E27FC236}">
                <a16:creationId xmlns:a16="http://schemas.microsoft.com/office/drawing/2014/main" id="{1487DE8D-CD1A-1B82-E1ED-421B2F511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903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22550" name="Text Box 31">
            <a:extLst>
              <a:ext uri="{FF2B5EF4-FFF2-40B4-BE49-F238E27FC236}">
                <a16:creationId xmlns:a16="http://schemas.microsoft.com/office/drawing/2014/main" id="{A25B07D5-F013-6B17-2CEA-BCDDE3C9D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783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2551" name="Text Box 33">
            <a:extLst>
              <a:ext uri="{FF2B5EF4-FFF2-40B4-BE49-F238E27FC236}">
                <a16:creationId xmlns:a16="http://schemas.microsoft.com/office/drawing/2014/main" id="{577B826A-36A7-0AAF-8235-2397F24E4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100" y="47625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2552" name="Text Box 34">
            <a:extLst>
              <a:ext uri="{FF2B5EF4-FFF2-40B4-BE49-F238E27FC236}">
                <a16:creationId xmlns:a16="http://schemas.microsoft.com/office/drawing/2014/main" id="{F28D8E78-85DB-82D3-733D-D16D2DF6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937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2553" name="Text Box 36">
            <a:extLst>
              <a:ext uri="{FF2B5EF4-FFF2-40B4-BE49-F238E27FC236}">
                <a16:creationId xmlns:a16="http://schemas.microsoft.com/office/drawing/2014/main" id="{DE3F6F57-8931-2F93-0045-7BCA2CD70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39544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aphicFrame>
        <p:nvGraphicFramePr>
          <p:cNvPr id="22554" name="Object 37">
            <a:extLst>
              <a:ext uri="{FF2B5EF4-FFF2-40B4-BE49-F238E27FC236}">
                <a16:creationId xmlns:a16="http://schemas.microsoft.com/office/drawing/2014/main" id="{276EEBBB-2B3B-9B7E-C4F0-D9E55403DCFA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3609189"/>
              </p:ext>
            </p:extLst>
          </p:nvPr>
        </p:nvGraphicFramePr>
        <p:xfrm>
          <a:off x="5651500" y="201453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01453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Oval 11">
            <a:extLst>
              <a:ext uri="{FF2B5EF4-FFF2-40B4-BE49-F238E27FC236}">
                <a16:creationId xmlns:a16="http://schemas.microsoft.com/office/drawing/2014/main" id="{969A704F-9AD6-35FB-272E-5ABEAB6B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980" y="323495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0AE8F35F-7A97-0CC2-9946-EF2784AFA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6305" y="4928815"/>
            <a:ext cx="8636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5E213082-5D21-358F-9582-8DA353F6E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4105" y="4890715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C5D16A05-75E5-D776-D638-55CCC6FEA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6480" y="336512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3">
            <a:extLst>
              <a:ext uri="{FF2B5EF4-FFF2-40B4-BE49-F238E27FC236}">
                <a16:creationId xmlns:a16="http://schemas.microsoft.com/office/drawing/2014/main" id="{B50F54A5-C0FA-6C41-17AC-003269532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230" y="337782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1352E113-DC6E-7F0D-3860-4EEF1296F0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66805" y="4098553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B9EA0AF1-324E-A5C1-65CF-03E8A00CCE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54105" y="3327028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A42FF088-EE0E-25C3-89A3-AF08824CA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930" y="5513015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3" name="Text Box 29">
            <a:extLst>
              <a:ext uri="{FF2B5EF4-FFF2-40B4-BE49-F238E27FC236}">
                <a16:creationId xmlns:a16="http://schemas.microsoft.com/office/drawing/2014/main" id="{55D8192D-3C2D-69F5-FD3A-930A7824D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205" y="278092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6A3900FF-B1BF-FD37-CC5B-C49C1CDF6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1305" y="278092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25" name="Text Box 31">
            <a:extLst>
              <a:ext uri="{FF2B5EF4-FFF2-40B4-BE49-F238E27FC236}">
                <a16:creationId xmlns:a16="http://schemas.microsoft.com/office/drawing/2014/main" id="{C81BCC66-CF75-829F-1C58-C0198BB20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967" y="455575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BE6B673D-7B92-A32F-4207-F74A2F98C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0867" y="463989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7" name="Text Box 36">
            <a:extLst>
              <a:ext uri="{FF2B5EF4-FFF2-40B4-BE49-F238E27FC236}">
                <a16:creationId xmlns:a16="http://schemas.microsoft.com/office/drawing/2014/main" id="{64A3AED0-3761-4506-7E69-B45A39491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267" y="383185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0406F172-184B-0158-D473-3A5A95158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043" y="4005064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" name="Oval 11">
            <a:extLst>
              <a:ext uri="{FF2B5EF4-FFF2-40B4-BE49-F238E27FC236}">
                <a16:creationId xmlns:a16="http://schemas.microsoft.com/office/drawing/2014/main" id="{AE75A03A-B0D1-5002-F252-E29F5F99C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384" y="3284984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" name="Oval 11">
            <a:extLst>
              <a:ext uri="{FF2B5EF4-FFF2-40B4-BE49-F238E27FC236}">
                <a16:creationId xmlns:a16="http://schemas.microsoft.com/office/drawing/2014/main" id="{78480037-2275-5C69-ADB0-50253E1AC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384" y="403795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6">
            <a:extLst>
              <a:ext uri="{FF2B5EF4-FFF2-40B4-BE49-F238E27FC236}">
                <a16:creationId xmlns:a16="http://schemas.microsoft.com/office/drawing/2014/main" id="{93FAAB58-85A1-8F73-5DEB-E67B40414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3.8.3 </a:t>
            </a:r>
            <a:r>
              <a:rPr lang="zh-CN" altLang="en-US" sz="4800"/>
              <a:t>哈斯图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366D20F-5CA8-5C65-3400-E8BC13734C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532812" cy="484028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3.8.10 </a:t>
            </a:r>
            <a:r>
              <a:rPr lang="zh-CN" altLang="en-US"/>
              <a:t>例</a:t>
            </a:r>
            <a:r>
              <a:rPr lang="en-US" altLang="zh-CN"/>
              <a:t>3.8.7</a:t>
            </a:r>
            <a:r>
              <a:rPr lang="zh-CN" altLang="en-US"/>
              <a:t>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P(A),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Hasse</a:t>
            </a:r>
            <a:r>
              <a:rPr lang="zh-CN" altLang="en-US">
                <a:latin typeface="Times New Roman" panose="02020603050405020304" pitchFamily="18" charset="0"/>
              </a:rPr>
              <a:t>图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23556" name="Object 12">
            <a:extLst>
              <a:ext uri="{FF2B5EF4-FFF2-40B4-BE49-F238E27FC236}">
                <a16:creationId xmlns:a16="http://schemas.microsoft.com/office/drawing/2014/main" id="{957A638D-7115-529B-B442-2F0707E6842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302375" y="20478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75" y="20478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Oval 4">
            <a:extLst>
              <a:ext uri="{FF2B5EF4-FFF2-40B4-BE49-F238E27FC236}">
                <a16:creationId xmlns:a16="http://schemas.microsoft.com/office/drawing/2014/main" id="{998C5065-C9F9-EC12-3035-69F0751C9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2337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F1E29B2D-A65F-D648-4747-8397AFED6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59" name="Oval 6">
            <a:extLst>
              <a:ext uri="{FF2B5EF4-FFF2-40B4-BE49-F238E27FC236}">
                <a16:creationId xmlns:a16="http://schemas.microsoft.com/office/drawing/2014/main" id="{F0BF0CEA-B099-137B-EE10-E697B5415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60" name="Oval 7">
            <a:extLst>
              <a:ext uri="{FF2B5EF4-FFF2-40B4-BE49-F238E27FC236}">
                <a16:creationId xmlns:a16="http://schemas.microsoft.com/office/drawing/2014/main" id="{44100EC1-E120-C8D1-6D60-0754FD8E0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61" name="Oval 8">
            <a:extLst>
              <a:ext uri="{FF2B5EF4-FFF2-40B4-BE49-F238E27FC236}">
                <a16:creationId xmlns:a16="http://schemas.microsoft.com/office/drawing/2014/main" id="{9EFF1588-2C86-6B0D-A421-C1DF241FD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62" name="Oval 9">
            <a:extLst>
              <a:ext uri="{FF2B5EF4-FFF2-40B4-BE49-F238E27FC236}">
                <a16:creationId xmlns:a16="http://schemas.microsoft.com/office/drawing/2014/main" id="{8A868778-EB4A-97B5-4BCB-4B86AD968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63" name="Oval 10">
            <a:extLst>
              <a:ext uri="{FF2B5EF4-FFF2-40B4-BE49-F238E27FC236}">
                <a16:creationId xmlns:a16="http://schemas.microsoft.com/office/drawing/2014/main" id="{CF27959F-6D9A-F480-88C8-C9F44F18F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3564" name="Oval 11">
            <a:extLst>
              <a:ext uri="{FF2B5EF4-FFF2-40B4-BE49-F238E27FC236}">
                <a16:creationId xmlns:a16="http://schemas.microsoft.com/office/drawing/2014/main" id="{556635A7-D4DE-143F-E3C0-56F69020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9817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graphicFrame>
        <p:nvGraphicFramePr>
          <p:cNvPr id="23565" name="Object 15">
            <a:extLst>
              <a:ext uri="{FF2B5EF4-FFF2-40B4-BE49-F238E27FC236}">
                <a16:creationId xmlns:a16="http://schemas.microsoft.com/office/drawing/2014/main" id="{C59FBC78-4089-27CD-5DFF-8C4211737D6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525838" y="6189663"/>
          <a:ext cx="2952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6189663"/>
                        <a:ext cx="29527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Line 20">
            <a:extLst>
              <a:ext uri="{FF2B5EF4-FFF2-40B4-BE49-F238E27FC236}">
                <a16:creationId xmlns:a16="http://schemas.microsoft.com/office/drawing/2014/main" id="{2A76A5A3-AB8C-6BA3-31D7-C9E118FD6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51704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Line 21">
            <a:extLst>
              <a:ext uri="{FF2B5EF4-FFF2-40B4-BE49-F238E27FC236}">
                <a16:creationId xmlns:a16="http://schemas.microsoft.com/office/drawing/2014/main" id="{11973BA8-2359-B33B-C263-BC15490EEC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5157788"/>
            <a:ext cx="12239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Line 22">
            <a:extLst>
              <a:ext uri="{FF2B5EF4-FFF2-40B4-BE49-F238E27FC236}">
                <a16:creationId xmlns:a16="http://schemas.microsoft.com/office/drawing/2014/main" id="{BBD4E218-1EA3-BE37-F216-12C022E79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157788"/>
            <a:ext cx="115093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23">
            <a:extLst>
              <a:ext uri="{FF2B5EF4-FFF2-40B4-BE49-F238E27FC236}">
                <a16:creationId xmlns:a16="http://schemas.microsoft.com/office/drawing/2014/main" id="{9A7DBB4A-6191-EDAF-81B4-10300E2A9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149725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Line 24">
            <a:extLst>
              <a:ext uri="{FF2B5EF4-FFF2-40B4-BE49-F238E27FC236}">
                <a16:creationId xmlns:a16="http://schemas.microsoft.com/office/drawing/2014/main" id="{7FDB5B09-C01A-FA8A-BA2A-716CB8FA2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4149725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Line 25">
            <a:extLst>
              <a:ext uri="{FF2B5EF4-FFF2-40B4-BE49-F238E27FC236}">
                <a16:creationId xmlns:a16="http://schemas.microsoft.com/office/drawing/2014/main" id="{0EA87214-BB74-9150-DF0A-EC2B165D67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4149725"/>
            <a:ext cx="1150938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2" name="Line 26">
            <a:extLst>
              <a:ext uri="{FF2B5EF4-FFF2-40B4-BE49-F238E27FC236}">
                <a16:creationId xmlns:a16="http://schemas.microsoft.com/office/drawing/2014/main" id="{1EF8CB34-11FF-1040-BDEA-EB8BBFEF7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4157663"/>
            <a:ext cx="11525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3" name="Line 27">
            <a:extLst>
              <a:ext uri="{FF2B5EF4-FFF2-40B4-BE49-F238E27FC236}">
                <a16:creationId xmlns:a16="http://schemas.microsoft.com/office/drawing/2014/main" id="{F9FF052F-75EE-92BC-B210-777681C746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4438" y="4149725"/>
            <a:ext cx="1150937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Line 28">
            <a:extLst>
              <a:ext uri="{FF2B5EF4-FFF2-40B4-BE49-F238E27FC236}">
                <a16:creationId xmlns:a16="http://schemas.microsoft.com/office/drawing/2014/main" id="{6F592D0B-A79A-600C-D5F7-C3A5A95C3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4149725"/>
            <a:ext cx="1223963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5" name="Line 30">
            <a:extLst>
              <a:ext uri="{FF2B5EF4-FFF2-40B4-BE49-F238E27FC236}">
                <a16:creationId xmlns:a16="http://schemas.microsoft.com/office/drawing/2014/main" id="{C93ED28C-CDA6-637B-85D0-659F26E70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357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Line 31">
            <a:extLst>
              <a:ext uri="{FF2B5EF4-FFF2-40B4-BE49-F238E27FC236}">
                <a16:creationId xmlns:a16="http://schemas.microsoft.com/office/drawing/2014/main" id="{59A1B299-0FAE-6830-3B6C-718D280521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32845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7" name="Line 32">
            <a:extLst>
              <a:ext uri="{FF2B5EF4-FFF2-40B4-BE49-F238E27FC236}">
                <a16:creationId xmlns:a16="http://schemas.microsoft.com/office/drawing/2014/main" id="{76B7B04C-D6DE-B4AA-D19B-76380CDF2F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284538"/>
            <a:ext cx="1150938" cy="7921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8" name="Line 35">
            <a:extLst>
              <a:ext uri="{FF2B5EF4-FFF2-40B4-BE49-F238E27FC236}">
                <a16:creationId xmlns:a16="http://schemas.microsoft.com/office/drawing/2014/main" id="{060E7CFD-AD99-2C46-DA90-7F782B5D8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309938"/>
            <a:ext cx="115093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9" name="Text Box 36">
            <a:extLst>
              <a:ext uri="{FF2B5EF4-FFF2-40B4-BE49-F238E27FC236}">
                <a16:creationId xmlns:a16="http://schemas.microsoft.com/office/drawing/2014/main" id="{4C899E91-DBC9-B955-C021-B29915AD8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86092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{1}</a:t>
            </a:r>
          </a:p>
        </p:txBody>
      </p:sp>
      <p:sp>
        <p:nvSpPr>
          <p:cNvPr id="23580" name="Text Box 37">
            <a:extLst>
              <a:ext uri="{FF2B5EF4-FFF2-40B4-BE49-F238E27FC236}">
                <a16:creationId xmlns:a16="http://schemas.microsoft.com/office/drawing/2014/main" id="{BD8C56DC-F911-EDE9-239D-5B601D521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852988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{3}</a:t>
            </a:r>
          </a:p>
        </p:txBody>
      </p:sp>
      <p:sp>
        <p:nvSpPr>
          <p:cNvPr id="23581" name="Text Box 38">
            <a:extLst>
              <a:ext uri="{FF2B5EF4-FFF2-40B4-BE49-F238E27FC236}">
                <a16:creationId xmlns:a16="http://schemas.microsoft.com/office/drawing/2014/main" id="{615D8A90-EB7C-41B7-C218-0345AC296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4513" y="4868863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{2}</a:t>
            </a:r>
          </a:p>
        </p:txBody>
      </p:sp>
      <p:sp>
        <p:nvSpPr>
          <p:cNvPr id="23582" name="Text Box 39">
            <a:extLst>
              <a:ext uri="{FF2B5EF4-FFF2-40B4-BE49-F238E27FC236}">
                <a16:creationId xmlns:a16="http://schemas.microsoft.com/office/drawing/2014/main" id="{58D4ED3B-7E5A-51C8-1B07-2379737D6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3843338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{1,2}</a:t>
            </a:r>
          </a:p>
        </p:txBody>
      </p:sp>
      <p:sp>
        <p:nvSpPr>
          <p:cNvPr id="23583" name="Text Box 40">
            <a:extLst>
              <a:ext uri="{FF2B5EF4-FFF2-40B4-BE49-F238E27FC236}">
                <a16:creationId xmlns:a16="http://schemas.microsoft.com/office/drawing/2014/main" id="{72FE1BBA-F2F8-75A0-643F-7D400FDA5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3844925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{2,3}</a:t>
            </a:r>
          </a:p>
        </p:txBody>
      </p:sp>
      <p:sp>
        <p:nvSpPr>
          <p:cNvPr id="23584" name="Text Box 43">
            <a:extLst>
              <a:ext uri="{FF2B5EF4-FFF2-40B4-BE49-F238E27FC236}">
                <a16:creationId xmlns:a16="http://schemas.microsoft.com/office/drawing/2014/main" id="{B3CD3442-5E49-6B7A-153C-DB7DA6F2F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5850" y="3789363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{1,3}</a:t>
            </a:r>
          </a:p>
        </p:txBody>
      </p:sp>
      <p:sp>
        <p:nvSpPr>
          <p:cNvPr id="23585" name="Text Box 44">
            <a:extLst>
              <a:ext uri="{FF2B5EF4-FFF2-40B4-BE49-F238E27FC236}">
                <a16:creationId xmlns:a16="http://schemas.microsoft.com/office/drawing/2014/main" id="{F32F1EA5-18F2-D856-F7C0-450D1020C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273050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{1,2,3}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8">
            <a:extLst>
              <a:ext uri="{FF2B5EF4-FFF2-40B4-BE49-F238E27FC236}">
                <a16:creationId xmlns:a16="http://schemas.microsoft.com/office/drawing/2014/main" id="{E2718F42-E387-60F6-CDFE-190F5D53C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3.8.4 </a:t>
            </a:r>
            <a:r>
              <a:rPr lang="zh-CN" altLang="en-US" sz="4800"/>
              <a:t>最大元与极大元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4B77562-54FD-7092-CEBD-BB9F9719FE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8532812" cy="48688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3.8.11 </a:t>
            </a:r>
            <a:r>
              <a:rPr lang="zh-CN" altLang="en-US"/>
              <a:t>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Hasse</a:t>
            </a:r>
            <a:r>
              <a:rPr lang="zh-CN" altLang="en-US">
                <a:latin typeface="Times New Roman" panose="02020603050405020304" pitchFamily="18" charset="0"/>
              </a:rPr>
              <a:t>图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accent1"/>
                </a:solidFill>
              </a:rPr>
              <a:t>  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en-US" altLang="zh-CN"/>
              <a:t>  1                           A</a:t>
            </a:r>
            <a:r>
              <a:rPr lang="zh-CN" altLang="en-US"/>
              <a:t>中</a:t>
            </a:r>
            <a:r>
              <a:rPr lang="zh-CN" altLang="en-US">
                <a:solidFill>
                  <a:schemeClr val="hlink"/>
                </a:solidFill>
              </a:rPr>
              <a:t>没有</a:t>
            </a:r>
            <a:r>
              <a:rPr lang="zh-CN" altLang="en-US">
                <a:solidFill>
                  <a:schemeClr val="accent1"/>
                </a:solidFill>
              </a:rPr>
              <a:t>  </a:t>
            </a:r>
            <a:r>
              <a:rPr lang="en-US" altLang="zh-CN"/>
              <a:t>1 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   </a:t>
            </a:r>
            <a:r>
              <a:rPr lang="en-US" altLang="zh-CN">
                <a:solidFill>
                  <a:schemeClr val="accent1"/>
                </a:solidFill>
              </a:rPr>
              <a:t>1 </a:t>
            </a:r>
            <a:r>
              <a:rPr lang="en-US" altLang="zh-CN"/>
              <a:t> 2                           </a:t>
            </a:r>
            <a:r>
              <a:rPr lang="zh-CN" altLang="en-US"/>
              <a:t>元素</a:t>
            </a:r>
            <a:r>
              <a:rPr lang="en-US" altLang="zh-CN">
                <a:solidFill>
                  <a:schemeClr val="hlink"/>
                </a:solidFill>
              </a:rPr>
              <a:t>a</a:t>
            </a:r>
            <a:r>
              <a:rPr lang="zh-CN" altLang="en-US"/>
              <a:t>使   </a:t>
            </a:r>
            <a:r>
              <a:rPr lang="en-US" altLang="zh-CN"/>
              <a:t>2 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</a:rPr>
              <a:t>   1</a:t>
            </a:r>
            <a:r>
              <a:rPr lang="en-US" altLang="zh-CN"/>
              <a:t>  3                                         3 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</a:rPr>
              <a:t>   1</a:t>
            </a:r>
            <a:r>
              <a:rPr lang="en-US" altLang="zh-CN"/>
              <a:t>  4                                         4 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</a:rPr>
              <a:t>   1</a:t>
            </a:r>
            <a:r>
              <a:rPr lang="en-US" altLang="zh-CN"/>
              <a:t>  6                                         6 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</a:rPr>
              <a:t>   1</a:t>
            </a:r>
            <a:r>
              <a:rPr lang="en-US" altLang="zh-CN"/>
              <a:t>  8                            </a:t>
            </a:r>
            <a:r>
              <a:rPr lang="en-US" altLang="zh-CN">
                <a:solidFill>
                  <a:srgbClr val="FF0000"/>
                </a:solidFill>
              </a:rPr>
              <a:t>8   </a:t>
            </a:r>
            <a:r>
              <a:rPr lang="zh-CN" altLang="en-US"/>
              <a:t>？</a:t>
            </a:r>
            <a:r>
              <a:rPr lang="en-US" altLang="zh-CN"/>
              <a:t>     8  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</a:rPr>
              <a:t>   1</a:t>
            </a:r>
            <a:r>
              <a:rPr lang="en-US" altLang="zh-CN"/>
              <a:t>  12     </a:t>
            </a:r>
            <a:r>
              <a:rPr lang="zh-CN" altLang="en-US" b="1">
                <a:solidFill>
                  <a:srgbClr val="FF00FF"/>
                </a:solidFill>
              </a:rPr>
              <a:t>？ </a:t>
            </a:r>
            <a:r>
              <a:rPr lang="zh-CN" altLang="en-US"/>
              <a:t> </a:t>
            </a:r>
            <a:r>
              <a:rPr lang="en-US" altLang="zh-CN"/>
              <a:t>1             </a:t>
            </a:r>
            <a:r>
              <a:rPr lang="en-US" altLang="zh-CN">
                <a:solidFill>
                  <a:srgbClr val="FF0000"/>
                </a:solidFill>
              </a:rPr>
              <a:t>12 </a:t>
            </a:r>
            <a:r>
              <a:rPr lang="en-US" altLang="zh-CN" b="1">
                <a:solidFill>
                  <a:srgbClr val="FF0000"/>
                </a:solidFill>
              </a:rPr>
              <a:t>  </a:t>
            </a:r>
            <a:r>
              <a:rPr lang="zh-CN" altLang="en-US"/>
              <a:t>？</a:t>
            </a:r>
            <a:r>
              <a:rPr lang="en-US" altLang="zh-CN"/>
              <a:t>   12   a</a:t>
            </a:r>
          </a:p>
        </p:txBody>
      </p:sp>
      <p:graphicFrame>
        <p:nvGraphicFramePr>
          <p:cNvPr id="24580" name="Object 27">
            <a:extLst>
              <a:ext uri="{FF2B5EF4-FFF2-40B4-BE49-F238E27FC236}">
                <a16:creationId xmlns:a16="http://schemas.microsoft.com/office/drawing/2014/main" id="{12DBBD38-1449-E395-1858-4B203BD1F2A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80238" y="5053013"/>
          <a:ext cx="139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238" y="5053013"/>
                        <a:ext cx="1397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Oval 4">
            <a:extLst>
              <a:ext uri="{FF2B5EF4-FFF2-40B4-BE49-F238E27FC236}">
                <a16:creationId xmlns:a16="http://schemas.microsoft.com/office/drawing/2014/main" id="{879AE0DB-A9E1-18F3-EE03-96CE64B8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33575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2" name="Oval 5">
            <a:extLst>
              <a:ext uri="{FF2B5EF4-FFF2-40B4-BE49-F238E27FC236}">
                <a16:creationId xmlns:a16="http://schemas.microsoft.com/office/drawing/2014/main" id="{A0650FFB-93F7-9F50-5A45-6C04BC87B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370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3" name="Oval 6">
            <a:extLst>
              <a:ext uri="{FF2B5EF4-FFF2-40B4-BE49-F238E27FC236}">
                <a16:creationId xmlns:a16="http://schemas.microsoft.com/office/drawing/2014/main" id="{438945EE-71B4-3ACC-1560-258A53488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4" name="Oval 7">
            <a:extLst>
              <a:ext uri="{FF2B5EF4-FFF2-40B4-BE49-F238E27FC236}">
                <a16:creationId xmlns:a16="http://schemas.microsoft.com/office/drawing/2014/main" id="{6A4AC55D-CAB5-19FF-B488-89C6E205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5" name="Oval 8">
            <a:extLst>
              <a:ext uri="{FF2B5EF4-FFF2-40B4-BE49-F238E27FC236}">
                <a16:creationId xmlns:a16="http://schemas.microsoft.com/office/drawing/2014/main" id="{A3A5AC71-56A0-42A5-8955-D992E18AB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894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6" name="Oval 9">
            <a:extLst>
              <a:ext uri="{FF2B5EF4-FFF2-40B4-BE49-F238E27FC236}">
                <a16:creationId xmlns:a16="http://schemas.microsoft.com/office/drawing/2014/main" id="{E85279DA-5BD7-EE1A-0AF0-44DDD19C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94188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7" name="Oval 10">
            <a:extLst>
              <a:ext uri="{FF2B5EF4-FFF2-40B4-BE49-F238E27FC236}">
                <a16:creationId xmlns:a16="http://schemas.microsoft.com/office/drawing/2014/main" id="{381FEBA7-32C6-34A5-5EAB-919F40C87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56229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4588" name="Line 11">
            <a:extLst>
              <a:ext uri="{FF2B5EF4-FFF2-40B4-BE49-F238E27FC236}">
                <a16:creationId xmlns:a16="http://schemas.microsoft.com/office/drawing/2014/main" id="{638577C3-20BE-01A3-3864-A5D5468016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2538" y="5051425"/>
            <a:ext cx="8636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Line 12">
            <a:extLst>
              <a:ext uri="{FF2B5EF4-FFF2-40B4-BE49-F238E27FC236}">
                <a16:creationId xmlns:a16="http://schemas.microsoft.com/office/drawing/2014/main" id="{3B6AD1B9-FFEC-51DD-F525-E480221BE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013325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Line 13">
            <a:extLst>
              <a:ext uri="{FF2B5EF4-FFF2-40B4-BE49-F238E27FC236}">
                <a16:creationId xmlns:a16="http://schemas.microsoft.com/office/drawing/2014/main" id="{BEAF20B4-9287-8652-7F3E-1D9014E68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638" y="4246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1" name="Line 14">
            <a:extLst>
              <a:ext uri="{FF2B5EF4-FFF2-40B4-BE49-F238E27FC236}">
                <a16:creationId xmlns:a16="http://schemas.microsoft.com/office/drawing/2014/main" id="{7C5E081A-9BE1-9A1B-3AD0-AA413A284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42799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Line 15">
            <a:extLst>
              <a:ext uri="{FF2B5EF4-FFF2-40B4-BE49-F238E27FC236}">
                <a16:creationId xmlns:a16="http://schemas.microsoft.com/office/drawing/2014/main" id="{67188F67-2E6B-13A6-49E1-37BD5167C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2713" y="34877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3" name="Line 16">
            <a:extLst>
              <a:ext uri="{FF2B5EF4-FFF2-40B4-BE49-F238E27FC236}">
                <a16:creationId xmlns:a16="http://schemas.microsoft.com/office/drawing/2014/main" id="{6F82025F-9203-086B-1035-E03C3731B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Line 17">
            <a:extLst>
              <a:ext uri="{FF2B5EF4-FFF2-40B4-BE49-F238E27FC236}">
                <a16:creationId xmlns:a16="http://schemas.microsoft.com/office/drawing/2014/main" id="{55271254-93E5-42A8-67A5-E5D3CF8F22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3038" y="4221163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5" name="Line 18">
            <a:extLst>
              <a:ext uri="{FF2B5EF4-FFF2-40B4-BE49-F238E27FC236}">
                <a16:creationId xmlns:a16="http://schemas.microsoft.com/office/drawing/2014/main" id="{C3C5F7B1-0CF8-33DD-77E6-FA5C5D3E69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449638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6" name="Text Box 19">
            <a:extLst>
              <a:ext uri="{FF2B5EF4-FFF2-40B4-BE49-F238E27FC236}">
                <a16:creationId xmlns:a16="http://schemas.microsoft.com/office/drawing/2014/main" id="{639991B6-1004-37A9-5396-2791CB91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5635625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4597" name="Text Box 20">
            <a:extLst>
              <a:ext uri="{FF2B5EF4-FFF2-40B4-BE49-F238E27FC236}">
                <a16:creationId xmlns:a16="http://schemas.microsoft.com/office/drawing/2014/main" id="{D6AF50C4-1CAE-03FF-36E1-43E5D3D17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903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4598" name="Text Box 21">
            <a:extLst>
              <a:ext uri="{FF2B5EF4-FFF2-40B4-BE49-F238E27FC236}">
                <a16:creationId xmlns:a16="http://schemas.microsoft.com/office/drawing/2014/main" id="{6AF49455-401C-6CA1-1BD8-15C172155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903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24599" name="Text Box 22">
            <a:extLst>
              <a:ext uri="{FF2B5EF4-FFF2-40B4-BE49-F238E27FC236}">
                <a16:creationId xmlns:a16="http://schemas.microsoft.com/office/drawing/2014/main" id="{35AF501D-2E9C-6C62-F830-82B2849B3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783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4600" name="Text Box 23">
            <a:extLst>
              <a:ext uri="{FF2B5EF4-FFF2-40B4-BE49-F238E27FC236}">
                <a16:creationId xmlns:a16="http://schemas.microsoft.com/office/drawing/2014/main" id="{CA0B2D74-F6B5-4546-3268-2CD5DB261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100" y="47625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4601" name="Text Box 24">
            <a:extLst>
              <a:ext uri="{FF2B5EF4-FFF2-40B4-BE49-F238E27FC236}">
                <a16:creationId xmlns:a16="http://schemas.microsoft.com/office/drawing/2014/main" id="{BB6FB6DB-6EE7-6241-2C7D-873DD10E5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937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4602" name="Text Box 25">
            <a:extLst>
              <a:ext uri="{FF2B5EF4-FFF2-40B4-BE49-F238E27FC236}">
                <a16:creationId xmlns:a16="http://schemas.microsoft.com/office/drawing/2014/main" id="{5C7ED6EA-EA50-938A-C06E-0691BB3D6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39544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aphicFrame>
        <p:nvGraphicFramePr>
          <p:cNvPr id="24603" name="Object 30">
            <a:extLst>
              <a:ext uri="{FF2B5EF4-FFF2-40B4-BE49-F238E27FC236}">
                <a16:creationId xmlns:a16="http://schemas.microsoft.com/office/drawing/2014/main" id="{0817B6A5-3380-047B-E6CC-0B99E8EE0F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1825" y="200818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5" y="200818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31">
            <a:extLst>
              <a:ext uri="{FF2B5EF4-FFF2-40B4-BE49-F238E27FC236}">
                <a16:creationId xmlns:a16="http://schemas.microsoft.com/office/drawing/2014/main" id="{1E604F82-7033-DA27-813C-203B3A3345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5550" y="319722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319722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32">
            <a:extLst>
              <a:ext uri="{FF2B5EF4-FFF2-40B4-BE49-F238E27FC236}">
                <a16:creationId xmlns:a16="http://schemas.microsoft.com/office/drawing/2014/main" id="{4A6EF317-2618-90B7-5837-8C0B8F46F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3488" y="2611438"/>
          <a:ext cx="4175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8" y="2611438"/>
                        <a:ext cx="4175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6" name="Object 33">
            <a:extLst>
              <a:ext uri="{FF2B5EF4-FFF2-40B4-BE49-F238E27FC236}">
                <a16:creationId xmlns:a16="http://schemas.microsoft.com/office/drawing/2014/main" id="{2F561042-D780-1DEC-EE83-016BFE43C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1738" y="4946650"/>
          <a:ext cx="4175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177646" progId="Equation.DSMT4">
                  <p:embed/>
                </p:oleObj>
              </mc:Choice>
              <mc:Fallback>
                <p:oleObj name="Equation" r:id="rId7" imgW="139579" imgH="177646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4946650"/>
                        <a:ext cx="41751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7" name="Object 34">
            <a:extLst>
              <a:ext uri="{FF2B5EF4-FFF2-40B4-BE49-F238E27FC236}">
                <a16:creationId xmlns:a16="http://schemas.microsoft.com/office/drawing/2014/main" id="{F69ADD96-2846-6B77-1031-C96BDE1B9D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5550" y="3789363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579" imgH="177646" progId="Equation.DSMT4">
                  <p:embed/>
                </p:oleObj>
              </mc:Choice>
              <mc:Fallback>
                <p:oleObj name="Equation" r:id="rId8" imgW="139579" imgH="17764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3789363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35">
            <a:extLst>
              <a:ext uri="{FF2B5EF4-FFF2-40B4-BE49-F238E27FC236}">
                <a16:creationId xmlns:a16="http://schemas.microsoft.com/office/drawing/2014/main" id="{ADFAEE52-071F-9EBE-C7D4-E545AD278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5550" y="55276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55276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36">
            <a:extLst>
              <a:ext uri="{FF2B5EF4-FFF2-40B4-BE49-F238E27FC236}">
                <a16:creationId xmlns:a16="http://schemas.microsoft.com/office/drawing/2014/main" id="{3877827A-BA59-3EF5-8A13-DC3631EDC4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7550" y="259715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579" imgH="177646" progId="Equation.DSMT4">
                  <p:embed/>
                </p:oleObj>
              </mc:Choice>
              <mc:Fallback>
                <p:oleObj name="Equation" r:id="rId10" imgW="139579" imgH="177646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259715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0" name="Object 37">
            <a:extLst>
              <a:ext uri="{FF2B5EF4-FFF2-40B4-BE49-F238E27FC236}">
                <a16:creationId xmlns:a16="http://schemas.microsoft.com/office/drawing/2014/main" id="{2DCA4E26-9830-47F6-00C8-B516C718E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250" y="609123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579" imgH="177646" progId="Equation.DSMT4">
                  <p:embed/>
                </p:oleObj>
              </mc:Choice>
              <mc:Fallback>
                <p:oleObj name="Equation" r:id="rId11" imgW="139579" imgH="177646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609123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1" name="Object 38">
            <a:extLst>
              <a:ext uri="{FF2B5EF4-FFF2-40B4-BE49-F238E27FC236}">
                <a16:creationId xmlns:a16="http://schemas.microsoft.com/office/drawing/2014/main" id="{27B4743E-7C60-8558-7A2F-078E1D8D9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0575" y="376713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579" imgH="177646" progId="Equation.DSMT4">
                  <p:embed/>
                </p:oleObj>
              </mc:Choice>
              <mc:Fallback>
                <p:oleObj name="Equation" r:id="rId12" imgW="139579" imgH="177646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575" y="376713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2" name="Object 39">
            <a:extLst>
              <a:ext uri="{FF2B5EF4-FFF2-40B4-BE49-F238E27FC236}">
                <a16:creationId xmlns:a16="http://schemas.microsoft.com/office/drawing/2014/main" id="{D43A33BD-81D8-1890-F76E-780BD450E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3275" y="320992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579" imgH="177646" progId="Equation.DSMT4">
                  <p:embed/>
                </p:oleObj>
              </mc:Choice>
              <mc:Fallback>
                <p:oleObj name="Equation" r:id="rId13" imgW="139579" imgH="177646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275" y="320992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3" name="Object 40">
            <a:extLst>
              <a:ext uri="{FF2B5EF4-FFF2-40B4-BE49-F238E27FC236}">
                <a16:creationId xmlns:a16="http://schemas.microsoft.com/office/drawing/2014/main" id="{949590A1-CB19-8017-D458-970A9081ED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9938" y="4951413"/>
          <a:ext cx="4175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579" imgH="177646" progId="Equation.DSMT4">
                  <p:embed/>
                </p:oleObj>
              </mc:Choice>
              <mc:Fallback>
                <p:oleObj name="Equation" r:id="rId14" imgW="139579" imgH="177646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9938" y="4951413"/>
                        <a:ext cx="4175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4" name="Object 44">
            <a:extLst>
              <a:ext uri="{FF2B5EF4-FFF2-40B4-BE49-F238E27FC236}">
                <a16:creationId xmlns:a16="http://schemas.microsoft.com/office/drawing/2014/main" id="{770DC573-CC6E-E6C9-97CE-D7AF6783A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7875" y="433070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579" imgH="177646" progId="Equation.DSMT4">
                  <p:embed/>
                </p:oleObj>
              </mc:Choice>
              <mc:Fallback>
                <p:oleObj name="Equation" r:id="rId15" imgW="139579" imgH="177646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433070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5" name="Object 45">
            <a:extLst>
              <a:ext uri="{FF2B5EF4-FFF2-40B4-BE49-F238E27FC236}">
                <a16:creationId xmlns:a16="http://schemas.microsoft.com/office/drawing/2014/main" id="{AEDBC724-650E-3B86-1126-78BBF3295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5541963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579" imgH="177646" progId="Equation.DSMT4">
                  <p:embed/>
                </p:oleObj>
              </mc:Choice>
              <mc:Fallback>
                <p:oleObj name="Equation" r:id="rId16" imgW="139579" imgH="177646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5541963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6" name="Object 46">
            <a:extLst>
              <a:ext uri="{FF2B5EF4-FFF2-40B4-BE49-F238E27FC236}">
                <a16:creationId xmlns:a16="http://schemas.microsoft.com/office/drawing/2014/main" id="{C30885CD-82F3-CD2B-0573-4A8DE506D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2488" y="6103938"/>
          <a:ext cx="4175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9579" imgH="177646" progId="Equation.DSMT4">
                  <p:embed/>
                </p:oleObj>
              </mc:Choice>
              <mc:Fallback>
                <p:oleObj name="Equation" r:id="rId17" imgW="139579" imgH="177646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488" y="6103938"/>
                        <a:ext cx="4175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7" name="Object 48">
            <a:extLst>
              <a:ext uri="{FF2B5EF4-FFF2-40B4-BE49-F238E27FC236}">
                <a16:creationId xmlns:a16="http://schemas.microsoft.com/office/drawing/2014/main" id="{45CE3767-197A-B4EB-2517-EC1B94D606A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25550" y="431800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579" imgH="177646" progId="Equation.DSMT4">
                  <p:embed/>
                </p:oleObj>
              </mc:Choice>
              <mc:Fallback>
                <p:oleObj name="Equation" r:id="rId18" imgW="139579" imgH="177646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31800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8" name="Rectangle 50">
            <a:extLst>
              <a:ext uri="{FF2B5EF4-FFF2-40B4-BE49-F238E27FC236}">
                <a16:creationId xmlns:a16="http://schemas.microsoft.com/office/drawing/2014/main" id="{FD0A435E-7109-7CE7-67C1-ED6ACEF5C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525" y="2649538"/>
            <a:ext cx="1655763" cy="1058862"/>
          </a:xfrm>
          <a:prstGeom prst="rect">
            <a:avLst/>
          </a:prstGeom>
          <a:noFill/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graphicFrame>
        <p:nvGraphicFramePr>
          <p:cNvPr id="24619" name="对象 1">
            <a:extLst>
              <a:ext uri="{FF2B5EF4-FFF2-40B4-BE49-F238E27FC236}">
                <a16:creationId xmlns:a16="http://schemas.microsoft.com/office/drawing/2014/main" id="{7F77D178-C8D7-530A-D9C5-4FD41F4BD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1163" y="6191250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700" imgH="139700" progId="Equation.DSMT4">
                  <p:embed/>
                </p:oleObj>
              </mc:Choice>
              <mc:Fallback>
                <p:oleObj name="Equation" r:id="rId19" imgW="139700" imgH="139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6191250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0" name="对象 2">
            <a:extLst>
              <a:ext uri="{FF2B5EF4-FFF2-40B4-BE49-F238E27FC236}">
                <a16:creationId xmlns:a16="http://schemas.microsoft.com/office/drawing/2014/main" id="{38E925EF-8A9E-ADF5-EE21-47A737E2CB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6211888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700" imgH="139700" progId="Equation.DSMT4">
                  <p:embed/>
                </p:oleObj>
              </mc:Choice>
              <mc:Fallback>
                <p:oleObj name="Equation" r:id="rId21" imgW="139700" imgH="1397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6211888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1" name="对象 3">
            <a:extLst>
              <a:ext uri="{FF2B5EF4-FFF2-40B4-BE49-F238E27FC236}">
                <a16:creationId xmlns:a16="http://schemas.microsoft.com/office/drawing/2014/main" id="{1FBB5ED9-AB10-2A11-0919-9132C8DDA9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3400" y="5622925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700" imgH="139700" progId="Equation.DSMT4">
                  <p:embed/>
                </p:oleObj>
              </mc:Choice>
              <mc:Fallback>
                <p:oleObj name="Equation" r:id="rId22" imgW="139700" imgH="1397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5622925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222D532-71F4-CE04-0C68-DD01B6C56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3.8.4 </a:t>
            </a:r>
            <a:r>
              <a:rPr lang="zh-CN" altLang="en-US" sz="4800"/>
              <a:t>最大元与极大元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37114BA-4CE1-97D6-E70B-E6C4ED5B0F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2017713"/>
            <a:ext cx="8532812" cy="484028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3.8.12 </a:t>
            </a:r>
            <a:r>
              <a:rPr lang="zh-CN" altLang="en-US"/>
              <a:t>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Hasse</a:t>
            </a:r>
            <a:r>
              <a:rPr lang="zh-CN" altLang="en-US">
                <a:latin typeface="Times New Roman" panose="02020603050405020304" pitchFamily="18" charset="0"/>
              </a:rPr>
              <a:t>图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accent1"/>
                </a:solidFill>
              </a:rPr>
              <a:t>                                                                </a:t>
            </a:r>
            <a:r>
              <a:rPr lang="en-US" altLang="zh-CN" sz="2800"/>
              <a:t>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 {1} 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 {2}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 {3}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{1,2}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{1,3}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 {2,3}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                                                     A     {1,2,3}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B065884E-ECF7-32F4-E95D-3FE6FFFE5CF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25925" y="20478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20478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Oval 5">
            <a:extLst>
              <a:ext uri="{FF2B5EF4-FFF2-40B4-BE49-F238E27FC236}">
                <a16:creationId xmlns:a16="http://schemas.microsoft.com/office/drawing/2014/main" id="{85CE7092-4B33-27D8-585C-BA9CC8940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2337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06" name="Oval 6">
            <a:extLst>
              <a:ext uri="{FF2B5EF4-FFF2-40B4-BE49-F238E27FC236}">
                <a16:creationId xmlns:a16="http://schemas.microsoft.com/office/drawing/2014/main" id="{1A4EEA5B-2550-D654-5BE6-A95E278C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07" name="Oval 7">
            <a:extLst>
              <a:ext uri="{FF2B5EF4-FFF2-40B4-BE49-F238E27FC236}">
                <a16:creationId xmlns:a16="http://schemas.microsoft.com/office/drawing/2014/main" id="{AA48CEC0-1C9C-167E-1F29-5D79EAEE6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08" name="Oval 8">
            <a:extLst>
              <a:ext uri="{FF2B5EF4-FFF2-40B4-BE49-F238E27FC236}">
                <a16:creationId xmlns:a16="http://schemas.microsoft.com/office/drawing/2014/main" id="{DE6A1038-DC39-61E5-011B-F41DD56DA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09" name="Oval 9">
            <a:extLst>
              <a:ext uri="{FF2B5EF4-FFF2-40B4-BE49-F238E27FC236}">
                <a16:creationId xmlns:a16="http://schemas.microsoft.com/office/drawing/2014/main" id="{EE3DB46F-42BC-38CE-238D-857C62A02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10" name="Oval 10">
            <a:extLst>
              <a:ext uri="{FF2B5EF4-FFF2-40B4-BE49-F238E27FC236}">
                <a16:creationId xmlns:a16="http://schemas.microsoft.com/office/drawing/2014/main" id="{1D12F4B1-6A86-4AAF-D989-619B9DC0D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11" name="Oval 11">
            <a:extLst>
              <a:ext uri="{FF2B5EF4-FFF2-40B4-BE49-F238E27FC236}">
                <a16:creationId xmlns:a16="http://schemas.microsoft.com/office/drawing/2014/main" id="{51522649-26E2-923D-227B-1278A4651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5612" name="Oval 12">
            <a:extLst>
              <a:ext uri="{FF2B5EF4-FFF2-40B4-BE49-F238E27FC236}">
                <a16:creationId xmlns:a16="http://schemas.microsoft.com/office/drawing/2014/main" id="{08F3649E-5915-4FCD-F66E-E205EF795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9817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graphicFrame>
        <p:nvGraphicFramePr>
          <p:cNvPr id="25613" name="Object 13">
            <a:extLst>
              <a:ext uri="{FF2B5EF4-FFF2-40B4-BE49-F238E27FC236}">
                <a16:creationId xmlns:a16="http://schemas.microsoft.com/office/drawing/2014/main" id="{484B9589-C1D5-C27E-3577-F588A330DC3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525838" y="6189663"/>
          <a:ext cx="2952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6189663"/>
                        <a:ext cx="29527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Line 14">
            <a:extLst>
              <a:ext uri="{FF2B5EF4-FFF2-40B4-BE49-F238E27FC236}">
                <a16:creationId xmlns:a16="http://schemas.microsoft.com/office/drawing/2014/main" id="{449FBE1E-0E46-0B5E-EAB6-D7B6D43D7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51704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5" name="Line 15">
            <a:extLst>
              <a:ext uri="{FF2B5EF4-FFF2-40B4-BE49-F238E27FC236}">
                <a16:creationId xmlns:a16="http://schemas.microsoft.com/office/drawing/2014/main" id="{50559085-F413-1CE0-D491-B873D07353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5157788"/>
            <a:ext cx="12239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Line 16">
            <a:extLst>
              <a:ext uri="{FF2B5EF4-FFF2-40B4-BE49-F238E27FC236}">
                <a16:creationId xmlns:a16="http://schemas.microsoft.com/office/drawing/2014/main" id="{E5BB817E-683B-85B6-B76F-FF79A010B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157788"/>
            <a:ext cx="115093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Line 17">
            <a:extLst>
              <a:ext uri="{FF2B5EF4-FFF2-40B4-BE49-F238E27FC236}">
                <a16:creationId xmlns:a16="http://schemas.microsoft.com/office/drawing/2014/main" id="{2668D0AC-DD4D-2374-5759-EA2C2768C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149725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8" name="Line 18">
            <a:extLst>
              <a:ext uri="{FF2B5EF4-FFF2-40B4-BE49-F238E27FC236}">
                <a16:creationId xmlns:a16="http://schemas.microsoft.com/office/drawing/2014/main" id="{727615DC-BD16-258D-050C-02EFDBDBA5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4149725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9" name="Line 19">
            <a:extLst>
              <a:ext uri="{FF2B5EF4-FFF2-40B4-BE49-F238E27FC236}">
                <a16:creationId xmlns:a16="http://schemas.microsoft.com/office/drawing/2014/main" id="{B700CF3D-8DD0-A38D-DA04-454CA242C5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4149725"/>
            <a:ext cx="1150938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0" name="Line 20">
            <a:extLst>
              <a:ext uri="{FF2B5EF4-FFF2-40B4-BE49-F238E27FC236}">
                <a16:creationId xmlns:a16="http://schemas.microsoft.com/office/drawing/2014/main" id="{12E1AEB9-7C88-0EC0-BEC8-83F264AB9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4157663"/>
            <a:ext cx="11525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1" name="Line 21">
            <a:extLst>
              <a:ext uri="{FF2B5EF4-FFF2-40B4-BE49-F238E27FC236}">
                <a16:creationId xmlns:a16="http://schemas.microsoft.com/office/drawing/2014/main" id="{4A867547-ECA1-C563-5EE2-1B6042FB25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4438" y="4149725"/>
            <a:ext cx="1150937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2" name="Line 22">
            <a:extLst>
              <a:ext uri="{FF2B5EF4-FFF2-40B4-BE49-F238E27FC236}">
                <a16:creationId xmlns:a16="http://schemas.microsoft.com/office/drawing/2014/main" id="{6C80EDBD-9B68-A3CF-1754-12A9D0D891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4149725"/>
            <a:ext cx="1223963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AF13E922-F904-7388-2F8B-D01CA2C60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357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4" name="Line 24">
            <a:extLst>
              <a:ext uri="{FF2B5EF4-FFF2-40B4-BE49-F238E27FC236}">
                <a16:creationId xmlns:a16="http://schemas.microsoft.com/office/drawing/2014/main" id="{206CBF57-4149-1C94-5763-131968955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32845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5" name="Line 25">
            <a:extLst>
              <a:ext uri="{FF2B5EF4-FFF2-40B4-BE49-F238E27FC236}">
                <a16:creationId xmlns:a16="http://schemas.microsoft.com/office/drawing/2014/main" id="{56C73B1D-9BA3-04D1-C934-8EDE62219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284538"/>
            <a:ext cx="1150938" cy="7921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6" name="Line 26">
            <a:extLst>
              <a:ext uri="{FF2B5EF4-FFF2-40B4-BE49-F238E27FC236}">
                <a16:creationId xmlns:a16="http://schemas.microsoft.com/office/drawing/2014/main" id="{DFB6CA58-6F33-243C-2355-BAFBA6231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309938"/>
            <a:ext cx="115093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7" name="Text Box 27">
            <a:extLst>
              <a:ext uri="{FF2B5EF4-FFF2-40B4-BE49-F238E27FC236}">
                <a16:creationId xmlns:a16="http://schemas.microsoft.com/office/drawing/2014/main" id="{597637DC-6BCD-D959-A4F8-A8A2F46E3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86092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{1}</a:t>
            </a:r>
          </a:p>
        </p:txBody>
      </p:sp>
      <p:sp>
        <p:nvSpPr>
          <p:cNvPr id="25628" name="Text Box 28">
            <a:extLst>
              <a:ext uri="{FF2B5EF4-FFF2-40B4-BE49-F238E27FC236}">
                <a16:creationId xmlns:a16="http://schemas.microsoft.com/office/drawing/2014/main" id="{E3536716-6761-7C2A-AE39-CB76CEC50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852988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{3}</a:t>
            </a:r>
          </a:p>
        </p:txBody>
      </p:sp>
      <p:sp>
        <p:nvSpPr>
          <p:cNvPr id="25629" name="Text Box 29">
            <a:extLst>
              <a:ext uri="{FF2B5EF4-FFF2-40B4-BE49-F238E27FC236}">
                <a16:creationId xmlns:a16="http://schemas.microsoft.com/office/drawing/2014/main" id="{CCCB1786-4E86-DD8A-EB9D-C48A81B37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4513" y="4868863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{2}</a:t>
            </a:r>
          </a:p>
        </p:txBody>
      </p:sp>
      <p:sp>
        <p:nvSpPr>
          <p:cNvPr id="25630" name="Text Box 30">
            <a:extLst>
              <a:ext uri="{FF2B5EF4-FFF2-40B4-BE49-F238E27FC236}">
                <a16:creationId xmlns:a16="http://schemas.microsoft.com/office/drawing/2014/main" id="{40173CD6-E9C8-DB31-6DE9-2FAA96855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3843338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{1,2}</a:t>
            </a:r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CAE78AA3-467D-05ED-D1DD-CB34F292B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3844925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{2,3}</a:t>
            </a:r>
          </a:p>
        </p:txBody>
      </p:sp>
      <p:sp>
        <p:nvSpPr>
          <p:cNvPr id="25632" name="Text Box 32">
            <a:extLst>
              <a:ext uri="{FF2B5EF4-FFF2-40B4-BE49-F238E27FC236}">
                <a16:creationId xmlns:a16="http://schemas.microsoft.com/office/drawing/2014/main" id="{08AEB111-5D21-00B0-B1A3-AC846B9CF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5850" y="3789363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{1,3}</a:t>
            </a:r>
          </a:p>
        </p:txBody>
      </p:sp>
      <p:sp>
        <p:nvSpPr>
          <p:cNvPr id="25633" name="Text Box 33">
            <a:extLst>
              <a:ext uri="{FF2B5EF4-FFF2-40B4-BE49-F238E27FC236}">
                <a16:creationId xmlns:a16="http://schemas.microsoft.com/office/drawing/2014/main" id="{7AD1EB7A-649C-FDE9-38CA-F4FFE48B7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273050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{1,2,3}</a:t>
            </a:r>
          </a:p>
        </p:txBody>
      </p:sp>
      <p:graphicFrame>
        <p:nvGraphicFramePr>
          <p:cNvPr id="25634" name="Object 34">
            <a:extLst>
              <a:ext uri="{FF2B5EF4-FFF2-40B4-BE49-F238E27FC236}">
                <a16:creationId xmlns:a16="http://schemas.microsoft.com/office/drawing/2014/main" id="{EF59CB22-EA1F-DA0F-62A9-CEFFEC23C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260985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60985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5" name="Object 35">
            <a:extLst>
              <a:ext uri="{FF2B5EF4-FFF2-40B4-BE49-F238E27FC236}">
                <a16:creationId xmlns:a16="http://schemas.microsoft.com/office/drawing/2014/main" id="{6940557C-94C4-56DE-F717-B83DE16A40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61499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177646" progId="Equation.DSMT4">
                  <p:embed/>
                </p:oleObj>
              </mc:Choice>
              <mc:Fallback>
                <p:oleObj name="Equation" r:id="rId7" imgW="139579" imgH="177646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61499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6" name="Object 36">
            <a:extLst>
              <a:ext uri="{FF2B5EF4-FFF2-40B4-BE49-F238E27FC236}">
                <a16:creationId xmlns:a16="http://schemas.microsoft.com/office/drawing/2014/main" id="{25A6081E-FA19-D48D-2098-09F4836C1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315118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579" imgH="177646" progId="Equation.DSMT4">
                  <p:embed/>
                </p:oleObj>
              </mc:Choice>
              <mc:Fallback>
                <p:oleObj name="Equation" r:id="rId8" imgW="139579" imgH="177646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15118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7" name="Object 37">
            <a:extLst>
              <a:ext uri="{FF2B5EF4-FFF2-40B4-BE49-F238E27FC236}">
                <a16:creationId xmlns:a16="http://schemas.microsoft.com/office/drawing/2014/main" id="{710292C8-B36C-09CE-6214-BD2C7989D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366395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66395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8" name="Object 38">
            <a:extLst>
              <a:ext uri="{FF2B5EF4-FFF2-40B4-BE49-F238E27FC236}">
                <a16:creationId xmlns:a16="http://schemas.microsoft.com/office/drawing/2014/main" id="{D4B503D1-C17C-7CE8-07E9-46003CB62C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414655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579" imgH="177646" progId="Equation.DSMT4">
                  <p:embed/>
                </p:oleObj>
              </mc:Choice>
              <mc:Fallback>
                <p:oleObj name="Equation" r:id="rId10" imgW="139579" imgH="177646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14655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9" name="Object 39">
            <a:extLst>
              <a:ext uri="{FF2B5EF4-FFF2-40B4-BE49-F238E27FC236}">
                <a16:creationId xmlns:a16="http://schemas.microsoft.com/office/drawing/2014/main" id="{329AB03E-7D27-71BE-159E-D39AE983EE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46640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579" imgH="177646" progId="Equation.DSMT4">
                  <p:embed/>
                </p:oleObj>
              </mc:Choice>
              <mc:Fallback>
                <p:oleObj name="Equation" r:id="rId11" imgW="139579" imgH="177646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6640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0" name="Object 40">
            <a:extLst>
              <a:ext uri="{FF2B5EF4-FFF2-40B4-BE49-F238E27FC236}">
                <a16:creationId xmlns:a16="http://schemas.microsoft.com/office/drawing/2014/main" id="{BD0E803B-0CF8-B46B-1DDE-58D32E313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517683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579" imgH="177646" progId="Equation.DSMT4">
                  <p:embed/>
                </p:oleObj>
              </mc:Choice>
              <mc:Fallback>
                <p:oleObj name="Equation" r:id="rId12" imgW="139579" imgH="177646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17683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1" name="Object 41">
            <a:extLst>
              <a:ext uri="{FF2B5EF4-FFF2-40B4-BE49-F238E27FC236}">
                <a16:creationId xmlns:a16="http://schemas.microsoft.com/office/drawing/2014/main" id="{1D90FEF9-C1A8-D6AF-4B26-34A18C5BFE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57054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579" imgH="177646" progId="Equation.DSMT4">
                  <p:embed/>
                </p:oleObj>
              </mc:Choice>
              <mc:Fallback>
                <p:oleObj name="Equation" r:id="rId13" imgW="139579" imgH="177646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7054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2" name="Object 42">
            <a:extLst>
              <a:ext uri="{FF2B5EF4-FFF2-40B4-BE49-F238E27FC236}">
                <a16:creationId xmlns:a16="http://schemas.microsoft.com/office/drawing/2014/main" id="{47DCAD32-2B3A-816D-E47B-A33941BA9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257810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579" imgH="177646" progId="Equation.DSMT4">
                  <p:embed/>
                </p:oleObj>
              </mc:Choice>
              <mc:Fallback>
                <p:oleObj name="Equation" r:id="rId14" imgW="139579" imgH="177646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257810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3" name="Object 43">
            <a:extLst>
              <a:ext uri="{FF2B5EF4-FFF2-40B4-BE49-F238E27FC236}">
                <a16:creationId xmlns:a16="http://schemas.microsoft.com/office/drawing/2014/main" id="{314237A4-9C8B-B97C-A172-FA631A28A6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3119438"/>
          <a:ext cx="4175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579" imgH="177646" progId="Equation.DSMT4">
                  <p:embed/>
                </p:oleObj>
              </mc:Choice>
              <mc:Fallback>
                <p:oleObj name="Equation" r:id="rId15" imgW="139579" imgH="177646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3119438"/>
                        <a:ext cx="4175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4" name="Object 44">
            <a:extLst>
              <a:ext uri="{FF2B5EF4-FFF2-40B4-BE49-F238E27FC236}">
                <a16:creationId xmlns:a16="http://schemas.microsoft.com/office/drawing/2014/main" id="{5B250B41-28A6-703C-F324-BC602D07B3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3644900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579" imgH="177646" progId="Equation.DSMT4">
                  <p:embed/>
                </p:oleObj>
              </mc:Choice>
              <mc:Fallback>
                <p:oleObj name="Equation" r:id="rId16" imgW="139579" imgH="177646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644900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5" name="Object 45">
            <a:extLst>
              <a:ext uri="{FF2B5EF4-FFF2-40B4-BE49-F238E27FC236}">
                <a16:creationId xmlns:a16="http://schemas.microsoft.com/office/drawing/2014/main" id="{3289F4CA-D7D7-C486-7658-E668C8C132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413702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9579" imgH="177646" progId="Equation.DSMT4">
                  <p:embed/>
                </p:oleObj>
              </mc:Choice>
              <mc:Fallback>
                <p:oleObj name="Equation" r:id="rId17" imgW="139579" imgH="177646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13702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6" name="Object 46">
            <a:extLst>
              <a:ext uri="{FF2B5EF4-FFF2-40B4-BE49-F238E27FC236}">
                <a16:creationId xmlns:a16="http://schemas.microsoft.com/office/drawing/2014/main" id="{C110B098-0241-74C5-C899-909B8A8C9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467042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579" imgH="177646" progId="Equation.DSMT4">
                  <p:embed/>
                </p:oleObj>
              </mc:Choice>
              <mc:Fallback>
                <p:oleObj name="Equation" r:id="rId18" imgW="139579" imgH="177646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67042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7" name="Object 47">
            <a:extLst>
              <a:ext uri="{FF2B5EF4-FFF2-40B4-BE49-F238E27FC236}">
                <a16:creationId xmlns:a16="http://schemas.microsoft.com/office/drawing/2014/main" id="{F47A7CA0-1B1A-8757-56E3-15573E18DA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517683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579" imgH="177646" progId="Equation.DSMT4">
                  <p:embed/>
                </p:oleObj>
              </mc:Choice>
              <mc:Fallback>
                <p:oleObj name="Equation" r:id="rId19" imgW="139579" imgH="177646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17683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8" name="Object 48">
            <a:extLst>
              <a:ext uri="{FF2B5EF4-FFF2-40B4-BE49-F238E27FC236}">
                <a16:creationId xmlns:a16="http://schemas.microsoft.com/office/drawing/2014/main" id="{BC97B582-14C1-AFCF-8190-6101B1195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5692775"/>
          <a:ext cx="4175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579" imgH="177646" progId="Equation.DSMT4">
                  <p:embed/>
                </p:oleObj>
              </mc:Choice>
              <mc:Fallback>
                <p:oleObj name="Equation" r:id="rId20" imgW="139579" imgH="177646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5692775"/>
                        <a:ext cx="41751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9" name="Object 49">
            <a:extLst>
              <a:ext uri="{FF2B5EF4-FFF2-40B4-BE49-F238E27FC236}">
                <a16:creationId xmlns:a16="http://schemas.microsoft.com/office/drawing/2014/main" id="{AE0949AA-D2D2-4B8F-64CA-7387183C0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6162675"/>
          <a:ext cx="4175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579" imgH="177646" progId="Equation.DSMT4">
                  <p:embed/>
                </p:oleObj>
              </mc:Choice>
              <mc:Fallback>
                <p:oleObj name="Equation" r:id="rId21" imgW="139579" imgH="177646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6162675"/>
                        <a:ext cx="4175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0" name="Object 54">
            <a:extLst>
              <a:ext uri="{FF2B5EF4-FFF2-40B4-BE49-F238E27FC236}">
                <a16:creationId xmlns:a16="http://schemas.microsoft.com/office/drawing/2014/main" id="{0277D306-DEBF-64A3-71B7-D4A66B1A2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698750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14" imgH="177492" progId="Equation.DSMT4">
                  <p:embed/>
                </p:oleObj>
              </mc:Choice>
              <mc:Fallback>
                <p:oleObj name="Equation" r:id="rId22" imgW="164814" imgH="177492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98750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1" name="对象 1">
            <a:extLst>
              <a:ext uri="{FF2B5EF4-FFF2-40B4-BE49-F238E27FC236}">
                <a16:creationId xmlns:a16="http://schemas.microsoft.com/office/drawing/2014/main" id="{0C65A151-412B-8A8F-0385-298FEBB95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678113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14" imgH="177492" progId="Equation.DSMT4">
                  <p:embed/>
                </p:oleObj>
              </mc:Choice>
              <mc:Fallback>
                <p:oleObj name="Equation" r:id="rId24" imgW="164814" imgH="17749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678113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2" name="对象 2">
            <a:extLst>
              <a:ext uri="{FF2B5EF4-FFF2-40B4-BE49-F238E27FC236}">
                <a16:creationId xmlns:a16="http://schemas.microsoft.com/office/drawing/2014/main" id="{BF65B3C5-0383-FD5D-D961-93EE1A189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7238" y="3271838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64814" imgH="177492" progId="Equation.DSMT4">
                  <p:embed/>
                </p:oleObj>
              </mc:Choice>
              <mc:Fallback>
                <p:oleObj name="Equation" r:id="rId25" imgW="164814" imgH="17749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8" y="3271838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3" name="对象 3">
            <a:extLst>
              <a:ext uri="{FF2B5EF4-FFF2-40B4-BE49-F238E27FC236}">
                <a16:creationId xmlns:a16="http://schemas.microsoft.com/office/drawing/2014/main" id="{67E08EED-800C-AD53-E922-290F18CAA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4700" y="3776663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4814" imgH="177492" progId="Equation.DSMT4">
                  <p:embed/>
                </p:oleObj>
              </mc:Choice>
              <mc:Fallback>
                <p:oleObj name="Equation" r:id="rId26" imgW="164814" imgH="17749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3776663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4" name="对象 4">
            <a:extLst>
              <a:ext uri="{FF2B5EF4-FFF2-40B4-BE49-F238E27FC236}">
                <a16:creationId xmlns:a16="http://schemas.microsoft.com/office/drawing/2014/main" id="{23200CE0-7C0B-2C36-52A8-F730D01AB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7238" y="4230688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4814" imgH="177492" progId="Equation.DSMT4">
                  <p:embed/>
                </p:oleObj>
              </mc:Choice>
              <mc:Fallback>
                <p:oleObj name="Equation" r:id="rId27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8" y="4230688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5" name="对象 5">
            <a:extLst>
              <a:ext uri="{FF2B5EF4-FFF2-40B4-BE49-F238E27FC236}">
                <a16:creationId xmlns:a16="http://schemas.microsoft.com/office/drawing/2014/main" id="{8CCFE47A-1B9B-628B-CF7F-81796AADE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9463" y="4749800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814" imgH="177492" progId="Equation.DSMT4">
                  <p:embed/>
                </p:oleObj>
              </mc:Choice>
              <mc:Fallback>
                <p:oleObj name="Equation" r:id="rId28" imgW="164814" imgH="177492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4749800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6" name="对象 6">
            <a:extLst>
              <a:ext uri="{FF2B5EF4-FFF2-40B4-BE49-F238E27FC236}">
                <a16:creationId xmlns:a16="http://schemas.microsoft.com/office/drawing/2014/main" id="{A4000673-78A7-27DE-10CD-E476FA331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25" y="5267325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4814" imgH="177492" progId="Equation.DSMT4">
                  <p:embed/>
                </p:oleObj>
              </mc:Choice>
              <mc:Fallback>
                <p:oleObj name="Equation" r:id="rId29" imgW="164814" imgH="177492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25" y="5267325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7" name="对象 7">
            <a:extLst>
              <a:ext uri="{FF2B5EF4-FFF2-40B4-BE49-F238E27FC236}">
                <a16:creationId xmlns:a16="http://schemas.microsoft.com/office/drawing/2014/main" id="{F033345B-2005-FFBE-FA18-D7D99AF399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8350" y="5768975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4814" imgH="177492" progId="Equation.DSMT4">
                  <p:embed/>
                </p:oleObj>
              </mc:Choice>
              <mc:Fallback>
                <p:oleObj name="Equation" r:id="rId30" imgW="164814" imgH="177492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5768975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8" name="对象 8">
            <a:extLst>
              <a:ext uri="{FF2B5EF4-FFF2-40B4-BE49-F238E27FC236}">
                <a16:creationId xmlns:a16="http://schemas.microsoft.com/office/drawing/2014/main" id="{DF41EE6A-5903-2EF8-DD92-34CDF52CA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7238" y="6245225"/>
          <a:ext cx="384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4814" imgH="177492" progId="Equation.DSMT4">
                  <p:embed/>
                </p:oleObj>
              </mc:Choice>
              <mc:Fallback>
                <p:oleObj name="Equation" r:id="rId31" imgW="164814" imgH="17749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8" y="6245225"/>
                        <a:ext cx="384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9">
            <a:extLst>
              <a:ext uri="{FF2B5EF4-FFF2-40B4-BE49-F238E27FC236}">
                <a16:creationId xmlns:a16="http://schemas.microsoft.com/office/drawing/2014/main" id="{05C3CBF8-DAFA-C7B6-AD47-F8DD33702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3.8.4 </a:t>
            </a:r>
            <a:r>
              <a:rPr lang="zh-CN" altLang="en-US" sz="4800"/>
              <a:t>最大元与极大元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BD43E729-DC6F-223B-EF42-B6AD263EE6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2492375"/>
            <a:ext cx="3673475" cy="43656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/>
              <a:t>A,  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chemeClr val="accent1"/>
                </a:solidFill>
              </a:rPr>
              <a:t>最大元</a:t>
            </a:r>
            <a:r>
              <a:rPr lang="en-US" altLang="zh-CN" sz="3200" dirty="0"/>
              <a:t>a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   对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sz="3200" dirty="0" err="1"/>
              <a:t>x∈A</a:t>
            </a:r>
            <a:r>
              <a:rPr lang="zh-CN" altLang="en-US" sz="3200" dirty="0"/>
              <a:t>有</a:t>
            </a:r>
            <a:r>
              <a:rPr lang="en-US" altLang="zh-CN" sz="3200" dirty="0"/>
              <a:t>x   a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/>
              <a:t>A,  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339933"/>
                </a:solidFill>
              </a:rPr>
              <a:t>最小元</a:t>
            </a:r>
            <a:r>
              <a:rPr lang="en-US" altLang="zh-CN" sz="3200" dirty="0"/>
              <a:t>a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</a:t>
            </a:r>
            <a:r>
              <a:rPr lang="zh-CN" altLang="en-US" sz="3200" dirty="0"/>
              <a:t>对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sz="3200" dirty="0" err="1"/>
              <a:t>x∈A</a:t>
            </a:r>
            <a:r>
              <a:rPr lang="zh-CN" altLang="en-US" sz="3200" dirty="0"/>
              <a:t>有</a:t>
            </a:r>
            <a:r>
              <a:rPr lang="en-US" altLang="zh-CN" sz="3200" dirty="0"/>
              <a:t>a   x 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3AE5DA5-824F-B4B6-12AA-A8F659C14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7175" y="2492375"/>
            <a:ext cx="4859338" cy="43656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/>
              <a:t>A,  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FF0066"/>
                </a:solidFill>
              </a:rPr>
              <a:t>极大元</a:t>
            </a:r>
            <a:r>
              <a:rPr lang="en-US" altLang="zh-CN" sz="3200" dirty="0"/>
              <a:t>a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accent1"/>
                </a:solidFill>
              </a:rPr>
              <a:t>   不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</a:t>
            </a:r>
            <a:r>
              <a:rPr lang="zh-CN" altLang="en-US" sz="3200" dirty="0">
                <a:solidFill>
                  <a:schemeClr val="accent1"/>
                </a:solidFill>
              </a:rPr>
              <a:t>其它</a:t>
            </a:r>
            <a:r>
              <a:rPr lang="zh-CN" altLang="en-US" sz="3200" dirty="0"/>
              <a:t>元素</a:t>
            </a:r>
            <a:r>
              <a:rPr lang="en-US" altLang="zh-CN" sz="3200" dirty="0" err="1"/>
              <a:t>x∈A</a:t>
            </a:r>
            <a:r>
              <a:rPr lang="zh-CN" altLang="en-US" sz="3200" dirty="0"/>
              <a:t>使</a:t>
            </a:r>
            <a:r>
              <a:rPr lang="en-US" altLang="zh-CN" sz="3200" dirty="0"/>
              <a:t>a  x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/>
              <a:t>A,  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chemeClr val="hlink"/>
                </a:solidFill>
              </a:rPr>
              <a:t>极小元</a:t>
            </a:r>
            <a:r>
              <a:rPr lang="en-US" altLang="zh-CN" sz="3200" dirty="0"/>
              <a:t>a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accent1"/>
                </a:solidFill>
              </a:rPr>
              <a:t>   不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</a:t>
            </a:r>
            <a:r>
              <a:rPr lang="zh-CN" altLang="en-US" sz="3200" dirty="0">
                <a:solidFill>
                  <a:schemeClr val="accent1"/>
                </a:solidFill>
              </a:rPr>
              <a:t>其它</a:t>
            </a:r>
            <a:r>
              <a:rPr lang="zh-CN" altLang="en-US" sz="3200" dirty="0"/>
              <a:t>元素</a:t>
            </a:r>
            <a:r>
              <a:rPr lang="en-US" altLang="zh-CN" sz="3200" dirty="0" err="1"/>
              <a:t>x∈A</a:t>
            </a:r>
            <a:r>
              <a:rPr lang="zh-CN" altLang="en-US" sz="3200" dirty="0"/>
              <a:t>使</a:t>
            </a:r>
            <a:r>
              <a:rPr lang="en-US" altLang="zh-CN" sz="3200" dirty="0"/>
              <a:t>x  a</a:t>
            </a:r>
            <a:endParaRPr lang="zh-CN" altLang="en-US" sz="3200" dirty="0"/>
          </a:p>
        </p:txBody>
      </p:sp>
      <p:graphicFrame>
        <p:nvGraphicFramePr>
          <p:cNvPr id="26629" name="Object 18">
            <a:extLst>
              <a:ext uri="{FF2B5EF4-FFF2-40B4-BE49-F238E27FC236}">
                <a16:creationId xmlns:a16="http://schemas.microsoft.com/office/drawing/2014/main" id="{A308EA81-2CBD-D5C9-F8F8-91CE587423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2039938"/>
          <a:ext cx="349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039938"/>
                        <a:ext cx="3492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9">
            <a:extLst>
              <a:ext uri="{FF2B5EF4-FFF2-40B4-BE49-F238E27FC236}">
                <a16:creationId xmlns:a16="http://schemas.microsoft.com/office/drawing/2014/main" id="{1FD0BF54-9C29-2EEC-9F7D-86FB0F9B4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614203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614203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20">
            <a:extLst>
              <a:ext uri="{FF2B5EF4-FFF2-40B4-BE49-F238E27FC236}">
                <a16:creationId xmlns:a16="http://schemas.microsoft.com/office/drawing/2014/main" id="{35C672FF-A48E-6422-95F5-F97316291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39941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9941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6C561D2-1EFC-5F8F-6CE1-9170B2329A81}"/>
              </a:ext>
            </a:extLst>
          </p:cNvPr>
          <p:cNvSpPr/>
          <p:nvPr/>
        </p:nvSpPr>
        <p:spPr>
          <a:xfrm>
            <a:off x="323850" y="1844675"/>
            <a:ext cx="8208963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hlink"/>
                </a:solidFill>
              </a:rPr>
              <a:t> </a:t>
            </a:r>
            <a:r>
              <a:rPr lang="zh-CN" altLang="en-US" sz="3200" b="0" dirty="0">
                <a:solidFill>
                  <a:schemeClr val="hlink"/>
                </a:solidFill>
                <a:latin typeface="Tahoma" pitchFamily="34" charset="0"/>
                <a:cs typeface="Tahoma" pitchFamily="34" charset="0"/>
              </a:rPr>
              <a:t>定义</a:t>
            </a:r>
            <a:r>
              <a:rPr lang="en-US" altLang="zh-CN" sz="3200" b="0" dirty="0">
                <a:solidFill>
                  <a:schemeClr val="hlink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3.8.5 </a:t>
            </a:r>
            <a:r>
              <a:rPr lang="zh-CN" altLang="en-US" sz="3200" b="0" dirty="0"/>
              <a:t>设偏序集</a:t>
            </a:r>
            <a:r>
              <a:rPr lang="en-US" altLang="zh-CN" sz="3200" b="0" dirty="0"/>
              <a:t>&lt;</a:t>
            </a:r>
            <a:r>
              <a:rPr lang="en-US" altLang="zh-CN" sz="3200" b="0" dirty="0">
                <a:latin typeface="+mn-lt"/>
                <a:ea typeface="方正姚体" pitchFamily="2" charset="-122"/>
              </a:rPr>
              <a:t>A</a:t>
            </a:r>
            <a:r>
              <a:rPr lang="en-US" altLang="zh-CN" sz="3200" b="0" dirty="0"/>
              <a:t>,  &gt;</a:t>
            </a:r>
            <a:r>
              <a:rPr lang="zh-CN" altLang="en-US" sz="3200" b="0" dirty="0"/>
              <a:t>，</a:t>
            </a:r>
            <a:r>
              <a:rPr lang="en-US" altLang="zh-CN" sz="3200" dirty="0" err="1">
                <a:solidFill>
                  <a:schemeClr val="accent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altLang="zh-CN" sz="3200" b="0" dirty="0" err="1"/>
              <a:t>∈</a:t>
            </a:r>
            <a:r>
              <a:rPr lang="en-US" altLang="zh-CN" sz="3200" b="0" dirty="0" err="1">
                <a:latin typeface="+mn-lt"/>
              </a:rPr>
              <a:t>A</a:t>
            </a:r>
            <a:endParaRPr lang="zh-CN" altLang="en-US" sz="3200" b="0" dirty="0">
              <a:latin typeface="+mn-lt"/>
            </a:endParaRPr>
          </a:p>
        </p:txBody>
      </p:sp>
      <p:graphicFrame>
        <p:nvGraphicFramePr>
          <p:cNvPr id="26633" name="对象 3">
            <a:extLst>
              <a:ext uri="{FF2B5EF4-FFF2-40B4-BE49-F238E27FC236}">
                <a16:creationId xmlns:a16="http://schemas.microsoft.com/office/drawing/2014/main" id="{A78053B3-04CF-2721-CBAB-1BEFADBF8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0013" y="50593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50593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对象 4">
            <a:extLst>
              <a:ext uri="{FF2B5EF4-FFF2-40B4-BE49-F238E27FC236}">
                <a16:creationId xmlns:a16="http://schemas.microsoft.com/office/drawing/2014/main" id="{C56026DF-CFC4-C15F-2AAF-8631A83A6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91147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177646" progId="Equation.DSMT4">
                  <p:embed/>
                </p:oleObj>
              </mc:Choice>
              <mc:Fallback>
                <p:oleObj name="Equation" r:id="rId7" imgW="139579" imgH="177646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91147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对象 5">
            <a:extLst>
              <a:ext uri="{FF2B5EF4-FFF2-40B4-BE49-F238E27FC236}">
                <a16:creationId xmlns:a16="http://schemas.microsoft.com/office/drawing/2014/main" id="{5825D8DE-F267-93CF-850F-AF221709FF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90353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579" imgH="177646" progId="Equation.DSMT4">
                  <p:embed/>
                </p:oleObj>
              </mc:Choice>
              <mc:Fallback>
                <p:oleObj name="Equation" r:id="rId8" imgW="139579" imgH="177646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90353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对象 6">
            <a:extLst>
              <a:ext uri="{FF2B5EF4-FFF2-40B4-BE49-F238E27FC236}">
                <a16:creationId xmlns:a16="http://schemas.microsoft.com/office/drawing/2014/main" id="{2D92E975-3FB8-BDA9-7CEA-EC2C008FE5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50482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0482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对象 3">
            <a:extLst>
              <a:ext uri="{FF2B5EF4-FFF2-40B4-BE49-F238E27FC236}">
                <a16:creationId xmlns:a16="http://schemas.microsoft.com/office/drawing/2014/main" id="{2BEA5F79-FD24-BE31-3C70-29E7530FF2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10550" y="4025900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700" imgH="139700" progId="Equation.DSMT4">
                  <p:embed/>
                </p:oleObj>
              </mc:Choice>
              <mc:Fallback>
                <p:oleObj name="Equation" r:id="rId10" imgW="139700" imgH="1397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550" y="4025900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对象 4">
            <a:extLst>
              <a:ext uri="{FF2B5EF4-FFF2-40B4-BE49-F238E27FC236}">
                <a16:creationId xmlns:a16="http://schemas.microsoft.com/office/drawing/2014/main" id="{21A27381-5E8E-E25C-EB57-5F6E79093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7850" y="6178550"/>
          <a:ext cx="377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700" imgH="139700" progId="Equation.DSMT4">
                  <p:embed/>
                </p:oleObj>
              </mc:Choice>
              <mc:Fallback>
                <p:oleObj name="Equation" r:id="rId12" imgW="139700" imgH="139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6178550"/>
                        <a:ext cx="3778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063C2B1-D1B0-5DBE-AF18-B954D8F08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3.8.4 </a:t>
            </a:r>
            <a:r>
              <a:rPr lang="zh-CN" altLang="en-US" sz="4800"/>
              <a:t>最大元与极大元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97D9DCD-571E-D36E-0DB0-846AC30E8A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989138"/>
            <a:ext cx="8424863" cy="4868862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3.8.1</a:t>
            </a:r>
            <a:r>
              <a:rPr lang="zh-CN" altLang="en-US"/>
              <a:t>若偏序集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有最大元或最小元，则最大元或最小元唯一。</a:t>
            </a:r>
            <a:endParaRPr lang="zh-CN" altLang="en-US" b="1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b="1">
                <a:solidFill>
                  <a:schemeClr val="hlink"/>
                </a:solidFill>
              </a:rPr>
              <a:t>证明 </a:t>
            </a:r>
            <a:r>
              <a:rPr lang="zh-CN" altLang="en-US"/>
              <a:t>假设</a:t>
            </a:r>
            <a:r>
              <a:rPr lang="en-US" altLang="zh-CN">
                <a:solidFill>
                  <a:srgbClr val="008080"/>
                </a:solidFill>
              </a:rPr>
              <a:t>a</a:t>
            </a:r>
            <a:r>
              <a:rPr lang="zh-CN" altLang="en-US"/>
              <a:t>和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/>
              <a:t>均是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的最大元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则   </a:t>
            </a:r>
            <a:r>
              <a:rPr lang="en-US" altLang="zh-CN"/>
              <a:t>a  b</a:t>
            </a:r>
            <a:r>
              <a:rPr lang="zh-CN" altLang="en-US"/>
              <a:t>且</a:t>
            </a:r>
            <a:r>
              <a:rPr lang="en-US" altLang="zh-CN"/>
              <a:t>b  a</a:t>
            </a:r>
            <a:endParaRPr lang="zh-CN" altLang="en-US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又  是</a:t>
            </a:r>
            <a:r>
              <a:rPr lang="zh-CN" altLang="en-US">
                <a:solidFill>
                  <a:srgbClr val="FF00FF"/>
                </a:solidFill>
              </a:rPr>
              <a:t>反对称</a:t>
            </a:r>
            <a:r>
              <a:rPr lang="zh-CN" altLang="en-US"/>
              <a:t>关系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所以  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b</a:t>
            </a:r>
            <a:endParaRPr lang="zh-CN" altLang="en-US"/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D00BAA1A-2D80-5AF8-D4AD-B6FC0A939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2513" y="22018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22018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9">
            <a:extLst>
              <a:ext uri="{FF2B5EF4-FFF2-40B4-BE49-F238E27FC236}">
                <a16:creationId xmlns:a16="http://schemas.microsoft.com/office/drawing/2014/main" id="{97A7D5EC-80E9-D1E9-3DC4-E2E6541D9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0775" y="362108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362108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11">
            <a:extLst>
              <a:ext uri="{FF2B5EF4-FFF2-40B4-BE49-F238E27FC236}">
                <a16:creationId xmlns:a16="http://schemas.microsoft.com/office/drawing/2014/main" id="{DE527894-2B04-4B8C-A41F-87646CF60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0988" y="437832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437832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2">
            <a:extLst>
              <a:ext uri="{FF2B5EF4-FFF2-40B4-BE49-F238E27FC236}">
                <a16:creationId xmlns:a16="http://schemas.microsoft.com/office/drawing/2014/main" id="{E2162C7C-05E3-AE97-CF09-676B71227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2525" y="50593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50593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3">
            <a:extLst>
              <a:ext uri="{FF2B5EF4-FFF2-40B4-BE49-F238E27FC236}">
                <a16:creationId xmlns:a16="http://schemas.microsoft.com/office/drawing/2014/main" id="{6A17FEB8-9003-1ACE-207A-FB3D12DCD80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982913" y="4386263"/>
          <a:ext cx="3524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177646" progId="Equation.DSMT4">
                  <p:embed/>
                </p:oleObj>
              </mc:Choice>
              <mc:Fallback>
                <p:oleObj name="Equation" r:id="rId7" imgW="139579" imgH="17764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4386263"/>
                        <a:ext cx="3524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8">
            <a:extLst>
              <a:ext uri="{FF2B5EF4-FFF2-40B4-BE49-F238E27FC236}">
                <a16:creationId xmlns:a16="http://schemas.microsoft.com/office/drawing/2014/main" id="{E661CC5D-BC14-4FE6-A46A-D6B74A55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3.8.4 </a:t>
            </a:r>
            <a:r>
              <a:rPr lang="zh-CN" altLang="en-US" sz="4800"/>
              <a:t>最大元与极大元</a:t>
            </a:r>
          </a:p>
        </p:txBody>
      </p:sp>
      <p:graphicFrame>
        <p:nvGraphicFramePr>
          <p:cNvPr id="28675" name="Object 37">
            <a:extLst>
              <a:ext uri="{FF2B5EF4-FFF2-40B4-BE49-F238E27FC236}">
                <a16:creationId xmlns:a16="http://schemas.microsoft.com/office/drawing/2014/main" id="{23D2B569-9868-3948-47BA-E31985A92D37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5713413" y="3771900"/>
          <a:ext cx="3540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3413" y="3771900"/>
                        <a:ext cx="3540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2" name="Rectangle 8">
            <a:extLst>
              <a:ext uri="{FF2B5EF4-FFF2-40B4-BE49-F238E27FC236}">
                <a16:creationId xmlns:a16="http://schemas.microsoft.com/office/drawing/2014/main" id="{319B0E79-FF63-5DED-B9E6-07B1FBD6291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211638" y="1844675"/>
            <a:ext cx="4932362" cy="50323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3.8.13</a:t>
            </a:r>
            <a:r>
              <a:rPr lang="zh-CN" altLang="en-US" dirty="0">
                <a:latin typeface="宋体" pitchFamily="2" charset="-122"/>
              </a:rPr>
              <a:t>设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的哈斯图如右所示</a:t>
            </a:r>
            <a:r>
              <a:rPr lang="zh-CN" altLang="en-US" dirty="0"/>
              <a:t>，且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{3,4,7,8}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则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B, 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chemeClr val="accent1"/>
                </a:solidFill>
                <a:latin typeface="+mn-ea"/>
              </a:rPr>
              <a:t>极大元</a:t>
            </a:r>
            <a:endParaRPr lang="en-US" altLang="zh-CN" dirty="0">
              <a:solidFill>
                <a:schemeClr val="accent1"/>
              </a:solidFill>
              <a:latin typeface="+mn-ea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+mn-ea"/>
              </a:rPr>
              <a:t>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B, 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66"/>
                </a:solidFill>
                <a:latin typeface="+mn-ea"/>
              </a:rPr>
              <a:t>极小元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8677" name="Oval 11">
            <a:extLst>
              <a:ext uri="{FF2B5EF4-FFF2-40B4-BE49-F238E27FC236}">
                <a16:creationId xmlns:a16="http://schemas.microsoft.com/office/drawing/2014/main" id="{B556E27E-5590-0E89-C39F-72BEDA765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78" name="Oval 12">
            <a:extLst>
              <a:ext uri="{FF2B5EF4-FFF2-40B4-BE49-F238E27FC236}">
                <a16:creationId xmlns:a16="http://schemas.microsoft.com/office/drawing/2014/main" id="{FF7F90E6-81A4-F9C0-9E61-0691DA240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370263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79" name="Oval 13">
            <a:extLst>
              <a:ext uri="{FF2B5EF4-FFF2-40B4-BE49-F238E27FC236}">
                <a16:creationId xmlns:a16="http://schemas.microsoft.com/office/drawing/2014/main" id="{9FCC9F8C-8E62-1199-1801-51DAD37ED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80" name="Oval 14">
            <a:extLst>
              <a:ext uri="{FF2B5EF4-FFF2-40B4-BE49-F238E27FC236}">
                <a16:creationId xmlns:a16="http://schemas.microsoft.com/office/drawing/2014/main" id="{4A7EAFB1-B6D2-2E41-85C8-EC434B642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81" name="Oval 15">
            <a:extLst>
              <a:ext uri="{FF2B5EF4-FFF2-40B4-BE49-F238E27FC236}">
                <a16:creationId xmlns:a16="http://schemas.microsoft.com/office/drawing/2014/main" id="{9C343520-AD25-8129-3F4A-20F2783E6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894263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82" name="Oval 16">
            <a:extLst>
              <a:ext uri="{FF2B5EF4-FFF2-40B4-BE49-F238E27FC236}">
                <a16:creationId xmlns:a16="http://schemas.microsoft.com/office/drawing/2014/main" id="{3DE02E1B-9EE8-C1FA-097C-A936016A3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941888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83" name="Oval 17">
            <a:extLst>
              <a:ext uri="{FF2B5EF4-FFF2-40B4-BE49-F238E27FC236}">
                <a16:creationId xmlns:a16="http://schemas.microsoft.com/office/drawing/2014/main" id="{2385E68F-7C05-93A0-A0CE-539B0ED59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6229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684" name="Line 18">
            <a:extLst>
              <a:ext uri="{FF2B5EF4-FFF2-40B4-BE49-F238E27FC236}">
                <a16:creationId xmlns:a16="http://schemas.microsoft.com/office/drawing/2014/main" id="{39E4951C-E819-D441-1E1F-E0D213EA3C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5051425"/>
            <a:ext cx="8636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5" name="Line 19">
            <a:extLst>
              <a:ext uri="{FF2B5EF4-FFF2-40B4-BE49-F238E27FC236}">
                <a16:creationId xmlns:a16="http://schemas.microsoft.com/office/drawing/2014/main" id="{FD89C4F4-3282-054F-1400-DB872A95B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5013325"/>
            <a:ext cx="10080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20">
            <a:extLst>
              <a:ext uri="{FF2B5EF4-FFF2-40B4-BE49-F238E27FC236}">
                <a16:creationId xmlns:a16="http://schemas.microsoft.com/office/drawing/2014/main" id="{35A56FCE-8516-61D9-3B8F-83C08F2A9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4246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21">
            <a:extLst>
              <a:ext uri="{FF2B5EF4-FFF2-40B4-BE49-F238E27FC236}">
                <a16:creationId xmlns:a16="http://schemas.microsoft.com/office/drawing/2014/main" id="{66F1CDFB-7BD2-B6E5-0BD7-DCC061486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3053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Line 22">
            <a:extLst>
              <a:ext uri="{FF2B5EF4-FFF2-40B4-BE49-F238E27FC236}">
                <a16:creationId xmlns:a16="http://schemas.microsoft.com/office/drawing/2014/main" id="{9BD5DE4E-BAC7-7FC5-DE34-FE3BD8A50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34877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Line 23">
            <a:extLst>
              <a:ext uri="{FF2B5EF4-FFF2-40B4-BE49-F238E27FC236}">
                <a16:creationId xmlns:a16="http://schemas.microsoft.com/office/drawing/2014/main" id="{314FB323-06F0-0EAA-BB3D-E0EB5DBBE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775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0" name="Line 24">
            <a:extLst>
              <a:ext uri="{FF2B5EF4-FFF2-40B4-BE49-F238E27FC236}">
                <a16:creationId xmlns:a16="http://schemas.microsoft.com/office/drawing/2014/main" id="{ED175EFD-0AF2-477A-2DCB-B539483E1E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2275" y="4221163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1" name="Line 25">
            <a:extLst>
              <a:ext uri="{FF2B5EF4-FFF2-40B4-BE49-F238E27FC236}">
                <a16:creationId xmlns:a16="http://schemas.microsoft.com/office/drawing/2014/main" id="{6D5E4CDF-42AA-8442-C5FB-18529E3BD3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250" y="3449638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2" name="Text Box 27">
            <a:extLst>
              <a:ext uri="{FF2B5EF4-FFF2-40B4-BE49-F238E27FC236}">
                <a16:creationId xmlns:a16="http://schemas.microsoft.com/office/drawing/2014/main" id="{F349BCFE-E6AD-3FBA-631C-4984A3B43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635625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9</a:t>
            </a:r>
          </a:p>
        </p:txBody>
      </p:sp>
      <p:sp>
        <p:nvSpPr>
          <p:cNvPr id="28693" name="Text Box 29">
            <a:extLst>
              <a:ext uri="{FF2B5EF4-FFF2-40B4-BE49-F238E27FC236}">
                <a16:creationId xmlns:a16="http://schemas.microsoft.com/office/drawing/2014/main" id="{EA7851F5-73A0-BC11-1362-76F5F555E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763" y="3175000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8694" name="Text Box 30">
            <a:extLst>
              <a:ext uri="{FF2B5EF4-FFF2-40B4-BE49-F238E27FC236}">
                <a16:creationId xmlns:a16="http://schemas.microsoft.com/office/drawing/2014/main" id="{FB99EFF5-4667-B9B4-406D-E19CF8B28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3200400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8695" name="Text Box 31">
            <a:extLst>
              <a:ext uri="{FF2B5EF4-FFF2-40B4-BE49-F238E27FC236}">
                <a16:creationId xmlns:a16="http://schemas.microsoft.com/office/drawing/2014/main" id="{BE6ACDBA-38D8-EDBA-3E15-392E62AB7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716463"/>
            <a:ext cx="339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7</a:t>
            </a:r>
          </a:p>
        </p:txBody>
      </p:sp>
      <p:sp>
        <p:nvSpPr>
          <p:cNvPr id="28696" name="Text Box 33">
            <a:extLst>
              <a:ext uri="{FF2B5EF4-FFF2-40B4-BE49-F238E27FC236}">
                <a16:creationId xmlns:a16="http://schemas.microsoft.com/office/drawing/2014/main" id="{D2B4FB82-AD54-32AA-56BB-FDE1DF95F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762500"/>
            <a:ext cx="339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8697" name="Text Box 34">
            <a:extLst>
              <a:ext uri="{FF2B5EF4-FFF2-40B4-BE49-F238E27FC236}">
                <a16:creationId xmlns:a16="http://schemas.microsoft.com/office/drawing/2014/main" id="{5E177FD0-A54D-835A-6A39-75F03E1E8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37000"/>
            <a:ext cx="339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5</a:t>
            </a:r>
          </a:p>
        </p:txBody>
      </p:sp>
      <p:sp>
        <p:nvSpPr>
          <p:cNvPr id="28698" name="Text Box 36">
            <a:extLst>
              <a:ext uri="{FF2B5EF4-FFF2-40B4-BE49-F238E27FC236}">
                <a16:creationId xmlns:a16="http://schemas.microsoft.com/office/drawing/2014/main" id="{5F5AFF49-0068-626A-6C96-FFBC94BE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39544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sp>
        <p:nvSpPr>
          <p:cNvPr id="28699" name="Oval 11">
            <a:extLst>
              <a:ext uri="{FF2B5EF4-FFF2-40B4-BE49-F238E27FC236}">
                <a16:creationId xmlns:a16="http://schemas.microsoft.com/office/drawing/2014/main" id="{18EE3B5A-4CAC-DE73-2302-C02AFB224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24209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700" name="Oval 11">
            <a:extLst>
              <a:ext uri="{FF2B5EF4-FFF2-40B4-BE49-F238E27FC236}">
                <a16:creationId xmlns:a16="http://schemas.microsoft.com/office/drawing/2014/main" id="{F6F687EA-D7ED-E778-DD1B-7CEDDC115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24209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701" name="Text Box 29">
            <a:extLst>
              <a:ext uri="{FF2B5EF4-FFF2-40B4-BE49-F238E27FC236}">
                <a16:creationId xmlns:a16="http://schemas.microsoft.com/office/drawing/2014/main" id="{1A7B28C6-B7A4-C0DD-1E0E-F99043C0F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2014538"/>
            <a:ext cx="339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cxnSp>
        <p:nvCxnSpPr>
          <p:cNvPr id="28702" name="直接连接符 2">
            <a:extLst>
              <a:ext uri="{FF2B5EF4-FFF2-40B4-BE49-F238E27FC236}">
                <a16:creationId xmlns:a16="http://schemas.microsoft.com/office/drawing/2014/main" id="{FCC784E2-D871-BA12-F862-99905B46ADC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22425" y="2519363"/>
            <a:ext cx="12700" cy="8413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703" name="Text Box 30">
            <a:extLst>
              <a:ext uri="{FF2B5EF4-FFF2-40B4-BE49-F238E27FC236}">
                <a16:creationId xmlns:a16="http://schemas.microsoft.com/office/drawing/2014/main" id="{F185DA26-60DE-1231-196B-0E8173D57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2005013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graphicFrame>
        <p:nvGraphicFramePr>
          <p:cNvPr id="28704" name="对象 1">
            <a:extLst>
              <a:ext uri="{FF2B5EF4-FFF2-40B4-BE49-F238E27FC236}">
                <a16:creationId xmlns:a16="http://schemas.microsoft.com/office/drawing/2014/main" id="{FD732E84-00C9-822B-7815-C8010843C14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626100" y="3154363"/>
          <a:ext cx="3540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3154363"/>
                        <a:ext cx="3540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5" name="对象 3">
            <a:extLst>
              <a:ext uri="{FF2B5EF4-FFF2-40B4-BE49-F238E27FC236}">
                <a16:creationId xmlns:a16="http://schemas.microsoft.com/office/drawing/2014/main" id="{0E631FAE-F83F-CC79-D010-C3AA525F6EB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6881813" y="1954213"/>
          <a:ext cx="3540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对象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3" y="1954213"/>
                        <a:ext cx="3540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6" name="Oval 11">
            <a:extLst>
              <a:ext uri="{FF2B5EF4-FFF2-40B4-BE49-F238E27FC236}">
                <a16:creationId xmlns:a16="http://schemas.microsoft.com/office/drawing/2014/main" id="{8C6A6F30-9647-E899-8B63-FAA99B862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663" y="5838825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707" name="Oval 11">
            <a:extLst>
              <a:ext uri="{FF2B5EF4-FFF2-40B4-BE49-F238E27FC236}">
                <a16:creationId xmlns:a16="http://schemas.microsoft.com/office/drawing/2014/main" id="{850F6FA5-B455-6F98-2B4D-9DCE69967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5765800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708" name="Oval 11">
            <a:extLst>
              <a:ext uri="{FF2B5EF4-FFF2-40B4-BE49-F238E27FC236}">
                <a16:creationId xmlns:a16="http://schemas.microsoft.com/office/drawing/2014/main" id="{238BADC3-D533-51AC-E2DF-6DF3FAED3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941888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8709" name="Oval 11">
            <a:extLst>
              <a:ext uri="{FF2B5EF4-FFF2-40B4-BE49-F238E27FC236}">
                <a16:creationId xmlns:a16="http://schemas.microsoft.com/office/drawing/2014/main" id="{DACEA0F8-5DF9-5A9F-D401-04CD161AB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4941888"/>
            <a:ext cx="111125" cy="11112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cxnSp>
        <p:nvCxnSpPr>
          <p:cNvPr id="28710" name="直接连接符 2">
            <a:extLst>
              <a:ext uri="{FF2B5EF4-FFF2-40B4-BE49-F238E27FC236}">
                <a16:creationId xmlns:a16="http://schemas.microsoft.com/office/drawing/2014/main" id="{83189ED7-8271-530B-F7FB-F0ADC8732D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81663" y="5053013"/>
            <a:ext cx="0" cy="7127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711" name="直接连接符 4">
            <a:extLst>
              <a:ext uri="{FF2B5EF4-FFF2-40B4-BE49-F238E27FC236}">
                <a16:creationId xmlns:a16="http://schemas.microsoft.com/office/drawing/2014/main" id="{DFCECB98-A4A6-0E2E-E055-B9042573EC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48513" y="5084763"/>
            <a:ext cx="0" cy="7683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712" name="直接连接符 6">
            <a:extLst>
              <a:ext uri="{FF2B5EF4-FFF2-40B4-BE49-F238E27FC236}">
                <a16:creationId xmlns:a16="http://schemas.microsoft.com/office/drawing/2014/main" id="{43A67E72-56E5-3CE9-4962-821176545799}"/>
              </a:ext>
            </a:extLst>
          </p:cNvPr>
          <p:cNvCxnSpPr>
            <a:cxnSpLocks noChangeShapeType="1"/>
            <a:stCxn id="28707" idx="6"/>
            <a:endCxn id="28708" idx="3"/>
          </p:cNvCxnSpPr>
          <p:nvPr/>
        </p:nvCxnSpPr>
        <p:spPr bwMode="auto">
          <a:xfrm flipV="1">
            <a:off x="5724525" y="5035550"/>
            <a:ext cx="1384300" cy="7858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713" name="Text Box 33">
            <a:extLst>
              <a:ext uri="{FF2B5EF4-FFF2-40B4-BE49-F238E27FC236}">
                <a16:creationId xmlns:a16="http://schemas.microsoft.com/office/drawing/2014/main" id="{4F1C0328-F7B9-D11C-2D58-B74F20722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67263"/>
            <a:ext cx="3381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8714" name="Text Box 33">
            <a:extLst>
              <a:ext uri="{FF2B5EF4-FFF2-40B4-BE49-F238E27FC236}">
                <a16:creationId xmlns:a16="http://schemas.microsoft.com/office/drawing/2014/main" id="{A2F87F26-FCFB-DA9D-D346-0DE93A18C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4775200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8715" name="Text Box 33">
            <a:extLst>
              <a:ext uri="{FF2B5EF4-FFF2-40B4-BE49-F238E27FC236}">
                <a16:creationId xmlns:a16="http://schemas.microsoft.com/office/drawing/2014/main" id="{0DA576F1-E26C-3220-D734-B74F7E83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38" y="5597525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7</a:t>
            </a:r>
          </a:p>
        </p:txBody>
      </p:sp>
      <p:sp>
        <p:nvSpPr>
          <p:cNvPr id="28716" name="Text Box 33">
            <a:extLst>
              <a:ext uri="{FF2B5EF4-FFF2-40B4-BE49-F238E27FC236}">
                <a16:creationId xmlns:a16="http://schemas.microsoft.com/office/drawing/2014/main" id="{33CFBF9D-186E-C24A-E934-B62D6F3AF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563" y="5653088"/>
            <a:ext cx="339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815EA6A-2666-625F-3A38-FCC9E0F04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3.8.5 </a:t>
            </a:r>
            <a:r>
              <a:rPr lang="zh-CN" altLang="en-US" sz="4800"/>
              <a:t>上界与下界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D09C08A-B183-33F7-AB5D-1B952EE53AF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8281987" cy="48688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3.8.14  </a:t>
            </a:r>
            <a:r>
              <a:rPr lang="zh-CN" altLang="en-US"/>
              <a:t>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Hasse</a:t>
            </a:r>
            <a:r>
              <a:rPr lang="zh-CN" altLang="en-US">
                <a:latin typeface="Times New Roman" panose="02020603050405020304" pitchFamily="18" charset="0"/>
              </a:rPr>
              <a:t>图</a:t>
            </a:r>
          </a:p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29700" name="Oval 4">
            <a:extLst>
              <a:ext uri="{FF2B5EF4-FFF2-40B4-BE49-F238E27FC236}">
                <a16:creationId xmlns:a16="http://schemas.microsoft.com/office/drawing/2014/main" id="{CE0D316D-D65B-3AEB-1C16-0B69938C2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3357563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1" name="Oval 5">
            <a:extLst>
              <a:ext uri="{FF2B5EF4-FFF2-40B4-BE49-F238E27FC236}">
                <a16:creationId xmlns:a16="http://schemas.microsoft.com/office/drawing/2014/main" id="{8B3D088C-0395-0A4A-6353-D6ECC2D91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370263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2" name="Oval 6">
            <a:extLst>
              <a:ext uri="{FF2B5EF4-FFF2-40B4-BE49-F238E27FC236}">
                <a16:creationId xmlns:a16="http://schemas.microsoft.com/office/drawing/2014/main" id="{4ED28288-4E59-B072-55DE-A0857BB00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149725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3" name="Oval 7">
            <a:extLst>
              <a:ext uri="{FF2B5EF4-FFF2-40B4-BE49-F238E27FC236}">
                <a16:creationId xmlns:a16="http://schemas.microsoft.com/office/drawing/2014/main" id="{CAE107CC-AB6B-F878-2E48-6282211F1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4" name="Oval 8">
            <a:extLst>
              <a:ext uri="{FF2B5EF4-FFF2-40B4-BE49-F238E27FC236}">
                <a16:creationId xmlns:a16="http://schemas.microsoft.com/office/drawing/2014/main" id="{A6CAB3AE-4806-22D4-C11F-A685B1B6A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894263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5" name="Oval 9">
            <a:extLst>
              <a:ext uri="{FF2B5EF4-FFF2-40B4-BE49-F238E27FC236}">
                <a16:creationId xmlns:a16="http://schemas.microsoft.com/office/drawing/2014/main" id="{CF9BE1F1-58AA-DDF0-35CE-1F2D6DE7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94188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6" name="Oval 10">
            <a:extLst>
              <a:ext uri="{FF2B5EF4-FFF2-40B4-BE49-F238E27FC236}">
                <a16:creationId xmlns:a16="http://schemas.microsoft.com/office/drawing/2014/main" id="{43ACE4F1-590B-67F0-8C5C-CAA3270F4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5622925"/>
            <a:ext cx="111125" cy="1111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9707" name="Line 11">
            <a:extLst>
              <a:ext uri="{FF2B5EF4-FFF2-40B4-BE49-F238E27FC236}">
                <a16:creationId xmlns:a16="http://schemas.microsoft.com/office/drawing/2014/main" id="{9F55E994-F9A5-B11D-BB3B-2A37913FC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2538" y="5051425"/>
            <a:ext cx="8636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8" name="Line 12">
            <a:extLst>
              <a:ext uri="{FF2B5EF4-FFF2-40B4-BE49-F238E27FC236}">
                <a16:creationId xmlns:a16="http://schemas.microsoft.com/office/drawing/2014/main" id="{BFD05F9D-DCE0-CB5E-837F-284CEF171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013325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9" name="Line 13">
            <a:extLst>
              <a:ext uri="{FF2B5EF4-FFF2-40B4-BE49-F238E27FC236}">
                <a16:creationId xmlns:a16="http://schemas.microsoft.com/office/drawing/2014/main" id="{8DC8DEBA-35A9-EB26-8D75-1B00971BB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638" y="4246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0" name="Line 14">
            <a:extLst>
              <a:ext uri="{FF2B5EF4-FFF2-40B4-BE49-F238E27FC236}">
                <a16:creationId xmlns:a16="http://schemas.microsoft.com/office/drawing/2014/main" id="{254D132F-0C6B-59A1-D862-5E2EA717D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42799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1" name="Line 15">
            <a:extLst>
              <a:ext uri="{FF2B5EF4-FFF2-40B4-BE49-F238E27FC236}">
                <a16:creationId xmlns:a16="http://schemas.microsoft.com/office/drawing/2014/main" id="{E07FEB4E-4665-1A65-2DF5-EC4A1FDF9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2713" y="34877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2" name="Line 16">
            <a:extLst>
              <a:ext uri="{FF2B5EF4-FFF2-40B4-BE49-F238E27FC236}">
                <a16:creationId xmlns:a16="http://schemas.microsoft.com/office/drawing/2014/main" id="{8C64E676-3CF1-9A0A-3B0D-3557CE98C1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3" name="Line 17">
            <a:extLst>
              <a:ext uri="{FF2B5EF4-FFF2-40B4-BE49-F238E27FC236}">
                <a16:creationId xmlns:a16="http://schemas.microsoft.com/office/drawing/2014/main" id="{0F245BD0-591C-94A8-FBB2-48BAFDB11E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3038" y="4221163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4" name="Line 18">
            <a:extLst>
              <a:ext uri="{FF2B5EF4-FFF2-40B4-BE49-F238E27FC236}">
                <a16:creationId xmlns:a16="http://schemas.microsoft.com/office/drawing/2014/main" id="{730C4DC3-8D26-0F4C-BF7C-DE1ABB34BA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449638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Text Box 19">
            <a:extLst>
              <a:ext uri="{FF2B5EF4-FFF2-40B4-BE49-F238E27FC236}">
                <a16:creationId xmlns:a16="http://schemas.microsoft.com/office/drawing/2014/main" id="{DBC3D6D3-E007-DE78-07F9-CB4F06983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5661025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9716" name="Text Box 20">
            <a:extLst>
              <a:ext uri="{FF2B5EF4-FFF2-40B4-BE49-F238E27FC236}">
                <a16:creationId xmlns:a16="http://schemas.microsoft.com/office/drawing/2014/main" id="{D91A3476-6F9A-3104-DFD6-A15F91D17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903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29717" name="Text Box 21">
            <a:extLst>
              <a:ext uri="{FF2B5EF4-FFF2-40B4-BE49-F238E27FC236}">
                <a16:creationId xmlns:a16="http://schemas.microsoft.com/office/drawing/2014/main" id="{8A8C941B-4E24-83E8-DF79-E605FDB6D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903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29718" name="Text Box 22">
            <a:extLst>
              <a:ext uri="{FF2B5EF4-FFF2-40B4-BE49-F238E27FC236}">
                <a16:creationId xmlns:a16="http://schemas.microsoft.com/office/drawing/2014/main" id="{69EF7214-8D9A-1AF1-C674-C71079819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6783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9719" name="Text Box 23">
            <a:extLst>
              <a:ext uri="{FF2B5EF4-FFF2-40B4-BE49-F238E27FC236}">
                <a16:creationId xmlns:a16="http://schemas.microsoft.com/office/drawing/2014/main" id="{5AB2ECD1-640C-2498-A208-C66DC1094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100" y="47625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9720" name="Text Box 24">
            <a:extLst>
              <a:ext uri="{FF2B5EF4-FFF2-40B4-BE49-F238E27FC236}">
                <a16:creationId xmlns:a16="http://schemas.microsoft.com/office/drawing/2014/main" id="{6177056A-7B21-49DE-8418-57FBA846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3937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29721" name="Text Box 25">
            <a:extLst>
              <a:ext uri="{FF2B5EF4-FFF2-40B4-BE49-F238E27FC236}">
                <a16:creationId xmlns:a16="http://schemas.microsoft.com/office/drawing/2014/main" id="{8B54B1EE-32FE-1AB8-0EE3-E7D0A2B4E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39544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aphicFrame>
        <p:nvGraphicFramePr>
          <p:cNvPr id="29722" name="Object 26">
            <a:extLst>
              <a:ext uri="{FF2B5EF4-FFF2-40B4-BE49-F238E27FC236}">
                <a16:creationId xmlns:a16="http://schemas.microsoft.com/office/drawing/2014/main" id="{F902A695-6FBB-89A0-CAD6-23B154CF7F0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572000" y="2014538"/>
          <a:ext cx="4175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14538"/>
                        <a:ext cx="4175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6">
            <a:extLst>
              <a:ext uri="{FF2B5EF4-FFF2-40B4-BE49-F238E27FC236}">
                <a16:creationId xmlns:a16="http://schemas.microsoft.com/office/drawing/2014/main" id="{485E4A68-FFED-58B6-4437-81A9B501CE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998538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最大元为（        ）</a:t>
            </a:r>
          </a:p>
        </p:txBody>
      </p:sp>
      <p:sp>
        <p:nvSpPr>
          <p:cNvPr id="30723" name="文本框 7">
            <a:extLst>
              <a:ext uri="{FF2B5EF4-FFF2-40B4-BE49-F238E27FC236}">
                <a16:creationId xmlns:a16="http://schemas.microsoft.com/office/drawing/2014/main" id="{030D1903-79EA-E215-5411-D375B0478C1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24" name="文本框 8">
            <a:extLst>
              <a:ext uri="{FF2B5EF4-FFF2-40B4-BE49-F238E27FC236}">
                <a16:creationId xmlns:a16="http://schemas.microsoft.com/office/drawing/2014/main" id="{2961BCDA-FA69-C000-ABD1-A4502C62794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25" name="文本框 9">
            <a:extLst>
              <a:ext uri="{FF2B5EF4-FFF2-40B4-BE49-F238E27FC236}">
                <a16:creationId xmlns:a16="http://schemas.microsoft.com/office/drawing/2014/main" id="{DCAA2423-1965-160D-FE34-CB32EA80C22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30726" name="文本框 10">
            <a:extLst>
              <a:ext uri="{FF2B5EF4-FFF2-40B4-BE49-F238E27FC236}">
                <a16:creationId xmlns:a16="http://schemas.microsoft.com/office/drawing/2014/main" id="{710135AE-2F1A-00F8-BDD2-906F17F4E0E1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27" name="椭圆 11">
            <a:extLst>
              <a:ext uri="{FF2B5EF4-FFF2-40B4-BE49-F238E27FC236}">
                <a16:creationId xmlns:a16="http://schemas.microsoft.com/office/drawing/2014/main" id="{358C054E-CFAB-B505-AADC-C04290D0948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28" name="椭圆 12">
            <a:extLst>
              <a:ext uri="{FF2B5EF4-FFF2-40B4-BE49-F238E27FC236}">
                <a16:creationId xmlns:a16="http://schemas.microsoft.com/office/drawing/2014/main" id="{35B53FAE-D377-551E-04BD-D215248C9B8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29" name="椭圆 13">
            <a:extLst>
              <a:ext uri="{FF2B5EF4-FFF2-40B4-BE49-F238E27FC236}">
                <a16:creationId xmlns:a16="http://schemas.microsoft.com/office/drawing/2014/main" id="{49726E6F-8B38-EE7F-1A33-706A38BC1A6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30" name="椭圆 14">
            <a:extLst>
              <a:ext uri="{FF2B5EF4-FFF2-40B4-BE49-F238E27FC236}">
                <a16:creationId xmlns:a16="http://schemas.microsoft.com/office/drawing/2014/main" id="{21A2C67A-D13A-6ABE-3639-04E0C8EF3C9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731" name="矩形: 圆角 15">
            <a:extLst>
              <a:ext uri="{FF2B5EF4-FFF2-40B4-BE49-F238E27FC236}">
                <a16:creationId xmlns:a16="http://schemas.microsoft.com/office/drawing/2014/main" id="{FD1D24B6-5498-8A11-798C-22A1297D460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30732" name="Oval 4">
            <a:extLst>
              <a:ext uri="{FF2B5EF4-FFF2-40B4-BE49-F238E27FC236}">
                <a16:creationId xmlns:a16="http://schemas.microsoft.com/office/drawing/2014/main" id="{94D513DF-4B1B-C9B9-FBDB-F4AB85418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18192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3" name="Oval 5">
            <a:extLst>
              <a:ext uri="{FF2B5EF4-FFF2-40B4-BE49-F238E27FC236}">
                <a16:creationId xmlns:a16="http://schemas.microsoft.com/office/drawing/2014/main" id="{A6D90D4A-8683-1626-1D86-8D9542FD7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18319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4" name="Oval 6">
            <a:extLst>
              <a:ext uri="{FF2B5EF4-FFF2-40B4-BE49-F238E27FC236}">
                <a16:creationId xmlns:a16="http://schemas.microsoft.com/office/drawing/2014/main" id="{DB72F8C3-F9B0-3560-F79C-F188CAAB8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2611438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5" name="Oval 7">
            <a:extLst>
              <a:ext uri="{FF2B5EF4-FFF2-40B4-BE49-F238E27FC236}">
                <a16:creationId xmlns:a16="http://schemas.microsoft.com/office/drawing/2014/main" id="{A39C0A16-F683-68FD-860F-C73B2894E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75" y="26114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6" name="Oval 8">
            <a:extLst>
              <a:ext uri="{FF2B5EF4-FFF2-40B4-BE49-F238E27FC236}">
                <a16:creationId xmlns:a16="http://schemas.microsoft.com/office/drawing/2014/main" id="{B8A348FE-171C-E0DD-E1D4-2404E9A13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3355975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7" name="Oval 9">
            <a:extLst>
              <a:ext uri="{FF2B5EF4-FFF2-40B4-BE49-F238E27FC236}">
                <a16:creationId xmlns:a16="http://schemas.microsoft.com/office/drawing/2014/main" id="{6F937E5A-0578-BA20-0708-340213F96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3403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8" name="Oval 10">
            <a:extLst>
              <a:ext uri="{FF2B5EF4-FFF2-40B4-BE49-F238E27FC236}">
                <a16:creationId xmlns:a16="http://schemas.microsoft.com/office/drawing/2014/main" id="{2731F798-60EB-5BA6-DDDA-5B02DB24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4084638"/>
            <a:ext cx="111125" cy="1111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39" name="Line 11">
            <a:extLst>
              <a:ext uri="{FF2B5EF4-FFF2-40B4-BE49-F238E27FC236}">
                <a16:creationId xmlns:a16="http://schemas.microsoft.com/office/drawing/2014/main" id="{39A70028-6C44-623F-CC5A-B0CAC6D0B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5938" y="3513138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0" name="Line 12">
            <a:extLst>
              <a:ext uri="{FF2B5EF4-FFF2-40B4-BE49-F238E27FC236}">
                <a16:creationId xmlns:a16="http://schemas.microsoft.com/office/drawing/2014/main" id="{415B04DC-2C91-C264-234C-A45F46D9C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3475038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1" name="Line 13">
            <a:extLst>
              <a:ext uri="{FF2B5EF4-FFF2-40B4-BE49-F238E27FC236}">
                <a16:creationId xmlns:a16="http://schemas.microsoft.com/office/drawing/2014/main" id="{305C9E80-2827-B6B0-F4EB-775808B9F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1038" y="27082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2" name="Line 14">
            <a:extLst>
              <a:ext uri="{FF2B5EF4-FFF2-40B4-BE49-F238E27FC236}">
                <a16:creationId xmlns:a16="http://schemas.microsoft.com/office/drawing/2014/main" id="{08FFCF20-70DE-3737-9A3F-817576A29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2563" y="2741613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3" name="Line 15">
            <a:extLst>
              <a:ext uri="{FF2B5EF4-FFF2-40B4-BE49-F238E27FC236}">
                <a16:creationId xmlns:a16="http://schemas.microsoft.com/office/drawing/2014/main" id="{CFB46557-BCE4-482C-8135-32E461D2D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19494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4" name="Line 16">
            <a:extLst>
              <a:ext uri="{FF2B5EF4-FFF2-40B4-BE49-F238E27FC236}">
                <a16:creationId xmlns:a16="http://schemas.microsoft.com/office/drawing/2014/main" id="{DA6EFD94-395E-E8FD-070C-4D5A178B3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19621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5" name="Line 17">
            <a:extLst>
              <a:ext uri="{FF2B5EF4-FFF2-40B4-BE49-F238E27FC236}">
                <a16:creationId xmlns:a16="http://schemas.microsoft.com/office/drawing/2014/main" id="{173A2601-3B6C-94FE-965C-D80A78F688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2682875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6" name="Line 18">
            <a:extLst>
              <a:ext uri="{FF2B5EF4-FFF2-40B4-BE49-F238E27FC236}">
                <a16:creationId xmlns:a16="http://schemas.microsoft.com/office/drawing/2014/main" id="{7D3D4A2F-A95E-1019-D12C-B8382237D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3738" y="1911350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7" name="Text Box 19">
            <a:extLst>
              <a:ext uri="{FF2B5EF4-FFF2-40B4-BE49-F238E27FC236}">
                <a16:creationId xmlns:a16="http://schemas.microsoft.com/office/drawing/2014/main" id="{7E5BADC0-8F4B-254F-A3CA-A283D35D4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122738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30748" name="Text Box 20">
            <a:extLst>
              <a:ext uri="{FF2B5EF4-FFF2-40B4-BE49-F238E27FC236}">
                <a16:creationId xmlns:a16="http://schemas.microsoft.com/office/drawing/2014/main" id="{BC81AEF2-93DA-7F0C-B778-86D0F35BD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1365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30749" name="Text Box 21">
            <a:extLst>
              <a:ext uri="{FF2B5EF4-FFF2-40B4-BE49-F238E27FC236}">
                <a16:creationId xmlns:a16="http://schemas.microsoft.com/office/drawing/2014/main" id="{4A130741-234C-0EB2-A9BF-D93DEB7C1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1365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30750" name="Text Box 22">
            <a:extLst>
              <a:ext uri="{FF2B5EF4-FFF2-40B4-BE49-F238E27FC236}">
                <a16:creationId xmlns:a16="http://schemas.microsoft.com/office/drawing/2014/main" id="{A983141E-9566-8ECA-D63B-B34488686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3140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0751" name="Text Box 23">
            <a:extLst>
              <a:ext uri="{FF2B5EF4-FFF2-40B4-BE49-F238E27FC236}">
                <a16:creationId xmlns:a16="http://schemas.microsoft.com/office/drawing/2014/main" id="{B432799F-C785-DE66-E7A4-F07E1D8E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3224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30752" name="Text Box 24">
            <a:extLst>
              <a:ext uri="{FF2B5EF4-FFF2-40B4-BE49-F238E27FC236}">
                <a16:creationId xmlns:a16="http://schemas.microsoft.com/office/drawing/2014/main" id="{932F3763-095D-2D98-2C6B-5022F5D74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23987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30753" name="Text Box 25">
            <a:extLst>
              <a:ext uri="{FF2B5EF4-FFF2-40B4-BE49-F238E27FC236}">
                <a16:creationId xmlns:a16="http://schemas.microsoft.com/office/drawing/2014/main" id="{7CAA3273-39DF-0DDD-D1FE-F3D0A4011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24161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pSp>
        <p:nvGrpSpPr>
          <p:cNvPr id="30755" name="组合 20">
            <a:extLst>
              <a:ext uri="{FF2B5EF4-FFF2-40B4-BE49-F238E27FC236}">
                <a16:creationId xmlns:a16="http://schemas.microsoft.com/office/drawing/2014/main" id="{D45F8197-4405-9876-2FAC-9C8F510BDC37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757" name="TitleBackground">
              <a:extLst>
                <a:ext uri="{FF2B5EF4-FFF2-40B4-BE49-F238E27FC236}">
                  <a16:creationId xmlns:a16="http://schemas.microsoft.com/office/drawing/2014/main" id="{3EF25A1E-80AA-2839-B62B-F16D844491EA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58" name="ColorBlock">
              <a:extLst>
                <a:ext uri="{FF2B5EF4-FFF2-40B4-BE49-F238E27FC236}">
                  <a16:creationId xmlns:a16="http://schemas.microsoft.com/office/drawing/2014/main" id="{01FF91B2-AF78-D2A3-E99C-BEE996F719D8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59" name="TypeText">
              <a:extLst>
                <a:ext uri="{FF2B5EF4-FFF2-40B4-BE49-F238E27FC236}">
                  <a16:creationId xmlns:a16="http://schemas.microsoft.com/office/drawing/2014/main" id="{A2BE7534-9E96-1ABF-03C3-8715B5A6D81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0760" name="TipText">
              <a:extLst>
                <a:ext uri="{FF2B5EF4-FFF2-40B4-BE49-F238E27FC236}">
                  <a16:creationId xmlns:a16="http://schemas.microsoft.com/office/drawing/2014/main" id="{24E45A66-75D6-8AF4-46C4-55E10D133F4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0756" name="图片 5">
            <a:extLst>
              <a:ext uri="{FF2B5EF4-FFF2-40B4-BE49-F238E27FC236}">
                <a16:creationId xmlns:a16="http://schemas.microsoft.com/office/drawing/2014/main" id="{6DBEE2AB-70C6-5FD1-A00C-2112DA39BE50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框 6">
            <a:extLst>
              <a:ext uri="{FF2B5EF4-FFF2-40B4-BE49-F238E27FC236}">
                <a16:creationId xmlns:a16="http://schemas.microsoft.com/office/drawing/2014/main" id="{40B2CEDA-690C-D831-A9CC-74CE1F5BE6C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998538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最小元为（        ）</a:t>
            </a:r>
          </a:p>
        </p:txBody>
      </p:sp>
      <p:sp>
        <p:nvSpPr>
          <p:cNvPr id="31747" name="文本框 7">
            <a:extLst>
              <a:ext uri="{FF2B5EF4-FFF2-40B4-BE49-F238E27FC236}">
                <a16:creationId xmlns:a16="http://schemas.microsoft.com/office/drawing/2014/main" id="{ECB936C8-F800-C06C-83F6-8B5C29B65EB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48" name="文本框 8">
            <a:extLst>
              <a:ext uri="{FF2B5EF4-FFF2-40B4-BE49-F238E27FC236}">
                <a16:creationId xmlns:a16="http://schemas.microsoft.com/office/drawing/2014/main" id="{2703011C-E4F6-FF89-A472-293102784FA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49" name="文本框 9">
            <a:extLst>
              <a:ext uri="{FF2B5EF4-FFF2-40B4-BE49-F238E27FC236}">
                <a16:creationId xmlns:a16="http://schemas.microsoft.com/office/drawing/2014/main" id="{6F38BE1C-7189-3730-17C8-554904153B2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31750" name="文本框 10">
            <a:extLst>
              <a:ext uri="{FF2B5EF4-FFF2-40B4-BE49-F238E27FC236}">
                <a16:creationId xmlns:a16="http://schemas.microsoft.com/office/drawing/2014/main" id="{210B6084-0437-BA3C-BF8D-528C12A7A54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51" name="椭圆 11">
            <a:extLst>
              <a:ext uri="{FF2B5EF4-FFF2-40B4-BE49-F238E27FC236}">
                <a16:creationId xmlns:a16="http://schemas.microsoft.com/office/drawing/2014/main" id="{A6A3D528-E927-E338-C7A6-054798E8C2D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52" name="椭圆 12">
            <a:extLst>
              <a:ext uri="{FF2B5EF4-FFF2-40B4-BE49-F238E27FC236}">
                <a16:creationId xmlns:a16="http://schemas.microsoft.com/office/drawing/2014/main" id="{E2672963-AC1C-C156-BFCB-3A0983D08BC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53" name="椭圆 13">
            <a:extLst>
              <a:ext uri="{FF2B5EF4-FFF2-40B4-BE49-F238E27FC236}">
                <a16:creationId xmlns:a16="http://schemas.microsoft.com/office/drawing/2014/main" id="{2983AB7A-BCF1-C74D-8112-0763B30BE81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54" name="椭圆 14">
            <a:extLst>
              <a:ext uri="{FF2B5EF4-FFF2-40B4-BE49-F238E27FC236}">
                <a16:creationId xmlns:a16="http://schemas.microsoft.com/office/drawing/2014/main" id="{1C82D772-0C7B-6D96-9AD8-CC095693F52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755" name="矩形: 圆角 15">
            <a:extLst>
              <a:ext uri="{FF2B5EF4-FFF2-40B4-BE49-F238E27FC236}">
                <a16:creationId xmlns:a16="http://schemas.microsoft.com/office/drawing/2014/main" id="{C5928B69-5F80-E310-0029-BA434B50A818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31756" name="Oval 4">
            <a:extLst>
              <a:ext uri="{FF2B5EF4-FFF2-40B4-BE49-F238E27FC236}">
                <a16:creationId xmlns:a16="http://schemas.microsoft.com/office/drawing/2014/main" id="{ECCC6705-FBF9-68BF-3E20-283EE17E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18192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57" name="Oval 5">
            <a:extLst>
              <a:ext uri="{FF2B5EF4-FFF2-40B4-BE49-F238E27FC236}">
                <a16:creationId xmlns:a16="http://schemas.microsoft.com/office/drawing/2014/main" id="{55D15724-46A6-0849-D9A4-CD38C4895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18319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58" name="Oval 6">
            <a:extLst>
              <a:ext uri="{FF2B5EF4-FFF2-40B4-BE49-F238E27FC236}">
                <a16:creationId xmlns:a16="http://schemas.microsoft.com/office/drawing/2014/main" id="{608948DA-CF08-8807-9736-F3CC2ED16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2611438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59" name="Oval 7">
            <a:extLst>
              <a:ext uri="{FF2B5EF4-FFF2-40B4-BE49-F238E27FC236}">
                <a16:creationId xmlns:a16="http://schemas.microsoft.com/office/drawing/2014/main" id="{42E89AC0-C6F3-3EB6-46EF-B361FCD8B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75" y="26114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60" name="Oval 8">
            <a:extLst>
              <a:ext uri="{FF2B5EF4-FFF2-40B4-BE49-F238E27FC236}">
                <a16:creationId xmlns:a16="http://schemas.microsoft.com/office/drawing/2014/main" id="{50CD8862-72A8-8C70-5186-2250281D8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3355975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61" name="Oval 9">
            <a:extLst>
              <a:ext uri="{FF2B5EF4-FFF2-40B4-BE49-F238E27FC236}">
                <a16:creationId xmlns:a16="http://schemas.microsoft.com/office/drawing/2014/main" id="{A7A3C35D-5AC0-C8C1-84CC-87FF87F95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3403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62" name="Oval 10">
            <a:extLst>
              <a:ext uri="{FF2B5EF4-FFF2-40B4-BE49-F238E27FC236}">
                <a16:creationId xmlns:a16="http://schemas.microsoft.com/office/drawing/2014/main" id="{01FB0F1A-75CB-960B-5247-BF2023156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4084638"/>
            <a:ext cx="111125" cy="1111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1763" name="Line 11">
            <a:extLst>
              <a:ext uri="{FF2B5EF4-FFF2-40B4-BE49-F238E27FC236}">
                <a16:creationId xmlns:a16="http://schemas.microsoft.com/office/drawing/2014/main" id="{2D34127E-448A-6B93-9960-FD4C11C3F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5938" y="3513138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12">
            <a:extLst>
              <a:ext uri="{FF2B5EF4-FFF2-40B4-BE49-F238E27FC236}">
                <a16:creationId xmlns:a16="http://schemas.microsoft.com/office/drawing/2014/main" id="{1610E8DE-3607-B5E1-21C8-C52E9FDF7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3475038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Line 13">
            <a:extLst>
              <a:ext uri="{FF2B5EF4-FFF2-40B4-BE49-F238E27FC236}">
                <a16:creationId xmlns:a16="http://schemas.microsoft.com/office/drawing/2014/main" id="{59D67DF6-8049-7B29-02C1-32216E9094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1038" y="27082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6" name="Line 14">
            <a:extLst>
              <a:ext uri="{FF2B5EF4-FFF2-40B4-BE49-F238E27FC236}">
                <a16:creationId xmlns:a16="http://schemas.microsoft.com/office/drawing/2014/main" id="{8DFA9929-6380-5E85-2EC3-0F4529E4F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2563" y="2741613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7" name="Line 15">
            <a:extLst>
              <a:ext uri="{FF2B5EF4-FFF2-40B4-BE49-F238E27FC236}">
                <a16:creationId xmlns:a16="http://schemas.microsoft.com/office/drawing/2014/main" id="{48FFEAC0-8E85-1750-E176-E99F260AB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19494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8" name="Line 16">
            <a:extLst>
              <a:ext uri="{FF2B5EF4-FFF2-40B4-BE49-F238E27FC236}">
                <a16:creationId xmlns:a16="http://schemas.microsoft.com/office/drawing/2014/main" id="{DCF3A0A2-7ED9-C980-158F-D00F1F1A3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19621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9" name="Line 17">
            <a:extLst>
              <a:ext uri="{FF2B5EF4-FFF2-40B4-BE49-F238E27FC236}">
                <a16:creationId xmlns:a16="http://schemas.microsoft.com/office/drawing/2014/main" id="{789E8AE5-130C-7027-F3BD-D24E0B340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2682875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0" name="Line 18">
            <a:extLst>
              <a:ext uri="{FF2B5EF4-FFF2-40B4-BE49-F238E27FC236}">
                <a16:creationId xmlns:a16="http://schemas.microsoft.com/office/drawing/2014/main" id="{E0E7A45C-F699-8E5B-CB28-C5C92EF7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3738" y="1911350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1" name="Text Box 19">
            <a:extLst>
              <a:ext uri="{FF2B5EF4-FFF2-40B4-BE49-F238E27FC236}">
                <a16:creationId xmlns:a16="http://schemas.microsoft.com/office/drawing/2014/main" id="{4140AC45-F6F6-C9E7-D19F-3982861E2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122738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31772" name="Text Box 20">
            <a:extLst>
              <a:ext uri="{FF2B5EF4-FFF2-40B4-BE49-F238E27FC236}">
                <a16:creationId xmlns:a16="http://schemas.microsoft.com/office/drawing/2014/main" id="{F589D446-E33D-D5AE-BAD3-6FB919433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1365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31773" name="Text Box 21">
            <a:extLst>
              <a:ext uri="{FF2B5EF4-FFF2-40B4-BE49-F238E27FC236}">
                <a16:creationId xmlns:a16="http://schemas.microsoft.com/office/drawing/2014/main" id="{ADEB6965-0265-A013-F8B0-D7131CFD2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1365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31774" name="Text Box 22">
            <a:extLst>
              <a:ext uri="{FF2B5EF4-FFF2-40B4-BE49-F238E27FC236}">
                <a16:creationId xmlns:a16="http://schemas.microsoft.com/office/drawing/2014/main" id="{61E3BBB7-D8D0-485F-0C62-D720F3249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3140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1775" name="Text Box 23">
            <a:extLst>
              <a:ext uri="{FF2B5EF4-FFF2-40B4-BE49-F238E27FC236}">
                <a16:creationId xmlns:a16="http://schemas.microsoft.com/office/drawing/2014/main" id="{D2E303F8-1A62-8010-E127-38D728388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3224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31776" name="Text Box 24">
            <a:extLst>
              <a:ext uri="{FF2B5EF4-FFF2-40B4-BE49-F238E27FC236}">
                <a16:creationId xmlns:a16="http://schemas.microsoft.com/office/drawing/2014/main" id="{B7D7B3A1-76D5-6E23-CBCB-F849580DD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23987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31777" name="Text Box 25">
            <a:extLst>
              <a:ext uri="{FF2B5EF4-FFF2-40B4-BE49-F238E27FC236}">
                <a16:creationId xmlns:a16="http://schemas.microsoft.com/office/drawing/2014/main" id="{7F73C96B-7D29-7E08-E67B-8BA6B5601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24161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pSp>
        <p:nvGrpSpPr>
          <p:cNvPr id="31779" name="组合 20">
            <a:extLst>
              <a:ext uri="{FF2B5EF4-FFF2-40B4-BE49-F238E27FC236}">
                <a16:creationId xmlns:a16="http://schemas.microsoft.com/office/drawing/2014/main" id="{C57A3E34-5439-9EA8-CF02-A26D68A61B48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1781" name="TitleBackground">
              <a:extLst>
                <a:ext uri="{FF2B5EF4-FFF2-40B4-BE49-F238E27FC236}">
                  <a16:creationId xmlns:a16="http://schemas.microsoft.com/office/drawing/2014/main" id="{E93E77D0-FAB4-3CFB-B8F1-CCC0CCC59D1E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82" name="ColorBlock">
              <a:extLst>
                <a:ext uri="{FF2B5EF4-FFF2-40B4-BE49-F238E27FC236}">
                  <a16:creationId xmlns:a16="http://schemas.microsoft.com/office/drawing/2014/main" id="{FD5B51FF-D68F-C2F5-B7D4-A4DC3A42BF2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83" name="TypeText">
              <a:extLst>
                <a:ext uri="{FF2B5EF4-FFF2-40B4-BE49-F238E27FC236}">
                  <a16:creationId xmlns:a16="http://schemas.microsoft.com/office/drawing/2014/main" id="{8419AE03-31DA-157A-7869-92801CDBFFCE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1784" name="TipText">
              <a:extLst>
                <a:ext uri="{FF2B5EF4-FFF2-40B4-BE49-F238E27FC236}">
                  <a16:creationId xmlns:a16="http://schemas.microsoft.com/office/drawing/2014/main" id="{4AD7F09A-BC59-0B69-B9DB-6792BC688233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1780" name="图片 5">
            <a:extLst>
              <a:ext uri="{FF2B5EF4-FFF2-40B4-BE49-F238E27FC236}">
                <a16:creationId xmlns:a16="http://schemas.microsoft.com/office/drawing/2014/main" id="{15BC0EA1-65EF-89C0-7623-C2288E94CBF4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6">
            <a:extLst>
              <a:ext uri="{FF2B5EF4-FFF2-40B4-BE49-F238E27FC236}">
                <a16:creationId xmlns:a16="http://schemas.microsoft.com/office/drawing/2014/main" id="{7A57416D-58E1-8F39-3CB1-055DBB0940C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998538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极大元为（        ）</a:t>
            </a:r>
          </a:p>
        </p:txBody>
      </p:sp>
      <p:sp>
        <p:nvSpPr>
          <p:cNvPr id="32771" name="文本框 7">
            <a:extLst>
              <a:ext uri="{FF2B5EF4-FFF2-40B4-BE49-F238E27FC236}">
                <a16:creationId xmlns:a16="http://schemas.microsoft.com/office/drawing/2014/main" id="{7ABAA1E7-78A4-D550-AC79-B9C721149C1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2" name="文本框 8">
            <a:extLst>
              <a:ext uri="{FF2B5EF4-FFF2-40B4-BE49-F238E27FC236}">
                <a16:creationId xmlns:a16="http://schemas.microsoft.com/office/drawing/2014/main" id="{9567120E-F0C4-438D-638D-25DFBC09E4B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3" name="文本框 9">
            <a:extLst>
              <a:ext uri="{FF2B5EF4-FFF2-40B4-BE49-F238E27FC236}">
                <a16:creationId xmlns:a16="http://schemas.microsoft.com/office/drawing/2014/main" id="{26055E98-B55C-0B07-C4DB-888418A49B8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32774" name="文本框 10">
            <a:extLst>
              <a:ext uri="{FF2B5EF4-FFF2-40B4-BE49-F238E27FC236}">
                <a16:creationId xmlns:a16="http://schemas.microsoft.com/office/drawing/2014/main" id="{5503F875-D929-2BC0-A0D8-773A92603DF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5" name="矩形 11">
            <a:extLst>
              <a:ext uri="{FF2B5EF4-FFF2-40B4-BE49-F238E27FC236}">
                <a16:creationId xmlns:a16="http://schemas.microsoft.com/office/drawing/2014/main" id="{1716C2B3-18B6-9E6B-3478-CD32AC5EE9B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rect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6" name="矩形 12">
            <a:extLst>
              <a:ext uri="{FF2B5EF4-FFF2-40B4-BE49-F238E27FC236}">
                <a16:creationId xmlns:a16="http://schemas.microsoft.com/office/drawing/2014/main" id="{BFC9CE28-1A3F-13EA-1153-E8BEBA40771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rect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7" name="矩形 13">
            <a:extLst>
              <a:ext uri="{FF2B5EF4-FFF2-40B4-BE49-F238E27FC236}">
                <a16:creationId xmlns:a16="http://schemas.microsoft.com/office/drawing/2014/main" id="{EF387EB7-E0DE-8E22-2008-3AF50973F60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8" name="矩形 14">
            <a:extLst>
              <a:ext uri="{FF2B5EF4-FFF2-40B4-BE49-F238E27FC236}">
                <a16:creationId xmlns:a16="http://schemas.microsoft.com/office/drawing/2014/main" id="{E354B118-3343-910E-FCD9-4EA7A24E605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779" name="矩形: 圆角 15">
            <a:extLst>
              <a:ext uri="{FF2B5EF4-FFF2-40B4-BE49-F238E27FC236}">
                <a16:creationId xmlns:a16="http://schemas.microsoft.com/office/drawing/2014/main" id="{8E1E4356-A3C0-DF50-ECEE-8219F860A3C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32780" name="Oval 4">
            <a:extLst>
              <a:ext uri="{FF2B5EF4-FFF2-40B4-BE49-F238E27FC236}">
                <a16:creationId xmlns:a16="http://schemas.microsoft.com/office/drawing/2014/main" id="{F621E39B-3161-8A24-500F-C4BA6560E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18192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1" name="Oval 5">
            <a:extLst>
              <a:ext uri="{FF2B5EF4-FFF2-40B4-BE49-F238E27FC236}">
                <a16:creationId xmlns:a16="http://schemas.microsoft.com/office/drawing/2014/main" id="{F9566489-8E93-83A4-1C8F-D27F4DDC2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18319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2" name="Oval 6">
            <a:extLst>
              <a:ext uri="{FF2B5EF4-FFF2-40B4-BE49-F238E27FC236}">
                <a16:creationId xmlns:a16="http://schemas.microsoft.com/office/drawing/2014/main" id="{FF5F6826-E3D3-1C85-5596-79714D7C4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2611438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3" name="Oval 7">
            <a:extLst>
              <a:ext uri="{FF2B5EF4-FFF2-40B4-BE49-F238E27FC236}">
                <a16:creationId xmlns:a16="http://schemas.microsoft.com/office/drawing/2014/main" id="{D0615745-23BB-00B1-E19E-9754830A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75" y="26114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4" name="Oval 8">
            <a:extLst>
              <a:ext uri="{FF2B5EF4-FFF2-40B4-BE49-F238E27FC236}">
                <a16:creationId xmlns:a16="http://schemas.microsoft.com/office/drawing/2014/main" id="{246D18C4-14BC-90C3-FE5D-388D9D119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3355975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5" name="Oval 9">
            <a:extLst>
              <a:ext uri="{FF2B5EF4-FFF2-40B4-BE49-F238E27FC236}">
                <a16:creationId xmlns:a16="http://schemas.microsoft.com/office/drawing/2014/main" id="{F67F4375-833D-486D-4AC4-14BF2E436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3403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6" name="Oval 10">
            <a:extLst>
              <a:ext uri="{FF2B5EF4-FFF2-40B4-BE49-F238E27FC236}">
                <a16:creationId xmlns:a16="http://schemas.microsoft.com/office/drawing/2014/main" id="{F1D74CE7-8847-CB7F-3A75-BC7112ECB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4084638"/>
            <a:ext cx="111125" cy="1111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2787" name="Line 11">
            <a:extLst>
              <a:ext uri="{FF2B5EF4-FFF2-40B4-BE49-F238E27FC236}">
                <a16:creationId xmlns:a16="http://schemas.microsoft.com/office/drawing/2014/main" id="{6393060D-0977-0899-1AC4-37300CB608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5938" y="3513138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8" name="Line 12">
            <a:extLst>
              <a:ext uri="{FF2B5EF4-FFF2-40B4-BE49-F238E27FC236}">
                <a16:creationId xmlns:a16="http://schemas.microsoft.com/office/drawing/2014/main" id="{56C1EADE-F487-5B1D-21BB-6C48C7C3A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3475038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9" name="Line 13">
            <a:extLst>
              <a:ext uri="{FF2B5EF4-FFF2-40B4-BE49-F238E27FC236}">
                <a16:creationId xmlns:a16="http://schemas.microsoft.com/office/drawing/2014/main" id="{3CC009FD-1C78-0CC3-F9B7-E1E7C9931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1038" y="27082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0" name="Line 14">
            <a:extLst>
              <a:ext uri="{FF2B5EF4-FFF2-40B4-BE49-F238E27FC236}">
                <a16:creationId xmlns:a16="http://schemas.microsoft.com/office/drawing/2014/main" id="{ABAD7F25-47A1-C97D-B429-726077D55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2563" y="2741613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1" name="Line 15">
            <a:extLst>
              <a:ext uri="{FF2B5EF4-FFF2-40B4-BE49-F238E27FC236}">
                <a16:creationId xmlns:a16="http://schemas.microsoft.com/office/drawing/2014/main" id="{8D7117F5-3C8E-728C-3BFE-D97FBC95C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19494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2" name="Line 16">
            <a:extLst>
              <a:ext uri="{FF2B5EF4-FFF2-40B4-BE49-F238E27FC236}">
                <a16:creationId xmlns:a16="http://schemas.microsoft.com/office/drawing/2014/main" id="{B830AA95-EE9D-D727-B65E-40D9589D9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19621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3" name="Line 17">
            <a:extLst>
              <a:ext uri="{FF2B5EF4-FFF2-40B4-BE49-F238E27FC236}">
                <a16:creationId xmlns:a16="http://schemas.microsoft.com/office/drawing/2014/main" id="{ABF2B77A-FF54-18D1-A762-2BDE6CBB85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2682875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4" name="Line 18">
            <a:extLst>
              <a:ext uri="{FF2B5EF4-FFF2-40B4-BE49-F238E27FC236}">
                <a16:creationId xmlns:a16="http://schemas.microsoft.com/office/drawing/2014/main" id="{BB82839F-C24E-8037-071C-67233888C1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3738" y="1911350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5" name="Text Box 19">
            <a:extLst>
              <a:ext uri="{FF2B5EF4-FFF2-40B4-BE49-F238E27FC236}">
                <a16:creationId xmlns:a16="http://schemas.microsoft.com/office/drawing/2014/main" id="{FCA8255C-5DC4-029B-7974-CB0C848F6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122738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32796" name="Text Box 20">
            <a:extLst>
              <a:ext uri="{FF2B5EF4-FFF2-40B4-BE49-F238E27FC236}">
                <a16:creationId xmlns:a16="http://schemas.microsoft.com/office/drawing/2014/main" id="{C6D1EA48-4230-C417-C8E0-655B78728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1365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32797" name="Text Box 21">
            <a:extLst>
              <a:ext uri="{FF2B5EF4-FFF2-40B4-BE49-F238E27FC236}">
                <a16:creationId xmlns:a16="http://schemas.microsoft.com/office/drawing/2014/main" id="{8E2AFF16-E9FF-86DC-0DD0-0C60E0E29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1365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32798" name="Text Box 22">
            <a:extLst>
              <a:ext uri="{FF2B5EF4-FFF2-40B4-BE49-F238E27FC236}">
                <a16:creationId xmlns:a16="http://schemas.microsoft.com/office/drawing/2014/main" id="{79F4FF08-2B6C-BF10-FC0A-9BA519402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3140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2799" name="Text Box 23">
            <a:extLst>
              <a:ext uri="{FF2B5EF4-FFF2-40B4-BE49-F238E27FC236}">
                <a16:creationId xmlns:a16="http://schemas.microsoft.com/office/drawing/2014/main" id="{7E1EDAA9-3DFE-4D39-A4B2-F38FFD4F0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3224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32800" name="Text Box 24">
            <a:extLst>
              <a:ext uri="{FF2B5EF4-FFF2-40B4-BE49-F238E27FC236}">
                <a16:creationId xmlns:a16="http://schemas.microsoft.com/office/drawing/2014/main" id="{06C0D64E-8581-7E27-2330-B11DA4C2E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23987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32801" name="Text Box 25">
            <a:extLst>
              <a:ext uri="{FF2B5EF4-FFF2-40B4-BE49-F238E27FC236}">
                <a16:creationId xmlns:a16="http://schemas.microsoft.com/office/drawing/2014/main" id="{951759DA-0DDB-8538-C1B2-70A6EC2F6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24161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pSp>
        <p:nvGrpSpPr>
          <p:cNvPr id="32803" name="组合 3">
            <a:extLst>
              <a:ext uri="{FF2B5EF4-FFF2-40B4-BE49-F238E27FC236}">
                <a16:creationId xmlns:a16="http://schemas.microsoft.com/office/drawing/2014/main" id="{B68EE2D0-E64C-66CE-BF4B-D17F8F8040D1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2805" name="TitleBackground">
              <a:extLst>
                <a:ext uri="{FF2B5EF4-FFF2-40B4-BE49-F238E27FC236}">
                  <a16:creationId xmlns:a16="http://schemas.microsoft.com/office/drawing/2014/main" id="{7175DC89-9994-9C27-97A8-EB18BB52519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6" name="ColorBlock">
              <a:extLst>
                <a:ext uri="{FF2B5EF4-FFF2-40B4-BE49-F238E27FC236}">
                  <a16:creationId xmlns:a16="http://schemas.microsoft.com/office/drawing/2014/main" id="{99F7EB3D-8CE7-35A8-D254-EEF8C07E4DA0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7" name="TypeText">
              <a:extLst>
                <a:ext uri="{FF2B5EF4-FFF2-40B4-BE49-F238E27FC236}">
                  <a16:creationId xmlns:a16="http://schemas.microsoft.com/office/drawing/2014/main" id="{15A4B97A-142F-9328-705C-631AD1D560A1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32808" name="TipText">
              <a:extLst>
                <a:ext uri="{FF2B5EF4-FFF2-40B4-BE49-F238E27FC236}">
                  <a16:creationId xmlns:a16="http://schemas.microsoft.com/office/drawing/2014/main" id="{D13D2F46-F09E-BB74-ABE1-701B3990777B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2804" name="图片 5">
            <a:extLst>
              <a:ext uri="{FF2B5EF4-FFF2-40B4-BE49-F238E27FC236}">
                <a16:creationId xmlns:a16="http://schemas.microsoft.com/office/drawing/2014/main" id="{E34BC148-A8C6-23A9-C814-6009177CB5C8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6">
            <a:extLst>
              <a:ext uri="{FF2B5EF4-FFF2-40B4-BE49-F238E27FC236}">
                <a16:creationId xmlns:a16="http://schemas.microsoft.com/office/drawing/2014/main" id="{DB322DE6-916D-881C-DC61-786EDC5F648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998538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极小元为（        ）</a:t>
            </a:r>
          </a:p>
        </p:txBody>
      </p:sp>
      <p:sp>
        <p:nvSpPr>
          <p:cNvPr id="33795" name="文本框 7">
            <a:extLst>
              <a:ext uri="{FF2B5EF4-FFF2-40B4-BE49-F238E27FC236}">
                <a16:creationId xmlns:a16="http://schemas.microsoft.com/office/drawing/2014/main" id="{3DEB67A2-3BE2-46E5-4ED6-4046489CFA9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796" name="文本框 8">
            <a:extLst>
              <a:ext uri="{FF2B5EF4-FFF2-40B4-BE49-F238E27FC236}">
                <a16:creationId xmlns:a16="http://schemas.microsoft.com/office/drawing/2014/main" id="{FB8B34BE-3F4B-94F1-E8DA-5A72DDD18D6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797" name="文本框 9">
            <a:extLst>
              <a:ext uri="{FF2B5EF4-FFF2-40B4-BE49-F238E27FC236}">
                <a16:creationId xmlns:a16="http://schemas.microsoft.com/office/drawing/2014/main" id="{E1747587-BB71-06F0-2C7E-180CDFBBFD3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33798" name="文本框 10">
            <a:extLst>
              <a:ext uri="{FF2B5EF4-FFF2-40B4-BE49-F238E27FC236}">
                <a16:creationId xmlns:a16="http://schemas.microsoft.com/office/drawing/2014/main" id="{D99A8DAD-B2EB-D8DF-E423-BA3B4467B79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799" name="矩形 11">
            <a:extLst>
              <a:ext uri="{FF2B5EF4-FFF2-40B4-BE49-F238E27FC236}">
                <a16:creationId xmlns:a16="http://schemas.microsoft.com/office/drawing/2014/main" id="{401C126A-5E12-F76D-F4A3-0EA04A2DD80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800" name="矩形 12">
            <a:extLst>
              <a:ext uri="{FF2B5EF4-FFF2-40B4-BE49-F238E27FC236}">
                <a16:creationId xmlns:a16="http://schemas.microsoft.com/office/drawing/2014/main" id="{B12780D3-961C-7FDE-D3D5-F1D5196098E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801" name="矩形 13">
            <a:extLst>
              <a:ext uri="{FF2B5EF4-FFF2-40B4-BE49-F238E27FC236}">
                <a16:creationId xmlns:a16="http://schemas.microsoft.com/office/drawing/2014/main" id="{E179EF2F-B021-4064-69BD-E37A8EB328C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802" name="矩形 14">
            <a:extLst>
              <a:ext uri="{FF2B5EF4-FFF2-40B4-BE49-F238E27FC236}">
                <a16:creationId xmlns:a16="http://schemas.microsoft.com/office/drawing/2014/main" id="{D5D71BA9-6DE2-4548-C974-3D1B713E86C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rect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803" name="矩形: 圆角 15">
            <a:extLst>
              <a:ext uri="{FF2B5EF4-FFF2-40B4-BE49-F238E27FC236}">
                <a16:creationId xmlns:a16="http://schemas.microsoft.com/office/drawing/2014/main" id="{6AD7150F-7A81-CC06-AA36-D64BD7D7A94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33804" name="Oval 4">
            <a:extLst>
              <a:ext uri="{FF2B5EF4-FFF2-40B4-BE49-F238E27FC236}">
                <a16:creationId xmlns:a16="http://schemas.microsoft.com/office/drawing/2014/main" id="{38694803-CFD0-E2F2-BF6E-421891E2D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18192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05" name="Oval 5">
            <a:extLst>
              <a:ext uri="{FF2B5EF4-FFF2-40B4-BE49-F238E27FC236}">
                <a16:creationId xmlns:a16="http://schemas.microsoft.com/office/drawing/2014/main" id="{ECF552DF-691E-CFD4-5C91-840FBDC2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1831975"/>
            <a:ext cx="111125" cy="11112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06" name="Oval 6">
            <a:extLst>
              <a:ext uri="{FF2B5EF4-FFF2-40B4-BE49-F238E27FC236}">
                <a16:creationId xmlns:a16="http://schemas.microsoft.com/office/drawing/2014/main" id="{CC0A77A2-01D4-B85B-0475-9BBADDD2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2611438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07" name="Oval 7">
            <a:extLst>
              <a:ext uri="{FF2B5EF4-FFF2-40B4-BE49-F238E27FC236}">
                <a16:creationId xmlns:a16="http://schemas.microsoft.com/office/drawing/2014/main" id="{EE70B8CD-C974-130D-E74D-31168B83E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75" y="26114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08" name="Oval 8">
            <a:extLst>
              <a:ext uri="{FF2B5EF4-FFF2-40B4-BE49-F238E27FC236}">
                <a16:creationId xmlns:a16="http://schemas.microsoft.com/office/drawing/2014/main" id="{B28BBB31-C833-4B5D-9C57-1B7C20475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3355975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09" name="Oval 9">
            <a:extLst>
              <a:ext uri="{FF2B5EF4-FFF2-40B4-BE49-F238E27FC236}">
                <a16:creationId xmlns:a16="http://schemas.microsoft.com/office/drawing/2014/main" id="{378F17AB-7E6A-C0EB-542A-1F678BB2D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3403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10" name="Oval 10">
            <a:extLst>
              <a:ext uri="{FF2B5EF4-FFF2-40B4-BE49-F238E27FC236}">
                <a16:creationId xmlns:a16="http://schemas.microsoft.com/office/drawing/2014/main" id="{FDB9811D-96FA-42DD-807E-66E17EC6E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4084638"/>
            <a:ext cx="111125" cy="1111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11" name="Line 11">
            <a:extLst>
              <a:ext uri="{FF2B5EF4-FFF2-40B4-BE49-F238E27FC236}">
                <a16:creationId xmlns:a16="http://schemas.microsoft.com/office/drawing/2014/main" id="{C62375A8-786E-0B3E-AE22-67AC53AA01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5938" y="3513138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2" name="Line 12">
            <a:extLst>
              <a:ext uri="{FF2B5EF4-FFF2-40B4-BE49-F238E27FC236}">
                <a16:creationId xmlns:a16="http://schemas.microsoft.com/office/drawing/2014/main" id="{A907D997-57F2-06C7-68C0-63E9D0DE1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3475038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3" name="Line 13">
            <a:extLst>
              <a:ext uri="{FF2B5EF4-FFF2-40B4-BE49-F238E27FC236}">
                <a16:creationId xmlns:a16="http://schemas.microsoft.com/office/drawing/2014/main" id="{8F20C718-A728-4D11-3099-F9918B0C2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1038" y="27082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4" name="Line 14">
            <a:extLst>
              <a:ext uri="{FF2B5EF4-FFF2-40B4-BE49-F238E27FC236}">
                <a16:creationId xmlns:a16="http://schemas.microsoft.com/office/drawing/2014/main" id="{244BF0C5-2992-FFDC-94E6-D5897E270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2563" y="2741613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5" name="Line 15">
            <a:extLst>
              <a:ext uri="{FF2B5EF4-FFF2-40B4-BE49-F238E27FC236}">
                <a16:creationId xmlns:a16="http://schemas.microsoft.com/office/drawing/2014/main" id="{702E00DB-5944-520A-74D6-601A3D280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19494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6" name="Line 16">
            <a:extLst>
              <a:ext uri="{FF2B5EF4-FFF2-40B4-BE49-F238E27FC236}">
                <a16:creationId xmlns:a16="http://schemas.microsoft.com/office/drawing/2014/main" id="{4AB892FC-96AE-699F-C01A-255CD6DB2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196215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7" name="Line 17">
            <a:extLst>
              <a:ext uri="{FF2B5EF4-FFF2-40B4-BE49-F238E27FC236}">
                <a16:creationId xmlns:a16="http://schemas.microsoft.com/office/drawing/2014/main" id="{EB4321AC-6C47-C258-A6AC-45E6146FD5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2682875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8" name="Line 18">
            <a:extLst>
              <a:ext uri="{FF2B5EF4-FFF2-40B4-BE49-F238E27FC236}">
                <a16:creationId xmlns:a16="http://schemas.microsoft.com/office/drawing/2014/main" id="{08E315EB-0BB9-314D-1A7B-C32DD4E18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3738" y="1911350"/>
            <a:ext cx="19431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9" name="Text Box 19">
            <a:extLst>
              <a:ext uri="{FF2B5EF4-FFF2-40B4-BE49-F238E27FC236}">
                <a16:creationId xmlns:a16="http://schemas.microsoft.com/office/drawing/2014/main" id="{21344A8E-7BFA-EE09-B094-30D85DDE0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122738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33820" name="Text Box 20">
            <a:extLst>
              <a:ext uri="{FF2B5EF4-FFF2-40B4-BE49-F238E27FC236}">
                <a16:creationId xmlns:a16="http://schemas.microsoft.com/office/drawing/2014/main" id="{DD9F24D0-264B-4C9C-35FC-8033F0F71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1365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33821" name="Text Box 21">
            <a:extLst>
              <a:ext uri="{FF2B5EF4-FFF2-40B4-BE49-F238E27FC236}">
                <a16:creationId xmlns:a16="http://schemas.microsoft.com/office/drawing/2014/main" id="{3962918B-FED0-FC60-94B5-58403C32E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1365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33822" name="Text Box 22">
            <a:extLst>
              <a:ext uri="{FF2B5EF4-FFF2-40B4-BE49-F238E27FC236}">
                <a16:creationId xmlns:a16="http://schemas.microsoft.com/office/drawing/2014/main" id="{8B186A45-BE65-3DA6-7B54-523D8C955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3140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3823" name="Text Box 23">
            <a:extLst>
              <a:ext uri="{FF2B5EF4-FFF2-40B4-BE49-F238E27FC236}">
                <a16:creationId xmlns:a16="http://schemas.microsoft.com/office/drawing/2014/main" id="{1F86F86A-C011-B9B3-EF9A-1376F3AC7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3224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33824" name="Text Box 24">
            <a:extLst>
              <a:ext uri="{FF2B5EF4-FFF2-40B4-BE49-F238E27FC236}">
                <a16:creationId xmlns:a16="http://schemas.microsoft.com/office/drawing/2014/main" id="{383C5CC4-9A70-B84A-3A8B-BEFD1B57D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23987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33825" name="Text Box 25">
            <a:extLst>
              <a:ext uri="{FF2B5EF4-FFF2-40B4-BE49-F238E27FC236}">
                <a16:creationId xmlns:a16="http://schemas.microsoft.com/office/drawing/2014/main" id="{AFFBCEDC-7DC3-2313-D37F-1BEFCCD30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24161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latin typeface="宋体" panose="02010600030101010101" pitchFamily="2" charset="-122"/>
              </a:rPr>
              <a:t>6</a:t>
            </a:r>
          </a:p>
        </p:txBody>
      </p:sp>
      <p:grpSp>
        <p:nvGrpSpPr>
          <p:cNvPr id="33827" name="组合 3">
            <a:extLst>
              <a:ext uri="{FF2B5EF4-FFF2-40B4-BE49-F238E27FC236}">
                <a16:creationId xmlns:a16="http://schemas.microsoft.com/office/drawing/2014/main" id="{0B856638-815F-90C3-F2AC-8859758B19A3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3829" name="TitleBackground">
              <a:extLst>
                <a:ext uri="{FF2B5EF4-FFF2-40B4-BE49-F238E27FC236}">
                  <a16:creationId xmlns:a16="http://schemas.microsoft.com/office/drawing/2014/main" id="{BC49083D-9CE0-2AAD-9EA3-CB85AAE0648C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30" name="ColorBlock">
              <a:extLst>
                <a:ext uri="{FF2B5EF4-FFF2-40B4-BE49-F238E27FC236}">
                  <a16:creationId xmlns:a16="http://schemas.microsoft.com/office/drawing/2014/main" id="{65E9E19F-E966-6B03-E6AD-A7B2AEA33F34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31" name="TypeText">
              <a:extLst>
                <a:ext uri="{FF2B5EF4-FFF2-40B4-BE49-F238E27FC236}">
                  <a16:creationId xmlns:a16="http://schemas.microsoft.com/office/drawing/2014/main" id="{E1FC8AE5-7542-7C19-228A-D93B6DB07DAB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33832" name="TipText">
              <a:extLst>
                <a:ext uri="{FF2B5EF4-FFF2-40B4-BE49-F238E27FC236}">
                  <a16:creationId xmlns:a16="http://schemas.microsoft.com/office/drawing/2014/main" id="{4A570D4B-75B3-383F-54AD-95A7355CFA80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3828" name="图片 5">
            <a:extLst>
              <a:ext uri="{FF2B5EF4-FFF2-40B4-BE49-F238E27FC236}">
                <a16:creationId xmlns:a16="http://schemas.microsoft.com/office/drawing/2014/main" id="{0D090180-A1F6-6ABF-D3BA-DDD58C7320F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351E54F-2770-9876-D013-BEA3CFD3C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3.8.5 </a:t>
            </a:r>
            <a:r>
              <a:rPr lang="zh-CN" altLang="en-US" sz="4800"/>
              <a:t>上界与下界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229C832-965B-4252-6E9C-9C0B3E739F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532812" cy="484028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3.8.15 </a:t>
            </a:r>
            <a:r>
              <a:rPr lang="zh-CN" altLang="en-US"/>
              <a:t>偏序集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Hasse</a:t>
            </a:r>
            <a:r>
              <a:rPr lang="zh-CN" altLang="en-US">
                <a:latin typeface="Times New Roman" panose="02020603050405020304" pitchFamily="18" charset="0"/>
              </a:rPr>
              <a:t>图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5B4766EB-5C6A-8BC8-C6D7-9019F933A73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427538" y="2041525"/>
          <a:ext cx="4175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041525"/>
                        <a:ext cx="41751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Oval 5">
            <a:extLst>
              <a:ext uri="{FF2B5EF4-FFF2-40B4-BE49-F238E27FC236}">
                <a16:creationId xmlns:a16="http://schemas.microsoft.com/office/drawing/2014/main" id="{5FE30A88-3AF0-635F-9188-4ACD823D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2337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2" name="Oval 6">
            <a:extLst>
              <a:ext uri="{FF2B5EF4-FFF2-40B4-BE49-F238E27FC236}">
                <a16:creationId xmlns:a16="http://schemas.microsoft.com/office/drawing/2014/main" id="{E8569B17-524C-EFB8-56CA-7B756845C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4038600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3" name="Oval 7">
            <a:extLst>
              <a:ext uri="{FF2B5EF4-FFF2-40B4-BE49-F238E27FC236}">
                <a16:creationId xmlns:a16="http://schemas.microsoft.com/office/drawing/2014/main" id="{E448D70B-286F-1C98-863B-9D6B88988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4038600"/>
            <a:ext cx="111125" cy="11112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4" name="Oval 8">
            <a:extLst>
              <a:ext uri="{FF2B5EF4-FFF2-40B4-BE49-F238E27FC236}">
                <a16:creationId xmlns:a16="http://schemas.microsoft.com/office/drawing/2014/main" id="{BD07BB23-12D0-BC88-5C12-9DC74F99C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0386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5" name="Oval 9">
            <a:extLst>
              <a:ext uri="{FF2B5EF4-FFF2-40B4-BE49-F238E27FC236}">
                <a16:creationId xmlns:a16="http://schemas.microsoft.com/office/drawing/2014/main" id="{DBA8AC0C-6FD9-BFA4-DEBD-49B78F1D4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6" name="Oval 10">
            <a:extLst>
              <a:ext uri="{FF2B5EF4-FFF2-40B4-BE49-F238E27FC236}">
                <a16:creationId xmlns:a16="http://schemas.microsoft.com/office/drawing/2014/main" id="{CEB7B956-D977-D94C-8E17-88C0D582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7" name="Oval 11">
            <a:extLst>
              <a:ext uri="{FF2B5EF4-FFF2-40B4-BE49-F238E27FC236}">
                <a16:creationId xmlns:a16="http://schemas.microsoft.com/office/drawing/2014/main" id="{CCA80A7E-19DA-67A6-83B5-12DE2BE97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50466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4828" name="Oval 12">
            <a:extLst>
              <a:ext uri="{FF2B5EF4-FFF2-40B4-BE49-F238E27FC236}">
                <a16:creationId xmlns:a16="http://schemas.microsoft.com/office/drawing/2014/main" id="{EB126B3D-16EE-B68F-5DE0-0F653B0CD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9817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graphicFrame>
        <p:nvGraphicFramePr>
          <p:cNvPr id="34829" name="Object 13">
            <a:extLst>
              <a:ext uri="{FF2B5EF4-FFF2-40B4-BE49-F238E27FC236}">
                <a16:creationId xmlns:a16="http://schemas.microsoft.com/office/drawing/2014/main" id="{A2D3DF22-960F-6A0C-4A2B-7FEF6386461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525838" y="6165850"/>
          <a:ext cx="2952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6165850"/>
                        <a:ext cx="29527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Line 14">
            <a:extLst>
              <a:ext uri="{FF2B5EF4-FFF2-40B4-BE49-F238E27FC236}">
                <a16:creationId xmlns:a16="http://schemas.microsoft.com/office/drawing/2014/main" id="{83B56DE9-1D0E-9394-0474-09088ECC2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51704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1" name="Line 15">
            <a:extLst>
              <a:ext uri="{FF2B5EF4-FFF2-40B4-BE49-F238E27FC236}">
                <a16:creationId xmlns:a16="http://schemas.microsoft.com/office/drawing/2014/main" id="{796395E0-13E0-97A6-BC6D-20511C59AF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5157788"/>
            <a:ext cx="12239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Line 16">
            <a:extLst>
              <a:ext uri="{FF2B5EF4-FFF2-40B4-BE49-F238E27FC236}">
                <a16:creationId xmlns:a16="http://schemas.microsoft.com/office/drawing/2014/main" id="{B673E983-FF5F-A943-7FB0-CD565FDAE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157788"/>
            <a:ext cx="115093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Line 17">
            <a:extLst>
              <a:ext uri="{FF2B5EF4-FFF2-40B4-BE49-F238E27FC236}">
                <a16:creationId xmlns:a16="http://schemas.microsoft.com/office/drawing/2014/main" id="{3DDAF357-4ABB-40EE-B561-FE96F3FEE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149725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18">
            <a:extLst>
              <a:ext uri="{FF2B5EF4-FFF2-40B4-BE49-F238E27FC236}">
                <a16:creationId xmlns:a16="http://schemas.microsoft.com/office/drawing/2014/main" id="{B1E62F63-E99F-9C56-B94F-0A1001CB5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4149725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19">
            <a:extLst>
              <a:ext uri="{FF2B5EF4-FFF2-40B4-BE49-F238E27FC236}">
                <a16:creationId xmlns:a16="http://schemas.microsoft.com/office/drawing/2014/main" id="{C977C7FE-A716-0809-B37F-B9A6C32359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4149725"/>
            <a:ext cx="1150938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Line 20">
            <a:extLst>
              <a:ext uri="{FF2B5EF4-FFF2-40B4-BE49-F238E27FC236}">
                <a16:creationId xmlns:a16="http://schemas.microsoft.com/office/drawing/2014/main" id="{012035EB-8063-38B8-A9DA-891D254E2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4157663"/>
            <a:ext cx="11525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Line 21">
            <a:extLst>
              <a:ext uri="{FF2B5EF4-FFF2-40B4-BE49-F238E27FC236}">
                <a16:creationId xmlns:a16="http://schemas.microsoft.com/office/drawing/2014/main" id="{D0E5EBDA-017B-7088-33C1-B79CEB5363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4438" y="4149725"/>
            <a:ext cx="1150937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8" name="Line 22">
            <a:extLst>
              <a:ext uri="{FF2B5EF4-FFF2-40B4-BE49-F238E27FC236}">
                <a16:creationId xmlns:a16="http://schemas.microsoft.com/office/drawing/2014/main" id="{B2E7DC63-853F-595E-C20E-036093FBB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4149725"/>
            <a:ext cx="1223963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9" name="Line 23">
            <a:extLst>
              <a:ext uri="{FF2B5EF4-FFF2-40B4-BE49-F238E27FC236}">
                <a16:creationId xmlns:a16="http://schemas.microsoft.com/office/drawing/2014/main" id="{FC7E7C68-C10D-4F6B-496E-7298CEAF8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357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0" name="Line 24">
            <a:extLst>
              <a:ext uri="{FF2B5EF4-FFF2-40B4-BE49-F238E27FC236}">
                <a16:creationId xmlns:a16="http://schemas.microsoft.com/office/drawing/2014/main" id="{D3A6B329-9D8C-0983-56B2-6C2FE697C9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32845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1" name="Line 25">
            <a:extLst>
              <a:ext uri="{FF2B5EF4-FFF2-40B4-BE49-F238E27FC236}">
                <a16:creationId xmlns:a16="http://schemas.microsoft.com/office/drawing/2014/main" id="{135B69E7-0DFE-C4C6-11EB-44936F5FE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284538"/>
            <a:ext cx="1150938" cy="7921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2" name="Line 26">
            <a:extLst>
              <a:ext uri="{FF2B5EF4-FFF2-40B4-BE49-F238E27FC236}">
                <a16:creationId xmlns:a16="http://schemas.microsoft.com/office/drawing/2014/main" id="{212CBA2C-1498-A912-3615-9B1AD7C4C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309938"/>
            <a:ext cx="115093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3" name="Text Box 27">
            <a:extLst>
              <a:ext uri="{FF2B5EF4-FFF2-40B4-BE49-F238E27FC236}">
                <a16:creationId xmlns:a16="http://schemas.microsoft.com/office/drawing/2014/main" id="{6F7A689A-B444-6BC7-181D-3CC470B68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86092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{1}</a:t>
            </a:r>
          </a:p>
        </p:txBody>
      </p:sp>
      <p:sp>
        <p:nvSpPr>
          <p:cNvPr id="34844" name="Text Box 28">
            <a:extLst>
              <a:ext uri="{FF2B5EF4-FFF2-40B4-BE49-F238E27FC236}">
                <a16:creationId xmlns:a16="http://schemas.microsoft.com/office/drawing/2014/main" id="{A9782D15-21BF-0C50-1AAA-0004A83D0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852988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{3}</a:t>
            </a:r>
          </a:p>
        </p:txBody>
      </p:sp>
      <p:sp>
        <p:nvSpPr>
          <p:cNvPr id="34845" name="Text Box 29">
            <a:extLst>
              <a:ext uri="{FF2B5EF4-FFF2-40B4-BE49-F238E27FC236}">
                <a16:creationId xmlns:a16="http://schemas.microsoft.com/office/drawing/2014/main" id="{4AFE99E5-3CBA-0783-C03B-6BD15C4E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4513" y="4868863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{2}</a:t>
            </a:r>
          </a:p>
        </p:txBody>
      </p:sp>
      <p:sp>
        <p:nvSpPr>
          <p:cNvPr id="34846" name="Text Box 30">
            <a:extLst>
              <a:ext uri="{FF2B5EF4-FFF2-40B4-BE49-F238E27FC236}">
                <a16:creationId xmlns:a16="http://schemas.microsoft.com/office/drawing/2014/main" id="{49289832-C923-D3B9-3317-719286023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3843338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{1,2}</a:t>
            </a:r>
          </a:p>
        </p:txBody>
      </p:sp>
      <p:sp>
        <p:nvSpPr>
          <p:cNvPr id="34847" name="Text Box 31">
            <a:extLst>
              <a:ext uri="{FF2B5EF4-FFF2-40B4-BE49-F238E27FC236}">
                <a16:creationId xmlns:a16="http://schemas.microsoft.com/office/drawing/2014/main" id="{AD0C2F38-CB51-59A5-9142-78A69EBAD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3844925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{2,3}</a:t>
            </a:r>
          </a:p>
        </p:txBody>
      </p:sp>
      <p:sp>
        <p:nvSpPr>
          <p:cNvPr id="34848" name="Text Box 32">
            <a:extLst>
              <a:ext uri="{FF2B5EF4-FFF2-40B4-BE49-F238E27FC236}">
                <a16:creationId xmlns:a16="http://schemas.microsoft.com/office/drawing/2014/main" id="{73ED8B81-C5D9-CBE2-669F-C0D88BFCE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789363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{1,3}</a:t>
            </a:r>
          </a:p>
        </p:txBody>
      </p:sp>
      <p:sp>
        <p:nvSpPr>
          <p:cNvPr id="34849" name="Text Box 33">
            <a:extLst>
              <a:ext uri="{FF2B5EF4-FFF2-40B4-BE49-F238E27FC236}">
                <a16:creationId xmlns:a16="http://schemas.microsoft.com/office/drawing/2014/main" id="{5EB1477B-14AA-6591-6E48-7441A61C1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273050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{1,2,3}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9">
            <a:extLst>
              <a:ext uri="{FF2B5EF4-FFF2-40B4-BE49-F238E27FC236}">
                <a16:creationId xmlns:a16="http://schemas.microsoft.com/office/drawing/2014/main" id="{A87D0471-FF3B-556E-9073-ADF126DBB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3.8.5 </a:t>
            </a:r>
            <a:r>
              <a:rPr lang="zh-CN" altLang="en-US" sz="4800"/>
              <a:t>上界与下界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38A9AE2-291D-D78F-8962-7E325142E34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2492375"/>
            <a:ext cx="4176712" cy="43656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/>
              <a:t>B,  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dirty="0"/>
              <a:t>的最大元</a:t>
            </a:r>
            <a:endParaRPr lang="en-US" altLang="zh-CN" sz="3200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 </a:t>
            </a:r>
            <a:r>
              <a:rPr lang="zh-CN" altLang="en-US" sz="3200" dirty="0">
                <a:sym typeface="Symbol" pitchFamily="18" charset="2"/>
              </a:rPr>
              <a:t></a:t>
            </a:r>
            <a:r>
              <a:rPr lang="en-US" altLang="zh-CN" sz="3200" dirty="0" err="1">
                <a:sym typeface="Symbol" pitchFamily="18" charset="2"/>
              </a:rPr>
              <a:t>a</a:t>
            </a:r>
            <a:r>
              <a:rPr lang="en-US" altLang="zh-CN" sz="3200" dirty="0" err="1"/>
              <a:t>∈B</a:t>
            </a:r>
            <a:r>
              <a:rPr lang="zh-CN" altLang="en-US" sz="3200" dirty="0"/>
              <a:t>对</a:t>
            </a:r>
            <a:r>
              <a:rPr lang="zh-CN" altLang="en-US" sz="3200" dirty="0">
                <a:sym typeface="Symbol" pitchFamily="18" charset="2"/>
              </a:rPr>
              <a:t></a:t>
            </a:r>
            <a:r>
              <a:rPr lang="en-US" altLang="zh-CN" sz="3200" dirty="0" err="1"/>
              <a:t>x∈B</a:t>
            </a:r>
            <a:r>
              <a:rPr lang="zh-CN" altLang="en-US" sz="3200" dirty="0"/>
              <a:t>有</a:t>
            </a:r>
            <a:r>
              <a:rPr lang="en-US" altLang="zh-CN" sz="3200" dirty="0"/>
              <a:t>x  a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/>
              <a:t>B,  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dirty="0"/>
              <a:t>的最小元</a:t>
            </a:r>
            <a:endParaRPr lang="en-US" altLang="zh-CN" sz="3200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</a:t>
            </a:r>
            <a:r>
              <a:rPr lang="zh-CN" altLang="en-US" sz="3200" dirty="0">
                <a:sym typeface="Symbol" pitchFamily="18" charset="2"/>
              </a:rPr>
              <a:t></a:t>
            </a:r>
            <a:r>
              <a:rPr lang="en-US" altLang="zh-CN" sz="3200" dirty="0" err="1">
                <a:sym typeface="Symbol" pitchFamily="18" charset="2"/>
              </a:rPr>
              <a:t>a</a:t>
            </a:r>
            <a:r>
              <a:rPr lang="en-US" altLang="zh-CN" sz="3200" dirty="0" err="1"/>
              <a:t>∈B</a:t>
            </a:r>
            <a:r>
              <a:rPr lang="zh-CN" altLang="en-US" sz="3200" dirty="0"/>
              <a:t>对</a:t>
            </a:r>
            <a:r>
              <a:rPr lang="zh-CN" altLang="en-US" sz="3200" dirty="0">
                <a:sym typeface="Symbol" pitchFamily="18" charset="2"/>
              </a:rPr>
              <a:t></a:t>
            </a:r>
            <a:r>
              <a:rPr lang="en-US" altLang="zh-CN" sz="3200" dirty="0" err="1"/>
              <a:t>x∈B</a:t>
            </a:r>
            <a:r>
              <a:rPr lang="zh-CN" altLang="en-US" sz="3200" dirty="0"/>
              <a:t>有</a:t>
            </a:r>
            <a:r>
              <a:rPr lang="en-US" altLang="zh-CN" sz="3200" dirty="0"/>
              <a:t>a  x 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FE3BCFE-7E29-5BAC-633F-CBC7E7EB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492375"/>
            <a:ext cx="4321175" cy="43656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dirty="0"/>
              <a:t>B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FF0066"/>
                </a:solidFill>
              </a:rPr>
              <a:t>上界</a:t>
            </a:r>
            <a:endParaRPr lang="zh-CN" altLang="en-US" sz="3200" b="1" dirty="0">
              <a:cs typeface="Tahoma" pitchFamily="34" charset="0"/>
            </a:endParaRP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   </a:t>
            </a:r>
            <a:r>
              <a:rPr lang="en-US" altLang="zh-CN" sz="3200" dirty="0" err="1">
                <a:solidFill>
                  <a:schemeClr val="accent1"/>
                </a:solidFill>
                <a:sym typeface="Symbol" pitchFamily="18" charset="2"/>
              </a:rPr>
              <a:t>a</a:t>
            </a:r>
            <a:r>
              <a:rPr lang="en-US" altLang="zh-CN" sz="3200" dirty="0" err="1"/>
              <a:t>∈A</a:t>
            </a:r>
            <a:r>
              <a:rPr lang="zh-CN" altLang="en-US" sz="3200" dirty="0"/>
              <a:t>对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sz="3200" dirty="0" err="1">
                <a:sym typeface="Symbol" pitchFamily="18" charset="2"/>
              </a:rPr>
              <a:t>x</a:t>
            </a:r>
            <a:r>
              <a:rPr lang="en-US" altLang="zh-CN" sz="3200" dirty="0" err="1"/>
              <a:t>∈B</a:t>
            </a:r>
            <a:r>
              <a:rPr lang="zh-CN" altLang="en-US" sz="3200" dirty="0"/>
              <a:t>使</a:t>
            </a:r>
            <a:r>
              <a:rPr lang="en-US" altLang="zh-CN" sz="3200" dirty="0"/>
              <a:t>x  a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zh-CN" sz="3200" dirty="0"/>
              <a:t>B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chemeClr val="hlink"/>
                </a:solidFill>
              </a:rPr>
              <a:t>下界</a:t>
            </a:r>
            <a:endParaRPr lang="en-US" altLang="zh-CN" sz="3200" b="1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accent1"/>
                </a:solidFill>
              </a:rPr>
              <a:t>   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</a:t>
            </a:r>
            <a:r>
              <a:rPr lang="en-US" altLang="zh-CN" sz="3200" dirty="0" err="1">
                <a:solidFill>
                  <a:schemeClr val="accent1"/>
                </a:solidFill>
                <a:sym typeface="Symbol" pitchFamily="18" charset="2"/>
              </a:rPr>
              <a:t>a</a:t>
            </a:r>
            <a:r>
              <a:rPr lang="en-US" altLang="zh-CN" sz="3200" dirty="0" err="1"/>
              <a:t>∈A</a:t>
            </a:r>
            <a:r>
              <a:rPr lang="zh-CN" altLang="en-US" sz="3200" dirty="0"/>
              <a:t>对</a:t>
            </a:r>
            <a:r>
              <a:rPr lang="zh-CN" altLang="en-US" sz="3200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sz="3200" dirty="0" err="1">
                <a:sym typeface="Symbol" pitchFamily="18" charset="2"/>
              </a:rPr>
              <a:t>x</a:t>
            </a:r>
            <a:r>
              <a:rPr lang="en-US" altLang="zh-CN" sz="3200" dirty="0" err="1"/>
              <a:t>∈B</a:t>
            </a:r>
            <a:r>
              <a:rPr lang="zh-CN" altLang="en-US" sz="3200" dirty="0"/>
              <a:t>使</a:t>
            </a:r>
            <a:r>
              <a:rPr lang="en-US" altLang="zh-CN" sz="3200" dirty="0"/>
              <a:t>a  x</a:t>
            </a:r>
          </a:p>
        </p:txBody>
      </p:sp>
      <p:graphicFrame>
        <p:nvGraphicFramePr>
          <p:cNvPr id="35845" name="Object 18">
            <a:extLst>
              <a:ext uri="{FF2B5EF4-FFF2-40B4-BE49-F238E27FC236}">
                <a16:creationId xmlns:a16="http://schemas.microsoft.com/office/drawing/2014/main" id="{6B213FC0-A797-8932-7175-6C21DCD68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2090738"/>
          <a:ext cx="349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2090738"/>
                        <a:ext cx="3492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19">
            <a:extLst>
              <a:ext uri="{FF2B5EF4-FFF2-40B4-BE49-F238E27FC236}">
                <a16:creationId xmlns:a16="http://schemas.microsoft.com/office/drawing/2014/main" id="{B480400D-DA84-9C1E-73D3-C4D95AD39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75" y="6142038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6142038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20">
            <a:extLst>
              <a:ext uri="{FF2B5EF4-FFF2-40B4-BE49-F238E27FC236}">
                <a16:creationId xmlns:a16="http://schemas.microsoft.com/office/drawing/2014/main" id="{C223E88D-8490-FD6E-D212-37FF20513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8575" y="3994150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Equation.DSMT4">
                  <p:embed/>
                </p:oleObj>
              </mc:Choice>
              <mc:Fallback>
                <p:oleObj name="Equation" r:id="rId5" imgW="139579" imgH="177646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994150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21">
            <a:extLst>
              <a:ext uri="{FF2B5EF4-FFF2-40B4-BE49-F238E27FC236}">
                <a16:creationId xmlns:a16="http://schemas.microsoft.com/office/drawing/2014/main" id="{D97B3A50-FE05-7D80-42C5-E708F68EDB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613251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613251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22">
            <a:extLst>
              <a:ext uri="{FF2B5EF4-FFF2-40B4-BE49-F238E27FC236}">
                <a16:creationId xmlns:a16="http://schemas.microsoft.com/office/drawing/2014/main" id="{96204D8F-6222-F5B0-868C-44523D77B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39925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579" imgH="177646" progId="Equation.DSMT4">
                  <p:embed/>
                </p:oleObj>
              </mc:Choice>
              <mc:Fallback>
                <p:oleObj name="Equation" r:id="rId7" imgW="139579" imgH="1776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39925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矩形 2">
            <a:extLst>
              <a:ext uri="{FF2B5EF4-FFF2-40B4-BE49-F238E27FC236}">
                <a16:creationId xmlns:a16="http://schemas.microsoft.com/office/drawing/2014/main" id="{13F513DF-52B7-D6C6-C2A6-08848D584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44675"/>
            <a:ext cx="82089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0">
                <a:solidFill>
                  <a:schemeClr val="hlink"/>
                </a:solidFill>
                <a:cs typeface="Tahoma" panose="020B0604030504040204" pitchFamily="34" charset="0"/>
              </a:rPr>
              <a:t>定义</a:t>
            </a:r>
            <a:r>
              <a:rPr lang="en-US" altLang="zh-CN" b="0">
                <a:solidFill>
                  <a:schemeClr val="hlink"/>
                </a:solidFill>
                <a:cs typeface="Tahoma" panose="020B0604030504040204" pitchFamily="34" charset="0"/>
              </a:rPr>
              <a:t>3.8.5</a:t>
            </a:r>
            <a:r>
              <a:rPr lang="zh-CN" altLang="en-US" b="0">
                <a:latin typeface="宋体" panose="02010600030101010101" pitchFamily="2" charset="-122"/>
              </a:rPr>
              <a:t>设</a:t>
            </a:r>
            <a:r>
              <a:rPr lang="en-US" altLang="zh-CN" b="0">
                <a:latin typeface="宋体" panose="02010600030101010101" pitchFamily="2" charset="-122"/>
              </a:rPr>
              <a:t>&lt;</a:t>
            </a:r>
            <a:r>
              <a:rPr lang="en-US" altLang="zh-CN" b="0">
                <a:cs typeface="Tahoma" panose="020B0604030504040204" pitchFamily="34" charset="0"/>
              </a:rPr>
              <a:t>A</a:t>
            </a:r>
            <a:r>
              <a:rPr lang="en-US" altLang="zh-CN" b="0">
                <a:latin typeface="宋体" panose="02010600030101010101" pitchFamily="2" charset="-122"/>
              </a:rPr>
              <a:t>,  &gt;</a:t>
            </a:r>
            <a:r>
              <a:rPr lang="zh-CN" altLang="en-US" b="0">
                <a:latin typeface="宋体" panose="02010600030101010101" pitchFamily="2" charset="-122"/>
              </a:rPr>
              <a:t>，</a:t>
            </a:r>
            <a:r>
              <a:rPr lang="en-US" altLang="zh-CN" b="0">
                <a:cs typeface="Tahoma" panose="020B0604030504040204" pitchFamily="34" charset="0"/>
              </a:rPr>
              <a:t>B   A</a:t>
            </a:r>
            <a:r>
              <a:rPr lang="zh-CN" altLang="en-US" b="0">
                <a:latin typeface="宋体" panose="02010600030101010101" pitchFamily="2" charset="-122"/>
              </a:rPr>
              <a:t>，</a:t>
            </a:r>
            <a:r>
              <a:rPr lang="en-US" altLang="zh-CN" b="0">
                <a:cs typeface="Tahoma" panose="020B0604030504040204" pitchFamily="34" charset="0"/>
              </a:rPr>
              <a:t>B</a:t>
            </a:r>
            <a:r>
              <a:rPr lang="en-US" altLang="zh-CN">
                <a:latin typeface="宋体" panose="02010600030101010101" pitchFamily="2" charset="-122"/>
              </a:rPr>
              <a:t>≠  </a:t>
            </a:r>
            <a:endParaRPr lang="zh-CN" altLang="en-US" b="0">
              <a:cs typeface="Tahoma" panose="020B0604030504040204" pitchFamily="34" charset="0"/>
            </a:endParaRPr>
          </a:p>
        </p:txBody>
      </p:sp>
      <p:graphicFrame>
        <p:nvGraphicFramePr>
          <p:cNvPr id="35851" name="对象 3">
            <a:extLst>
              <a:ext uri="{FF2B5EF4-FFF2-40B4-BE49-F238E27FC236}">
                <a16:creationId xmlns:a16="http://schemas.microsoft.com/office/drawing/2014/main" id="{A9A0B9D6-B914-EDC8-2E24-37F5EF63B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5059363"/>
          <a:ext cx="34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579" imgH="177646" progId="Equation.DSMT4">
                  <p:embed/>
                </p:oleObj>
              </mc:Choice>
              <mc:Fallback>
                <p:oleObj name="Equation" r:id="rId8" imgW="139579" imgH="177646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5059363"/>
                        <a:ext cx="34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对象 4">
            <a:extLst>
              <a:ext uri="{FF2B5EF4-FFF2-40B4-BE49-F238E27FC236}">
                <a16:creationId xmlns:a16="http://schemas.microsoft.com/office/drawing/2014/main" id="{0FF8271E-F903-8B5E-8F92-995AA422CC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7950" y="2924175"/>
          <a:ext cx="349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2924175"/>
                        <a:ext cx="3492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对象 7">
            <a:extLst>
              <a:ext uri="{FF2B5EF4-FFF2-40B4-BE49-F238E27FC236}">
                <a16:creationId xmlns:a16="http://schemas.microsoft.com/office/drawing/2014/main" id="{4D58E2AE-2B16-069A-1826-3DC0D1F954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8363" y="2098675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68" imgH="152268" progId="Equation.DSMT4">
                  <p:embed/>
                </p:oleObj>
              </mc:Choice>
              <mc:Fallback>
                <p:oleObj name="Equation" r:id="rId10" imgW="152268" imgH="152268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363" y="2098675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对象 8">
            <a:extLst>
              <a:ext uri="{FF2B5EF4-FFF2-40B4-BE49-F238E27FC236}">
                <a16:creationId xmlns:a16="http://schemas.microsoft.com/office/drawing/2014/main" id="{744ED6CF-5FF8-B9C9-8551-9777D01CE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2046288"/>
          <a:ext cx="4175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14" imgH="177492" progId="Equation.DSMT4">
                  <p:embed/>
                </p:oleObj>
              </mc:Choice>
              <mc:Fallback>
                <p:oleObj name="Equation" r:id="rId12" imgW="164814" imgH="17749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046288"/>
                        <a:ext cx="41751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>
            <a:extLst>
              <a:ext uri="{FF2B5EF4-FFF2-40B4-BE49-F238E27FC236}">
                <a16:creationId xmlns:a16="http://schemas.microsoft.com/office/drawing/2014/main" id="{E7ABA544-B2BE-6F4B-D5CE-92EA3CE2D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3.8.5 </a:t>
            </a:r>
            <a:r>
              <a:rPr lang="zh-CN" altLang="en-US" sz="4800"/>
              <a:t>上界与下界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964E23D-9759-B0CC-51FB-FB7EBED510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916113"/>
            <a:ext cx="8569325" cy="4725987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>
                <a:solidFill>
                  <a:schemeClr val="accent1"/>
                </a:solidFill>
              </a:rPr>
              <a:t>最小上界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FF"/>
                </a:solidFill>
              </a:rPr>
              <a:t>上确界</a:t>
            </a:r>
            <a:r>
              <a:rPr lang="en-US" altLang="zh-CN">
                <a:solidFill>
                  <a:srgbClr val="FF00FF"/>
                </a:solidFill>
              </a:rPr>
              <a:t> </a:t>
            </a:r>
            <a:r>
              <a:rPr lang="en-US" altLang="zh-CN"/>
              <a:t>LUB(B)  </a:t>
            </a:r>
          </a:p>
          <a:p>
            <a:pPr eaLnBrk="1" hangingPunct="1">
              <a:lnSpc>
                <a:spcPct val="300000"/>
              </a:lnSpc>
            </a:pPr>
            <a:r>
              <a:rPr lang="zh-CN" altLang="en-US">
                <a:solidFill>
                  <a:schemeClr val="accent1"/>
                </a:solidFill>
              </a:rPr>
              <a:t>最大下界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FF"/>
                </a:solidFill>
              </a:rPr>
              <a:t>下确界</a:t>
            </a:r>
            <a:r>
              <a:rPr lang="en-US" altLang="zh-CN"/>
              <a:t>  GLB(B)</a:t>
            </a:r>
            <a:endParaRPr lang="zh-CN" altLang="en-US"/>
          </a:p>
          <a:p>
            <a:pPr eaLnBrk="1" hangingPunct="1">
              <a:lnSpc>
                <a:spcPct val="145000"/>
              </a:lnSpc>
            </a:pPr>
            <a:endParaRPr lang="en-US" altLang="zh-CN" sz="2800"/>
          </a:p>
          <a:p>
            <a:pPr eaLnBrk="1" hangingPunct="1">
              <a:lnSpc>
                <a:spcPct val="145000"/>
              </a:lnSpc>
            </a:pPr>
            <a:endParaRPr lang="en-US" altLang="zh-CN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">
            <a:extLst>
              <a:ext uri="{FF2B5EF4-FFF2-40B4-BE49-F238E27FC236}">
                <a16:creationId xmlns:a16="http://schemas.microsoft.com/office/drawing/2014/main" id="{E10E111F-A673-F4F5-80AB-0C100C1F6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3.8.6 </a:t>
            </a:r>
            <a:r>
              <a:rPr lang="zh-CN" altLang="en-US" sz="4800"/>
              <a:t>线序集与良序集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62CD52FA-25B3-9A92-4BC0-8738AB5EC7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2060575"/>
            <a:ext cx="8604250" cy="4681538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定义</a:t>
            </a:r>
            <a:r>
              <a:rPr lang="en-US" altLang="zh-CN" dirty="0">
                <a:solidFill>
                  <a:schemeClr val="hlink"/>
                </a:solidFill>
              </a:rPr>
              <a:t>3.8.9</a:t>
            </a:r>
            <a:r>
              <a:rPr lang="zh-CN" altLang="en-US" dirty="0"/>
              <a:t>设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A,  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dirty="0"/>
              <a:t>，</a:t>
            </a:r>
            <a:r>
              <a:rPr lang="en-US" altLang="zh-CN" dirty="0"/>
              <a:t>B   A</a:t>
            </a:r>
            <a:r>
              <a:rPr lang="zh-CN" altLang="en-US" dirty="0"/>
              <a:t>，</a:t>
            </a:r>
            <a:r>
              <a:rPr lang="en-US" altLang="zh-CN" dirty="0"/>
              <a:t>B≠  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ym typeface="Symbol" pitchFamily="18" charset="2"/>
              </a:rPr>
              <a:t>对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 err="1"/>
              <a:t>a,b∈B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可比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称</a:t>
            </a:r>
            <a:r>
              <a:rPr lang="en-US" altLang="zh-CN" dirty="0"/>
              <a:t>B</a:t>
            </a:r>
            <a:r>
              <a:rPr lang="zh-CN" altLang="en-US" dirty="0"/>
              <a:t>为</a:t>
            </a:r>
            <a:r>
              <a:rPr lang="zh-CN" altLang="en-US" b="1" dirty="0">
                <a:solidFill>
                  <a:schemeClr val="accent1"/>
                </a:solidFill>
              </a:rPr>
              <a:t>链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chain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ym typeface="Symbol" pitchFamily="18" charset="2"/>
              </a:rPr>
              <a:t>对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 err="1"/>
              <a:t>a,b∈B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不可比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称</a:t>
            </a:r>
            <a:r>
              <a:rPr lang="en-US" altLang="zh-CN" dirty="0"/>
              <a:t>B</a:t>
            </a:r>
            <a:r>
              <a:rPr lang="zh-CN" altLang="en-US" b="1" dirty="0">
                <a:solidFill>
                  <a:srgbClr val="FF00FF"/>
                </a:solidFill>
              </a:rPr>
              <a:t>反链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FF"/>
                </a:solidFill>
              </a:rPr>
              <a:t>antichain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约定</a:t>
            </a:r>
            <a:r>
              <a:rPr lang="en-US" altLang="zh-CN" dirty="0"/>
              <a:t>A</a:t>
            </a:r>
            <a:r>
              <a:rPr lang="zh-CN" altLang="en-US" dirty="0"/>
              <a:t>的单元素子集既是链又是反链</a:t>
            </a:r>
          </a:p>
        </p:txBody>
      </p:sp>
      <p:graphicFrame>
        <p:nvGraphicFramePr>
          <p:cNvPr id="37892" name="Object 10">
            <a:extLst>
              <a:ext uri="{FF2B5EF4-FFF2-40B4-BE49-F238E27FC236}">
                <a16:creationId xmlns:a16="http://schemas.microsoft.com/office/drawing/2014/main" id="{16066FB7-A613-AD35-E966-BF687A84F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1238" y="2474913"/>
          <a:ext cx="3524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238" y="2474913"/>
                        <a:ext cx="3524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13">
            <a:extLst>
              <a:ext uri="{FF2B5EF4-FFF2-40B4-BE49-F238E27FC236}">
                <a16:creationId xmlns:a16="http://schemas.microsoft.com/office/drawing/2014/main" id="{53F6A17D-27BE-4153-2402-D4246F417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2363" y="2466975"/>
          <a:ext cx="4175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363" y="2466975"/>
                        <a:ext cx="41751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4">
            <a:extLst>
              <a:ext uri="{FF2B5EF4-FFF2-40B4-BE49-F238E27FC236}">
                <a16:creationId xmlns:a16="http://schemas.microsoft.com/office/drawing/2014/main" id="{A9DEE247-8F1B-454A-BB33-86E71489F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1063" y="2513013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063" y="2513013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8">
            <a:extLst>
              <a:ext uri="{FF2B5EF4-FFF2-40B4-BE49-F238E27FC236}">
                <a16:creationId xmlns:a16="http://schemas.microsoft.com/office/drawing/2014/main" id="{7FD28854-B7EC-9124-3199-49EF0B921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>
                <a:solidFill>
                  <a:srgbClr val="333399"/>
                </a:solidFill>
              </a:rPr>
              <a:t>3.8.6 </a:t>
            </a:r>
            <a:r>
              <a:rPr lang="zh-CN" altLang="en-US" sz="4800">
                <a:solidFill>
                  <a:srgbClr val="333399"/>
                </a:solidFill>
              </a:rPr>
              <a:t>线序集与良序集</a:t>
            </a:r>
            <a:endParaRPr lang="zh-CN" altLang="en-US" sz="4800"/>
          </a:p>
        </p:txBody>
      </p:sp>
      <p:sp>
        <p:nvSpPr>
          <p:cNvPr id="38915" name="Rectangle 8">
            <a:extLst>
              <a:ext uri="{FF2B5EF4-FFF2-40B4-BE49-F238E27FC236}">
                <a16:creationId xmlns:a16="http://schemas.microsoft.com/office/drawing/2014/main" id="{B7ED0854-929A-23E4-C5D1-2F01CDC538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442325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chemeClr val="hlink"/>
                </a:solidFill>
              </a:rPr>
              <a:t>Example3.8.16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38916" name="Oval 11">
            <a:extLst>
              <a:ext uri="{FF2B5EF4-FFF2-40B4-BE49-F238E27FC236}">
                <a16:creationId xmlns:a16="http://schemas.microsoft.com/office/drawing/2014/main" id="{8B93A22C-23A1-B706-4F47-718CE5581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50" y="3284538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917" name="Oval 12">
            <a:extLst>
              <a:ext uri="{FF2B5EF4-FFF2-40B4-BE49-F238E27FC236}">
                <a16:creationId xmlns:a16="http://schemas.microsoft.com/office/drawing/2014/main" id="{02D7F0CB-DF20-8054-3DC4-C22DA5C4C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540000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918" name="Oval 13">
            <a:extLst>
              <a:ext uri="{FF2B5EF4-FFF2-40B4-BE49-F238E27FC236}">
                <a16:creationId xmlns:a16="http://schemas.microsoft.com/office/drawing/2014/main" id="{2CD25BE7-E094-EE6D-D9B0-17043C9C6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1497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919" name="Oval 15">
            <a:extLst>
              <a:ext uri="{FF2B5EF4-FFF2-40B4-BE49-F238E27FC236}">
                <a16:creationId xmlns:a16="http://schemas.microsoft.com/office/drawing/2014/main" id="{11ABBA38-0D31-84FE-6863-B1478FB39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894263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920" name="Oval 17">
            <a:extLst>
              <a:ext uri="{FF2B5EF4-FFF2-40B4-BE49-F238E27FC236}">
                <a16:creationId xmlns:a16="http://schemas.microsoft.com/office/drawing/2014/main" id="{17BA7154-2E73-B1EC-38DA-A678CD885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5622925"/>
            <a:ext cx="111125" cy="111125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921" name="Line 19">
            <a:extLst>
              <a:ext uri="{FF2B5EF4-FFF2-40B4-BE49-F238E27FC236}">
                <a16:creationId xmlns:a16="http://schemas.microsoft.com/office/drawing/2014/main" id="{2C0567AE-C2C4-77D4-00FF-D657548EF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013325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2" name="Line 20">
            <a:extLst>
              <a:ext uri="{FF2B5EF4-FFF2-40B4-BE49-F238E27FC236}">
                <a16:creationId xmlns:a16="http://schemas.microsoft.com/office/drawing/2014/main" id="{C771005E-E17A-E94B-F627-C4CCC8F42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638" y="42465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Text Box 27">
            <a:extLst>
              <a:ext uri="{FF2B5EF4-FFF2-40B4-BE49-F238E27FC236}">
                <a16:creationId xmlns:a16="http://schemas.microsoft.com/office/drawing/2014/main" id="{2266BD03-05DC-94C8-F819-C1F0F83A7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5635625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38924" name="Text Box 29">
            <a:extLst>
              <a:ext uri="{FF2B5EF4-FFF2-40B4-BE49-F238E27FC236}">
                <a16:creationId xmlns:a16="http://schemas.microsoft.com/office/drawing/2014/main" id="{6173AC80-8260-06C2-1412-344AFEFC2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3068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000000"/>
                </a:solidFill>
                <a:latin typeface="宋体" panose="02010600030101010101" pitchFamily="2" charset="-122"/>
              </a:rPr>
              <a:t>8</a:t>
            </a:r>
          </a:p>
        </p:txBody>
      </p:sp>
      <p:sp>
        <p:nvSpPr>
          <p:cNvPr id="38925" name="Text Box 30">
            <a:extLst>
              <a:ext uri="{FF2B5EF4-FFF2-40B4-BE49-F238E27FC236}">
                <a16:creationId xmlns:a16="http://schemas.microsoft.com/office/drawing/2014/main" id="{20504665-6AC9-4E8B-C3AB-E7155B259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0" y="23241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000000"/>
                </a:solidFill>
                <a:latin typeface="宋体" panose="02010600030101010101" pitchFamily="2" charset="-122"/>
              </a:rPr>
              <a:t>12</a:t>
            </a:r>
          </a:p>
        </p:txBody>
      </p:sp>
      <p:sp>
        <p:nvSpPr>
          <p:cNvPr id="38926" name="Text Box 31">
            <a:extLst>
              <a:ext uri="{FF2B5EF4-FFF2-40B4-BE49-F238E27FC236}">
                <a16:creationId xmlns:a16="http://schemas.microsoft.com/office/drawing/2014/main" id="{470AB326-1826-C2C9-B451-6A2E291C3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783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8927" name="Text Box 34">
            <a:extLst>
              <a:ext uri="{FF2B5EF4-FFF2-40B4-BE49-F238E27FC236}">
                <a16:creationId xmlns:a16="http://schemas.microsoft.com/office/drawing/2014/main" id="{B51B2C86-5C56-21F8-D6F7-2EA245638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937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</a:p>
        </p:txBody>
      </p:sp>
      <p:cxnSp>
        <p:nvCxnSpPr>
          <p:cNvPr id="38928" name="直接连接符 2">
            <a:extLst>
              <a:ext uri="{FF2B5EF4-FFF2-40B4-BE49-F238E27FC236}">
                <a16:creationId xmlns:a16="http://schemas.microsoft.com/office/drawing/2014/main" id="{F6EB497C-72CC-6577-161E-77BAF4CB515A}"/>
              </a:ext>
            </a:extLst>
          </p:cNvPr>
          <p:cNvCxnSpPr>
            <a:cxnSpLocks noChangeShapeType="1"/>
            <a:endCxn id="38916" idx="3"/>
          </p:cNvCxnSpPr>
          <p:nvPr/>
        </p:nvCxnSpPr>
        <p:spPr bwMode="auto">
          <a:xfrm flipV="1">
            <a:off x="2700338" y="3379788"/>
            <a:ext cx="407987" cy="7699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9" name="直接连接符 6">
            <a:extLst>
              <a:ext uri="{FF2B5EF4-FFF2-40B4-BE49-F238E27FC236}">
                <a16:creationId xmlns:a16="http://schemas.microsoft.com/office/drawing/2014/main" id="{0C42DD03-E973-2262-E85A-A8E905AB475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3575" y="2614613"/>
            <a:ext cx="1368425" cy="6699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10CF314-F3CD-C569-7094-7A2FFA28A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3.8.6 </a:t>
            </a:r>
            <a:r>
              <a:rPr lang="zh-CN" altLang="en-US" sz="4800"/>
              <a:t>线序集与良序集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571910B-EFAB-EB35-1D60-158A453B4DB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16113"/>
            <a:ext cx="8532812" cy="4826000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3.8.10</a:t>
            </a:r>
            <a:r>
              <a:rPr lang="zh-CN" altLang="en-US"/>
              <a:t>在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中，若</a:t>
            </a:r>
            <a:r>
              <a:rPr lang="en-US" altLang="zh-CN"/>
              <a:t>A</a:t>
            </a:r>
            <a:r>
              <a:rPr lang="zh-CN" altLang="en-US"/>
              <a:t>是链，则称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  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zh-CN" altLang="en-US"/>
              <a:t>为</a:t>
            </a:r>
            <a:r>
              <a:rPr lang="zh-CN" altLang="en-US" b="1">
                <a:solidFill>
                  <a:schemeClr val="accent1"/>
                </a:solidFill>
              </a:rPr>
              <a:t>线序集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linear ordering set</a:t>
            </a:r>
            <a:r>
              <a:rPr lang="en-US" altLang="zh-CN"/>
              <a:t>)</a:t>
            </a:r>
            <a:r>
              <a:rPr lang="zh-CN" altLang="en-US"/>
              <a:t>或</a:t>
            </a:r>
            <a:r>
              <a:rPr lang="zh-CN" altLang="en-US" b="1">
                <a:solidFill>
                  <a:srgbClr val="FF00FF"/>
                </a:solidFill>
              </a:rPr>
              <a:t>全序集</a:t>
            </a:r>
            <a:r>
              <a:rPr lang="zh-CN" altLang="en-US"/>
              <a:t>，此时偏序关系称为</a:t>
            </a:r>
            <a:r>
              <a:rPr lang="zh-CN" altLang="en-US" b="1">
                <a:solidFill>
                  <a:schemeClr val="hlink"/>
                </a:solidFill>
              </a:rPr>
              <a:t>线序关系</a:t>
            </a:r>
            <a:r>
              <a:rPr lang="zh-CN" altLang="en-US"/>
              <a:t>或</a:t>
            </a:r>
            <a:r>
              <a:rPr lang="zh-CN" altLang="en-US" b="1">
                <a:solidFill>
                  <a:schemeClr val="accent1"/>
                </a:solidFill>
              </a:rPr>
              <a:t>全序关系</a:t>
            </a:r>
            <a:r>
              <a:rPr lang="zh-CN" altLang="en-US"/>
              <a:t>。</a:t>
            </a:r>
            <a:r>
              <a:rPr lang="zh-CN" altLang="en-US" sz="2400"/>
              <a:t>  </a:t>
            </a:r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9717402D-6D75-2136-0F03-E039EEE38A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1188" y="2692400"/>
          <a:ext cx="3524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579" imgH="177646" progId="Equation.DSMT4">
                  <p:embed/>
                </p:oleObj>
              </mc:Choice>
              <mc:Fallback>
                <p:oleObj name="Equation" r:id="rId2" imgW="139579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1188" y="2692400"/>
                        <a:ext cx="3524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>
            <a:extLst>
              <a:ext uri="{FF2B5EF4-FFF2-40B4-BE49-F238E27FC236}">
                <a16:creationId xmlns:a16="http://schemas.microsoft.com/office/drawing/2014/main" id="{0F7443A8-A649-532E-04B0-4E96FF0CC6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5700" y="2682875"/>
          <a:ext cx="3524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579" imgH="177646" progId="Equation.DSMT4">
                  <p:embed/>
                </p:oleObj>
              </mc:Choice>
              <mc:Fallback>
                <p:oleObj name="Equation" r:id="rId4" imgW="139579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2682875"/>
                        <a:ext cx="3524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4">
            <a:extLst>
              <a:ext uri="{FF2B5EF4-FFF2-40B4-BE49-F238E27FC236}">
                <a16:creationId xmlns:a16="http://schemas.microsoft.com/office/drawing/2014/main" id="{C922B801-ED34-C87C-B7B5-6C888964E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 业</a:t>
            </a:r>
          </a:p>
        </p:txBody>
      </p:sp>
      <p:sp>
        <p:nvSpPr>
          <p:cNvPr id="41987" name="内容占位符 5">
            <a:extLst>
              <a:ext uri="{FF2B5EF4-FFF2-40B4-BE49-F238E27FC236}">
                <a16:creationId xmlns:a16="http://schemas.microsoft.com/office/drawing/2014/main" id="{F80D5492-BA55-4DCA-6EB7-BCA63A018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altLang="zh-CN">
                <a:solidFill>
                  <a:srgbClr val="FF0000"/>
                </a:solidFill>
              </a:rPr>
              <a:t>P88 </a:t>
            </a:r>
            <a:r>
              <a:rPr lang="en-US" altLang="zh-CN"/>
              <a:t>  </a:t>
            </a:r>
            <a:r>
              <a:rPr lang="zh-CN" altLang="en-US"/>
              <a:t>习题</a:t>
            </a:r>
            <a:r>
              <a:rPr lang="en-US" altLang="zh-CN"/>
              <a:t>3.8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468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6">
            <a:extLst>
              <a:ext uri="{FF2B5EF4-FFF2-40B4-BE49-F238E27FC236}">
                <a16:creationId xmlns:a16="http://schemas.microsoft.com/office/drawing/2014/main" id="{5B55EF30-E5DD-2AF5-6057-F94FDF2C05C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20066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3.8</a:t>
            </a:r>
          </a:p>
          <a:p>
            <a:pPr eaLnBrk="1" hangingPunct="1"/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 （画哈斯图）</a:t>
            </a:r>
          </a:p>
        </p:txBody>
      </p:sp>
      <p:sp>
        <p:nvSpPr>
          <p:cNvPr id="40963" name="矩形: 圆角 7">
            <a:extLst>
              <a:ext uri="{FF2B5EF4-FFF2-40B4-BE49-F238E27FC236}">
                <a16:creationId xmlns:a16="http://schemas.microsoft.com/office/drawing/2014/main" id="{AA9B0365-E082-07F4-B81B-9632D131ED1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40964" name="组合 12">
            <a:extLst>
              <a:ext uri="{FF2B5EF4-FFF2-40B4-BE49-F238E27FC236}">
                <a16:creationId xmlns:a16="http://schemas.microsoft.com/office/drawing/2014/main" id="{3B96977A-21F3-E933-8983-D5B9FEBFB633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0966" name="TitleBackground">
              <a:extLst>
                <a:ext uri="{FF2B5EF4-FFF2-40B4-BE49-F238E27FC236}">
                  <a16:creationId xmlns:a16="http://schemas.microsoft.com/office/drawing/2014/main" id="{1A69FFE6-EAD3-A9FF-3B5F-26BED458D148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67" name="ColorBlock">
              <a:extLst>
                <a:ext uri="{FF2B5EF4-FFF2-40B4-BE49-F238E27FC236}">
                  <a16:creationId xmlns:a16="http://schemas.microsoft.com/office/drawing/2014/main" id="{30140710-D787-2437-3DE7-D33836C9AA37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68" name="TypeText">
              <a:extLst>
                <a:ext uri="{FF2B5EF4-FFF2-40B4-BE49-F238E27FC236}">
                  <a16:creationId xmlns:a16="http://schemas.microsoft.com/office/drawing/2014/main" id="{6670D6EB-5087-68A9-6F2A-3D246B80AC22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40969" name="TipText">
              <a:extLst>
                <a:ext uri="{FF2B5EF4-FFF2-40B4-BE49-F238E27FC236}">
                  <a16:creationId xmlns:a16="http://schemas.microsoft.com/office/drawing/2014/main" id="{18CC6BE8-00D9-7A80-9B42-BF6A39184A9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0965" name="图片 5">
            <a:extLst>
              <a:ext uri="{FF2B5EF4-FFF2-40B4-BE49-F238E27FC236}">
                <a16:creationId xmlns:a16="http://schemas.microsoft.com/office/drawing/2014/main" id="{4B926268-D7F2-9AB0-916D-6211AAA564B6}"/>
              </a:ext>
            </a:extLst>
          </p:cNvPr>
          <p:cNvPicPr>
            <a:picLocks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3861</TotalTime>
  <Words>1922</Words>
  <Application>Microsoft Office PowerPoint</Application>
  <PresentationFormat>全屏显示(4:3)</PresentationFormat>
  <Paragraphs>328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宋体</vt:lpstr>
      <vt:lpstr>Microsoft Yahei</vt:lpstr>
      <vt:lpstr>Arial</vt:lpstr>
      <vt:lpstr>Tahoma</vt:lpstr>
      <vt:lpstr>Times New Roman</vt:lpstr>
      <vt:lpstr>Wingdings</vt:lpstr>
      <vt:lpstr>Blends</vt:lpstr>
      <vt:lpstr>6_Blends</vt:lpstr>
      <vt:lpstr>Equation</vt:lpstr>
      <vt:lpstr>3.8 偏序关系 </vt:lpstr>
      <vt:lpstr>3.8.1 偏序关系的概念</vt:lpstr>
      <vt:lpstr>3.8.1 偏序关系的概念</vt:lpstr>
      <vt:lpstr>3.8.1 偏序关系的概念</vt:lpstr>
      <vt:lpstr>3.8.1 偏序关系的概念</vt:lpstr>
      <vt:lpstr>3.8.1 偏序关系的概念</vt:lpstr>
      <vt:lpstr>3.8.1 偏序关系的概念</vt:lpstr>
      <vt:lpstr>3.8.1 偏序关系的概念</vt:lpstr>
      <vt:lpstr>3.8.2 盖住关系</vt:lpstr>
      <vt:lpstr>3.8.2 盖住关系</vt:lpstr>
      <vt:lpstr>3.8.2 盖住关系 </vt:lpstr>
      <vt:lpstr>3.8.2 盖住关系</vt:lpstr>
      <vt:lpstr>3.8.2 盖住关系</vt:lpstr>
      <vt:lpstr>3.8.3 哈斯图</vt:lpstr>
      <vt:lpstr>3.8.3 哈斯图</vt:lpstr>
      <vt:lpstr>3.8.3 哈斯图</vt:lpstr>
      <vt:lpstr>3.8.3 哈斯图</vt:lpstr>
      <vt:lpstr>3.8.3 哈斯图</vt:lpstr>
      <vt:lpstr>3.8.4 最大元与极大元</vt:lpstr>
      <vt:lpstr>3.8.4 最大元与极大元</vt:lpstr>
      <vt:lpstr>3.8.4 最大元与极大元</vt:lpstr>
      <vt:lpstr>3.8.4 最大元与极大元</vt:lpstr>
      <vt:lpstr>3.8.4 最大元与极大元</vt:lpstr>
      <vt:lpstr>3.8.5 上界与下界</vt:lpstr>
      <vt:lpstr>PowerPoint 演示文稿</vt:lpstr>
      <vt:lpstr>PowerPoint 演示文稿</vt:lpstr>
      <vt:lpstr>PowerPoint 演示文稿</vt:lpstr>
      <vt:lpstr>PowerPoint 演示文稿</vt:lpstr>
      <vt:lpstr>3.8.5 上界与下界</vt:lpstr>
      <vt:lpstr>3.8.5 上界与下界</vt:lpstr>
      <vt:lpstr>3.8.5 上界与下界</vt:lpstr>
      <vt:lpstr>3.8.6 线序集与良序集</vt:lpstr>
      <vt:lpstr>3.8.6 线序集与良序集</vt:lpstr>
      <vt:lpstr>3.8.6 线序集与良序集</vt:lpstr>
      <vt:lpstr>作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83</cp:revision>
  <dcterms:created xsi:type="dcterms:W3CDTF">2010-04-09T13:44:14Z</dcterms:created>
  <dcterms:modified xsi:type="dcterms:W3CDTF">2023-12-21T07:45:31Z</dcterms:modified>
</cp:coreProperties>
</file>