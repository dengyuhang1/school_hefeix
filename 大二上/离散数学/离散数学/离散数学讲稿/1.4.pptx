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93" r:id="rId2"/>
    <p:sldId id="294" r:id="rId3"/>
    <p:sldId id="296" r:id="rId4"/>
    <p:sldId id="297" r:id="rId5"/>
    <p:sldId id="298" r:id="rId6"/>
    <p:sldId id="299" r:id="rId7"/>
    <p:sldId id="303" r:id="rId8"/>
    <p:sldId id="309" r:id="rId9"/>
    <p:sldId id="310" r:id="rId10"/>
    <p:sldId id="305" r:id="rId11"/>
    <p:sldId id="308" r:id="rId12"/>
    <p:sldId id="300" r:id="rId13"/>
    <p:sldId id="301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C0066"/>
    <a:srgbClr val="FF00FF"/>
    <a:srgbClr val="0066FF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16C0C0-C484-CEBA-5D55-EFC263EB64F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A0E2483-464E-EA39-BCA4-3EB27889A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4FBE31C-2180-4655-9A07-2895EFA23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4FF22CB0-14E6-1C3B-55BB-0D6EF7C11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505AC56E-8372-8720-CA09-340A26DCA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7613C64-EAEB-1311-BC81-FBAC6A009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A9AAED-7D5E-AB75-CAD2-C8A4082AC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sz="2800">
                    <a:solidFill>
                      <a:schemeClr val="hlink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C8D147A-FC17-E6FA-D935-80F97B4DB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A1C74749-4EA9-1E9D-0832-7CAA4220E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5CE1222F-B44C-D6A3-054D-11E2563F55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8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02764A4-E5AB-A1D0-E161-AE315F6621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6FE2742-E538-3933-EEAE-C1D17F97D0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6475FE0-9000-B24F-5AF8-CD54B5B124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E65C530-A577-48E5-943B-08A95C00E8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011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15DF95B-2ED7-F35E-B94D-7250505B4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FFFE7A2-3600-24EE-A316-AC3431F8AC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9E1D6A1-7F73-A6FF-EF99-8868311036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C9E18-7E90-45A3-97DC-58D113D96C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216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5A4314-B27F-1559-C7BC-A920A5956B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215232C-906C-9B0B-EE53-4373AE9464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8173F00-871E-3938-949E-01C9BB17E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57E90-B119-43EF-BF80-9981F39FC1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62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017CCCA-6311-75F0-003A-ECCDEB6720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D80AF3B-710D-1825-6AF6-A356ACCC84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4770E7A-9C76-8AF0-2145-962469283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A9E4C-10A6-4857-90C0-B46ACA5DC8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440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A8B3020-BBFE-840E-B97E-573289474B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12EDAC0-64C6-8799-40B1-E8CCA6E6FA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5771D3D-F9DF-74E6-7264-2B746DCA3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857B0-60FD-414C-90D2-23E9F98953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7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3D9FB319-E4BF-DC7C-5EAA-E5AC283751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E3E5F3F-98BA-7F96-94FA-8599E5F69A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AE155CB-FB80-6FEB-F032-0283FD3F0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A7012-9B3E-4A17-9E62-C53A095BC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957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80AD507E-EFCB-B4B5-6B76-65E5758F1B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0576339-B7F6-4C65-E256-B346543EB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52A288C-21BD-5356-C835-B18C6EDC53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1E9465-B108-4D77-9BD2-88DB833322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35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8AA202D-5C65-C3C6-D218-FD6B5F2D6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4277219-30FE-DA2D-A3FF-98F602D548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03B36FF-E4AE-4DF2-AC76-A5F008F300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7E7D2-D23F-417A-ADCB-FBC9A273B8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047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DAD8A12-0B34-DF77-1093-0D2245B325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0E4090A-03F6-76B1-444C-DC3145E8A1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3EDEEBE-7F12-9808-B8F0-AEA39F51AC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21BBA5-0FAD-4353-83FE-BCED01141F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104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9B2E442-F154-2B9F-5E9A-2146E81866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CFEC54D-7EEA-174E-912F-49C6A8EB2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FA5DF12-3A8E-74C9-37D5-B4A17CE3C8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A00AB-36DA-4652-A09D-59BD878CB6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7354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4DBE192-E849-B208-A64F-83CFC507F5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6929791-A9F4-3C2A-2D1C-69FF3FD028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94FD8A4-D545-9414-9D6E-9F70BCA22B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FF695-6636-4E6B-A1F4-A114BFA09D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865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684E65F-65F4-9EB3-ED8F-0AF92913D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B5194C-EC08-9F9B-A929-276E99963A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2809E4C-B1FA-3773-B60B-5431C971A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31E12-0E76-4DA6-9CB0-D69E4518F1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374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9B4A76-58B9-7F9F-B5B0-6C00BF2553A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3464C5D-2355-6B47-C180-89AAE4D7D24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910856-342E-327D-D76E-6AC4C7465F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1D1F6A-9735-C65D-305B-CE7A4D9AB2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F550C08-B2CA-01B6-74BE-B326BF10DF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BE7158D-0774-2699-C49F-FA7D639D65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19DCF61-EAF6-B03C-B177-77A97B008C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80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>
              <a:solidFill>
                <a:schemeClr val="tx1"/>
              </a:solidFill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2E7310E-2312-446B-E39F-8B08DA15E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CD15D93-1E62-95CF-F25D-F4774F723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8BECA470-C454-3412-6D07-CF3A159425D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14948835-96A0-32C3-B999-B10D2CFDD4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33AA48DD-B097-5203-A77B-07F606D798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4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3E54A70-944E-4CBD-A681-7DFF3E15D2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C46AB72-69B8-92D1-0C0D-BEEF6514E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1.4 </a:t>
            </a:r>
            <a:r>
              <a:rPr lang="zh-CN" altLang="en-US"/>
              <a:t>逻辑等价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195DFC6-8099-8D96-2231-8A3C28012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888" y="2060575"/>
            <a:ext cx="7696200" cy="468153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1.4.1 </a:t>
            </a:r>
            <a:r>
              <a:rPr lang="zh-CN" altLang="en-US" sz="4000" b="1"/>
              <a:t>等价式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1.4.2 </a:t>
            </a:r>
            <a:r>
              <a:rPr lang="zh-CN" altLang="en-US" sz="4000" b="1"/>
              <a:t>命题定律</a:t>
            </a:r>
            <a:r>
              <a:rPr lang="zh-CN" altLang="en-US" sz="4000"/>
              <a:t>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4000"/>
              <a:t>1.4.3 </a:t>
            </a:r>
            <a:r>
              <a:rPr lang="zh-CN" altLang="en-US" sz="4000" b="1"/>
              <a:t>等值演算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7">
            <a:extLst>
              <a:ext uri="{FF2B5EF4-FFF2-40B4-BE49-F238E27FC236}">
                <a16:creationId xmlns:a16="http://schemas.microsoft.com/office/drawing/2014/main" id="{B0C7597B-2D2C-0DF5-4D41-C6959084C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66FF"/>
                </a:solidFill>
              </a:rPr>
              <a:t> </a:t>
            </a:r>
            <a:r>
              <a:rPr lang="en-US" altLang="zh-CN"/>
              <a:t>1.4.1  </a:t>
            </a:r>
            <a:r>
              <a:rPr lang="zh-CN" altLang="en-US" b="1"/>
              <a:t>等价式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F38C429-624E-C420-283C-99EDC64439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281987" cy="48402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逻辑等价</a:t>
            </a:r>
            <a:r>
              <a:rPr lang="zh-CN" altLang="en-US" b="1" dirty="0"/>
              <a:t>或</a:t>
            </a:r>
            <a:r>
              <a:rPr lang="zh-CN" altLang="en-US" dirty="0">
                <a:solidFill>
                  <a:srgbClr val="0066FF"/>
                </a:solidFill>
              </a:rPr>
              <a:t>等价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66FF"/>
                </a:solidFill>
              </a:rPr>
              <a:t>equivalence</a:t>
            </a:r>
            <a:r>
              <a:rPr lang="en-US" altLang="zh-CN" dirty="0"/>
              <a:t>)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P→Q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rgbClr val="FF00FF"/>
                </a:solidFill>
              </a:rPr>
              <a:t>P∨Q</a:t>
            </a:r>
            <a:r>
              <a:rPr lang="en-US" altLang="zh-CN" dirty="0"/>
              <a:t>       P→Q 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 ┐P∨Q</a:t>
            </a:r>
            <a:r>
              <a:rPr lang="en-US" altLang="zh-CN" sz="2800" dirty="0"/>
              <a:t> </a:t>
            </a:r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94375" name="Group 167">
            <a:extLst>
              <a:ext uri="{FF2B5EF4-FFF2-40B4-BE49-F238E27FC236}">
                <a16:creationId xmlns:a16="http://schemas.microsoft.com/office/drawing/2014/main" id="{15F19E16-F86C-DA82-1E47-F4513DE2288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331913" y="3736975"/>
          <a:ext cx="5400675" cy="2895600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┐P∨Q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B1794CD-E489-08F8-89A8-8A7832A14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 </a:t>
            </a:r>
            <a:r>
              <a:rPr lang="en-US" altLang="zh-CN"/>
              <a:t>1.4.2  </a:t>
            </a:r>
            <a:r>
              <a:rPr lang="zh-CN" altLang="en-US" b="1"/>
              <a:t>命题定律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3426E3-A794-63BF-3594-EDA2125BA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b="1">
                <a:solidFill>
                  <a:schemeClr val="hlink"/>
                </a:solidFill>
              </a:rPr>
              <a:t>对合律</a:t>
            </a:r>
            <a:r>
              <a:rPr lang="zh-CN" altLang="en-US"/>
              <a:t> ┐┐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        E</a:t>
            </a:r>
            <a:r>
              <a:rPr lang="en-US" altLang="zh-CN" baseline="-25000"/>
              <a:t>1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b="1">
                <a:solidFill>
                  <a:schemeClr val="accent1"/>
                </a:solidFill>
              </a:rPr>
              <a:t>幂等律</a:t>
            </a:r>
            <a:r>
              <a:rPr lang="zh-CN" altLang="en-US"/>
              <a:t>   </a:t>
            </a:r>
            <a:r>
              <a:rPr lang="en-US" altLang="zh-CN"/>
              <a:t>P∧P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        E</a:t>
            </a:r>
            <a:r>
              <a:rPr lang="en-US" altLang="zh-CN" baseline="-25000"/>
              <a:t>2</a:t>
            </a:r>
            <a:endParaRPr lang="en-US" altLang="zh-CN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P∨P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       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b="1">
                <a:solidFill>
                  <a:srgbClr val="FF00FF"/>
                </a:solidFill>
              </a:rPr>
              <a:t>结合律</a:t>
            </a:r>
            <a:r>
              <a:rPr lang="zh-CN" altLang="en-US"/>
              <a:t> </a:t>
            </a:r>
            <a:r>
              <a:rPr lang="en-US" altLang="zh-CN"/>
              <a:t>(P∧Q)∧R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P∧(Q∧R)      E</a:t>
            </a:r>
            <a:r>
              <a:rPr lang="en-US" altLang="zh-CN" baseline="-25000"/>
              <a:t>3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(P∨Q)∨R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P∨(Q∨R)    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b="1">
                <a:solidFill>
                  <a:srgbClr val="339933"/>
                </a:solidFill>
              </a:rPr>
              <a:t>交换律</a:t>
            </a:r>
            <a:r>
              <a:rPr lang="zh-CN" altLang="en-US"/>
              <a:t> </a:t>
            </a:r>
            <a:r>
              <a:rPr lang="en-US" altLang="zh-CN"/>
              <a:t>P∧Q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Q∧P                     E</a:t>
            </a:r>
            <a:r>
              <a:rPr lang="en-US" altLang="zh-CN" baseline="-25000"/>
              <a:t>4</a:t>
            </a:r>
            <a:endParaRPr lang="en-US" altLang="zh-CN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P∨Q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Q∨P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8DA51A2-5255-23CF-AD77-DE240E9D6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1.4.2  </a:t>
            </a:r>
            <a:r>
              <a:rPr lang="zh-CN" altLang="en-US" b="1"/>
              <a:t>命题定律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D89B184-CF68-CA57-7B48-081C57FA1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FF"/>
                </a:solidFill>
              </a:rPr>
              <a:t>分配律</a:t>
            </a:r>
            <a:r>
              <a:rPr lang="zh-CN" altLang="en-US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P∧(Q∨R)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(P∧Q)∨(P∧R)      E</a:t>
            </a:r>
            <a:r>
              <a:rPr lang="en-US" altLang="zh-CN" baseline="-25000"/>
              <a:t>5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P∨(Q∧R)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(P∨Q)∧(P∨R)      </a:t>
            </a:r>
            <a:endParaRPr lang="en-US" altLang="zh-CN" baseline="-25000"/>
          </a:p>
          <a:p>
            <a:pPr eaLnBrk="1" hangingPunct="1"/>
            <a:r>
              <a:rPr lang="zh-CN" altLang="en-US" b="1">
                <a:solidFill>
                  <a:schemeClr val="accent1"/>
                </a:solidFill>
              </a:rPr>
              <a:t>吸收律</a:t>
            </a:r>
            <a:r>
              <a:rPr lang="zh-CN" altLang="en-US"/>
              <a:t> </a:t>
            </a:r>
            <a:r>
              <a:rPr lang="en-US" altLang="zh-CN"/>
              <a:t>P∧(P∨Q)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E</a:t>
            </a:r>
            <a:r>
              <a:rPr lang="en-US" altLang="zh-CN" baseline="-25000"/>
              <a:t>6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        P∨(P∧Q)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</a:t>
            </a:r>
          </a:p>
          <a:p>
            <a:pPr eaLnBrk="1" hangingPunct="1"/>
            <a:r>
              <a:rPr lang="zh-CN" altLang="en-US" b="1">
                <a:solidFill>
                  <a:schemeClr val="hlink"/>
                </a:solidFill>
              </a:rPr>
              <a:t>德</a:t>
            </a:r>
            <a:r>
              <a:rPr lang="en-US" altLang="zh-CN" b="1">
                <a:solidFill>
                  <a:schemeClr val="hlink"/>
                </a:solidFill>
                <a:latin typeface="Arial" panose="020B0604020202020204" pitchFamily="34" charset="0"/>
              </a:rPr>
              <a:t>·</a:t>
            </a:r>
            <a:r>
              <a:rPr lang="zh-CN" altLang="en-US" b="1">
                <a:solidFill>
                  <a:schemeClr val="hlink"/>
                </a:solidFill>
              </a:rPr>
              <a:t>摩根律</a:t>
            </a:r>
            <a:r>
              <a:rPr lang="zh-CN" altLang="en-US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┐</a:t>
            </a:r>
            <a:r>
              <a:rPr lang="en-US" altLang="zh-CN"/>
              <a:t>(P∧Q)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┐P∨┐Q                 E</a:t>
            </a:r>
            <a:r>
              <a:rPr lang="en-US" altLang="zh-CN" baseline="-25000"/>
              <a:t>7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┐(P∨Q)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┐P∧┐Q                 </a:t>
            </a:r>
            <a:endParaRPr lang="en-US" altLang="zh-CN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D5E665-0FC2-C4B8-DCAA-8CE16BAA7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1.4.2  </a:t>
            </a:r>
            <a:r>
              <a:rPr lang="zh-CN" altLang="en-US" b="1"/>
              <a:t>命题定律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9DE0C88-7B0F-87CF-B064-914F6266A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84028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00FF"/>
                </a:solidFill>
              </a:rPr>
              <a:t>同一律</a:t>
            </a:r>
            <a:r>
              <a:rPr lang="zh-CN" altLang="en-US" dirty="0"/>
              <a:t> </a:t>
            </a:r>
            <a:r>
              <a:rPr lang="en-US" altLang="zh-CN" dirty="0"/>
              <a:t>P∧1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P               E</a:t>
            </a:r>
            <a:r>
              <a:rPr lang="en-US" altLang="zh-CN" baseline="-25000" dirty="0"/>
              <a:t>8</a:t>
            </a:r>
            <a:endParaRPr lang="en-US" altLang="zh-CN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P∨0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P              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零 律</a:t>
            </a:r>
            <a:r>
              <a:rPr lang="zh-CN" altLang="en-US" dirty="0"/>
              <a:t>   </a:t>
            </a:r>
            <a:r>
              <a:rPr lang="en-US" altLang="zh-CN" dirty="0"/>
              <a:t>P∧0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0               E</a:t>
            </a:r>
            <a:r>
              <a:rPr lang="en-US" altLang="zh-CN" baseline="-25000" dirty="0"/>
              <a:t>9</a:t>
            </a:r>
            <a:endParaRPr lang="en-US" altLang="zh-CN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P∨1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1              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0066"/>
                </a:solidFill>
              </a:rPr>
              <a:t>否定律</a:t>
            </a:r>
            <a:r>
              <a:rPr lang="zh-CN" altLang="en-US" dirty="0"/>
              <a:t> </a:t>
            </a:r>
            <a:r>
              <a:rPr lang="en-US" altLang="zh-CN" dirty="0"/>
              <a:t>P∧┐P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0             E</a:t>
            </a:r>
            <a:r>
              <a:rPr lang="en-US" altLang="zh-CN" baseline="-25000" dirty="0"/>
              <a:t>10</a:t>
            </a:r>
            <a:endParaRPr lang="en-US" altLang="zh-CN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P∨┐P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1             </a:t>
            </a:r>
            <a:endParaRPr lang="en-US" altLang="zh-CN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F424953-85D7-11BF-8FFB-1439243E5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1.4.2  </a:t>
            </a:r>
            <a:r>
              <a:rPr lang="zh-CN" altLang="en-US" b="1"/>
              <a:t>命题定律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C0E0EFA-D813-515B-AEE3-78BA609B0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343900" cy="5084762"/>
          </a:xfrm>
        </p:spPr>
        <p:txBody>
          <a:bodyPr/>
          <a:lstStyle/>
          <a:p>
            <a:pPr eaLnBrk="1" hangingPunct="1">
              <a:lnSpc>
                <a:spcPts val="4200"/>
              </a:lnSpc>
            </a:pPr>
            <a:r>
              <a:rPr lang="en-US" altLang="zh-CN" dirty="0">
                <a:solidFill>
                  <a:schemeClr val="hlink"/>
                </a:solidFill>
              </a:rPr>
              <a:t>P</a:t>
            </a:r>
            <a:r>
              <a:rPr lang="en-US" altLang="zh-CN" dirty="0"/>
              <a:t>→Q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┐</a:t>
            </a:r>
            <a:r>
              <a:rPr lang="en-US" altLang="zh-CN" dirty="0">
                <a:solidFill>
                  <a:schemeClr val="hlink"/>
                </a:solidFill>
              </a:rPr>
              <a:t>P</a:t>
            </a:r>
            <a:r>
              <a:rPr lang="en-US" altLang="zh-CN" dirty="0"/>
              <a:t>∨Q                        E</a:t>
            </a:r>
            <a:r>
              <a:rPr lang="en-US" altLang="zh-CN" baseline="-25000" dirty="0"/>
              <a:t>11</a:t>
            </a:r>
            <a:endParaRPr lang="en-US" altLang="zh-CN" dirty="0"/>
          </a:p>
          <a:p>
            <a:pPr eaLnBrk="1" hangingPunct="1">
              <a:lnSpc>
                <a:spcPts val="4200"/>
              </a:lnSpc>
            </a:pPr>
            <a:r>
              <a:rPr lang="en-US" altLang="zh-CN" dirty="0"/>
              <a:t>P↔Q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(P→Q)∧(Q→P)            E</a:t>
            </a:r>
            <a:r>
              <a:rPr lang="en-US" altLang="zh-CN" baseline="-25000" dirty="0"/>
              <a:t>12</a:t>
            </a:r>
            <a:endParaRPr lang="en-US" altLang="zh-CN" dirty="0"/>
          </a:p>
          <a:p>
            <a:pPr eaLnBrk="1" hangingPunct="1">
              <a:lnSpc>
                <a:spcPts val="4200"/>
              </a:lnSpc>
            </a:pPr>
            <a:r>
              <a:rPr lang="en-US" altLang="zh-CN" dirty="0"/>
              <a:t>P↔Q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(P</a:t>
            </a:r>
            <a:r>
              <a:rPr lang="en-US" altLang="zh-CN" dirty="0">
                <a:solidFill>
                  <a:schemeClr val="accent1"/>
                </a:solidFill>
              </a:rPr>
              <a:t>∧</a:t>
            </a:r>
            <a:r>
              <a:rPr lang="en-US" altLang="zh-CN" dirty="0"/>
              <a:t>Q)∨(┐P</a:t>
            </a:r>
            <a:r>
              <a:rPr lang="en-US" altLang="zh-CN" dirty="0">
                <a:solidFill>
                  <a:schemeClr val="accent1"/>
                </a:solidFill>
              </a:rPr>
              <a:t>∧</a:t>
            </a:r>
            <a:r>
              <a:rPr lang="en-US" altLang="zh-CN" dirty="0"/>
              <a:t>┐Q)      E</a:t>
            </a:r>
            <a:r>
              <a:rPr lang="en-US" altLang="zh-CN" baseline="-25000" dirty="0"/>
              <a:t>13</a:t>
            </a:r>
          </a:p>
          <a:p>
            <a:pPr eaLnBrk="1" hangingPunct="1">
              <a:lnSpc>
                <a:spcPts val="4200"/>
              </a:lnSpc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P↔Q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(┐P</a:t>
            </a:r>
            <a:r>
              <a:rPr lang="en-US" altLang="zh-CN" dirty="0">
                <a:solidFill>
                  <a:srgbClr val="FF0000"/>
                </a:solidFill>
              </a:rPr>
              <a:t>∨</a:t>
            </a:r>
            <a:r>
              <a:rPr lang="en-US" altLang="zh-CN" dirty="0">
                <a:solidFill>
                  <a:srgbClr val="000000"/>
                </a:solidFill>
              </a:rPr>
              <a:t>Q)∧(P</a:t>
            </a:r>
            <a:r>
              <a:rPr lang="en-US" altLang="zh-CN" dirty="0">
                <a:solidFill>
                  <a:srgbClr val="FF0000"/>
                </a:solidFill>
              </a:rPr>
              <a:t>∨</a:t>
            </a:r>
            <a:r>
              <a:rPr lang="en-US" altLang="zh-CN" dirty="0">
                <a:solidFill>
                  <a:srgbClr val="000000"/>
                </a:solidFill>
              </a:rPr>
              <a:t>┐Q)      E</a:t>
            </a:r>
            <a:r>
              <a:rPr lang="en-US" altLang="zh-CN" baseline="-25000" dirty="0">
                <a:solidFill>
                  <a:srgbClr val="000000"/>
                </a:solidFill>
              </a:rPr>
              <a:t>14</a:t>
            </a:r>
            <a:endParaRPr lang="en-US" altLang="zh-CN" baseline="-25000" dirty="0"/>
          </a:p>
          <a:p>
            <a:pPr eaLnBrk="1" hangingPunct="1">
              <a:lnSpc>
                <a:spcPts val="4200"/>
              </a:lnSpc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P→Q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┐Q→┐P                     E</a:t>
            </a:r>
            <a:r>
              <a:rPr lang="en-US" altLang="zh-CN" baseline="-25000" dirty="0">
                <a:solidFill>
                  <a:srgbClr val="000000"/>
                </a:solidFill>
              </a:rPr>
              <a:t>15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ts val="4200"/>
              </a:lnSpc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P↔Q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┐Q↔┐P                     E</a:t>
            </a:r>
            <a:r>
              <a:rPr lang="en-US" altLang="zh-CN" baseline="-25000" dirty="0">
                <a:solidFill>
                  <a:srgbClr val="000000"/>
                </a:solidFill>
              </a:rPr>
              <a:t>16</a:t>
            </a:r>
            <a:endParaRPr lang="en-US" altLang="zh-CN" dirty="0"/>
          </a:p>
          <a:p>
            <a:pPr eaLnBrk="1" hangingPunct="1">
              <a:lnSpc>
                <a:spcPts val="4200"/>
              </a:lnSpc>
            </a:pPr>
            <a:r>
              <a:rPr lang="en-US" altLang="zh-CN" dirty="0">
                <a:solidFill>
                  <a:srgbClr val="CC0066"/>
                </a:solidFill>
              </a:rPr>
              <a:t>P</a:t>
            </a:r>
            <a:r>
              <a:rPr lang="en-US" altLang="zh-CN" dirty="0"/>
              <a:t>→(</a:t>
            </a:r>
            <a:r>
              <a:rPr lang="en-US" altLang="zh-CN" dirty="0">
                <a:solidFill>
                  <a:srgbClr val="CC0066"/>
                </a:solidFill>
              </a:rPr>
              <a:t>Q</a:t>
            </a:r>
            <a:r>
              <a:rPr lang="en-US" altLang="zh-CN" dirty="0"/>
              <a:t>→R)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CC99"/>
                </a:solidFill>
              </a:rPr>
              <a:t>Q</a:t>
            </a:r>
            <a:r>
              <a:rPr lang="en-US" altLang="zh-CN" dirty="0"/>
              <a:t>→(</a:t>
            </a:r>
            <a:r>
              <a:rPr lang="en-US" altLang="zh-CN" dirty="0">
                <a:solidFill>
                  <a:srgbClr val="00CC99"/>
                </a:solidFill>
              </a:rPr>
              <a:t>P</a:t>
            </a:r>
            <a:r>
              <a:rPr lang="en-US" altLang="zh-CN" dirty="0"/>
              <a:t>→R)            E</a:t>
            </a:r>
            <a:r>
              <a:rPr lang="en-US" altLang="zh-CN" baseline="-25000" dirty="0"/>
              <a:t>17</a:t>
            </a:r>
            <a:endParaRPr lang="en-US" altLang="zh-CN" dirty="0"/>
          </a:p>
          <a:p>
            <a:pPr eaLnBrk="1" hangingPunct="1">
              <a:lnSpc>
                <a:spcPts val="4200"/>
              </a:lnSpc>
            </a:pPr>
            <a:r>
              <a:rPr lang="en-US" altLang="zh-CN" dirty="0">
                <a:solidFill>
                  <a:srgbClr val="00CC99"/>
                </a:solidFill>
              </a:rPr>
              <a:t>P</a:t>
            </a:r>
            <a:r>
              <a:rPr lang="en-US" altLang="zh-CN" dirty="0"/>
              <a:t>→(</a:t>
            </a:r>
            <a:r>
              <a:rPr lang="en-US" altLang="zh-CN" dirty="0">
                <a:solidFill>
                  <a:srgbClr val="00CC99"/>
                </a:solidFill>
              </a:rPr>
              <a:t>Q</a:t>
            </a:r>
            <a:r>
              <a:rPr lang="en-US" altLang="zh-CN" dirty="0"/>
              <a:t>→R)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C0066"/>
                </a:solidFill>
              </a:rPr>
              <a:t>P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CC0066"/>
                </a:solidFill>
              </a:rPr>
              <a:t>Q</a:t>
            </a:r>
            <a:r>
              <a:rPr lang="en-US" altLang="zh-CN" dirty="0"/>
              <a:t>)→R            E</a:t>
            </a:r>
            <a:r>
              <a:rPr lang="en-US" altLang="zh-CN" baseline="-25000" dirty="0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0AC3090-C27B-7E00-AACB-6010EF2B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1.4.3  </a:t>
            </a:r>
            <a:r>
              <a:rPr lang="zh-CN" altLang="en-US" b="1"/>
              <a:t>等值演算</a:t>
            </a:r>
            <a:endParaRPr lang="zh-CN" altLang="zh-CN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C23C9BB-C890-BD34-D490-D7AB71EB7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53425" cy="4840287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1.4.1</a:t>
            </a:r>
            <a:r>
              <a:rPr lang="en-US" altLang="zh-CN" dirty="0"/>
              <a:t> </a:t>
            </a:r>
            <a:r>
              <a:rPr lang="zh-CN" altLang="en-US" dirty="0"/>
              <a:t>化简</a:t>
            </a:r>
            <a:r>
              <a:rPr lang="en-US" altLang="zh-CN" dirty="0"/>
              <a:t>((A→B)↔(┐B→┐A))∧C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(A→B)↔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dirty="0"/>
              <a:t>┐B→┐A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∧C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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(A→B)↔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dirty="0"/>
              <a:t>A→B</a:t>
            </a:r>
            <a:r>
              <a:rPr lang="en-US" altLang="zh-CN" dirty="0">
                <a:solidFill>
                  <a:srgbClr val="FF00FF"/>
                </a:solidFill>
              </a:rPr>
              <a:t>)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∧C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1</a:t>
            </a:r>
            <a:r>
              <a:rPr lang="en-US" altLang="zh-CN" dirty="0"/>
              <a:t>∧C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C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99DA7BE-84CE-69C7-BF52-93ACE9136A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79016"/>
            <a:ext cx="7315200" cy="156986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A∨(┐A∨(B∧┐B))</a:t>
            </a:r>
            <a:r>
              <a:rPr lang="zh-CN" altLang="en-US" sz="2800" dirty="0">
                <a:solidFill>
                  <a:schemeClr val="tx1"/>
                </a:solidFill>
              </a:rPr>
              <a:t>等价于（   ）</a:t>
            </a:r>
            <a:endParaRPr lang="zh-CN" altLang="en-US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DFA726-DCA9-EE2F-DDE2-3465282FDC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FEBAE3-C0C1-0FEA-50F4-BB96A292E6E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5962CB-577F-CB46-AA49-863AB995156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99A7E5-4D66-6F1D-BAAC-7A5AD98464B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3275B4E-A852-49A4-D81C-83801AEE962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2D99AA9-2229-7147-E55E-FEDE66C3BBA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078A4E9-7538-531A-2245-11FB15AC828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E410C9B-1F51-A974-D004-966BE812EF9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7CED1A8-1832-DEC0-98BD-C95182049AF4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270F3CD-88C9-DA49-DA55-23D59381820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3D87705-2DE8-6592-03AA-467CF191259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8C29E3A-26F1-14E4-CAE9-9BB26D36906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8E37BCF-A72D-059E-9DB7-1C82063E540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1E75EFF-AB76-E7DD-0B53-E5F09A0DCFF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D16ED4E-4BBF-86DC-55FA-F1EB15F0728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812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59E4BDA-DF96-005C-0825-131A0F4D9C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85393" y="535781"/>
            <a:ext cx="5804419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  (P∧Q∧┐P)-&gt;R</a:t>
            </a:r>
            <a:r>
              <a:rPr lang="zh-CN" altLang="en-US" sz="2400" dirty="0">
                <a:solidFill>
                  <a:schemeClr val="tx1"/>
                </a:solidFill>
              </a:rPr>
              <a:t>等价于（ 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2670CC-C10B-5767-2DAB-3B9B5D636B9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C4CFF0-426C-CB9D-FB23-6CD5B1ADE90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823E6B-8220-C653-A2D3-A208C93C744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80880D-F1B6-E723-0626-8E187303AB6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E0363AF-7794-36AF-1F3F-0950968F633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3D5E17E-A4A7-F26F-B5F5-AF62D0499B7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C085CA2-1F74-4F72-E8EC-71E92345CBE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FC42DBC-58FF-1E0E-3762-2A816050BCF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CAAE25B-B2EF-C2A8-EB6A-B6C7ADBAAA8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C031508-98DD-64DE-E3AF-40456EC63B8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D0FCAAE-A143-C844-6D1E-2EC8D6232E0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C471CD4-5926-FE31-437D-7323C623391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tabLst/>
              </a:pPr>
              <a:endParaRPr kumimoji="0" lang="zh-CN" altLang="en-US" sz="28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62A4D398-5776-7B8F-104D-A6111AD02CC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4CD9A4D-64D0-D14B-87CC-6D3723A6F7A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F63DF79-D189-BC64-8515-D9B9E1A927C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649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3FF1BE5-532D-AA09-BA97-AD4913748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1.4.3  </a:t>
            </a:r>
            <a:r>
              <a:rPr lang="zh-CN" altLang="en-US" b="1"/>
              <a:t>等值演算</a:t>
            </a:r>
            <a:endParaRPr lang="zh-CN" altLang="zh-CN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AE9323F-6414-2CFE-C118-A3DA4A0AF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1.4.3</a:t>
            </a:r>
            <a:r>
              <a:rPr lang="en-US" altLang="zh-CN" dirty="0"/>
              <a:t> </a:t>
            </a:r>
            <a:r>
              <a:rPr lang="zh-CN" altLang="en-US" dirty="0"/>
              <a:t>化简</a:t>
            </a:r>
            <a:r>
              <a:rPr lang="en-US" altLang="zh-CN" dirty="0"/>
              <a:t>(A∧B∧C)∨(┐A∧B∧C)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A∧</a:t>
            </a:r>
            <a:r>
              <a:rPr lang="en-US" altLang="zh-CN" dirty="0">
                <a:solidFill>
                  <a:srgbClr val="CC0066"/>
                </a:solidFill>
              </a:rPr>
              <a:t>B∧C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en-US" altLang="zh-CN" dirty="0"/>
              <a:t>┐A∧</a:t>
            </a:r>
            <a:r>
              <a:rPr lang="en-US" altLang="zh-CN" dirty="0">
                <a:solidFill>
                  <a:srgbClr val="CC0066"/>
                </a:solidFill>
              </a:rPr>
              <a:t>B∧C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 (</a:t>
            </a:r>
            <a:r>
              <a:rPr lang="en-US" altLang="zh-CN" dirty="0">
                <a:solidFill>
                  <a:srgbClr val="CC0066"/>
                </a:solidFill>
              </a:rPr>
              <a:t>B∧C</a:t>
            </a:r>
            <a:r>
              <a:rPr lang="en-US" altLang="zh-CN" dirty="0"/>
              <a:t>)∧(A∨┐A)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 (</a:t>
            </a:r>
            <a:r>
              <a:rPr lang="en-US" altLang="zh-CN" dirty="0">
                <a:solidFill>
                  <a:srgbClr val="CC0066"/>
                </a:solidFill>
              </a:rPr>
              <a:t>B∧C</a:t>
            </a:r>
            <a:r>
              <a:rPr lang="en-US" altLang="zh-CN" dirty="0"/>
              <a:t>)∧1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 </a:t>
            </a:r>
            <a:r>
              <a:rPr lang="en-US" altLang="zh-CN" dirty="0">
                <a:solidFill>
                  <a:srgbClr val="CC0066"/>
                </a:solidFill>
              </a:rPr>
              <a:t>B∧C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4567FF8-EB30-7013-A263-D9223CED8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1.4.3  </a:t>
            </a:r>
            <a:r>
              <a:rPr lang="zh-CN" altLang="en-US" b="1"/>
              <a:t>等值演算</a:t>
            </a:r>
            <a:endParaRPr lang="zh-CN" altLang="zh-CN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26A41EC-DB74-3AAC-7873-F7FDD4898AF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1188" y="2492375"/>
            <a:ext cx="3744912" cy="43656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证一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chemeClr val="accent1"/>
                </a:solidFill>
              </a:rPr>
              <a:t>右式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 eaLnBrk="1" hangingPunct="1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</a:t>
            </a:r>
            <a:r>
              <a:rPr lang="en-US" altLang="zh-CN" sz="3200" kern="1200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sz="3200" kern="1200" dirty="0">
                <a:solidFill>
                  <a:srgbClr val="000000"/>
                </a:solidFill>
              </a:rPr>
              <a:t>┐A→(A→┐B)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</a:t>
            </a:r>
            <a:r>
              <a:rPr lang="en-US" altLang="zh-CN" dirty="0"/>
              <a:t>A→(┐A→┐B)</a:t>
            </a:r>
            <a:r>
              <a:rPr lang="en-US" altLang="zh-CN" dirty="0">
                <a:sym typeface="Symbol" pitchFamily="18" charset="2"/>
              </a:rPr>
              <a:t> 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</a:t>
            </a:r>
            <a:r>
              <a:rPr lang="en-US" altLang="zh-CN" dirty="0"/>
              <a:t>A→(B→A)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</a:t>
            </a:r>
            <a:r>
              <a:rPr lang="zh-CN" altLang="en-US" dirty="0">
                <a:solidFill>
                  <a:schemeClr val="accent1"/>
                </a:solidFill>
                <a:sym typeface="Symbol" pitchFamily="18" charset="2"/>
              </a:rPr>
              <a:t>左式</a:t>
            </a: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60000"/>
              </a:lnSpc>
              <a:defRPr/>
            </a:pPr>
            <a:endParaRPr lang="en-US" altLang="zh-CN" dirty="0">
              <a:sym typeface="Symbol" pitchFamily="18" charset="2"/>
            </a:endParaRP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4871EE-3D1D-05A6-81FF-DB7D17D78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8400" y="2492375"/>
            <a:ext cx="5435600" cy="43656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证二</a:t>
            </a:r>
            <a:r>
              <a:rPr lang="zh-CN" altLang="en-US" dirty="0">
                <a:solidFill>
                  <a:srgbClr val="00E4A8"/>
                </a:solidFill>
                <a:sym typeface="Symbol" pitchFamily="18" charset="2"/>
              </a:rPr>
              <a:t>右式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┐┐A∨(┐A∨┐B)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  </a:t>
            </a:r>
          </a:p>
          <a:p>
            <a:pPr marL="0" indent="0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                </a:t>
            </a:r>
            <a:r>
              <a:rPr lang="en-US" altLang="zh-CN" dirty="0">
                <a:solidFill>
                  <a:srgbClr val="000000"/>
                </a:solidFill>
              </a:rPr>
              <a:t>A∨(┐A∨┐B)</a:t>
            </a:r>
          </a:p>
          <a:p>
            <a:pPr marL="0" indent="0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                (</a:t>
            </a:r>
            <a:r>
              <a:rPr lang="en-US" altLang="zh-CN" dirty="0">
                <a:solidFill>
                  <a:srgbClr val="000000"/>
                </a:solidFill>
              </a:rPr>
              <a:t>A∨┐A)∨┐B</a:t>
            </a:r>
          </a:p>
          <a:p>
            <a:pPr marL="0" indent="0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                1</a:t>
            </a:r>
            <a:r>
              <a:rPr lang="en-US" altLang="zh-CN" dirty="0">
                <a:solidFill>
                  <a:srgbClr val="000000"/>
                </a:solidFill>
              </a:rPr>
              <a:t>∨┐B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1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accent1"/>
                </a:solidFill>
              </a:rPr>
              <a:t>         左式</a:t>
            </a:r>
            <a:r>
              <a:rPr lang="en-US" altLang="zh-CN" dirty="0">
                <a:sym typeface="Symbol" pitchFamily="18" charset="2"/>
              </a:rPr>
              <a:t>B</a:t>
            </a:r>
            <a:r>
              <a:rPr lang="en-US" altLang="zh-CN" dirty="0"/>
              <a:t>→(A→A)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           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→1</a:t>
            </a:r>
            <a:r>
              <a:rPr lang="en-US" altLang="zh-CN" dirty="0">
                <a:sym typeface="Symbol" pitchFamily="18" charset="2"/>
              </a:rPr>
              <a:t>1      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   </a:t>
            </a:r>
            <a:endParaRPr lang="zh-CN" altLang="en-US" dirty="0"/>
          </a:p>
        </p:txBody>
      </p:sp>
      <p:sp>
        <p:nvSpPr>
          <p:cNvPr id="12293" name="矩形 3">
            <a:extLst>
              <a:ext uri="{FF2B5EF4-FFF2-40B4-BE49-F238E27FC236}">
                <a16:creationId xmlns:a16="http://schemas.microsoft.com/office/drawing/2014/main" id="{8DA22DCD-6F3A-86A3-1582-05CC0DF5E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844675"/>
            <a:ext cx="8172450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1.4.4 </a:t>
            </a:r>
            <a:r>
              <a:rPr lang="zh-CN" altLang="en-US"/>
              <a:t>证明</a:t>
            </a:r>
            <a:r>
              <a:rPr lang="en-US" altLang="zh-CN"/>
              <a:t>A→(B→A)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┐A→(A→┐B)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F00A680-9E81-93E8-776A-57B4C3C42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1.4.3  </a:t>
            </a:r>
            <a:r>
              <a:rPr lang="zh-CN" altLang="en-US" b="1"/>
              <a:t>等值演算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A617983-9534-68E2-7AEE-A5621F931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2017713"/>
            <a:ext cx="8316912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1.4.5</a:t>
            </a:r>
            <a:r>
              <a:rPr lang="zh-CN" altLang="en-US" dirty="0"/>
              <a:t>等值演算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((A∧B∧C)→D)∧(C→(A∨B∨D)) </a:t>
            </a: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(C∧(A↔B))→D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(A∧B∧C)</a:t>
            </a:r>
            <a:r>
              <a:rPr lang="en-US" altLang="zh-CN" dirty="0">
                <a:solidFill>
                  <a:srgbClr val="CC0066"/>
                </a:solidFill>
              </a:rPr>
              <a:t>→</a:t>
            </a:r>
            <a:r>
              <a:rPr lang="en-US" altLang="zh-CN" dirty="0"/>
              <a:t>D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C</a:t>
            </a:r>
            <a:r>
              <a:rPr lang="en-US" altLang="zh-CN" dirty="0">
                <a:solidFill>
                  <a:srgbClr val="CC0066"/>
                </a:solidFill>
              </a:rPr>
              <a:t>→</a:t>
            </a:r>
            <a:r>
              <a:rPr lang="en-US" altLang="zh-CN" dirty="0"/>
              <a:t>(A∨B∨D)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>
                <a:solidFill>
                  <a:srgbClr val="CC0066"/>
                </a:solidFill>
              </a:rPr>
              <a:t>┐</a:t>
            </a:r>
            <a:r>
              <a:rPr lang="en-US" altLang="zh-CN" dirty="0"/>
              <a:t>(A∧B∧C)</a:t>
            </a:r>
            <a:r>
              <a:rPr lang="en-US" altLang="zh-CN" dirty="0">
                <a:solidFill>
                  <a:srgbClr val="CC0066"/>
                </a:solidFill>
              </a:rPr>
              <a:t>∨</a:t>
            </a:r>
            <a:r>
              <a:rPr lang="en-US" altLang="zh-CN" dirty="0"/>
              <a:t>D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>
                <a:solidFill>
                  <a:srgbClr val="CC0066"/>
                </a:solidFill>
              </a:rPr>
              <a:t>┐</a:t>
            </a:r>
            <a:r>
              <a:rPr lang="en-US" altLang="zh-CN" dirty="0"/>
              <a:t>C</a:t>
            </a:r>
            <a:r>
              <a:rPr lang="en-US" altLang="zh-CN" dirty="0">
                <a:solidFill>
                  <a:srgbClr val="CC0066"/>
                </a:solidFill>
              </a:rPr>
              <a:t>∨</a:t>
            </a:r>
            <a:r>
              <a:rPr lang="en-US" altLang="zh-CN" dirty="0"/>
              <a:t>(A∨B∨D)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┐A∨┐B∨</a:t>
            </a:r>
            <a:r>
              <a:rPr lang="en-US" altLang="zh-CN" dirty="0">
                <a:solidFill>
                  <a:schemeClr val="hlink"/>
                </a:solidFill>
              </a:rPr>
              <a:t>┐C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chemeClr val="hlink"/>
                </a:solidFill>
              </a:rPr>
              <a:t>D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∧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>
                <a:solidFill>
                  <a:schemeClr val="hlink"/>
                </a:solidFill>
              </a:rPr>
              <a:t>┐C</a:t>
            </a:r>
            <a:r>
              <a:rPr lang="en-US" altLang="zh-CN" dirty="0"/>
              <a:t>∨A∨B∨</a:t>
            </a:r>
            <a:r>
              <a:rPr lang="en-US" altLang="zh-CN" dirty="0">
                <a:solidFill>
                  <a:schemeClr val="hlink"/>
                </a:solidFill>
              </a:rPr>
              <a:t>D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FF"/>
                </a:solidFill>
              </a:rPr>
              <a:t>(┐C∨D)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dirty="0"/>
              <a:t>(┐A∨┐B)∧(A∨B )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en-US" altLang="zh-CN" sz="2800" dirty="0"/>
              <a:t>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</a:t>
            </a:r>
            <a:r>
              <a:rPr lang="en-US" altLang="zh-CN" dirty="0">
                <a:solidFill>
                  <a:srgbClr val="339933"/>
                </a:solidFill>
              </a:rPr>
              <a:t>A↔B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(A∧B)∨(┐A∧┐B)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200" dirty="0"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13316" name="Oval 8">
            <a:extLst>
              <a:ext uri="{FF2B5EF4-FFF2-40B4-BE49-F238E27FC236}">
                <a16:creationId xmlns:a16="http://schemas.microsoft.com/office/drawing/2014/main" id="{C7CF87AA-4ECE-23BE-8C19-0A1269723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5949950"/>
            <a:ext cx="6048375" cy="769938"/>
          </a:xfrm>
          <a:prstGeom prst="ellipse">
            <a:avLst/>
          </a:prstGeom>
          <a:noFill/>
          <a:ln w="25400" algn="ctr">
            <a:solidFill>
              <a:srgbClr val="FF99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BD55B01-376D-73EF-134D-9EFBA12C7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1.4.3  </a:t>
            </a:r>
            <a:r>
              <a:rPr lang="zh-CN" altLang="en-US" b="1"/>
              <a:t>等值演算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190BB27-606E-08B0-4EE1-3241F3C90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916113"/>
            <a:ext cx="7912100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FF"/>
                </a:solidFill>
              </a:rPr>
              <a:t>(┐C∨D)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(┐A∨┐B)∧(A∨B )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  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FF"/>
                </a:solidFill>
              </a:rPr>
              <a:t>(┐C∨D)</a:t>
            </a:r>
            <a:r>
              <a:rPr lang="en-US" altLang="zh-CN" dirty="0"/>
              <a:t>∨</a:t>
            </a:r>
            <a:r>
              <a:rPr lang="en-US" altLang="zh-CN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(A∧B)∨(┐A∧┐B )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FF"/>
                </a:solidFill>
              </a:rPr>
              <a:t>(┐C∨D)</a:t>
            </a:r>
            <a:r>
              <a:rPr lang="en-US" altLang="zh-CN" dirty="0"/>
              <a:t>∨┐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A↔B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┐C∨D∨┐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A↔B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             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(┐C∨┐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A↔B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)∨D               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┐(C∧(A↔B))∨D                  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(C∧(A↔B))→D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1493</TotalTime>
  <Words>947</Words>
  <Application>Microsoft Office PowerPoint</Application>
  <PresentationFormat>全屏显示(4:3)</PresentationFormat>
  <Paragraphs>130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Tahoma</vt:lpstr>
      <vt:lpstr>Wingdings</vt:lpstr>
      <vt:lpstr>Blends</vt:lpstr>
      <vt:lpstr> 1.4 逻辑等价 </vt:lpstr>
      <vt:lpstr> 1.4.1  等价式</vt:lpstr>
      <vt:lpstr> 1.4.2  命题定律</vt:lpstr>
      <vt:lpstr>1.4.2  命题定律</vt:lpstr>
      <vt:lpstr>1.4.2  命题定律</vt:lpstr>
      <vt:lpstr>1.4.2  命题定律</vt:lpstr>
      <vt:lpstr>1.4.3  等值演算</vt:lpstr>
      <vt:lpstr>PowerPoint 演示文稿</vt:lpstr>
      <vt:lpstr>PowerPoint 演示文稿</vt:lpstr>
      <vt:lpstr>1.4.3  等值演算</vt:lpstr>
      <vt:lpstr>1.4.3  等值演算</vt:lpstr>
      <vt:lpstr> 1.4.3  等值演算</vt:lpstr>
      <vt:lpstr>1.4.3  等值演算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58</cp:revision>
  <dcterms:created xsi:type="dcterms:W3CDTF">2010-04-09T13:44:14Z</dcterms:created>
  <dcterms:modified xsi:type="dcterms:W3CDTF">2023-12-21T07:41:37Z</dcterms:modified>
</cp:coreProperties>
</file>