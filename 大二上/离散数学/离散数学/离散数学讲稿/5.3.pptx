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4" r:id="rId2"/>
    <p:sldId id="305" r:id="rId3"/>
    <p:sldId id="331" r:id="rId4"/>
    <p:sldId id="307" r:id="rId5"/>
    <p:sldId id="333" r:id="rId6"/>
    <p:sldId id="337" r:id="rId7"/>
    <p:sldId id="335" r:id="rId8"/>
    <p:sldId id="339" r:id="rId9"/>
    <p:sldId id="309" r:id="rId10"/>
    <p:sldId id="310" r:id="rId11"/>
    <p:sldId id="344" r:id="rId12"/>
    <p:sldId id="311" r:id="rId13"/>
    <p:sldId id="342" r:id="rId14"/>
    <p:sldId id="312" r:id="rId15"/>
    <p:sldId id="341" r:id="rId16"/>
    <p:sldId id="313" r:id="rId17"/>
    <p:sldId id="314" r:id="rId18"/>
    <p:sldId id="315" r:id="rId19"/>
    <p:sldId id="316" r:id="rId20"/>
    <p:sldId id="317" r:id="rId21"/>
    <p:sldId id="318" r:id="rId22"/>
    <p:sldId id="347" r:id="rId23"/>
    <p:sldId id="322" r:id="rId24"/>
    <p:sldId id="320" r:id="rId25"/>
    <p:sldId id="321" r:id="rId26"/>
    <p:sldId id="323" r:id="rId27"/>
    <p:sldId id="324" r:id="rId28"/>
    <p:sldId id="325" r:id="rId29"/>
    <p:sldId id="326" r:id="rId30"/>
    <p:sldId id="348" r:id="rId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FF"/>
    <a:srgbClr val="CC0066"/>
    <a:srgbClr val="339933"/>
    <a:srgbClr val="FF0066"/>
    <a:srgbClr val="0000FF"/>
    <a:srgbClr val="00808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8ED125-9177-0CEE-25AA-E9670C99B46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170554E-36C5-AF49-61E8-5FEEEDF090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574AA3A-0028-BA99-0AE8-C1330FA4B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FF4E08F-EFCC-5FA4-B713-EB7890378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90D4D9C-C6CB-E415-40AD-CF007A847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7BCF7EF-9679-FD75-B766-17F0B4B1B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B3B78CB-55EB-BDAB-F35C-22AD83053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FF6C4CE2-C47C-1747-8389-6C37CF3F3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7940113-EDF9-AEBB-BF4E-565EB69DD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018907F-8FC3-21AA-0C85-C891A16C46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65FFC00-2EE9-C6D1-6C2E-779FD39FB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B7FF044-B58B-05B8-4B35-3917010D6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F6A74DE-2422-4BE9-5112-74F2C778F7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709A098-9BC3-4118-8CA7-A53B87EC96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280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543CFDF-D61B-087C-5F03-2E675570FA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A145820-5B80-BEC3-E578-97AEBEDBF5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3B2E0F-6CF3-4E8F-6042-1958C8772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21249-A1B7-4FC9-B7C4-ADFC6E20E4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939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84D21BC-AAA7-0B96-B0A2-3AF5FA0B23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5C03BBD-2C7A-D68F-5274-BCA02E5BB5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4B7B976-E758-FADC-AD72-989D51BF6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6863C-1A66-4927-ACA6-3FE707EBC8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4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3D6457F-7747-FA8F-AECA-95FE82BECA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2D4BCB-FAA5-4CA5-8162-07F4C9F141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1E730DE-4E46-772C-C684-D1F3EDCC98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16178-66E3-4C89-B8A3-AEAC243F4F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509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DCFA54A-6119-D116-EDA7-F58BBC6A4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546A0C8-29D4-02C8-FE20-D29BAC8E0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E60092D-CE6D-E3CF-E58B-E3A164781B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4B9C9-A39C-4EDD-83F6-3977E55C24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942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19E7D65-AF8A-6E92-BD7B-6B48FA59B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BFD58B6-8E15-A284-5829-81A00EEDC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937FA15-A48F-232C-66E9-35E3F801A8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62782-0860-44D0-AAB0-81F890E93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4320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0109BBE-1D8D-E4F6-97EA-76E8524A7E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5134968-56A9-3B8B-50E9-9C591F846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2211BFF-38AF-E722-E26E-63868A5B0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DEF65-012D-46FA-BB67-93877F2F7C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922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301ED95-4DD9-E556-1FF9-9979CC7C7D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1C6943C-8B06-FF4E-07D7-84DC286CF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7E3B7E7-F8B3-1A0B-DBDD-A1E5DBC4C2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FBF4A-398C-43F7-A3B4-2124BC0128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1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9A41997-1066-7025-88E0-8DBD4000E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DE7846C-33FD-ABBC-F526-8A30453AC2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2E696C6-7A21-2DB7-EDAF-1E5E92207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AA829-DDFD-49FD-B24C-4C80922E7D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7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1DC652D-D799-8BCB-19AC-6F23FB1C92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1BDE4C1-CF92-76A6-6564-A6E0CB7D59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39E29E4-324A-1757-CE90-5CE346FAC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DCF3A-F743-460A-BF79-7C3B3D9C21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367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82741E4-6326-3993-B01D-1863480051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DF1CA64-9755-4251-89E7-EF6AB71AE6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0E1B51-B213-1914-04B2-DD128DC640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D8BA9-F635-48DB-A35E-0308366299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210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2C4ADD1-5174-959E-3B00-733CB43397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7B1E83B-9622-2CDD-C5A5-BE5F47BA6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03FE8B6-1A58-5851-C091-E412D6CD80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E189A-BC02-4CA5-B0D9-F25A375AFF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870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058497A-5104-60B7-A6A4-8A223B20C4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39E9E50-E3BE-41E9-D7A4-3965D8577C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84C9BA4-2F2B-7519-4FEE-F39CFB966B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FF8D5-822B-4CEA-A203-D0CA0040CE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6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2F598E-19B7-9DE4-D35A-D07B2812435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FDEF39-EDCC-E78C-2120-3059C286AA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E3D448-CEE9-D46B-36C7-013F329CAE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F2F7FC-4DA7-8323-729D-A6BC8266EC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F75BC5F-7C24-25D8-F1FD-98765A13E5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53A10F7-3179-49BB-D844-A41C785B87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2A58986-FEDC-423B-8515-D1F4A09557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3954184-2F09-4CC5-11A3-FFF56A161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A0CA04B3-D38F-235B-3BD4-DC9472AAF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D7D5956-D08A-F791-438C-C39CF743F8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D6A2D80-3E81-A491-EE21-410ABB65AA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73DC5A0-1189-D16F-AE08-08D29E97FA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32CEAE7C-D609-48FF-98A4-A33DBA9066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10.wmf"/><Relationship Id="rId7" Type="http://schemas.openxmlformats.org/officeDocument/2006/relationships/oleObject" Target="../embeddings/oleObject23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10.wmf"/><Relationship Id="rId7" Type="http://schemas.openxmlformats.org/officeDocument/2006/relationships/oleObject" Target="../embeddings/oleObject23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2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5F281A6-901A-10E6-3272-487898304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5.3 </a:t>
            </a:r>
            <a:r>
              <a:rPr lang="zh-CN" altLang="en-US"/>
              <a:t>群的基本概念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0648690-A6B5-2692-577A-07826D104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sz="4000" dirty="0"/>
              <a:t>5.3.1 </a:t>
            </a:r>
            <a:r>
              <a:rPr lang="zh-CN" altLang="en-US" sz="4000" dirty="0"/>
              <a:t>群的定义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4000" dirty="0"/>
              <a:t>5.3.2 </a:t>
            </a:r>
            <a:r>
              <a:rPr lang="zh-CN" altLang="en-US" sz="4000" dirty="0"/>
              <a:t>群的性质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sz="4000" dirty="0"/>
              <a:t>5.3.3</a:t>
            </a:r>
            <a:r>
              <a:rPr lang="zh-CN" altLang="en-US" sz="4000" dirty="0"/>
              <a:t>元素的阶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A2398A-D164-62C0-C489-988D663CB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A60D958-84D3-925A-6A74-8306E22C4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FF0000"/>
                </a:solidFill>
              </a:rPr>
              <a:t>                    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是独异点</a:t>
            </a:r>
            <a:endParaRPr lang="en-US" altLang="zh-CN"/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   </a:t>
            </a:r>
            <a:r>
              <a:rPr lang="zh-CN" altLang="en-US">
                <a:solidFill>
                  <a:schemeClr val="accent1"/>
                </a:solidFill>
              </a:rPr>
              <a:t>任意</a:t>
            </a:r>
            <a:r>
              <a:rPr lang="en-US" altLang="zh-CN"/>
              <a:t>a∈A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都有逆元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endParaRPr lang="zh-CN" altLang="en-US"/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       无限群</a:t>
            </a:r>
            <a:r>
              <a:rPr lang="en-US" altLang="zh-CN"/>
              <a:t>     A</a:t>
            </a:r>
            <a:r>
              <a:rPr lang="zh-CN" altLang="en-US"/>
              <a:t>是无限集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 有限群</a:t>
            </a:r>
            <a:r>
              <a:rPr lang="en-US" altLang="zh-CN"/>
              <a:t>     A</a:t>
            </a:r>
            <a:r>
              <a:rPr lang="zh-CN" altLang="en-US"/>
              <a:t>是有限集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有限群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阶</a:t>
            </a:r>
            <a:r>
              <a:rPr lang="en-US" altLang="zh-CN"/>
              <a:t>      A</a:t>
            </a:r>
            <a:r>
              <a:rPr lang="zh-CN" altLang="en-US"/>
              <a:t>中元素的个数</a:t>
            </a:r>
          </a:p>
        </p:txBody>
      </p:sp>
      <p:sp>
        <p:nvSpPr>
          <p:cNvPr id="4100" name="Text Box 8">
            <a:extLst>
              <a:ext uri="{FF2B5EF4-FFF2-40B4-BE49-F238E27FC236}">
                <a16:creationId xmlns:a16="http://schemas.microsoft.com/office/drawing/2014/main" id="{A679E2F3-F153-9174-FA45-32EA10282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2636838"/>
            <a:ext cx="17875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rgbClr val="CC0066"/>
                </a:solidFill>
              </a:rPr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endParaRPr lang="zh-CN" altLang="en-US">
              <a:solidFill>
                <a:srgbClr val="CC0066"/>
              </a:solidFill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CAF164B1-F410-7C32-72A0-0A3A28BB8D9A}"/>
              </a:ext>
            </a:extLst>
          </p:cNvPr>
          <p:cNvSpPr/>
          <p:nvPr/>
        </p:nvSpPr>
        <p:spPr>
          <a:xfrm>
            <a:off x="2843213" y="2514600"/>
            <a:ext cx="155575" cy="9144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DE43595-AC4A-FFFE-4024-AE19A65CEAD7}"/>
              </a:ext>
            </a:extLst>
          </p:cNvPr>
          <p:cNvCxnSpPr/>
          <p:nvPr/>
        </p:nvCxnSpPr>
        <p:spPr>
          <a:xfrm>
            <a:off x="1476375" y="3221038"/>
            <a:ext cx="401638" cy="8556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051D0BB-20C1-3A3E-36CC-CCA97445918D}"/>
              </a:ext>
            </a:extLst>
          </p:cNvPr>
          <p:cNvCxnSpPr/>
          <p:nvPr/>
        </p:nvCxnSpPr>
        <p:spPr>
          <a:xfrm>
            <a:off x="1476375" y="3221038"/>
            <a:ext cx="0" cy="17922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138B66-E912-6557-B7B7-1A11B95B5176}"/>
              </a:ext>
            </a:extLst>
          </p:cNvPr>
          <p:cNvCxnSpPr/>
          <p:nvPr/>
        </p:nvCxnSpPr>
        <p:spPr>
          <a:xfrm>
            <a:off x="1878013" y="5589588"/>
            <a:ext cx="749300" cy="431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413FE21-D707-F7C7-3985-90A76AF42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9D37E3-1ED2-0982-250C-FE734806F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代数系统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en-US"/>
              <a:t>＊</a:t>
            </a:r>
            <a:r>
              <a:rPr lang="zh-CN" altLang="en-US">
                <a:latin typeface="宋体" panose="02010600030101010101" pitchFamily="2" charset="-122"/>
              </a:rPr>
              <a:t>结合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en-US"/>
              <a:t>＊</a:t>
            </a:r>
            <a:r>
              <a:rPr lang="zh-CN" altLang="en-US">
                <a:latin typeface="宋体" panose="02010600030101010101" pitchFamily="2" charset="-122"/>
              </a:rPr>
              <a:t>幺元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任意</a:t>
            </a:r>
            <a:r>
              <a:rPr lang="en-US" altLang="zh-CN"/>
              <a:t>a∈A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a</a:t>
            </a:r>
            <a:r>
              <a:rPr lang="zh-CN" altLang="en-US"/>
              <a:t>都</a:t>
            </a:r>
            <a:r>
              <a:rPr lang="zh-CN" altLang="en-US">
                <a:latin typeface="宋体" panose="02010600030101010101" pitchFamily="2" charset="-122"/>
              </a:rPr>
              <a:t>有逆元</a:t>
            </a:r>
          </a:p>
        </p:txBody>
      </p:sp>
      <p:sp>
        <p:nvSpPr>
          <p:cNvPr id="5124" name="Text Box 7">
            <a:extLst>
              <a:ext uri="{FF2B5EF4-FFF2-40B4-BE49-F238E27FC236}">
                <a16:creationId xmlns:a16="http://schemas.microsoft.com/office/drawing/2014/main" id="{F97A5C79-1E61-29D8-6D38-BF84135AE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7813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FF"/>
                </a:solidFill>
              </a:rPr>
              <a:t>半群</a:t>
            </a:r>
          </a:p>
        </p:txBody>
      </p:sp>
      <p:sp>
        <p:nvSpPr>
          <p:cNvPr id="5125" name="Text Box 8">
            <a:extLst>
              <a:ext uri="{FF2B5EF4-FFF2-40B4-BE49-F238E27FC236}">
                <a16:creationId xmlns:a16="http://schemas.microsoft.com/office/drawing/2014/main" id="{73C8BBAF-601D-1B94-89E8-1C74F960A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425825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CC0066"/>
                </a:solidFill>
              </a:rPr>
              <a:t>独异点</a:t>
            </a:r>
          </a:p>
        </p:txBody>
      </p:sp>
      <p:sp>
        <p:nvSpPr>
          <p:cNvPr id="5126" name="Text Box 9">
            <a:extLst>
              <a:ext uri="{FF2B5EF4-FFF2-40B4-BE49-F238E27FC236}">
                <a16:creationId xmlns:a16="http://schemas.microsoft.com/office/drawing/2014/main" id="{D699F8D8-C889-C232-CAA5-B5F5ADC3E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00208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accent1"/>
                </a:solidFill>
              </a:rPr>
              <a:t>群</a:t>
            </a:r>
          </a:p>
        </p:txBody>
      </p:sp>
      <p:sp>
        <p:nvSpPr>
          <p:cNvPr id="5127" name="Text Box 10">
            <a:extLst>
              <a:ext uri="{FF2B5EF4-FFF2-40B4-BE49-F238E27FC236}">
                <a16:creationId xmlns:a16="http://schemas.microsoft.com/office/drawing/2014/main" id="{A5B932B7-A133-6A88-3CFC-CBAE547C0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786188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有限群</a:t>
            </a:r>
          </a:p>
        </p:txBody>
      </p:sp>
      <p:sp>
        <p:nvSpPr>
          <p:cNvPr id="5128" name="Text Box 11">
            <a:extLst>
              <a:ext uri="{FF2B5EF4-FFF2-40B4-BE49-F238E27FC236}">
                <a16:creationId xmlns:a16="http://schemas.microsoft.com/office/drawing/2014/main" id="{7E517325-9895-03B7-65F8-1090155CA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362450"/>
            <a:ext cx="1403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无限群</a:t>
            </a:r>
          </a:p>
        </p:txBody>
      </p:sp>
      <p:sp>
        <p:nvSpPr>
          <p:cNvPr id="5129" name="AutoShape 31">
            <a:extLst>
              <a:ext uri="{FF2B5EF4-FFF2-40B4-BE49-F238E27FC236}">
                <a16:creationId xmlns:a16="http://schemas.microsoft.com/office/drawing/2014/main" id="{89AC02C4-6F97-221B-D01A-D96CB4D0C00E}"/>
              </a:ext>
            </a:extLst>
          </p:cNvPr>
          <p:cNvSpPr>
            <a:spLocks/>
          </p:cNvSpPr>
          <p:nvPr/>
        </p:nvSpPr>
        <p:spPr bwMode="auto">
          <a:xfrm>
            <a:off x="3419475" y="3235325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30" name="AutoShape 32">
            <a:extLst>
              <a:ext uri="{FF2B5EF4-FFF2-40B4-BE49-F238E27FC236}">
                <a16:creationId xmlns:a16="http://schemas.microsoft.com/office/drawing/2014/main" id="{00643509-ABF3-429B-769A-7DB0FB142EEE}"/>
              </a:ext>
            </a:extLst>
          </p:cNvPr>
          <p:cNvSpPr>
            <a:spLocks/>
          </p:cNvSpPr>
          <p:nvPr/>
        </p:nvSpPr>
        <p:spPr bwMode="auto">
          <a:xfrm>
            <a:off x="5076825" y="38100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31" name="Text Box 33">
            <a:extLst>
              <a:ext uri="{FF2B5EF4-FFF2-40B4-BE49-F238E27FC236}">
                <a16:creationId xmlns:a16="http://schemas.microsoft.com/office/drawing/2014/main" id="{9F2BFAE4-4E62-AA75-BC53-999A8EA28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2478088"/>
            <a:ext cx="2279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0066FF"/>
                </a:solidFill>
              </a:rPr>
              <a:t>子</a:t>
            </a:r>
            <a:r>
              <a:rPr lang="zh-CN" altLang="en-US" sz="2800"/>
              <a:t>半群</a:t>
            </a:r>
            <a:r>
              <a:rPr lang="en-US" altLang="zh-CN" sz="2800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B,</a:t>
            </a:r>
            <a:r>
              <a:rPr lang="en-US" altLang="en-US" sz="2800"/>
              <a:t>＊</a:t>
            </a:r>
            <a:r>
              <a:rPr lang="en-US" altLang="zh-CN" sz="2800">
                <a:latin typeface="宋体" panose="02010600030101010101" pitchFamily="2" charset="-122"/>
              </a:rPr>
              <a:t>&gt;</a:t>
            </a:r>
          </a:p>
        </p:txBody>
      </p:sp>
      <p:sp>
        <p:nvSpPr>
          <p:cNvPr id="5132" name="Text Box 34">
            <a:extLst>
              <a:ext uri="{FF2B5EF4-FFF2-40B4-BE49-F238E27FC236}">
                <a16:creationId xmlns:a16="http://schemas.microsoft.com/office/drawing/2014/main" id="{1BE6173E-F998-308F-3AC0-3143C32C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663" y="5805488"/>
            <a:ext cx="21732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accent1"/>
                </a:solidFill>
              </a:rPr>
              <a:t>子</a:t>
            </a:r>
            <a:r>
              <a:rPr lang="zh-CN" altLang="en-US"/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B,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</a:p>
        </p:txBody>
      </p:sp>
      <p:sp>
        <p:nvSpPr>
          <p:cNvPr id="5133" name="Text Box 35">
            <a:extLst>
              <a:ext uri="{FF2B5EF4-FFF2-40B4-BE49-F238E27FC236}">
                <a16:creationId xmlns:a16="http://schemas.microsoft.com/office/drawing/2014/main" id="{1DD8DA71-5843-8CC0-A590-421DA9C78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5513388"/>
            <a:ext cx="31067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B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的非空子集</a:t>
            </a:r>
          </a:p>
        </p:txBody>
      </p:sp>
      <p:sp>
        <p:nvSpPr>
          <p:cNvPr id="5134" name="Text Box 36">
            <a:extLst>
              <a:ext uri="{FF2B5EF4-FFF2-40B4-BE49-F238E27FC236}">
                <a16:creationId xmlns:a16="http://schemas.microsoft.com/office/drawing/2014/main" id="{427D1F2B-D234-D2C7-C9DF-2CB5E871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175" y="6089650"/>
            <a:ext cx="2173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B,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是群</a:t>
            </a:r>
          </a:p>
        </p:txBody>
      </p:sp>
      <p:sp>
        <p:nvSpPr>
          <p:cNvPr id="5135" name="AutoShape 37">
            <a:extLst>
              <a:ext uri="{FF2B5EF4-FFF2-40B4-BE49-F238E27FC236}">
                <a16:creationId xmlns:a16="http://schemas.microsoft.com/office/drawing/2014/main" id="{BB5ED64F-03A1-A2AF-485A-C8EA2B5C18D1}"/>
              </a:ext>
            </a:extLst>
          </p:cNvPr>
          <p:cNvSpPr>
            <a:spLocks/>
          </p:cNvSpPr>
          <p:nvPr/>
        </p:nvSpPr>
        <p:spPr bwMode="auto">
          <a:xfrm>
            <a:off x="4779963" y="5700713"/>
            <a:ext cx="152400" cy="823912"/>
          </a:xfrm>
          <a:prstGeom prst="rightBrace">
            <a:avLst>
              <a:gd name="adj1" fmla="val 45052"/>
              <a:gd name="adj2" fmla="val 50000"/>
            </a:avLst>
          </a:prstGeom>
          <a:noFill/>
          <a:ln w="254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36" name="Line 38">
            <a:extLst>
              <a:ext uri="{FF2B5EF4-FFF2-40B4-BE49-F238E27FC236}">
                <a16:creationId xmlns:a16="http://schemas.microsoft.com/office/drawing/2014/main" id="{A1A60F83-E823-2F67-D12E-B65BF3853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4724400"/>
            <a:ext cx="0" cy="1008063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7" name="Text Box 39">
            <a:extLst>
              <a:ext uri="{FF2B5EF4-FFF2-40B4-BE49-F238E27FC236}">
                <a16:creationId xmlns:a16="http://schemas.microsoft.com/office/drawing/2014/main" id="{1864AC06-CAEF-9D80-5A7A-E99C9402B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2205038"/>
            <a:ext cx="2811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 </a:t>
            </a:r>
            <a:r>
              <a:rPr lang="en-US" altLang="zh-CN" sz="2800"/>
              <a:t>B</a:t>
            </a:r>
            <a:r>
              <a:rPr lang="zh-CN" altLang="en-US" sz="2800"/>
              <a:t>是</a:t>
            </a:r>
            <a:r>
              <a:rPr lang="en-US" altLang="zh-CN" sz="2800"/>
              <a:t>A</a:t>
            </a:r>
            <a:r>
              <a:rPr lang="zh-CN" altLang="en-US" sz="2800"/>
              <a:t>的非空子集</a:t>
            </a:r>
          </a:p>
        </p:txBody>
      </p:sp>
      <p:sp>
        <p:nvSpPr>
          <p:cNvPr id="5138" name="Text Box 40">
            <a:extLst>
              <a:ext uri="{FF2B5EF4-FFF2-40B4-BE49-F238E27FC236}">
                <a16:creationId xmlns:a16="http://schemas.microsoft.com/office/drawing/2014/main" id="{A008391F-09AB-FCFD-49A4-46234A26D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8" y="2765425"/>
            <a:ext cx="2279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B,</a:t>
            </a:r>
            <a:r>
              <a:rPr lang="en-US" altLang="en-US" sz="2800"/>
              <a:t>＊</a:t>
            </a:r>
            <a:r>
              <a:rPr lang="en-US" altLang="zh-CN" sz="2800">
                <a:latin typeface="宋体" panose="02010600030101010101" pitchFamily="2" charset="-122"/>
              </a:rPr>
              <a:t>&gt;</a:t>
            </a:r>
            <a:r>
              <a:rPr lang="zh-CN" altLang="en-US" sz="2800"/>
              <a:t>是半群</a:t>
            </a:r>
          </a:p>
        </p:txBody>
      </p:sp>
      <p:sp>
        <p:nvSpPr>
          <p:cNvPr id="5139" name="AutoShape 41">
            <a:extLst>
              <a:ext uri="{FF2B5EF4-FFF2-40B4-BE49-F238E27FC236}">
                <a16:creationId xmlns:a16="http://schemas.microsoft.com/office/drawing/2014/main" id="{0AAF4754-66E2-C277-C2FC-7718648CE4A2}"/>
              </a:ext>
            </a:extLst>
          </p:cNvPr>
          <p:cNvSpPr>
            <a:spLocks/>
          </p:cNvSpPr>
          <p:nvPr/>
        </p:nvSpPr>
        <p:spPr bwMode="auto">
          <a:xfrm>
            <a:off x="6075363" y="2420938"/>
            <a:ext cx="152400" cy="641350"/>
          </a:xfrm>
          <a:prstGeom prst="leftBrace">
            <a:avLst>
              <a:gd name="adj1" fmla="val 35069"/>
              <a:gd name="adj2" fmla="val 50000"/>
            </a:avLst>
          </a:prstGeom>
          <a:noFill/>
          <a:ln w="254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40" name="Line 43">
            <a:extLst>
              <a:ext uri="{FF2B5EF4-FFF2-40B4-BE49-F238E27FC236}">
                <a16:creationId xmlns:a16="http://schemas.microsoft.com/office/drawing/2014/main" id="{3F3A7E1B-6F55-1E8B-6FA8-BDC6C923B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5963" y="4076700"/>
            <a:ext cx="504825" cy="2159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1" name="Line 44">
            <a:extLst>
              <a:ext uri="{FF2B5EF4-FFF2-40B4-BE49-F238E27FC236}">
                <a16:creationId xmlns:a16="http://schemas.microsoft.com/office/drawing/2014/main" id="{9B14B9DC-2660-719F-41C2-DDBA7B353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4365625"/>
            <a:ext cx="431800" cy="28733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FDB5E66-5474-781B-F6FE-49F6E85789DF}"/>
              </a:ext>
            </a:extLst>
          </p:cNvPr>
          <p:cNvCxnSpPr/>
          <p:nvPr/>
        </p:nvCxnSpPr>
        <p:spPr>
          <a:xfrm flipV="1">
            <a:off x="3419475" y="2744788"/>
            <a:ext cx="374650" cy="3175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3E54700C-EB9D-B9EC-1797-B0D5B9622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578BE6C-7BF8-FA10-925B-3E02039847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整数加群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Z,</a:t>
            </a:r>
            <a:r>
              <a:rPr lang="zh-CN" altLang="en-US" dirty="0"/>
              <a:t>＋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其中</a:t>
            </a:r>
            <a:r>
              <a:rPr lang="en-US" altLang="zh-CN" dirty="0"/>
              <a:t>Z</a:t>
            </a:r>
            <a:r>
              <a:rPr lang="zh-CN" altLang="en-US" dirty="0"/>
              <a:t>整数集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zh-CN" altLang="en-US" dirty="0"/>
              <a:t>＋整数加运算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R,</a:t>
            </a:r>
            <a:r>
              <a:rPr lang="zh-CN" altLang="en-US" dirty="0"/>
              <a:t>＋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其中</a:t>
            </a:r>
            <a:r>
              <a:rPr lang="en-US" altLang="zh-CN" dirty="0"/>
              <a:t>R</a:t>
            </a:r>
            <a:r>
              <a:rPr lang="zh-CN" altLang="en-US" dirty="0"/>
              <a:t>实数集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zh-CN" altLang="en-US" dirty="0"/>
              <a:t>＋实数加运算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R</a:t>
            </a:r>
            <a:r>
              <a:rPr lang="zh-CN" altLang="en-US" dirty="0"/>
              <a:t>－</a:t>
            </a:r>
            <a:r>
              <a:rPr lang="en-US" altLang="zh-CN" dirty="0"/>
              <a:t>{0},×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其中</a:t>
            </a:r>
            <a:r>
              <a:rPr lang="en-US" altLang="zh-CN" dirty="0"/>
              <a:t>R</a:t>
            </a:r>
            <a:r>
              <a:rPr lang="zh-CN" altLang="en-US" dirty="0"/>
              <a:t>实数集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en-US" altLang="zh-CN" dirty="0"/>
              <a:t>×</a:t>
            </a:r>
            <a:r>
              <a:rPr lang="zh-CN" altLang="en-US" dirty="0"/>
              <a:t>实数乘运算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B88FB3F-3521-25C7-5663-BAB3B0BFEC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20000"/>
              </a:lnSpc>
              <a:tabLst>
                <a:tab pos="6184900" algn="l"/>
              </a:tabLst>
            </a:pPr>
            <a:r>
              <a:rPr lang="zh-CN" altLang="en-US">
                <a:solidFill>
                  <a:srgbClr val="FF0000"/>
                </a:solidFill>
              </a:rPr>
              <a:t>模</a:t>
            </a:r>
            <a:r>
              <a:rPr lang="en-US" altLang="zh-CN">
                <a:solidFill>
                  <a:srgbClr val="FF0000"/>
                </a:solidFill>
              </a:rPr>
              <a:t>6</a:t>
            </a:r>
            <a:r>
              <a:rPr lang="zh-CN" altLang="en-US">
                <a:solidFill>
                  <a:srgbClr val="FF0000"/>
                </a:solidFill>
              </a:rPr>
              <a:t>剩余类加</a:t>
            </a:r>
            <a:r>
              <a:rPr lang="zh-CN" altLang="en-US">
                <a:solidFill>
                  <a:schemeClr val="accent1"/>
                </a:solidFill>
              </a:rPr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Z</a:t>
            </a:r>
            <a:r>
              <a:rPr lang="en-US" altLang="zh-CN" baseline="-25000"/>
              <a:t>6</a:t>
            </a:r>
            <a:r>
              <a:rPr lang="en-US" altLang="zh-CN"/>
              <a:t>,</a:t>
            </a:r>
            <a:r>
              <a:rPr lang="zh-CN" altLang="en-US"/>
              <a:t>＋</a:t>
            </a:r>
            <a:r>
              <a:rPr lang="en-US" altLang="zh-CN" baseline="-25000"/>
              <a:t>6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endParaRPr lang="zh-CN" altLang="en-US"/>
          </a:p>
          <a:p>
            <a:pPr defTabSz="901700" eaLnBrk="1" hangingPunct="1">
              <a:tabLst>
                <a:tab pos="6184900" algn="l"/>
              </a:tabLst>
            </a:pPr>
            <a:endParaRPr lang="zh-CN" altLang="en-US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61821" name="Group 29">
            <a:extLst>
              <a:ext uri="{FF2B5EF4-FFF2-40B4-BE49-F238E27FC236}">
                <a16:creationId xmlns:a16="http://schemas.microsoft.com/office/drawing/2014/main" id="{C7074653-91B8-B206-38DB-0B0E00573EC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116013" y="2565400"/>
          <a:ext cx="6480175" cy="41529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[3]   [4]   [5]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[4]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[5]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[0]   [1]   [2]   [3]   [4]   [5]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[1]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[2]   [3]   [4]   [5]   [0]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[2]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[3]   [4]   [5]   [0]   [1]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[3]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[4]   [5]   [0]   [1]   [2]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[4]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[5]   [0]   [1]   [2]   [3]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[5]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[0]   [1]   [2]   [3]   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78" name="Rectangle 18">
            <a:extLst>
              <a:ext uri="{FF2B5EF4-FFF2-40B4-BE49-F238E27FC236}">
                <a16:creationId xmlns:a16="http://schemas.microsoft.com/office/drawing/2014/main" id="{69144180-9AC0-B73B-4A53-5596B3749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8EF20DF-144F-8E46-90B7-6F5730B3D5C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44675"/>
            <a:ext cx="8820150" cy="5013325"/>
          </a:xfrm>
        </p:spPr>
        <p:txBody>
          <a:bodyPr/>
          <a:lstStyle/>
          <a:p>
            <a:pPr defTabSz="901700" eaLnBrk="1" hangingPunct="1">
              <a:lnSpc>
                <a:spcPct val="147000"/>
              </a:lnSpc>
              <a:tabLst>
                <a:tab pos="6184900" algn="l"/>
              </a:tabLst>
              <a:defRPr/>
            </a:pPr>
            <a:r>
              <a:rPr lang="zh-CN" altLang="en-US" dirty="0">
                <a:solidFill>
                  <a:srgbClr val="FF0000"/>
                </a:solidFill>
              </a:rPr>
              <a:t>设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N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zh-CN" altLang="en-US" dirty="0"/>
              <a:t>＋</a:t>
            </a:r>
            <a:r>
              <a:rPr lang="en-US" altLang="zh-CN" baseline="-25000" dirty="0"/>
              <a:t>6</a:t>
            </a:r>
            <a:r>
              <a:rPr lang="en-US" altLang="zh-CN" dirty="0">
                <a:latin typeface="宋体" charset="-122"/>
              </a:rPr>
              <a:t>&gt;,</a:t>
            </a:r>
            <a:r>
              <a:rPr lang="zh-CN" altLang="en-US" dirty="0">
                <a:latin typeface="宋体" charset="-122"/>
              </a:rPr>
              <a:t>其中</a:t>
            </a:r>
            <a:endParaRPr lang="zh-CN" altLang="en-US" dirty="0"/>
          </a:p>
          <a:p>
            <a:pPr marL="0" indent="0" defTabSz="901700" eaLnBrk="1" hangingPunct="1">
              <a:lnSpc>
                <a:spcPct val="147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r>
              <a:rPr lang="zh-CN" altLang="en-US" dirty="0">
                <a:solidFill>
                  <a:schemeClr val="hlink"/>
                </a:solidFill>
              </a:rPr>
              <a:t>   </a:t>
            </a:r>
            <a:r>
              <a:rPr lang="en-US" altLang="zh-CN" dirty="0"/>
              <a:t>N</a:t>
            </a:r>
            <a:r>
              <a:rPr lang="en-US" altLang="zh-CN" baseline="-25000" dirty="0"/>
              <a:t>6</a:t>
            </a:r>
            <a:r>
              <a:rPr lang="zh-CN" altLang="en-US" dirty="0"/>
              <a:t>＝</a:t>
            </a:r>
            <a:r>
              <a:rPr lang="en-US" altLang="zh-CN" dirty="0"/>
              <a:t>{0,1,2,4,5}</a:t>
            </a:r>
          </a:p>
          <a:p>
            <a:pPr marL="0" indent="0" defTabSz="901700" eaLnBrk="1" hangingPunct="1">
              <a:lnSpc>
                <a:spcPct val="147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r>
              <a:rPr lang="en-US" altLang="zh-CN" dirty="0"/>
              <a:t>   </a:t>
            </a:r>
            <a:r>
              <a:rPr lang="zh-CN" altLang="en-US" dirty="0"/>
              <a:t>且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a,b∈A</a:t>
            </a:r>
            <a:endParaRPr lang="en-US" altLang="zh-CN" dirty="0"/>
          </a:p>
          <a:p>
            <a:pPr marL="0" indent="0" defTabSz="901700" eaLnBrk="1" hangingPunct="1">
              <a:lnSpc>
                <a:spcPct val="147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r>
              <a:rPr lang="en-US" altLang="zh-CN" dirty="0"/>
              <a:t>    a</a:t>
            </a:r>
            <a:r>
              <a:rPr lang="zh-CN" altLang="en-US" dirty="0"/>
              <a:t>＋</a:t>
            </a:r>
            <a:r>
              <a:rPr lang="en-US" altLang="zh-CN" baseline="-25000" dirty="0"/>
              <a:t>6 </a:t>
            </a:r>
            <a:r>
              <a:rPr lang="en-US" altLang="zh-CN" dirty="0"/>
              <a:t>b</a:t>
            </a:r>
          </a:p>
          <a:p>
            <a:pPr marL="0" indent="0" defTabSz="901700" eaLnBrk="1" hangingPunct="1">
              <a:lnSpc>
                <a:spcPct val="147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r>
              <a:rPr lang="en-US" altLang="zh-CN" dirty="0"/>
              <a:t>    </a:t>
            </a:r>
            <a:r>
              <a:rPr lang="zh-CN" altLang="en-US" dirty="0"/>
              <a:t>＝</a:t>
            </a:r>
            <a:r>
              <a:rPr lang="en-US" altLang="zh-CN" dirty="0"/>
              <a:t>(a</a:t>
            </a:r>
            <a:r>
              <a:rPr lang="zh-CN" altLang="en-US" dirty="0"/>
              <a:t>＋</a:t>
            </a:r>
            <a:r>
              <a:rPr lang="en-US" altLang="zh-CN" dirty="0"/>
              <a:t>b)mod6</a:t>
            </a:r>
          </a:p>
          <a:p>
            <a:pPr marL="0" indent="0" defTabSz="901700" eaLnBrk="1" hangingPunct="1">
              <a:lnSpc>
                <a:spcPct val="147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r>
              <a:rPr lang="zh-CN" altLang="en-US" dirty="0">
                <a:latin typeface="宋体" charset="-122"/>
              </a:rPr>
              <a:t>  问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N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zh-CN" altLang="en-US" dirty="0"/>
              <a:t>＋</a:t>
            </a:r>
            <a:r>
              <a:rPr lang="en-US" altLang="zh-CN" baseline="-25000" dirty="0"/>
              <a:t>6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>
                <a:latin typeface="宋体" charset="-122"/>
              </a:rPr>
              <a:t>群</a:t>
            </a:r>
            <a:r>
              <a:rPr lang="zh-CN" altLang="en-US" dirty="0">
                <a:solidFill>
                  <a:srgbClr val="FF0000"/>
                </a:solidFill>
                <a:latin typeface="宋体" charset="-122"/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 defTabSz="901700" eaLnBrk="1" hangingPunct="1">
              <a:lnSpc>
                <a:spcPct val="150000"/>
              </a:lnSpc>
              <a:buFont typeface="Wingdings" panose="05000000000000000000" pitchFamily="2" charset="2"/>
              <a:buNone/>
              <a:tabLst>
                <a:tab pos="6184900" algn="l"/>
              </a:tabLst>
              <a:defRPr/>
            </a:pPr>
            <a:endParaRPr lang="en-US" altLang="zh-CN" dirty="0"/>
          </a:p>
          <a:p>
            <a:pPr defTabSz="901700" eaLnBrk="1" hangingPunct="1">
              <a:tabLst>
                <a:tab pos="6184900" algn="l"/>
              </a:tabLst>
              <a:defRPr/>
            </a:pPr>
            <a:endParaRPr lang="zh-CN" altLang="en-US" sz="2800" dirty="0"/>
          </a:p>
          <a:p>
            <a:pPr defTabSz="901700" eaLnBrk="1" hangingPunct="1">
              <a:tabLst>
                <a:tab pos="6184900" algn="l"/>
              </a:tabLst>
              <a:defRPr/>
            </a:pPr>
            <a:endParaRPr lang="en-US" altLang="zh-CN" sz="2800" dirty="0"/>
          </a:p>
        </p:txBody>
      </p:sp>
      <p:graphicFrame>
        <p:nvGraphicFramePr>
          <p:cNvPr id="161821" name="Group 29">
            <a:extLst>
              <a:ext uri="{FF2B5EF4-FFF2-40B4-BE49-F238E27FC236}">
                <a16:creationId xmlns:a16="http://schemas.microsoft.com/office/drawing/2014/main" id="{931E6650-07E9-3441-0A03-122AFA0B73DA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4211638" y="2228850"/>
          <a:ext cx="4606925" cy="4152900"/>
        </p:xfrm>
        <a:graphic>
          <a:graphicData uri="http://schemas.openxmlformats.org/drawingml/2006/table">
            <a:tbl>
              <a:tblPr/>
              <a:tblGrid>
                <a:gridCol w="863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16" marR="914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0   1   2   3   4   5</a:t>
                      </a:r>
                    </a:p>
                  </a:txBody>
                  <a:tcPr marL="91416" marR="914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marL="91416" marR="914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0   1   2   3   4   5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2   3   4   5   0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3   4   5   0   1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4   5   0   1   2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5   0   1   2   3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0   1   2   3   4</a:t>
                      </a:r>
                    </a:p>
                  </a:txBody>
                  <a:tcPr marL="91416" marR="914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02" name="Rectangle 18">
            <a:extLst>
              <a:ext uri="{FF2B5EF4-FFF2-40B4-BE49-F238E27FC236}">
                <a16:creationId xmlns:a16="http://schemas.microsoft.com/office/drawing/2014/main" id="{09FBDB13-B9D3-F4AD-AFC6-6456E7731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5BA799F-F992-5659-BB22-EDA5679E6A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0075" y="1844675"/>
            <a:ext cx="8532813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{1,2}</a:t>
            </a:r>
            <a:r>
              <a:rPr lang="zh-CN" altLang="en-US" dirty="0"/>
              <a:t>， </a:t>
            </a:r>
            <a:r>
              <a:rPr lang="en-US" altLang="zh-CN" dirty="0"/>
              <a:t>P(A)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 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{1}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{2}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</a:t>
            </a:r>
            <a:r>
              <a:rPr lang="zh-CN" altLang="en-US" dirty="0"/>
              <a:t>问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P(A),   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>
                <a:latin typeface="宋体" charset="-122"/>
              </a:rPr>
              <a:t>群</a:t>
            </a:r>
            <a:r>
              <a:rPr lang="zh-CN" altLang="en-US" dirty="0">
                <a:solidFill>
                  <a:srgbClr val="FF0000"/>
                </a:solidFill>
                <a:latin typeface="宋体" charset="-122"/>
              </a:rPr>
              <a:t>？</a:t>
            </a:r>
            <a:r>
              <a:rPr lang="en-US" altLang="zh-CN" dirty="0">
                <a:latin typeface="宋体" charset="-122"/>
              </a:rPr>
              <a:t> 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endParaRPr lang="en-US" altLang="zh-CN" sz="2800" dirty="0"/>
          </a:p>
        </p:txBody>
      </p:sp>
      <p:graphicFrame>
        <p:nvGraphicFramePr>
          <p:cNvPr id="161821" name="Group 29">
            <a:extLst>
              <a:ext uri="{FF2B5EF4-FFF2-40B4-BE49-F238E27FC236}">
                <a16:creationId xmlns:a16="http://schemas.microsoft.com/office/drawing/2014/main" id="{B9736759-094A-BEFB-AA30-89DC463E2508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619250" y="3357563"/>
          <a:ext cx="5040313" cy="3335337"/>
        </p:xfrm>
        <a:graphic>
          <a:graphicData uri="http://schemas.openxmlformats.org/drawingml/2006/table">
            <a:tbl>
              <a:tblPr/>
              <a:tblGrid>
                <a:gridCol w="792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3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36" marR="91436" marT="45708" marB="4570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{1}    {2}    A   </a:t>
                      </a:r>
                    </a:p>
                  </a:txBody>
                  <a:tcPr marL="91436" marR="91436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7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{1}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{2}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A</a:t>
                      </a:r>
                    </a:p>
                  </a:txBody>
                  <a:tcPr marL="91436" marR="91436" marT="45708" marB="4570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{1}    {2}    A  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{1}             A     {2}          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{2}    A              {1}   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A     {2}    {1}    </a:t>
                      </a:r>
                    </a:p>
                  </a:txBody>
                  <a:tcPr marL="91436" marR="91436"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26" name="Rectangle 18">
            <a:extLst>
              <a:ext uri="{FF2B5EF4-FFF2-40B4-BE49-F238E27FC236}">
                <a16:creationId xmlns:a16="http://schemas.microsoft.com/office/drawing/2014/main" id="{E12CC123-B1AF-0F2D-36BE-84C0F2A4F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graphicFrame>
        <p:nvGraphicFramePr>
          <p:cNvPr id="9227" name="对象 3">
            <a:extLst>
              <a:ext uri="{FF2B5EF4-FFF2-40B4-BE49-F238E27FC236}">
                <a16:creationId xmlns:a16="http://schemas.microsoft.com/office/drawing/2014/main" id="{C90BDAB5-09B2-7F9E-D55A-0D369D43E7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3484563"/>
          <a:ext cx="4175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3484563"/>
                        <a:ext cx="4175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对象 4">
            <a:extLst>
              <a:ext uri="{FF2B5EF4-FFF2-40B4-BE49-F238E27FC236}">
                <a16:creationId xmlns:a16="http://schemas.microsoft.com/office/drawing/2014/main" id="{3CABECCC-A492-10F0-D2D3-D3C67A3CB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132263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132263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对象 5">
            <a:extLst>
              <a:ext uri="{FF2B5EF4-FFF2-40B4-BE49-F238E27FC236}">
                <a16:creationId xmlns:a16="http://schemas.microsoft.com/office/drawing/2014/main" id="{866B5DEB-BF78-8CCE-318A-39BD81481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0" y="414972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14" imgH="177492" progId="Equation.DSMT4">
                  <p:embed/>
                </p:oleObj>
              </mc:Choice>
              <mc:Fallback>
                <p:oleObj name="Equation" r:id="rId5" imgW="164814" imgH="177492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414972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对象 6">
            <a:extLst>
              <a:ext uri="{FF2B5EF4-FFF2-40B4-BE49-F238E27FC236}">
                <a16:creationId xmlns:a16="http://schemas.microsoft.com/office/drawing/2014/main" id="{350C3E13-8DBF-C624-024B-6F24628071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6650" y="544512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544512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对象 7">
            <a:extLst>
              <a:ext uri="{FF2B5EF4-FFF2-40B4-BE49-F238E27FC236}">
                <a16:creationId xmlns:a16="http://schemas.microsoft.com/office/drawing/2014/main" id="{32871789-E3D6-A327-03EE-74C33B0EF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25" y="6110288"/>
          <a:ext cx="4175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14" imgH="177492" progId="Equation.DSMT4">
                  <p:embed/>
                </p:oleObj>
              </mc:Choice>
              <mc:Fallback>
                <p:oleObj name="Equation" r:id="rId7" imgW="164814" imgH="17749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6110288"/>
                        <a:ext cx="4175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对象 8">
            <a:extLst>
              <a:ext uri="{FF2B5EF4-FFF2-40B4-BE49-F238E27FC236}">
                <a16:creationId xmlns:a16="http://schemas.microsoft.com/office/drawing/2014/main" id="{6064F05F-FA2C-19F6-13EC-B85AA808F8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4125" y="4779963"/>
          <a:ext cx="4175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14" imgH="177492" progId="Equation.DSMT4">
                  <p:embed/>
                </p:oleObj>
              </mc:Choice>
              <mc:Fallback>
                <p:oleObj name="Equation" r:id="rId8" imgW="164814" imgH="17749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4779963"/>
                        <a:ext cx="4175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对象 9">
            <a:extLst>
              <a:ext uri="{FF2B5EF4-FFF2-40B4-BE49-F238E27FC236}">
                <a16:creationId xmlns:a16="http://schemas.microsoft.com/office/drawing/2014/main" id="{BBDA81CC-323C-D8EA-3BD2-AAD836828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2513" y="1989138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14" imgH="177492" progId="Equation.DSMT4">
                  <p:embed/>
                </p:oleObj>
              </mc:Choice>
              <mc:Fallback>
                <p:oleObj name="Equation" r:id="rId9" imgW="164814" imgH="177492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989138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对象 10">
            <a:extLst>
              <a:ext uri="{FF2B5EF4-FFF2-40B4-BE49-F238E27FC236}">
                <a16:creationId xmlns:a16="http://schemas.microsoft.com/office/drawing/2014/main" id="{039254D8-3CE6-C753-BB59-47D28181B3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4513" y="3516313"/>
          <a:ext cx="454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14" imgH="177492" progId="Equation.DSMT4">
                  <p:embed/>
                </p:oleObj>
              </mc:Choice>
              <mc:Fallback>
                <p:oleObj name="Equation" r:id="rId10" imgW="164814" imgH="177492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3516313"/>
                        <a:ext cx="454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对象 11">
            <a:extLst>
              <a:ext uri="{FF2B5EF4-FFF2-40B4-BE49-F238E27FC236}">
                <a16:creationId xmlns:a16="http://schemas.microsoft.com/office/drawing/2014/main" id="{781B0D82-3D3D-D42B-AE75-BEA7F224E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3975" y="2673350"/>
          <a:ext cx="454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14" imgH="177492" progId="Equation.DSMT4">
                  <p:embed/>
                </p:oleObj>
              </mc:Choice>
              <mc:Fallback>
                <p:oleObj name="Equation" r:id="rId12" imgW="164814" imgH="177492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2673350"/>
                        <a:ext cx="454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E88F9C-A673-EAB1-CD83-8D116D7A7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FCDB77A-B7B1-B925-E6C3-03F046B348B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0825" y="2997200"/>
            <a:ext cx="4897438" cy="3805238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zh-CN" altLang="en-US" sz="3200" b="1">
                <a:solidFill>
                  <a:schemeClr val="hlink"/>
                </a:solidFill>
              </a:rPr>
              <a:t>证明</a:t>
            </a:r>
            <a:r>
              <a:rPr lang="zh-CN" altLang="en-US" sz="3200">
                <a:solidFill>
                  <a:srgbClr val="339933"/>
                </a:solidFill>
              </a:rPr>
              <a:t>任取</a:t>
            </a:r>
            <a:r>
              <a:rPr lang="en-US" altLang="zh-CN" sz="3200"/>
              <a:t>a∈A</a:t>
            </a:r>
            <a:r>
              <a:rPr lang="zh-CN" altLang="en-US" sz="3200"/>
              <a:t>，</a:t>
            </a:r>
            <a:endParaRPr lang="en-US" altLang="zh-CN" sz="320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 </a:t>
            </a:r>
            <a:r>
              <a:rPr lang="en-US" altLang="zh-CN" sz="3200">
                <a:sym typeface="Symbol" panose="05050102010706020507" pitchFamily="18" charset="2"/>
              </a:rPr>
              <a:t></a:t>
            </a:r>
            <a:r>
              <a:rPr lang="en-US" altLang="zh-CN" sz="3200"/>
              <a:t>b∈A</a:t>
            </a:r>
            <a:r>
              <a:rPr lang="zh-CN" altLang="en-US" sz="3200"/>
              <a:t>使</a:t>
            </a:r>
            <a:r>
              <a:rPr lang="en-US" altLang="zh-CN" sz="3200"/>
              <a:t>b</a:t>
            </a:r>
            <a:r>
              <a:rPr lang="en-US" altLang="en-US" sz="3200"/>
              <a:t>＊</a:t>
            </a:r>
            <a:r>
              <a:rPr lang="en-US" altLang="zh-CN" sz="3200">
                <a:solidFill>
                  <a:srgbClr val="FF0000"/>
                </a:solidFill>
              </a:rPr>
              <a:t>a</a:t>
            </a:r>
            <a:r>
              <a:rPr lang="zh-CN" altLang="en-US" sz="3200"/>
              <a:t>＝</a:t>
            </a:r>
            <a:r>
              <a:rPr lang="en-US" altLang="zh-CN" sz="3200"/>
              <a:t>e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>
                <a:sym typeface="Symbol" panose="05050102010706020507" pitchFamily="18" charset="2"/>
              </a:rPr>
              <a:t>    </a:t>
            </a:r>
            <a:r>
              <a:rPr lang="en-US" altLang="zh-CN" sz="3200">
                <a:sym typeface="Symbol" panose="05050102010706020507" pitchFamily="18" charset="2"/>
              </a:rPr>
              <a:t></a:t>
            </a:r>
            <a:r>
              <a:rPr lang="en-US" altLang="zh-CN" sz="3200"/>
              <a:t>c∈A</a:t>
            </a:r>
            <a:r>
              <a:rPr lang="zh-CN" altLang="en-US" sz="3200"/>
              <a:t>使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  <a:r>
              <a:rPr lang="zh-CN" altLang="en-US" sz="3200"/>
              <a:t>＝</a:t>
            </a:r>
            <a:r>
              <a:rPr lang="en-US" altLang="zh-CN" sz="3200"/>
              <a:t>e   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 </a:t>
            </a:r>
            <a:r>
              <a:rPr lang="en-US" altLang="zh-CN" sz="3200"/>
              <a:t>b</a:t>
            </a:r>
            <a:r>
              <a:rPr lang="en-US" altLang="en-US" sz="3200"/>
              <a:t>＊a＊e</a:t>
            </a:r>
            <a:r>
              <a:rPr lang="zh-CN" altLang="en-US" sz="3200"/>
              <a:t>＝</a:t>
            </a:r>
            <a:r>
              <a:rPr lang="en-US" altLang="zh-CN" sz="3200"/>
              <a:t>e</a:t>
            </a:r>
            <a:r>
              <a:rPr lang="en-US" altLang="en-US" sz="3200"/>
              <a:t>＊</a:t>
            </a:r>
            <a:r>
              <a:rPr lang="en-US" altLang="zh-CN" sz="3200"/>
              <a:t>e</a:t>
            </a:r>
            <a:r>
              <a:rPr lang="zh-CN" altLang="en-US" sz="3200"/>
              <a:t>＝</a:t>
            </a:r>
            <a:r>
              <a:rPr lang="en-US" altLang="zh-CN" sz="3200"/>
              <a:t>b</a:t>
            </a:r>
            <a:r>
              <a:rPr lang="en-US" altLang="en-US" sz="3200"/>
              <a:t>＊</a:t>
            </a:r>
            <a:r>
              <a:rPr lang="en-US" altLang="zh-CN" sz="3200"/>
              <a:t>a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</a:t>
            </a:r>
            <a:r>
              <a:rPr lang="zh-CN" altLang="en-US" sz="3200"/>
              <a:t> 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  <a:r>
              <a:rPr lang="en-US" altLang="en-US" sz="3200"/>
              <a:t>＊</a:t>
            </a:r>
            <a:r>
              <a:rPr lang="en-US" altLang="zh-CN" sz="3200"/>
              <a:t>a</a:t>
            </a:r>
            <a:r>
              <a:rPr lang="en-US" altLang="en-US" sz="3200"/>
              <a:t>＊</a:t>
            </a:r>
            <a:r>
              <a:rPr lang="en-US" altLang="zh-CN" sz="3200"/>
              <a:t>e</a:t>
            </a:r>
            <a:r>
              <a:rPr lang="zh-CN" altLang="en-US" sz="3200"/>
              <a:t>＝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  <a:r>
              <a:rPr lang="en-US" altLang="en-US" sz="3200"/>
              <a:t>＊</a:t>
            </a:r>
            <a:r>
              <a:rPr lang="en-US" altLang="zh-CN" sz="3200"/>
              <a:t>a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</a:t>
            </a:r>
            <a:r>
              <a:rPr lang="zh-CN" altLang="en-US" sz="3200"/>
              <a:t> </a:t>
            </a:r>
            <a:r>
              <a:rPr lang="en-US" altLang="zh-CN" sz="3200"/>
              <a:t>a</a:t>
            </a:r>
            <a:r>
              <a:rPr lang="en-US" altLang="en-US" sz="3200"/>
              <a:t>＊</a:t>
            </a:r>
            <a:r>
              <a:rPr lang="en-US" altLang="zh-CN" sz="3200">
                <a:solidFill>
                  <a:srgbClr val="339933"/>
                </a:solidFill>
              </a:rPr>
              <a:t>e</a:t>
            </a:r>
            <a:r>
              <a:rPr lang="zh-CN" altLang="en-US" sz="3200"/>
              <a:t>＝</a:t>
            </a:r>
            <a:r>
              <a:rPr lang="en-US" altLang="zh-CN" sz="3200"/>
              <a:t>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0244" name="内容占位符 1">
            <a:extLst>
              <a:ext uri="{FF2B5EF4-FFF2-40B4-BE49-F238E27FC236}">
                <a16:creationId xmlns:a16="http://schemas.microsoft.com/office/drawing/2014/main" id="{A772C98E-F807-DC01-2B61-002D5AB6DD8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148263" y="2997200"/>
            <a:ext cx="3743325" cy="3805238"/>
          </a:xfrm>
        </p:spPr>
        <p:txBody>
          <a:bodyPr/>
          <a:lstStyle/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而</a:t>
            </a:r>
            <a:r>
              <a:rPr lang="en-US" altLang="zh-CN" sz="3200">
                <a:solidFill>
                  <a:srgbClr val="FF00FF"/>
                </a:solidFill>
              </a:rPr>
              <a:t>a</a:t>
            </a:r>
            <a:r>
              <a:rPr lang="en-US" altLang="en-US" sz="3200">
                <a:solidFill>
                  <a:srgbClr val="FF00FF"/>
                </a:solidFill>
              </a:rPr>
              <a:t>＊</a:t>
            </a:r>
            <a:r>
              <a:rPr lang="en-US" altLang="zh-CN" sz="3200">
                <a:solidFill>
                  <a:srgbClr val="339933"/>
                </a:solidFill>
              </a:rPr>
              <a:t>b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＝</a:t>
            </a:r>
            <a:r>
              <a:rPr lang="en-US" altLang="zh-CN" sz="3200"/>
              <a:t>e</a:t>
            </a:r>
            <a:r>
              <a:rPr lang="en-US" altLang="en-US" sz="3200"/>
              <a:t>＊</a:t>
            </a:r>
            <a:r>
              <a:rPr lang="en-US" altLang="zh-CN" sz="3200"/>
              <a:t>(a</a:t>
            </a:r>
            <a:r>
              <a:rPr lang="en-US" altLang="en-US" sz="3200"/>
              <a:t>＊</a:t>
            </a:r>
            <a:r>
              <a:rPr lang="en-US" altLang="zh-CN" sz="3200"/>
              <a:t>b)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＝</a:t>
            </a:r>
            <a:r>
              <a:rPr lang="en-US" altLang="zh-CN" sz="3200"/>
              <a:t>(c</a:t>
            </a:r>
            <a:r>
              <a:rPr lang="en-US" altLang="en-US" sz="3200"/>
              <a:t>＊</a:t>
            </a:r>
            <a:r>
              <a:rPr lang="en-US" altLang="zh-CN" sz="3200"/>
              <a:t>b)</a:t>
            </a:r>
            <a:r>
              <a:rPr lang="en-US" altLang="en-US" sz="3200"/>
              <a:t>＊</a:t>
            </a:r>
            <a:r>
              <a:rPr lang="en-US" altLang="zh-CN" sz="3200"/>
              <a:t>(a</a:t>
            </a:r>
            <a:r>
              <a:rPr lang="en-US" altLang="en-US" sz="3200"/>
              <a:t>＊</a:t>
            </a:r>
            <a:r>
              <a:rPr lang="en-US" altLang="zh-CN" sz="3200"/>
              <a:t>b)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＝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(b</a:t>
            </a:r>
            <a:r>
              <a:rPr lang="en-US" altLang="en-US" sz="3200"/>
              <a:t>＊</a:t>
            </a:r>
            <a:r>
              <a:rPr lang="en-US" altLang="zh-CN" sz="3200"/>
              <a:t>a)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＝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e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 ＝</a:t>
            </a:r>
            <a:r>
              <a:rPr lang="en-US" altLang="zh-CN" sz="3200"/>
              <a:t>c</a:t>
            </a:r>
            <a:r>
              <a:rPr lang="en-US" altLang="en-US" sz="3200"/>
              <a:t>＊</a:t>
            </a:r>
            <a:r>
              <a:rPr lang="en-US" altLang="zh-CN" sz="3200"/>
              <a:t>b</a:t>
            </a:r>
            <a:r>
              <a:rPr lang="zh-CN" altLang="en-US" sz="3200">
                <a:solidFill>
                  <a:srgbClr val="FF00FF"/>
                </a:solidFill>
              </a:rPr>
              <a:t>＝</a:t>
            </a:r>
            <a:r>
              <a:rPr lang="en-US" altLang="zh-CN" sz="3200">
                <a:solidFill>
                  <a:srgbClr val="FF00FF"/>
                </a:solidFill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0245" name="矩形 2">
            <a:extLst>
              <a:ext uri="{FF2B5EF4-FFF2-40B4-BE49-F238E27FC236}">
                <a16:creationId xmlns:a16="http://schemas.microsoft.com/office/drawing/2014/main" id="{5B79F425-4BB0-5E00-1204-44CDE949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844675"/>
            <a:ext cx="860425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5.3.1</a:t>
            </a:r>
            <a:r>
              <a:rPr lang="zh-CN" altLang="en-US"/>
              <a:t>设半群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/>
              <a:t>e</a:t>
            </a:r>
            <a:r>
              <a:rPr lang="zh-CN" altLang="en-US"/>
              <a:t>是左幺元且对</a:t>
            </a:r>
            <a:r>
              <a:rPr lang="zh-CN" altLang="en-US">
                <a:solidFill>
                  <a:schemeClr val="accent1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a∈A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/>
              <a:t>存在</a:t>
            </a:r>
            <a:r>
              <a:rPr lang="en-US" altLang="zh-CN"/>
              <a:t>b∈A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/>
              <a:t>使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e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/>
              <a:t>试证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A,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为群。</a:t>
            </a:r>
            <a:endParaRPr lang="zh-CN" alt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7">
            <a:extLst>
              <a:ext uri="{FF2B5EF4-FFF2-40B4-BE49-F238E27FC236}">
                <a16:creationId xmlns:a16="http://schemas.microsoft.com/office/drawing/2014/main" id="{2F5DA9D0-4BAA-DE71-B2F9-371F1B544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8B29A93-4E36-7D27-1E86-2F3D65D509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7264400" algn="l"/>
              </a:tabLst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5.3.2</a:t>
            </a:r>
            <a:r>
              <a:rPr lang="zh-CN" altLang="en-US" dirty="0"/>
              <a:t>实数集</a:t>
            </a:r>
            <a:r>
              <a:rPr lang="en-US" altLang="zh-CN" dirty="0"/>
              <a:t>R</a:t>
            </a:r>
            <a:r>
              <a:rPr lang="en-US" altLang="zh-CN" dirty="0">
                <a:latin typeface="宋体" charset="-122"/>
              </a:rPr>
              <a:t>,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R</a:t>
            </a:r>
            <a:r>
              <a:rPr lang="zh-CN" altLang="en-US" dirty="0"/>
              <a:t>－</a:t>
            </a:r>
            <a:r>
              <a:rPr lang="en-US" altLang="zh-CN" dirty="0"/>
              <a:t>{0,1}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solidFill>
                  <a:schemeClr val="accent1"/>
                </a:solidFill>
                <a:sym typeface="Symbol" pitchFamily="18" charset="2"/>
              </a:rPr>
              <a:t></a:t>
            </a:r>
            <a:r>
              <a:rPr lang="en-US" altLang="zh-CN" dirty="0" err="1"/>
              <a:t>x∈A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函数</a:t>
            </a:r>
          </a:p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  <a:tabLst>
                <a:tab pos="7264400" algn="l"/>
              </a:tabLst>
              <a:defRPr/>
            </a:pPr>
            <a:r>
              <a:rPr lang="zh-CN" altLang="en-US" dirty="0"/>
              <a:t>   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(x)</a:t>
            </a:r>
            <a:r>
              <a:rPr lang="zh-CN" altLang="en-US" dirty="0"/>
              <a:t>＝</a:t>
            </a:r>
            <a:r>
              <a:rPr lang="en-US" altLang="zh-CN" dirty="0"/>
              <a:t>x           f</a:t>
            </a:r>
            <a:r>
              <a:rPr lang="en-US" altLang="zh-CN" baseline="-25000" dirty="0"/>
              <a:t>2</a:t>
            </a:r>
            <a:r>
              <a:rPr lang="en-US" altLang="zh-CN" dirty="0"/>
              <a:t>(x)</a:t>
            </a:r>
            <a:r>
              <a:rPr lang="zh-CN" altLang="en-US" dirty="0"/>
              <a:t>＝           </a:t>
            </a:r>
            <a:r>
              <a:rPr lang="en-US" altLang="zh-CN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(x)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－</a:t>
            </a:r>
            <a:r>
              <a:rPr lang="en-US" altLang="zh-CN" dirty="0"/>
              <a:t>x </a:t>
            </a:r>
          </a:p>
          <a:p>
            <a:pPr eaLnBrk="1" hangingPunct="1">
              <a:lnSpc>
                <a:spcPct val="220000"/>
              </a:lnSpc>
              <a:buFont typeface="Wingdings" panose="05000000000000000000" pitchFamily="2" charset="2"/>
              <a:buNone/>
              <a:tabLst>
                <a:tab pos="7264400" algn="l"/>
              </a:tabLst>
              <a:defRPr/>
            </a:pPr>
            <a:r>
              <a:rPr lang="en-US" altLang="zh-CN" dirty="0"/>
              <a:t>   f</a:t>
            </a:r>
            <a:r>
              <a:rPr lang="en-US" altLang="zh-CN" baseline="-25000" dirty="0"/>
              <a:t>4</a:t>
            </a:r>
            <a:r>
              <a:rPr lang="en-US" altLang="zh-CN" dirty="0"/>
              <a:t>(x)</a:t>
            </a:r>
            <a:r>
              <a:rPr lang="zh-CN" altLang="en-US" dirty="0"/>
              <a:t>＝            </a:t>
            </a:r>
            <a:r>
              <a:rPr lang="en-US" altLang="zh-CN" dirty="0"/>
              <a:t>f</a:t>
            </a:r>
            <a:r>
              <a:rPr lang="en-US" altLang="zh-CN" baseline="-25000" dirty="0"/>
              <a:t>5</a:t>
            </a:r>
            <a:r>
              <a:rPr lang="en-US" altLang="zh-CN" dirty="0"/>
              <a:t>(x)</a:t>
            </a:r>
            <a:r>
              <a:rPr lang="zh-CN" altLang="en-US" dirty="0"/>
              <a:t>＝            </a:t>
            </a:r>
            <a:r>
              <a:rPr lang="en-US" altLang="zh-CN" dirty="0"/>
              <a:t>f</a:t>
            </a:r>
            <a:r>
              <a:rPr lang="en-US" altLang="zh-CN" baseline="-25000" dirty="0"/>
              <a:t>6</a:t>
            </a:r>
            <a:r>
              <a:rPr lang="en-US" altLang="zh-CN" dirty="0"/>
              <a:t>(x)</a:t>
            </a:r>
            <a:r>
              <a:rPr lang="zh-CN" altLang="en-US" dirty="0"/>
              <a:t>＝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tabLst>
                <a:tab pos="7264400" algn="l"/>
              </a:tabLst>
              <a:defRPr/>
            </a:pPr>
            <a:r>
              <a:rPr lang="zh-CN" altLang="en-US" dirty="0"/>
              <a:t>   记</a:t>
            </a:r>
            <a:r>
              <a:rPr lang="en-US" altLang="zh-CN" dirty="0"/>
              <a:t>F</a:t>
            </a:r>
            <a:r>
              <a:rPr lang="zh-CN" altLang="en-US" dirty="0"/>
              <a:t>＝</a:t>
            </a:r>
            <a:r>
              <a:rPr lang="en-US" altLang="zh-CN" dirty="0"/>
              <a:t>{f</a:t>
            </a:r>
            <a:r>
              <a:rPr lang="en-US" altLang="zh-CN" baseline="-25000" dirty="0"/>
              <a:t>1</a:t>
            </a:r>
            <a:r>
              <a:rPr lang="en-US" altLang="zh-CN" dirty="0"/>
              <a:t>, f</a:t>
            </a:r>
            <a:r>
              <a:rPr lang="en-US" altLang="zh-CN" baseline="-25000" dirty="0"/>
              <a:t>2</a:t>
            </a:r>
            <a:r>
              <a:rPr lang="en-US" altLang="zh-CN" dirty="0"/>
              <a:t> , f</a:t>
            </a:r>
            <a:r>
              <a:rPr lang="en-US" altLang="zh-CN" baseline="-25000" dirty="0"/>
              <a:t>3</a:t>
            </a:r>
            <a:r>
              <a:rPr lang="en-US" altLang="zh-CN" dirty="0"/>
              <a:t>, f</a:t>
            </a:r>
            <a:r>
              <a:rPr lang="en-US" altLang="zh-CN" baseline="-25000" dirty="0"/>
              <a:t>4</a:t>
            </a:r>
            <a:r>
              <a:rPr lang="en-US" altLang="zh-CN" dirty="0"/>
              <a:t>, f</a:t>
            </a:r>
            <a:r>
              <a:rPr lang="en-US" altLang="zh-CN" baseline="-25000" dirty="0"/>
              <a:t>5</a:t>
            </a:r>
            <a:r>
              <a:rPr lang="en-US" altLang="zh-CN" dirty="0"/>
              <a:t>, f</a:t>
            </a:r>
            <a:r>
              <a:rPr lang="en-US" altLang="zh-CN" baseline="-25000" dirty="0"/>
              <a:t>6</a:t>
            </a:r>
            <a:r>
              <a:rPr lang="en-US" altLang="zh-CN" dirty="0"/>
              <a:t>}</a:t>
            </a:r>
            <a:r>
              <a:rPr lang="zh-CN" altLang="en-US" dirty="0"/>
              <a:t>，证明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F,  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是群。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tabLst>
                <a:tab pos="7264400" algn="l"/>
              </a:tabLst>
              <a:defRPr/>
            </a:pPr>
            <a:r>
              <a:rPr lang="zh-CN" altLang="en-US" dirty="0"/>
              <a:t>   其中是函数的复合运算。</a:t>
            </a:r>
          </a:p>
        </p:txBody>
      </p:sp>
      <p:graphicFrame>
        <p:nvGraphicFramePr>
          <p:cNvPr id="11268" name="Object 10">
            <a:extLst>
              <a:ext uri="{FF2B5EF4-FFF2-40B4-BE49-F238E27FC236}">
                <a16:creationId xmlns:a16="http://schemas.microsoft.com/office/drawing/2014/main" id="{53710907-6E18-0C06-7C9C-6E2B293CC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2890838"/>
          <a:ext cx="3857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393529" progId="Equation.DSMT4">
                  <p:embed/>
                </p:oleObj>
              </mc:Choice>
              <mc:Fallback>
                <p:oleObj name="Equation" r:id="rId2" imgW="152334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890838"/>
                        <a:ext cx="385763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1">
            <a:extLst>
              <a:ext uri="{FF2B5EF4-FFF2-40B4-BE49-F238E27FC236}">
                <a16:creationId xmlns:a16="http://schemas.microsoft.com/office/drawing/2014/main" id="{B3DDFEA3-5429-166F-FDD9-FF9256FB05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030663"/>
          <a:ext cx="836612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057" imgH="393529" progId="Equation.DSMT4">
                  <p:embed/>
                </p:oleObj>
              </mc:Choice>
              <mc:Fallback>
                <p:oleObj name="Equation" r:id="rId4" imgW="33005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30663"/>
                        <a:ext cx="836612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2">
            <a:extLst>
              <a:ext uri="{FF2B5EF4-FFF2-40B4-BE49-F238E27FC236}">
                <a16:creationId xmlns:a16="http://schemas.microsoft.com/office/drawing/2014/main" id="{34C58B56-2A6D-7A74-7598-006F33A30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4017963"/>
          <a:ext cx="8350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393529" progId="Equation.DSMT4">
                  <p:embed/>
                </p:oleObj>
              </mc:Choice>
              <mc:Fallback>
                <p:oleObj name="Equation" r:id="rId6" imgW="330057" imgH="39352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017963"/>
                        <a:ext cx="8350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3">
            <a:extLst>
              <a:ext uri="{FF2B5EF4-FFF2-40B4-BE49-F238E27FC236}">
                <a16:creationId xmlns:a16="http://schemas.microsoft.com/office/drawing/2014/main" id="{72DFFD53-4C72-BA93-5FE1-C561C29A4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030663"/>
          <a:ext cx="8350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057" imgH="393529" progId="Equation.DSMT4">
                  <p:embed/>
                </p:oleObj>
              </mc:Choice>
              <mc:Fallback>
                <p:oleObj name="Equation" r:id="rId8" imgW="330057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030663"/>
                        <a:ext cx="8350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16">
            <a:extLst>
              <a:ext uri="{FF2B5EF4-FFF2-40B4-BE49-F238E27FC236}">
                <a16:creationId xmlns:a16="http://schemas.microsoft.com/office/drawing/2014/main" id="{B7344381-369E-5C9E-2E3F-1ED83DB1930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92950" y="5348288"/>
          <a:ext cx="2778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468" imgH="114151" progId="Equation.DSMT4">
                  <p:embed/>
                </p:oleObj>
              </mc:Choice>
              <mc:Fallback>
                <p:oleObj name="Equation" r:id="rId10" imgW="101468" imgH="11415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348288"/>
                        <a:ext cx="27781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2">
            <a:extLst>
              <a:ext uri="{FF2B5EF4-FFF2-40B4-BE49-F238E27FC236}">
                <a16:creationId xmlns:a16="http://schemas.microsoft.com/office/drawing/2014/main" id="{8EE55A8B-5072-DA7D-5A8C-E32977A0B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C512494-E186-85BF-7CBB-CDFB441CCBD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916113"/>
            <a:ext cx="8459787" cy="494188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>
                <a:solidFill>
                  <a:schemeClr val="hlink"/>
                </a:solidFill>
              </a:rPr>
              <a:t>证明</a:t>
            </a:r>
            <a:endParaRPr lang="zh-CN" altLang="en-US">
              <a:solidFill>
                <a:schemeClr val="hlink"/>
              </a:solidFill>
            </a:endParaRPr>
          </a:p>
        </p:txBody>
      </p:sp>
      <p:graphicFrame>
        <p:nvGraphicFramePr>
          <p:cNvPr id="120887" name="Group 55">
            <a:extLst>
              <a:ext uri="{FF2B5EF4-FFF2-40B4-BE49-F238E27FC236}">
                <a16:creationId xmlns:a16="http://schemas.microsoft.com/office/drawing/2014/main" id="{AA8E7FC7-0F32-8662-FF6A-819BE650A87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908175" y="2060575"/>
          <a:ext cx="5618163" cy="4646613"/>
        </p:xfrm>
        <a:graphic>
          <a:graphicData uri="http://schemas.openxmlformats.org/drawingml/2006/table">
            <a:tbl>
              <a:tblPr/>
              <a:tblGrid>
                <a:gridCol w="82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f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299" name="Object 26">
            <a:extLst>
              <a:ext uri="{FF2B5EF4-FFF2-40B4-BE49-F238E27FC236}">
                <a16:creationId xmlns:a16="http://schemas.microsoft.com/office/drawing/2014/main" id="{8698F25F-6D7E-4CAD-18ED-4168A6BAC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276475"/>
          <a:ext cx="277813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276475"/>
                        <a:ext cx="277813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52D80DB2-80BD-527A-1C60-1871FBD70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33E435-5F47-9735-48D8-32250FA6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844675"/>
            <a:ext cx="8591550" cy="5013325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5.3.3</a:t>
            </a:r>
            <a:r>
              <a:rPr lang="zh-CN" altLang="en-US" sz="2800" dirty="0"/>
              <a:t>设代数系统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R,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&gt;,</a:t>
            </a:r>
            <a:r>
              <a:rPr lang="en-US" altLang="zh-CN" sz="2800" dirty="0"/>
              <a:t>R</a:t>
            </a:r>
            <a:r>
              <a:rPr lang="zh-CN" altLang="en-US" sz="2800" dirty="0"/>
              <a:t>为</a:t>
            </a:r>
            <a:r>
              <a:rPr lang="zh-CN" altLang="zh-CN" sz="2800" dirty="0"/>
              <a:t>实数集</a:t>
            </a:r>
            <a:r>
              <a:rPr lang="zh-CN" altLang="en-US" sz="2800" dirty="0"/>
              <a:t>且对任意 </a:t>
            </a:r>
            <a:endParaRPr lang="en-US" altLang="zh-CN" sz="28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&lt;</a:t>
            </a:r>
            <a:r>
              <a:rPr lang="en-US" altLang="zh-CN" sz="2800" dirty="0" err="1"/>
              <a:t>x,y</a:t>
            </a:r>
            <a:r>
              <a:rPr lang="en-US" altLang="zh-CN" sz="2800" dirty="0">
                <a:latin typeface="+mn-ea"/>
              </a:rPr>
              <a:t>&gt;,&lt;</a:t>
            </a:r>
            <a:r>
              <a:rPr lang="en-US" altLang="zh-CN" sz="2800" dirty="0" err="1"/>
              <a:t>z,t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∈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</a:t>
            </a:r>
            <a:r>
              <a:rPr lang="zh-CN" altLang="en-US" sz="2800" dirty="0"/>
              <a:t>有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x,y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z,t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x</a:t>
            </a:r>
            <a:r>
              <a:rPr lang="zh-CN" altLang="zh-CN" sz="2800" dirty="0"/>
              <a:t>＋</a:t>
            </a:r>
            <a:r>
              <a:rPr lang="en-US" altLang="zh-CN" sz="2800" dirty="0" err="1"/>
              <a:t>z,y</a:t>
            </a:r>
            <a:r>
              <a:rPr lang="zh-CN" altLang="zh-CN" sz="2800" dirty="0"/>
              <a:t>＋</a:t>
            </a:r>
            <a:r>
              <a:rPr lang="en-US" altLang="zh-CN" sz="2800" dirty="0"/>
              <a:t>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en-US" sz="2800" dirty="0">
                <a:latin typeface="+mn-ea"/>
              </a:rPr>
              <a:t>。</a:t>
            </a:r>
            <a:r>
              <a:rPr lang="en-US" altLang="zh-CN" sz="2800" dirty="0"/>
              <a:t> 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+mn-ea"/>
              </a:rPr>
              <a:t>  证明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R,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en-US" sz="2800" dirty="0"/>
              <a:t>是</a:t>
            </a:r>
            <a:r>
              <a:rPr lang="zh-CN" altLang="zh-CN" sz="2800" dirty="0"/>
              <a:t>群。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zh-CN" sz="2800" b="1" dirty="0">
                <a:solidFill>
                  <a:srgbClr val="FF0000"/>
                </a:solidFill>
              </a:rPr>
              <a:t>证明</a:t>
            </a:r>
            <a:r>
              <a:rPr lang="zh-CN" altLang="zh-CN" sz="2800" dirty="0"/>
              <a:t>任取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&gt;,&lt;</a:t>
            </a:r>
            <a:r>
              <a:rPr lang="en-US" altLang="zh-CN" sz="2800" dirty="0" err="1"/>
              <a:t>c,d</a:t>
            </a:r>
            <a:r>
              <a:rPr lang="en-US" altLang="zh-CN" sz="2800" dirty="0">
                <a:latin typeface="+mn-ea"/>
              </a:rPr>
              <a:t>&gt;,&lt;</a:t>
            </a:r>
            <a:r>
              <a:rPr lang="en-US" altLang="zh-CN" sz="2800" dirty="0" err="1"/>
              <a:t>e,f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∈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c,d</a:t>
            </a:r>
            <a:r>
              <a:rPr lang="en-US" altLang="zh-CN" sz="2800" dirty="0">
                <a:latin typeface="+mn-ea"/>
              </a:rPr>
              <a:t>&gt;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e,f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a</a:t>
            </a:r>
            <a:r>
              <a:rPr lang="zh-CN" altLang="zh-CN" sz="2800" dirty="0"/>
              <a:t>＋</a:t>
            </a:r>
            <a:r>
              <a:rPr lang="en-US" altLang="zh-CN" sz="2800" dirty="0"/>
              <a:t>c</a:t>
            </a:r>
            <a:r>
              <a:rPr lang="zh-CN" altLang="zh-CN" sz="2800" dirty="0"/>
              <a:t>＋</a:t>
            </a:r>
            <a:r>
              <a:rPr lang="en-US" altLang="zh-CN" sz="2800" dirty="0" err="1"/>
              <a:t>e,b</a:t>
            </a:r>
            <a:r>
              <a:rPr lang="zh-CN" altLang="zh-CN" sz="2800" dirty="0"/>
              <a:t>＋</a:t>
            </a:r>
            <a:r>
              <a:rPr lang="en-US" altLang="zh-CN" sz="2800" dirty="0"/>
              <a:t>d</a:t>
            </a:r>
            <a:r>
              <a:rPr lang="zh-CN" altLang="zh-CN" sz="2800" dirty="0"/>
              <a:t>＋</a:t>
            </a:r>
            <a:r>
              <a:rPr lang="en-US" altLang="zh-CN" sz="2800" dirty="0"/>
              <a:t>f</a:t>
            </a:r>
            <a:r>
              <a:rPr lang="en-US" altLang="zh-CN" sz="2800" dirty="0">
                <a:latin typeface="+mn-ea"/>
              </a:rPr>
              <a:t>&gt;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                   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c,d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e,f</a:t>
            </a:r>
            <a:r>
              <a:rPr lang="en-US" altLang="zh-CN" sz="2800" dirty="0">
                <a:latin typeface="+mn-ea"/>
              </a:rPr>
              <a:t>&gt;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0,0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0,0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solidFill>
                  <a:srgbClr val="0066FF"/>
                </a:solidFill>
                <a:latin typeface="+mn-ea"/>
              </a:rPr>
              <a:t>&lt;</a:t>
            </a:r>
            <a:r>
              <a:rPr lang="zh-CN" altLang="zh-CN" sz="2800" dirty="0">
                <a:solidFill>
                  <a:srgbClr val="0066FF"/>
                </a:solidFill>
              </a:rPr>
              <a:t>－</a:t>
            </a:r>
            <a:r>
              <a:rPr lang="en-US" altLang="zh-CN" sz="2800" dirty="0">
                <a:solidFill>
                  <a:srgbClr val="0066FF"/>
                </a:solidFill>
              </a:rPr>
              <a:t>a,</a:t>
            </a:r>
            <a:r>
              <a:rPr lang="zh-CN" altLang="zh-CN" sz="2800" dirty="0">
                <a:solidFill>
                  <a:srgbClr val="0066FF"/>
                </a:solidFill>
              </a:rPr>
              <a:t>－</a:t>
            </a:r>
            <a:r>
              <a:rPr lang="en-US" altLang="zh-CN" sz="2800" dirty="0">
                <a:solidFill>
                  <a:srgbClr val="0066FF"/>
                </a:solidFill>
              </a:rPr>
              <a:t>b</a:t>
            </a:r>
            <a:r>
              <a:rPr lang="en-US" altLang="zh-CN" sz="2800" dirty="0">
                <a:solidFill>
                  <a:srgbClr val="0066FF"/>
                </a:solidFill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0,0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solidFill>
                  <a:srgbClr val="0066FF"/>
                </a:solidFill>
                <a:latin typeface="+mn-ea"/>
              </a:rPr>
              <a:t>&lt;</a:t>
            </a:r>
            <a:r>
              <a:rPr lang="zh-CN" altLang="zh-CN" sz="2800" dirty="0">
                <a:solidFill>
                  <a:srgbClr val="0066FF"/>
                </a:solidFill>
              </a:rPr>
              <a:t>－</a:t>
            </a:r>
            <a:r>
              <a:rPr lang="en-US" altLang="zh-CN" sz="2800" dirty="0">
                <a:solidFill>
                  <a:srgbClr val="0066FF"/>
                </a:solidFill>
              </a:rPr>
              <a:t>a,</a:t>
            </a:r>
            <a:r>
              <a:rPr lang="zh-CN" altLang="zh-CN" sz="2800" dirty="0">
                <a:solidFill>
                  <a:srgbClr val="0066FF"/>
                </a:solidFill>
              </a:rPr>
              <a:t>－</a:t>
            </a:r>
            <a:r>
              <a:rPr lang="en-US" altLang="zh-CN" sz="2800" dirty="0">
                <a:solidFill>
                  <a:srgbClr val="0066FF"/>
                </a:solidFill>
              </a:rPr>
              <a:t>b</a:t>
            </a:r>
            <a:r>
              <a:rPr lang="en-US" altLang="zh-CN" sz="2800" dirty="0">
                <a:solidFill>
                  <a:srgbClr val="0066FF"/>
                </a:solidFill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dirty="0">
                <a:latin typeface="+mn-ea"/>
              </a:rPr>
              <a:t>&gt;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>
              <a:solidFill>
                <a:srgbClr val="339933"/>
              </a:solidFill>
              <a:latin typeface="+mn-ea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>
              <a:solidFill>
                <a:srgbClr val="339933"/>
              </a:solidFill>
              <a:latin typeface="+mn-ea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190B5DA8-516D-0F9F-F9F1-2058EA650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55550DB-E866-6FC6-1C9D-9BA3F99DF9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773238"/>
            <a:ext cx="8532812" cy="5084762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注释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  <a:r>
              <a:rPr lang="zh-CN" altLang="en-US" dirty="0"/>
              <a:t>不混淆时，群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简称为群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</a:t>
            </a:r>
            <a:r>
              <a:rPr lang="en-US" altLang="zh-CN" dirty="0">
                <a:solidFill>
                  <a:srgbClr val="0066FF"/>
                </a:solidFill>
              </a:rPr>
              <a:t>2</a:t>
            </a:r>
            <a:r>
              <a:rPr lang="en-US" altLang="zh-CN" dirty="0"/>
              <a:t>)</a:t>
            </a:r>
            <a:r>
              <a:rPr lang="zh-CN" altLang="en-US" dirty="0"/>
              <a:t>设群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A,  </a:t>
            </a:r>
            <a:r>
              <a:rPr lang="en-US" altLang="zh-CN" dirty="0">
                <a:latin typeface="宋体" charset="-122"/>
              </a:rPr>
              <a:t>&gt;,</a:t>
            </a:r>
            <a:r>
              <a:rPr lang="zh-CN" altLang="en-US" dirty="0"/>
              <a:t> 任意</a:t>
            </a:r>
            <a:r>
              <a:rPr lang="en-US" altLang="zh-CN" dirty="0" err="1"/>
              <a:t>a∈A</a:t>
            </a:r>
            <a:r>
              <a:rPr lang="en-US" altLang="zh-CN" dirty="0">
                <a:latin typeface="宋体" charset="-122"/>
              </a:rPr>
              <a:t>,</a:t>
            </a:r>
            <a:r>
              <a:rPr lang="zh-CN" altLang="en-US" dirty="0"/>
              <a:t>定义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zh-CN" altLang="en-US" dirty="0">
                <a:solidFill>
                  <a:srgbClr val="CC0066"/>
                </a:solidFill>
              </a:rPr>
              <a:t>的</a:t>
            </a:r>
            <a:r>
              <a:rPr lang="en-US" altLang="zh-CN" dirty="0">
                <a:solidFill>
                  <a:srgbClr val="CC0066"/>
                </a:solidFill>
              </a:rPr>
              <a:t>n</a:t>
            </a:r>
            <a:r>
              <a:rPr lang="zh-CN" altLang="en-US" dirty="0">
                <a:solidFill>
                  <a:srgbClr val="CC0066"/>
                </a:solidFill>
              </a:rPr>
              <a:t>次幂</a:t>
            </a:r>
            <a:r>
              <a:rPr lang="zh-CN" altLang="en-US" dirty="0"/>
              <a:t>：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并约定  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en-US" altLang="zh-CN" baseline="30000" dirty="0">
                <a:solidFill>
                  <a:srgbClr val="CC0066"/>
                </a:solidFill>
              </a:rPr>
              <a:t>0</a:t>
            </a:r>
            <a:r>
              <a:rPr lang="zh-CN" altLang="en-US" dirty="0"/>
              <a:t>＝</a:t>
            </a:r>
            <a:r>
              <a:rPr lang="en-US" altLang="zh-CN" dirty="0"/>
              <a:t>e (e</a:t>
            </a:r>
            <a:r>
              <a:rPr lang="zh-CN" altLang="en-US" dirty="0"/>
              <a:t>为幺元</a:t>
            </a:r>
            <a:r>
              <a:rPr lang="en-US" altLang="zh-CN" dirty="0"/>
              <a:t>)</a:t>
            </a:r>
          </a:p>
        </p:txBody>
      </p:sp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19951E8D-5DFB-A895-20C3-36762D6DDC7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19250" y="3429000"/>
          <a:ext cx="6197600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300" imgH="889000" progId="Equation.DSMT4">
                  <p:embed/>
                </p:oleObj>
              </mc:Choice>
              <mc:Fallback>
                <p:oleObj name="Equation" r:id="rId2" imgW="2273300" imgH="889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429000"/>
                        <a:ext cx="6197600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1">
            <a:extLst>
              <a:ext uri="{FF2B5EF4-FFF2-40B4-BE49-F238E27FC236}">
                <a16:creationId xmlns:a16="http://schemas.microsoft.com/office/drawing/2014/main" id="{0C9B944A-5105-31AD-3CB6-FCEC0E543B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2673350"/>
          <a:ext cx="3222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201" imgH="139579" progId="Equation.DSMT4">
                  <p:embed/>
                </p:oleObj>
              </mc:Choice>
              <mc:Fallback>
                <p:oleObj name="Equation" r:id="rId4" imgW="114201" imgH="13957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673350"/>
                        <a:ext cx="3222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2">
            <a:extLst>
              <a:ext uri="{FF2B5EF4-FFF2-40B4-BE49-F238E27FC236}">
                <a16:creationId xmlns:a16="http://schemas.microsoft.com/office/drawing/2014/main" id="{AC601419-FC54-B51E-E044-0FDEFEA71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974850"/>
          <a:ext cx="3222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201" imgH="139579" progId="Equation.DSMT4">
                  <p:embed/>
                </p:oleObj>
              </mc:Choice>
              <mc:Fallback>
                <p:oleObj name="Equation" r:id="rId6" imgW="114201" imgH="13957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974850"/>
                        <a:ext cx="3222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4">
            <a:extLst>
              <a:ext uri="{FF2B5EF4-FFF2-40B4-BE49-F238E27FC236}">
                <a16:creationId xmlns:a16="http://schemas.microsoft.com/office/drawing/2014/main" id="{B7239973-77EF-87BE-12F5-B164FF7EE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5.3.1 </a:t>
            </a:r>
            <a:r>
              <a:rPr lang="zh-CN" altLang="en-US" sz="5400"/>
              <a:t>群的定义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DE252C-CDF3-EBA8-1B0F-2011FEDE8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017713"/>
            <a:ext cx="7772400" cy="4114800"/>
          </a:xfrm>
        </p:spPr>
        <p:txBody>
          <a:bodyPr/>
          <a:lstStyle/>
          <a:p>
            <a:pPr>
              <a:lnSpc>
                <a:spcPct val="250000"/>
              </a:lnSpc>
              <a:defRPr/>
            </a:pPr>
            <a:r>
              <a:rPr lang="zh-CN" altLang="en-US" dirty="0">
                <a:latin typeface="宋体" charset="-122"/>
              </a:rPr>
              <a:t>设群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A,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zh-CN" altLang="en-US" dirty="0"/>
              <a:t>任意</a:t>
            </a:r>
            <a:r>
              <a:rPr lang="en-US" altLang="zh-CN" dirty="0" err="1"/>
              <a:t>a∈A</a:t>
            </a:r>
            <a:endParaRPr lang="zh-CN" altLang="en-US" dirty="0">
              <a:latin typeface="宋体" charset="-122"/>
            </a:endParaRPr>
          </a:p>
          <a:p>
            <a:pPr marL="0" indent="0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(1) 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m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m+n</a:t>
            </a:r>
            <a:r>
              <a:rPr lang="en-US" altLang="zh-CN" dirty="0"/>
              <a:t>(m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均为整数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   (a</a:t>
            </a:r>
            <a:r>
              <a:rPr lang="en-US" altLang="zh-CN" baseline="30000" dirty="0"/>
              <a:t>m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mn</a:t>
            </a:r>
            <a:r>
              <a:rPr lang="en-US" altLang="zh-CN" baseline="30000" dirty="0"/>
              <a:t>    </a:t>
            </a:r>
            <a:r>
              <a:rPr lang="en-US" altLang="zh-CN" dirty="0"/>
              <a:t>(m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均为整数</a:t>
            </a:r>
            <a:r>
              <a:rPr lang="en-US" altLang="zh-CN" dirty="0"/>
              <a:t>)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FFD36A-CB5E-9FFB-CB02-F7602A69D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BF99639-FB98-8EC8-659E-68DBF4B5F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5.3.1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是群，对任意</a:t>
            </a:r>
            <a:r>
              <a:rPr lang="en-US" altLang="zh-CN" dirty="0" err="1"/>
              <a:t>a∈G</a:t>
            </a:r>
            <a:r>
              <a:rPr lang="zh-CN" altLang="en-US" dirty="0"/>
              <a:t>，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则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a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</a:t>
            </a:r>
            <a:r>
              <a:rPr lang="en-US" altLang="zh-CN" b="1" dirty="0">
                <a:solidFill>
                  <a:schemeClr val="hlink"/>
                </a:solidFill>
              </a:rPr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设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的幺元为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由于  </a:t>
            </a:r>
            <a:r>
              <a:rPr lang="en-US" altLang="zh-CN" dirty="0"/>
              <a:t>a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所以  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en-US" dirty="0"/>
              <a:t>的逆元为</a:t>
            </a:r>
            <a:r>
              <a:rPr lang="en-US" altLang="zh-CN" dirty="0"/>
              <a:t>a</a:t>
            </a:r>
            <a:endParaRPr lang="zh-CN" altLang="en-US" dirty="0">
              <a:latin typeface="宋体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即     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a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0FE1EDE-7BA2-1DDA-7B1D-6DD29BCA0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E4CE99A-843B-C692-7B61-A68FA9B52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675687" cy="4941888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5.3.2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是群，对任意</a:t>
            </a:r>
            <a:r>
              <a:rPr lang="en-US" altLang="zh-CN" dirty="0" err="1"/>
              <a:t>a,b∈G</a:t>
            </a:r>
            <a:r>
              <a:rPr lang="zh-CN" altLang="en-US" dirty="0"/>
              <a:t>， 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则</a:t>
            </a:r>
            <a:r>
              <a:rPr lang="en-US" altLang="zh-CN" dirty="0"/>
              <a:t> (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  </a:t>
            </a:r>
            <a:endParaRPr lang="en-US" altLang="zh-CN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</a:rPr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设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/>
              <a:t>的幺元为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>
                <a:solidFill>
                  <a:schemeClr val="accent1"/>
                </a:solidFill>
              </a:rPr>
              <a:t>(b</a:t>
            </a:r>
            <a:r>
              <a:rPr lang="en-US" altLang="zh-CN" baseline="30000" dirty="0">
                <a:solidFill>
                  <a:schemeClr val="accent1"/>
                </a:solidFill>
              </a:rPr>
              <a:t>-1</a:t>
            </a:r>
            <a:r>
              <a:rPr lang="en-US" altLang="en-US" dirty="0">
                <a:solidFill>
                  <a:schemeClr val="accent1"/>
                </a:solidFill>
              </a:rPr>
              <a:t>＊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baseline="30000" dirty="0">
                <a:solidFill>
                  <a:schemeClr val="accent1"/>
                </a:solidFill>
              </a:rPr>
              <a:t>-1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en-US" dirty="0">
                <a:solidFill>
                  <a:schemeClr val="accent1"/>
                </a:solidFill>
              </a:rPr>
              <a:t>＊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 err="1">
                <a:solidFill>
                  <a:schemeClr val="accent1"/>
                </a:solidFill>
              </a:rPr>
              <a:t>a</a:t>
            </a:r>
            <a:r>
              <a:rPr lang="en-US" altLang="en-US" dirty="0" err="1">
                <a:solidFill>
                  <a:schemeClr val="accent1"/>
                </a:solidFill>
              </a:rPr>
              <a:t>＊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＝</a:t>
            </a:r>
            <a:r>
              <a:rPr lang="en-US" altLang="zh-CN" dirty="0"/>
              <a:t>b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a)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e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  <a:r>
              <a:rPr lang="zh-CN" altLang="en-US" dirty="0">
                <a:solidFill>
                  <a:schemeClr val="accent1"/>
                </a:solidFill>
              </a:rPr>
              <a:t>＝</a:t>
            </a:r>
            <a:r>
              <a:rPr lang="en-US" altLang="zh-CN" dirty="0">
                <a:solidFill>
                  <a:schemeClr val="accent1"/>
                </a:solidFill>
              </a:rPr>
              <a:t>e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同理  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dirty="0"/>
              <a:t>)</a:t>
            </a:r>
            <a:r>
              <a:rPr lang="en-US" altLang="en-US" dirty="0"/>
              <a:t>＊</a:t>
            </a:r>
            <a:r>
              <a:rPr lang="en-US" altLang="zh-CN" dirty="0"/>
              <a:t>(b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3D68584-F41A-B050-0461-B39933DD9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CC9A619-DA21-ADC2-FF3C-386D415EF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675687" cy="4941887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5.3.3 </a:t>
            </a:r>
            <a:r>
              <a:rPr lang="zh-CN" altLang="en-US"/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中不可能有零元。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en-US" altLang="zh-CN"/>
              <a:t>(1)|G|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时，唯一元素即幺元。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(2)|G|</a:t>
            </a:r>
            <a:r>
              <a:rPr lang="zh-CN" altLang="en-US"/>
              <a:t>＞</a:t>
            </a:r>
            <a:r>
              <a:rPr lang="en-US" altLang="zh-CN"/>
              <a:t>1</a:t>
            </a:r>
            <a:r>
              <a:rPr lang="zh-CN" altLang="en-US"/>
              <a:t>时，假设群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有零元</a:t>
            </a:r>
            <a:r>
              <a:rPr lang="en-US" altLang="zh-CN"/>
              <a:t>O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则对任意</a:t>
            </a:r>
            <a:r>
              <a:rPr lang="en-US" altLang="zh-CN"/>
              <a:t>x∈G</a:t>
            </a:r>
            <a:r>
              <a:rPr lang="zh-CN" altLang="en-US"/>
              <a:t>有</a:t>
            </a:r>
            <a:r>
              <a:rPr lang="en-US" altLang="zh-CN"/>
              <a:t>x</a:t>
            </a:r>
            <a:r>
              <a:rPr lang="en-US" altLang="en-US"/>
              <a:t>＊</a:t>
            </a:r>
            <a:r>
              <a:rPr lang="en-US" altLang="zh-CN"/>
              <a:t>O</a:t>
            </a:r>
            <a:r>
              <a:rPr lang="zh-CN" altLang="en-US"/>
              <a:t>＝</a:t>
            </a:r>
            <a:r>
              <a:rPr lang="en-US" altLang="zh-CN"/>
              <a:t>O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O</a:t>
            </a:r>
            <a:r>
              <a:rPr lang="zh-CN" altLang="en-US"/>
              <a:t>，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由于</a:t>
            </a:r>
            <a:r>
              <a:rPr lang="en-US" altLang="zh-CN"/>
              <a:t>O≠e</a:t>
            </a:r>
            <a:r>
              <a:rPr lang="zh-CN" altLang="en-US"/>
              <a:t>，所以零元</a:t>
            </a:r>
            <a:r>
              <a:rPr lang="en-US" altLang="zh-CN"/>
              <a:t>O</a:t>
            </a:r>
            <a:r>
              <a:rPr lang="zh-CN" altLang="en-US"/>
              <a:t>就不存在逆元。</a:t>
            </a:r>
            <a:r>
              <a:rPr lang="zh-CN" altLang="en-US">
                <a:solidFill>
                  <a:srgbClr val="FF00FF"/>
                </a:solidFill>
              </a:rPr>
              <a:t>矛盾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D699427-3860-B015-3489-872EC1981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491C28-A91F-707C-9ED0-EEE00E292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486775" cy="5013325"/>
          </a:xfrm>
        </p:spPr>
        <p:txBody>
          <a:bodyPr/>
          <a:lstStyle/>
          <a:p>
            <a:pPr eaLnBrk="1" hangingPunct="1">
              <a:lnSpc>
                <a:spcPct val="185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5.3.4</a:t>
            </a:r>
            <a:r>
              <a:rPr lang="en-US" altLang="zh-CN" b="1"/>
              <a:t> </a:t>
            </a:r>
            <a:r>
              <a:rPr lang="zh-CN" altLang="en-US"/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中幺元</a:t>
            </a:r>
            <a:r>
              <a:rPr lang="en-US" altLang="zh-CN"/>
              <a:t>e</a:t>
            </a:r>
            <a:r>
              <a:rPr lang="zh-CN" altLang="en-US"/>
              <a:t>是唯一幂等元。 </a:t>
            </a:r>
            <a:endParaRPr lang="zh-CN" altLang="en-US" b="1"/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证明</a:t>
            </a:r>
            <a:r>
              <a:rPr lang="zh-CN" altLang="en-US"/>
              <a:t> </a:t>
            </a:r>
            <a:r>
              <a:rPr lang="en-US" altLang="zh-CN"/>
              <a:t>(1)</a:t>
            </a:r>
            <a:r>
              <a:rPr lang="zh-CN" altLang="en-US"/>
              <a:t>因为</a:t>
            </a:r>
            <a:r>
              <a:rPr lang="en-US" altLang="zh-CN"/>
              <a:t>e</a:t>
            </a:r>
            <a:r>
              <a:rPr lang="en-US" altLang="en-US"/>
              <a:t>＊</a:t>
            </a:r>
            <a:r>
              <a:rPr lang="en-US" altLang="zh-CN"/>
              <a:t>e</a:t>
            </a:r>
            <a:r>
              <a:rPr lang="zh-CN" altLang="en-US"/>
              <a:t>＝</a:t>
            </a:r>
            <a:r>
              <a:rPr lang="en-US" altLang="zh-CN"/>
              <a:t>e</a:t>
            </a:r>
            <a:r>
              <a:rPr lang="zh-CN" altLang="en-US"/>
              <a:t>，所以</a:t>
            </a:r>
            <a:r>
              <a:rPr lang="en-US" altLang="zh-CN"/>
              <a:t>e</a:t>
            </a:r>
            <a:r>
              <a:rPr lang="zh-CN" altLang="en-US"/>
              <a:t>是幂等元。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(2)</a:t>
            </a:r>
            <a:r>
              <a:rPr lang="zh-CN" altLang="en-US"/>
              <a:t>假设</a:t>
            </a:r>
            <a:r>
              <a:rPr lang="en-US" altLang="zh-CN"/>
              <a:t>a∈A</a:t>
            </a:r>
            <a:r>
              <a:rPr lang="zh-CN" altLang="en-US"/>
              <a:t>，</a:t>
            </a:r>
            <a:r>
              <a:rPr lang="en-US" altLang="zh-CN"/>
              <a:t>a≠e</a:t>
            </a:r>
            <a:r>
              <a:rPr lang="zh-CN" altLang="en-US"/>
              <a:t>满足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zh-CN" altLang="en-US"/>
              <a:t>。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则  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e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(a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a)</a:t>
            </a:r>
            <a:r>
              <a:rPr lang="en-US" altLang="en-US"/>
              <a:t>＊</a:t>
            </a:r>
            <a:r>
              <a:rPr lang="en-US" altLang="zh-CN"/>
              <a:t>a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(a</a:t>
            </a:r>
            <a:r>
              <a:rPr lang="en-US" altLang="en-US"/>
              <a:t>＊</a:t>
            </a:r>
            <a:r>
              <a:rPr lang="en-US" altLang="zh-CN"/>
              <a:t>a)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e     </a:t>
            </a:r>
            <a:r>
              <a:rPr lang="zh-CN" altLang="en-US">
                <a:solidFill>
                  <a:srgbClr val="FF00FF"/>
                </a:solidFill>
              </a:rPr>
              <a:t>矛盾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705BD83-7A1C-4AD1-4923-9217167EA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DD59F9F-604B-C7E5-A7B7-DA1847F681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675687" cy="4941887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5.3.5</a:t>
            </a:r>
            <a:r>
              <a:rPr lang="en-US" altLang="zh-CN"/>
              <a:t>(</a:t>
            </a:r>
            <a:r>
              <a:rPr lang="zh-CN" altLang="en-US">
                <a:solidFill>
                  <a:schemeClr val="accent1"/>
                </a:solidFill>
              </a:rPr>
              <a:t>消去律</a:t>
            </a:r>
            <a:r>
              <a:rPr lang="en-US" altLang="zh-CN"/>
              <a:t>)</a:t>
            </a:r>
            <a:r>
              <a:rPr lang="zh-CN" altLang="en-US"/>
              <a:t>设群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&gt;,</a:t>
            </a:r>
            <a:r>
              <a:rPr lang="zh-CN" altLang="en-US"/>
              <a:t>任意</a:t>
            </a:r>
            <a:r>
              <a:rPr lang="en-US" altLang="zh-CN"/>
              <a:t>a,b,c∈G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(1)</a:t>
            </a:r>
            <a:r>
              <a:rPr lang="zh-CN" altLang="en-US"/>
              <a:t>若</a:t>
            </a:r>
            <a:r>
              <a:rPr lang="en-US" altLang="zh-CN">
                <a:solidFill>
                  <a:srgbClr val="FF00FF"/>
                </a:solidFill>
              </a:rPr>
              <a:t>a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>
                <a:solidFill>
                  <a:srgbClr val="FF00FF"/>
                </a:solidFill>
              </a:rPr>
              <a:t>a</a:t>
            </a:r>
            <a:r>
              <a:rPr lang="en-US" altLang="en-US"/>
              <a:t>＊</a:t>
            </a:r>
            <a:r>
              <a:rPr lang="en-US" altLang="zh-CN"/>
              <a:t>c</a:t>
            </a:r>
            <a:r>
              <a:rPr lang="zh-CN" altLang="en-US"/>
              <a:t>，则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c (</a:t>
            </a:r>
            <a:r>
              <a:rPr lang="zh-CN" altLang="en-US">
                <a:solidFill>
                  <a:srgbClr val="FF0000"/>
                </a:solidFill>
              </a:rPr>
              <a:t>左</a:t>
            </a:r>
            <a:r>
              <a:rPr lang="zh-CN" altLang="en-US"/>
              <a:t>消去律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(2)</a:t>
            </a:r>
            <a:r>
              <a:rPr lang="zh-CN" altLang="en-US"/>
              <a:t>若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zh-CN" altLang="en-US"/>
              <a:t>＝</a:t>
            </a:r>
            <a:r>
              <a:rPr lang="en-US" altLang="zh-CN"/>
              <a:t>c</a:t>
            </a:r>
            <a:r>
              <a:rPr lang="en-US" altLang="en-US"/>
              <a:t>＊</a:t>
            </a:r>
            <a:r>
              <a:rPr lang="en-US" altLang="zh-CN">
                <a:solidFill>
                  <a:schemeClr val="accent1"/>
                </a:solidFill>
              </a:rPr>
              <a:t>a</a:t>
            </a:r>
            <a:r>
              <a:rPr lang="zh-CN" altLang="en-US"/>
              <a:t>，则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c (</a:t>
            </a:r>
            <a:r>
              <a:rPr lang="zh-CN" altLang="en-US">
                <a:solidFill>
                  <a:schemeClr val="accent1"/>
                </a:solidFill>
              </a:rPr>
              <a:t>右</a:t>
            </a:r>
            <a:r>
              <a:rPr lang="zh-CN" altLang="en-US"/>
              <a:t>消去律</a:t>
            </a:r>
            <a:r>
              <a:rPr lang="en-US" altLang="zh-CN"/>
              <a:t>)</a:t>
            </a:r>
            <a:endParaRPr lang="en-US" altLang="zh-CN" b="1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 </a:t>
            </a:r>
            <a:r>
              <a:rPr lang="en-US" altLang="zh-CN"/>
              <a:t>(1)           a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c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(a</a:t>
            </a:r>
            <a:r>
              <a:rPr lang="en-US" altLang="en-US"/>
              <a:t>＊</a:t>
            </a:r>
            <a:r>
              <a:rPr lang="en-US" altLang="zh-CN"/>
              <a:t>b)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(a</a:t>
            </a:r>
            <a:r>
              <a:rPr lang="en-US" altLang="en-US"/>
              <a:t>＊</a:t>
            </a:r>
            <a:r>
              <a:rPr lang="en-US" altLang="zh-CN"/>
              <a:t>c)</a:t>
            </a:r>
            <a:r>
              <a:rPr lang="zh-CN" altLang="en-US"/>
              <a:t>　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</a:t>
            </a:r>
            <a:r>
              <a:rPr lang="en-US" altLang="zh-CN"/>
              <a:t>(a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a)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(a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a) </a:t>
            </a:r>
            <a:r>
              <a:rPr lang="en-US" altLang="en-US"/>
              <a:t>＊</a:t>
            </a:r>
            <a:r>
              <a:rPr lang="en-US" altLang="zh-CN"/>
              <a:t>c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                  </a:t>
            </a:r>
            <a:r>
              <a:rPr lang="en-US" altLang="zh-CN"/>
              <a:t>e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e</a:t>
            </a:r>
            <a:r>
              <a:rPr lang="en-US" altLang="en-US"/>
              <a:t>＊</a:t>
            </a:r>
            <a:r>
              <a:rPr lang="en-US" altLang="zh-CN"/>
              <a:t>c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                       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c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11CF46A-A769-99EB-15B4-8E5CCD028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B03D14-DB28-2550-4ADC-7A10CA0E1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916113"/>
            <a:ext cx="8640762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5.3.6   </a:t>
            </a:r>
            <a:r>
              <a:rPr lang="zh-CN" altLang="en-US"/>
              <a:t>设群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，任意</a:t>
            </a:r>
            <a:r>
              <a:rPr lang="en-US" altLang="zh-CN"/>
              <a:t>a,b∈G</a:t>
            </a:r>
            <a:r>
              <a:rPr lang="zh-CN" altLang="en-US"/>
              <a:t>，方程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zh-CN" altLang="en-US"/>
              <a:t>与</a:t>
            </a:r>
            <a:r>
              <a:rPr lang="en-US" altLang="zh-CN">
                <a:solidFill>
                  <a:srgbClr val="CC0066"/>
                </a:solidFill>
              </a:rPr>
              <a:t>y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zh-CN" altLang="en-US"/>
              <a:t>都有唯一解。</a:t>
            </a:r>
            <a:endParaRPr lang="zh-CN" altLang="en-US" b="1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证明</a:t>
            </a:r>
            <a:r>
              <a:rPr lang="en-US" altLang="zh-CN"/>
              <a:t>(1)</a:t>
            </a:r>
            <a:r>
              <a:rPr lang="zh-CN" altLang="en-US"/>
              <a:t>令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，则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(a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b)</a:t>
            </a:r>
            <a:r>
              <a:rPr lang="zh-CN" altLang="en-US"/>
              <a:t>＝</a:t>
            </a:r>
            <a:r>
              <a:rPr lang="en-US" altLang="zh-CN"/>
              <a:t>(a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zh-CN"/>
              <a:t>)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e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b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(2)</a:t>
            </a:r>
            <a:r>
              <a:rPr lang="zh-CN" altLang="en-US"/>
              <a:t>假设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zh-CN" altLang="en-US"/>
              <a:t>另有一解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zh-CN" altLang="en-US"/>
              <a:t>，即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zh-CN" altLang="en-US"/>
              <a:t>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于是     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endParaRPr lang="en-US" altLang="zh-CN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从而          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5E1B60C-85C9-E604-0680-C7CB9C0F1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6BCD238-A259-0022-A358-86D236AE3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5.3.4</a:t>
            </a:r>
            <a:r>
              <a:rPr lang="zh-CN" altLang="en-US"/>
              <a:t>设群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/>
              <a:t>解关于</a:t>
            </a:r>
            <a:r>
              <a:rPr lang="en-US" altLang="zh-CN"/>
              <a:t>x</a:t>
            </a:r>
            <a:r>
              <a:rPr lang="zh-CN" altLang="en-US"/>
              <a:t>的方程。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/>
              <a:t>(1) a</a:t>
            </a:r>
            <a:r>
              <a:rPr lang="en-US" altLang="en-US"/>
              <a:t>＊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c          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(2) a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30000"/>
              <a:t>2</a:t>
            </a:r>
            <a:r>
              <a:rPr lang="zh-CN" altLang="en-US"/>
              <a:t>且</a:t>
            </a:r>
            <a:r>
              <a:rPr lang="en-US" altLang="zh-CN"/>
              <a:t>x</a:t>
            </a:r>
            <a:r>
              <a:rPr lang="en-US" altLang="zh-CN" baseline="30000"/>
              <a:t>3</a:t>
            </a:r>
            <a:r>
              <a:rPr lang="zh-CN" altLang="en-US"/>
              <a:t>＝</a:t>
            </a:r>
            <a:r>
              <a:rPr lang="en-US" altLang="zh-CN"/>
              <a:t>e(e</a:t>
            </a:r>
            <a:r>
              <a:rPr lang="zh-CN" altLang="en-US"/>
              <a:t>幺元</a:t>
            </a:r>
            <a:r>
              <a:rPr lang="en-US" altLang="zh-CN"/>
              <a:t>)   </a:t>
            </a:r>
            <a:endParaRPr lang="en-US" altLang="zh-CN" b="1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    </a:t>
            </a:r>
            <a:r>
              <a:rPr lang="zh-CN" altLang="en-US" b="1">
                <a:solidFill>
                  <a:schemeClr val="hlink"/>
                </a:solidFill>
              </a:rPr>
              <a:t>解</a:t>
            </a:r>
            <a:r>
              <a:rPr lang="en-US" altLang="zh-CN"/>
              <a:t>(1)x</a:t>
            </a:r>
            <a:r>
              <a:rPr lang="zh-CN" altLang="en-US"/>
              <a:t>＝</a:t>
            </a:r>
            <a:r>
              <a:rPr lang="en-US" altLang="zh-CN"/>
              <a:t>(a</a:t>
            </a:r>
            <a:r>
              <a:rPr lang="en-US" altLang="en-US"/>
              <a:t>＊</a:t>
            </a:r>
            <a:r>
              <a:rPr lang="en-US" altLang="zh-CN"/>
              <a:t>b)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c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c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(2)</a:t>
            </a:r>
            <a:r>
              <a:rPr lang="zh-CN" altLang="en-US"/>
              <a:t>由       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30000"/>
              <a:t>2</a:t>
            </a:r>
            <a:r>
              <a:rPr lang="zh-CN" altLang="en-US"/>
              <a:t>   </a:t>
            </a:r>
            <a:endParaRPr lang="en-US" altLang="zh-CN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 </a:t>
            </a:r>
            <a:r>
              <a:rPr lang="en-US" altLang="zh-CN"/>
              <a:t>a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30000"/>
              <a:t>2</a:t>
            </a:r>
            <a:r>
              <a:rPr lang="en-US" altLang="en-US"/>
              <a:t>＊</a:t>
            </a:r>
            <a:r>
              <a:rPr lang="en-US" altLang="zh-CN"/>
              <a:t>x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 </a:t>
            </a:r>
            <a:r>
              <a:rPr lang="en-US" altLang="zh-CN">
                <a:solidFill>
                  <a:srgbClr val="00B0F0"/>
                </a:solidFill>
              </a:rPr>
              <a:t>a</a:t>
            </a:r>
            <a:r>
              <a:rPr lang="en-US" altLang="en-US">
                <a:solidFill>
                  <a:srgbClr val="00B0F0"/>
                </a:solidFill>
              </a:rPr>
              <a:t>＊</a:t>
            </a:r>
            <a:r>
              <a:rPr lang="en-US" altLang="zh-CN">
                <a:solidFill>
                  <a:srgbClr val="00B0F0"/>
                </a:solidFill>
              </a:rPr>
              <a:t>x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x</a:t>
            </a:r>
            <a:r>
              <a:rPr lang="en-US" altLang="zh-CN" baseline="30000"/>
              <a:t>3</a:t>
            </a:r>
            <a:r>
              <a:rPr lang="zh-CN" altLang="en-US"/>
              <a:t>＝</a:t>
            </a:r>
            <a:r>
              <a:rPr lang="en-US" altLang="zh-CN"/>
              <a:t>b</a:t>
            </a:r>
            <a:r>
              <a:rPr lang="en-US" altLang="en-US"/>
              <a:t>＊</a:t>
            </a:r>
            <a:r>
              <a:rPr lang="en-US" altLang="zh-CN"/>
              <a:t>e</a:t>
            </a:r>
            <a:r>
              <a:rPr lang="zh-CN" altLang="en-US"/>
              <a:t>＝</a:t>
            </a:r>
            <a:r>
              <a:rPr lang="en-US" altLang="zh-CN">
                <a:solidFill>
                  <a:srgbClr val="00B0F0"/>
                </a:solidFill>
              </a:rPr>
              <a:t>b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  x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b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4">
            <a:extLst>
              <a:ext uri="{FF2B5EF4-FFF2-40B4-BE49-F238E27FC236}">
                <a16:creationId xmlns:a16="http://schemas.microsoft.com/office/drawing/2014/main" id="{E6AFC3F0-3372-4065-CC5F-2C79A9D12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8C18815-6819-6C82-713C-C080B0F2D4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5.3.7 </a:t>
            </a:r>
            <a:r>
              <a:rPr lang="zh-CN" altLang="en-US" dirty="0"/>
              <a:t>群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运算表中的每行</a:t>
            </a:r>
            <a:r>
              <a:rPr lang="en-US" altLang="zh-CN" dirty="0"/>
              <a:t>(</a:t>
            </a:r>
            <a:r>
              <a:rPr lang="zh-CN" altLang="en-US" dirty="0"/>
              <a:t>或每列</a:t>
            </a:r>
            <a:r>
              <a:rPr lang="en-US" altLang="zh-CN" dirty="0"/>
              <a:t>)</a:t>
            </a:r>
            <a:r>
              <a:rPr lang="zh-CN" altLang="en-US" dirty="0"/>
              <a:t>都是</a:t>
            </a:r>
            <a:r>
              <a:rPr lang="en-US" altLang="zh-CN" dirty="0"/>
              <a:t>G</a:t>
            </a:r>
            <a:r>
              <a:rPr lang="zh-CN" altLang="en-US" dirty="0"/>
              <a:t>上的一个置换。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   证明 </a:t>
            </a:r>
            <a:r>
              <a:rPr lang="zh-CN" altLang="en-US" dirty="0">
                <a:solidFill>
                  <a:schemeClr val="accent1"/>
                </a:solidFill>
              </a:rPr>
              <a:t>任取</a:t>
            </a:r>
            <a:r>
              <a:rPr lang="en-US" altLang="zh-CN" dirty="0" err="1"/>
              <a:t>x∈G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CC0066"/>
                </a:solidFill>
              </a:rPr>
              <a:t>a</a:t>
            </a:r>
            <a:r>
              <a:rPr lang="en-US" altLang="en-US" dirty="0"/>
              <a:t>＊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x)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</a:p>
        </p:txBody>
      </p:sp>
      <p:graphicFrame>
        <p:nvGraphicFramePr>
          <p:cNvPr id="129107" name="Group 83">
            <a:extLst>
              <a:ext uri="{FF2B5EF4-FFF2-40B4-BE49-F238E27FC236}">
                <a16:creationId xmlns:a16="http://schemas.microsoft.com/office/drawing/2014/main" id="{33EC5802-7453-FEC9-B49A-FAEEBF1E3AA2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39490749"/>
              </p:ext>
            </p:extLst>
          </p:nvPr>
        </p:nvGraphicFramePr>
        <p:xfrm>
          <a:off x="2124075" y="4062413"/>
          <a:ext cx="4968875" cy="2538417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660" marB="4566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  <a:r>
                        <a:rPr lang="en-US" altLang="zh-CN" sz="3200" baseline="30000" dirty="0"/>
                        <a:t>-1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*x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….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4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660" marB="4566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x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….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563" name="Object 37">
            <a:extLst>
              <a:ext uri="{FF2B5EF4-FFF2-40B4-BE49-F238E27FC236}">
                <a16:creationId xmlns:a16="http://schemas.microsoft.com/office/drawing/2014/main" id="{8AD9AB63-7468-483F-1D2A-FB6D753092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7738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01" imgH="190252" progId="Equation.DSMT4">
                  <p:embed/>
                </p:oleObj>
              </mc:Choice>
              <mc:Fallback>
                <p:oleObj name="Equation" r:id="rId2" imgW="76101" imgH="19025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38">
            <a:extLst>
              <a:ext uri="{FF2B5EF4-FFF2-40B4-BE49-F238E27FC236}">
                <a16:creationId xmlns:a16="http://schemas.microsoft.com/office/drawing/2014/main" id="{BB06705A-6718-27C9-AC93-5DED5016DE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3725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01" imgH="190252" progId="Equation.DSMT4">
                  <p:embed/>
                </p:oleObj>
              </mc:Choice>
              <mc:Fallback>
                <p:oleObj name="Equation" r:id="rId4" imgW="76101" imgH="190252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39">
            <a:extLst>
              <a:ext uri="{FF2B5EF4-FFF2-40B4-BE49-F238E27FC236}">
                <a16:creationId xmlns:a16="http://schemas.microsoft.com/office/drawing/2014/main" id="{613B4213-CA7B-10BE-CDE7-3C4A6B684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01" imgH="190252" progId="Equation.DSMT4">
                  <p:embed/>
                </p:oleObj>
              </mc:Choice>
              <mc:Fallback>
                <p:oleObj name="Equation" r:id="rId5" imgW="76101" imgH="190252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40">
            <a:extLst>
              <a:ext uri="{FF2B5EF4-FFF2-40B4-BE49-F238E27FC236}">
                <a16:creationId xmlns:a16="http://schemas.microsoft.com/office/drawing/2014/main" id="{EAC785D6-B672-6602-FD96-606A86608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5899150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01" imgH="190252" progId="Equation.DSMT4">
                  <p:embed/>
                </p:oleObj>
              </mc:Choice>
              <mc:Fallback>
                <p:oleObj name="Equation" r:id="rId6" imgW="76101" imgH="190252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899150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48">
            <a:extLst>
              <a:ext uri="{FF2B5EF4-FFF2-40B4-BE49-F238E27FC236}">
                <a16:creationId xmlns:a16="http://schemas.microsoft.com/office/drawing/2014/main" id="{74BB37C3-3201-A9C6-0A1F-B650923CA8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01" imgH="190252" progId="Equation.DSMT4">
                  <p:embed/>
                </p:oleObj>
              </mc:Choice>
              <mc:Fallback>
                <p:oleObj name="Equation" r:id="rId7" imgW="76101" imgH="190252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85">
            <a:extLst>
              <a:ext uri="{FF2B5EF4-FFF2-40B4-BE49-F238E27FC236}">
                <a16:creationId xmlns:a16="http://schemas.microsoft.com/office/drawing/2014/main" id="{E1F15910-97D4-5DA0-D774-EE89E8B8051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67175" y="4868863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01" imgH="190252" progId="Equation.DSMT4">
                  <p:embed/>
                </p:oleObj>
              </mc:Choice>
              <mc:Fallback>
                <p:oleObj name="Equation" r:id="rId8" imgW="76101" imgH="19025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68863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4">
            <a:extLst>
              <a:ext uri="{FF2B5EF4-FFF2-40B4-BE49-F238E27FC236}">
                <a16:creationId xmlns:a16="http://schemas.microsoft.com/office/drawing/2014/main" id="{E6AFC3F0-3372-4065-CC5F-2C79A9D12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8C18815-6819-6C82-713C-C080B0F2D4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5.3.7 </a:t>
            </a:r>
            <a:r>
              <a:rPr lang="zh-CN" altLang="en-US"/>
              <a:t>群</a:t>
            </a:r>
            <a:r>
              <a:rPr lang="en-US" altLang="zh-CN">
                <a:latin typeface="宋体" panose="02010600030101010101" pitchFamily="2" charset="-122"/>
              </a:rPr>
              <a:t>&lt;</a:t>
            </a:r>
            <a:r>
              <a:rPr lang="en-US" altLang="zh-CN"/>
              <a:t>G,</a:t>
            </a:r>
            <a:r>
              <a:rPr lang="en-US" altLang="en-US"/>
              <a:t>＊</a:t>
            </a:r>
            <a:r>
              <a:rPr lang="en-US" altLang="zh-CN">
                <a:latin typeface="宋体" panose="02010600030101010101" pitchFamily="2" charset="-122"/>
              </a:rPr>
              <a:t>&gt;</a:t>
            </a:r>
            <a:r>
              <a:rPr lang="zh-CN" altLang="en-US"/>
              <a:t>运算表中的每行</a:t>
            </a:r>
            <a:r>
              <a:rPr lang="en-US" altLang="zh-CN"/>
              <a:t>(</a:t>
            </a:r>
            <a:r>
              <a:rPr lang="zh-CN" altLang="en-US"/>
              <a:t>或每列</a:t>
            </a:r>
            <a:r>
              <a:rPr lang="en-US" altLang="zh-CN"/>
              <a:t>)</a:t>
            </a:r>
            <a:r>
              <a:rPr lang="zh-CN" altLang="en-US"/>
              <a:t>都是</a:t>
            </a:r>
            <a:r>
              <a:rPr lang="en-US" altLang="zh-CN"/>
              <a:t>G</a:t>
            </a:r>
            <a:r>
              <a:rPr lang="zh-CN" altLang="en-US"/>
              <a:t>上的一个置换。</a:t>
            </a:r>
            <a:endParaRPr lang="zh-CN" altLang="en-US" b="1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证明 </a:t>
            </a:r>
            <a:r>
              <a:rPr lang="zh-CN" altLang="en-US">
                <a:solidFill>
                  <a:schemeClr val="accent1"/>
                </a:solidFill>
              </a:rPr>
              <a:t>任取</a:t>
            </a:r>
            <a:r>
              <a:rPr lang="en-US" altLang="zh-CN"/>
              <a:t>x∈G</a:t>
            </a:r>
            <a:r>
              <a:rPr lang="zh-CN" altLang="en-US"/>
              <a:t>，</a:t>
            </a:r>
            <a:r>
              <a:rPr lang="en-US" altLang="zh-CN">
                <a:solidFill>
                  <a:srgbClr val="CC0066"/>
                </a:solidFill>
              </a:rPr>
              <a:t>a</a:t>
            </a:r>
            <a:r>
              <a:rPr lang="en-US" altLang="en-US"/>
              <a:t>＊</a:t>
            </a:r>
            <a:r>
              <a:rPr lang="en-US" altLang="zh-CN"/>
              <a:t>(a</a:t>
            </a:r>
            <a:r>
              <a:rPr lang="en-US" altLang="zh-CN" baseline="30000"/>
              <a:t>-1</a:t>
            </a:r>
            <a:r>
              <a:rPr lang="en-US" altLang="en-US"/>
              <a:t>＊</a:t>
            </a:r>
            <a:r>
              <a:rPr lang="en-US" altLang="zh-CN"/>
              <a:t>x)</a:t>
            </a:r>
            <a:r>
              <a:rPr lang="zh-CN" altLang="en-US"/>
              <a:t>＝</a:t>
            </a:r>
            <a:r>
              <a:rPr lang="en-US" altLang="zh-CN"/>
              <a:t>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</a:p>
        </p:txBody>
      </p:sp>
      <p:graphicFrame>
        <p:nvGraphicFramePr>
          <p:cNvPr id="129107" name="Group 83">
            <a:extLst>
              <a:ext uri="{FF2B5EF4-FFF2-40B4-BE49-F238E27FC236}">
                <a16:creationId xmlns:a16="http://schemas.microsoft.com/office/drawing/2014/main" id="{33EC5802-7453-FEC9-B49A-FAEEBF1E3AA2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38598011"/>
              </p:ext>
            </p:extLst>
          </p:nvPr>
        </p:nvGraphicFramePr>
        <p:xfrm>
          <a:off x="2124075" y="4062413"/>
          <a:ext cx="4968875" cy="2538417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660" marB="4566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y1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y2  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4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T="45660" marB="4566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x=a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y1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x=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＊</a:t>
                      </a: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y2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  <a:r>
                        <a:rPr kumimoji="0" lang="zh-CN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charset="-122"/>
                        </a:rPr>
                        <a:t>…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563" name="Object 37">
            <a:extLst>
              <a:ext uri="{FF2B5EF4-FFF2-40B4-BE49-F238E27FC236}">
                <a16:creationId xmlns:a16="http://schemas.microsoft.com/office/drawing/2014/main" id="{8AD9AB63-7468-483F-1D2A-FB6D753092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7738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01" imgH="190252" progId="Equation.DSMT4">
                  <p:embed/>
                </p:oleObj>
              </mc:Choice>
              <mc:Fallback>
                <p:oleObj name="Equation" r:id="rId2" imgW="76101" imgH="190252" progId="Equation.DSMT4">
                  <p:embed/>
                  <p:pic>
                    <p:nvPicPr>
                      <p:cNvPr id="23563" name="Object 37">
                        <a:extLst>
                          <a:ext uri="{FF2B5EF4-FFF2-40B4-BE49-F238E27FC236}">
                            <a16:creationId xmlns:a16="http://schemas.microsoft.com/office/drawing/2014/main" id="{8AD9AB63-7468-483F-1D2A-FB6D753092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38">
            <a:extLst>
              <a:ext uri="{FF2B5EF4-FFF2-40B4-BE49-F238E27FC236}">
                <a16:creationId xmlns:a16="http://schemas.microsoft.com/office/drawing/2014/main" id="{BB06705A-6718-27C9-AC93-5DED5016DE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3725" y="48910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01" imgH="190252" progId="Equation.DSMT4">
                  <p:embed/>
                </p:oleObj>
              </mc:Choice>
              <mc:Fallback>
                <p:oleObj name="Equation" r:id="rId4" imgW="76101" imgH="190252" progId="Equation.DSMT4">
                  <p:embed/>
                  <p:pic>
                    <p:nvPicPr>
                      <p:cNvPr id="23564" name="Object 38">
                        <a:extLst>
                          <a:ext uri="{FF2B5EF4-FFF2-40B4-BE49-F238E27FC236}">
                            <a16:creationId xmlns:a16="http://schemas.microsoft.com/office/drawing/2014/main" id="{BB06705A-6718-27C9-AC93-5DED5016DE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48910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39">
            <a:extLst>
              <a:ext uri="{FF2B5EF4-FFF2-40B4-BE49-F238E27FC236}">
                <a16:creationId xmlns:a16="http://schemas.microsoft.com/office/drawing/2014/main" id="{613B4213-CA7B-10BE-CDE7-3C4A6B684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01" imgH="190252" progId="Equation.DSMT4">
                  <p:embed/>
                </p:oleObj>
              </mc:Choice>
              <mc:Fallback>
                <p:oleObj name="Equation" r:id="rId5" imgW="76101" imgH="190252" progId="Equation.DSMT4">
                  <p:embed/>
                  <p:pic>
                    <p:nvPicPr>
                      <p:cNvPr id="23565" name="Object 39">
                        <a:extLst>
                          <a:ext uri="{FF2B5EF4-FFF2-40B4-BE49-F238E27FC236}">
                            <a16:creationId xmlns:a16="http://schemas.microsoft.com/office/drawing/2014/main" id="{613B4213-CA7B-10BE-CDE7-3C4A6B684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40">
            <a:extLst>
              <a:ext uri="{FF2B5EF4-FFF2-40B4-BE49-F238E27FC236}">
                <a16:creationId xmlns:a16="http://schemas.microsoft.com/office/drawing/2014/main" id="{EAC785D6-B672-6602-FD96-606A86608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5899150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01" imgH="190252" progId="Equation.DSMT4">
                  <p:embed/>
                </p:oleObj>
              </mc:Choice>
              <mc:Fallback>
                <p:oleObj name="Equation" r:id="rId6" imgW="76101" imgH="190252" progId="Equation.DSMT4">
                  <p:embed/>
                  <p:pic>
                    <p:nvPicPr>
                      <p:cNvPr id="23566" name="Object 40">
                        <a:extLst>
                          <a:ext uri="{FF2B5EF4-FFF2-40B4-BE49-F238E27FC236}">
                            <a16:creationId xmlns:a16="http://schemas.microsoft.com/office/drawing/2014/main" id="{EAC785D6-B672-6602-FD96-606A86608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899150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48">
            <a:extLst>
              <a:ext uri="{FF2B5EF4-FFF2-40B4-BE49-F238E27FC236}">
                <a16:creationId xmlns:a16="http://schemas.microsoft.com/office/drawing/2014/main" id="{74BB37C3-3201-A9C6-0A1F-B650923CA8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970588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01" imgH="190252" progId="Equation.DSMT4">
                  <p:embed/>
                </p:oleObj>
              </mc:Choice>
              <mc:Fallback>
                <p:oleObj name="Equation" r:id="rId7" imgW="76101" imgH="190252" progId="Equation.DSMT4">
                  <p:embed/>
                  <p:pic>
                    <p:nvPicPr>
                      <p:cNvPr id="23567" name="Object 48">
                        <a:extLst>
                          <a:ext uri="{FF2B5EF4-FFF2-40B4-BE49-F238E27FC236}">
                            <a16:creationId xmlns:a16="http://schemas.microsoft.com/office/drawing/2014/main" id="{74BB37C3-3201-A9C6-0A1F-B650923CA8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70588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85">
            <a:extLst>
              <a:ext uri="{FF2B5EF4-FFF2-40B4-BE49-F238E27FC236}">
                <a16:creationId xmlns:a16="http://schemas.microsoft.com/office/drawing/2014/main" id="{E1F15910-97D4-5DA0-D774-EE89E8B8051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67175" y="4868863"/>
          <a:ext cx="193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01" imgH="190252" progId="Equation.DSMT4">
                  <p:embed/>
                </p:oleObj>
              </mc:Choice>
              <mc:Fallback>
                <p:oleObj name="Equation" r:id="rId8" imgW="76101" imgH="190252" progId="Equation.DSMT4">
                  <p:embed/>
                  <p:pic>
                    <p:nvPicPr>
                      <p:cNvPr id="23568" name="Object 85">
                        <a:extLst>
                          <a:ext uri="{FF2B5EF4-FFF2-40B4-BE49-F238E27FC236}">
                            <a16:creationId xmlns:a16="http://schemas.microsoft.com/office/drawing/2014/main" id="{E1F15910-97D4-5DA0-D774-EE89E8B805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68863"/>
                        <a:ext cx="193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610705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65006D7-A443-11DE-6A8A-79366A0BE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5.3.2 </a:t>
            </a:r>
            <a:r>
              <a:rPr lang="zh-CN" altLang="en-US" sz="5400"/>
              <a:t>群的性质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EE7C371-8D99-3F5B-DE0A-ADC1D13DCE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defTabSz="901700" eaLnBrk="1" hangingPunct="1">
              <a:lnSpc>
                <a:spcPct val="120000"/>
              </a:lnSpc>
              <a:tabLst>
                <a:tab pos="6184900" algn="l"/>
              </a:tabLst>
            </a:pPr>
            <a:r>
              <a:rPr lang="zh-CN" altLang="en-US" sz="2800">
                <a:solidFill>
                  <a:schemeClr val="hlink"/>
                </a:solidFill>
              </a:rPr>
              <a:t>例如</a:t>
            </a:r>
            <a:r>
              <a:rPr lang="zh-CN" altLang="en-US" sz="2800"/>
              <a:t>，</a:t>
            </a:r>
            <a:r>
              <a:rPr lang="zh-CN" altLang="en-US" sz="2800">
                <a:solidFill>
                  <a:schemeClr val="accent1"/>
                </a:solidFill>
              </a:rPr>
              <a:t>群</a:t>
            </a:r>
            <a:r>
              <a:rPr lang="en-US" altLang="zh-CN" sz="2800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N</a:t>
            </a:r>
            <a:r>
              <a:rPr lang="en-US" altLang="zh-CN" sz="2800" baseline="-25000"/>
              <a:t>6</a:t>
            </a:r>
            <a:r>
              <a:rPr lang="en-US" altLang="zh-CN" sz="2800"/>
              <a:t>,</a:t>
            </a:r>
            <a:r>
              <a:rPr lang="en-US" altLang="en-US" sz="2800"/>
              <a:t>＋</a:t>
            </a:r>
            <a:r>
              <a:rPr lang="en-US" altLang="zh-CN" sz="2800" baseline="-25000"/>
              <a:t>6</a:t>
            </a:r>
            <a:r>
              <a:rPr lang="en-US" altLang="zh-CN" sz="2800">
                <a:latin typeface="宋体" panose="02010600030101010101" pitchFamily="2" charset="-122"/>
              </a:rPr>
              <a:t>&gt;,</a:t>
            </a:r>
            <a:r>
              <a:rPr lang="en-US" altLang="zh-CN" sz="2800"/>
              <a:t> </a:t>
            </a:r>
            <a:r>
              <a:rPr lang="zh-CN" altLang="en-US" sz="2800"/>
              <a:t>其中</a:t>
            </a:r>
            <a:r>
              <a:rPr lang="en-US" altLang="zh-CN" sz="2800"/>
              <a:t>N</a:t>
            </a:r>
            <a:r>
              <a:rPr lang="en-US" altLang="zh-CN" sz="2800" baseline="-25000"/>
              <a:t>6</a:t>
            </a:r>
            <a:r>
              <a:rPr lang="zh-CN" altLang="en-US" sz="2800"/>
              <a:t>＝</a:t>
            </a:r>
            <a:r>
              <a:rPr lang="en-US" altLang="zh-CN" sz="2800"/>
              <a:t>{0,1,2,3,4,5}</a:t>
            </a:r>
            <a:r>
              <a:rPr lang="zh-CN" altLang="en-US" sz="2800"/>
              <a:t>，任取</a:t>
            </a:r>
            <a:r>
              <a:rPr lang="en-US" altLang="zh-CN" sz="2800"/>
              <a:t>x,y∈N</a:t>
            </a:r>
            <a:r>
              <a:rPr lang="en-US" altLang="zh-CN" sz="2800" baseline="-25000"/>
              <a:t>6</a:t>
            </a:r>
            <a:r>
              <a:rPr lang="zh-CN" altLang="en-US" sz="2800"/>
              <a:t>，</a:t>
            </a:r>
            <a:r>
              <a:rPr lang="en-US" altLang="zh-CN" sz="2800"/>
              <a:t>x</a:t>
            </a:r>
            <a:r>
              <a:rPr lang="en-US" altLang="en-US" sz="2800"/>
              <a:t>＋</a:t>
            </a:r>
            <a:r>
              <a:rPr lang="en-US" altLang="zh-CN" sz="2800" baseline="-25000"/>
              <a:t>6</a:t>
            </a:r>
            <a:r>
              <a:rPr lang="en-US" altLang="zh-CN" sz="2800"/>
              <a:t>y</a:t>
            </a:r>
            <a:r>
              <a:rPr lang="zh-CN" altLang="en-US" sz="2800"/>
              <a:t>＝</a:t>
            </a:r>
            <a:r>
              <a:rPr lang="en-US" altLang="zh-CN" sz="2800"/>
              <a:t>(x</a:t>
            </a:r>
            <a:r>
              <a:rPr lang="en-US" altLang="en-US" sz="2800"/>
              <a:t>＋</a:t>
            </a:r>
            <a:r>
              <a:rPr lang="en-US" altLang="zh-CN" sz="2800"/>
              <a:t>y)mod 6 </a:t>
            </a:r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  <a:p>
            <a:pPr defTabSz="901700" eaLnBrk="1" hangingPunct="1">
              <a:tabLst>
                <a:tab pos="6184900" algn="l"/>
              </a:tabLst>
            </a:pPr>
            <a:endParaRPr lang="en-US" altLang="zh-CN" sz="2800"/>
          </a:p>
        </p:txBody>
      </p:sp>
      <p:graphicFrame>
        <p:nvGraphicFramePr>
          <p:cNvPr id="149548" name="Group 44">
            <a:extLst>
              <a:ext uri="{FF2B5EF4-FFF2-40B4-BE49-F238E27FC236}">
                <a16:creationId xmlns:a16="http://schemas.microsoft.com/office/drawing/2014/main" id="{3DAD9AB3-EEF0-39F9-69FB-1567EB9C84FE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619250" y="3130550"/>
          <a:ext cx="4321175" cy="3597275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0   1   2   3   4   5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5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0   1   2   3   4   5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1   2   3   4   5   0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2   3   4   5   0   1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3   4   5   0   1   2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4   5   0   1   2   3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5   0   1   2   3   4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9">
            <a:extLst>
              <a:ext uri="{FF2B5EF4-FFF2-40B4-BE49-F238E27FC236}">
                <a16:creationId xmlns:a16="http://schemas.microsoft.com/office/drawing/2014/main" id="{ED5848BC-5B6B-22AD-384B-40B7F561E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6C4EF85-C345-52F8-34CC-11A3FF9C689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44675"/>
            <a:ext cx="8820150" cy="5013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定义</a:t>
            </a:r>
            <a:r>
              <a:rPr lang="en-US" altLang="zh-CN" sz="2800">
                <a:solidFill>
                  <a:schemeClr val="hlink"/>
                </a:solidFill>
              </a:rPr>
              <a:t>5.3.1</a:t>
            </a:r>
            <a:r>
              <a:rPr lang="en-US" altLang="zh-CN" sz="2800"/>
              <a:t> </a:t>
            </a:r>
            <a:r>
              <a:rPr lang="zh-CN" altLang="en-US" sz="2800"/>
              <a:t>设</a:t>
            </a:r>
            <a:r>
              <a:rPr lang="en-US" altLang="zh-CN" sz="2800"/>
              <a:t>e</a:t>
            </a:r>
            <a:r>
              <a:rPr lang="zh-CN" altLang="en-US" sz="2800"/>
              <a:t>是群</a:t>
            </a:r>
            <a:r>
              <a:rPr lang="en-US" altLang="zh-CN" sz="2800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G,</a:t>
            </a:r>
            <a:r>
              <a:rPr lang="en-US" altLang="en-US" sz="2800"/>
              <a:t>＊</a:t>
            </a:r>
            <a:r>
              <a:rPr lang="en-US" altLang="zh-CN" sz="2800">
                <a:latin typeface="宋体" panose="02010600030101010101" pitchFamily="2" charset="-122"/>
              </a:rPr>
              <a:t>&gt;</a:t>
            </a:r>
            <a:r>
              <a:rPr lang="zh-CN" altLang="en-US" sz="2800"/>
              <a:t>的幺元，</a:t>
            </a:r>
            <a:r>
              <a:rPr lang="en-US" altLang="zh-CN" sz="2800"/>
              <a:t>a∈G</a:t>
            </a:r>
            <a:r>
              <a:rPr lang="zh-CN" altLang="en-US" sz="2800"/>
              <a:t>，满足</a:t>
            </a:r>
            <a:r>
              <a:rPr lang="en-US" altLang="zh-CN" sz="2800"/>
              <a:t>a</a:t>
            </a:r>
            <a:r>
              <a:rPr lang="en-US" altLang="zh-CN" sz="2800" baseline="30000"/>
              <a:t>k</a:t>
            </a:r>
            <a:r>
              <a:rPr lang="zh-CN" altLang="en-US" sz="2800"/>
              <a:t>＝</a:t>
            </a:r>
            <a:r>
              <a:rPr lang="en-US" altLang="zh-CN" sz="2800"/>
              <a:t>e</a:t>
            </a:r>
            <a:r>
              <a:rPr lang="zh-CN" altLang="en-US" sz="2800"/>
              <a:t>的</a:t>
            </a:r>
            <a:r>
              <a:rPr lang="zh-CN" altLang="en-US" sz="2800">
                <a:solidFill>
                  <a:schemeClr val="accent1"/>
                </a:solidFill>
              </a:rPr>
              <a:t>最小</a:t>
            </a:r>
            <a:r>
              <a:rPr lang="zh-CN" altLang="en-US" sz="2800">
                <a:solidFill>
                  <a:srgbClr val="CC0066"/>
                </a:solidFill>
              </a:rPr>
              <a:t>正整数</a:t>
            </a:r>
            <a:r>
              <a:rPr lang="en-US" altLang="zh-CN" sz="2800"/>
              <a:t>k</a:t>
            </a:r>
            <a:r>
              <a:rPr lang="zh-CN" altLang="en-US" sz="2800"/>
              <a:t>，称为元素</a:t>
            </a:r>
            <a:r>
              <a:rPr lang="en-US" altLang="zh-CN" sz="2800"/>
              <a:t>a</a:t>
            </a:r>
            <a:r>
              <a:rPr lang="zh-CN" altLang="en-US" sz="2800"/>
              <a:t>的</a:t>
            </a:r>
            <a:r>
              <a:rPr lang="zh-CN" altLang="en-US" sz="2800" b="1">
                <a:solidFill>
                  <a:schemeClr val="hlink"/>
                </a:solidFill>
              </a:rPr>
              <a:t>阶</a:t>
            </a:r>
            <a:r>
              <a:rPr lang="zh-CN" altLang="en-US" sz="2800"/>
              <a:t>，记作</a:t>
            </a:r>
            <a:r>
              <a:rPr lang="en-US" altLang="zh-CN" sz="2800"/>
              <a:t>|a|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例如</a:t>
            </a:r>
            <a:r>
              <a:rPr lang="zh-CN" altLang="en-US" sz="2800"/>
              <a:t>，</a:t>
            </a:r>
            <a:r>
              <a:rPr lang="zh-CN" altLang="en-US" sz="2800">
                <a:solidFill>
                  <a:schemeClr val="accent1"/>
                </a:solidFill>
              </a:rPr>
              <a:t>群</a:t>
            </a:r>
            <a:r>
              <a:rPr lang="en-US" altLang="zh-CN" sz="2800">
                <a:latin typeface="宋体" panose="02010600030101010101" pitchFamily="2" charset="-122"/>
              </a:rPr>
              <a:t>&lt;</a:t>
            </a:r>
            <a:r>
              <a:rPr lang="en-US" altLang="zh-CN" sz="2800"/>
              <a:t>N</a:t>
            </a:r>
            <a:r>
              <a:rPr lang="en-US" altLang="zh-CN" sz="2800" baseline="-25000"/>
              <a:t>6</a:t>
            </a:r>
            <a:r>
              <a:rPr lang="en-US" altLang="zh-CN" sz="2800"/>
              <a:t>,</a:t>
            </a:r>
            <a:r>
              <a:rPr lang="en-US" altLang="en-US" sz="2800"/>
              <a:t>＋</a:t>
            </a:r>
            <a:r>
              <a:rPr lang="en-US" altLang="zh-CN" sz="2800" baseline="-25000"/>
              <a:t>6</a:t>
            </a:r>
            <a:r>
              <a:rPr lang="en-US" altLang="zh-CN" sz="2800">
                <a:latin typeface="宋体" panose="02010600030101010101" pitchFamily="2" charset="-122"/>
              </a:rPr>
              <a:t>&gt;</a:t>
            </a:r>
          </a:p>
        </p:txBody>
      </p:sp>
      <p:graphicFrame>
        <p:nvGraphicFramePr>
          <p:cNvPr id="131094" name="Group 22">
            <a:extLst>
              <a:ext uri="{FF2B5EF4-FFF2-40B4-BE49-F238E27FC236}">
                <a16:creationId xmlns:a16="http://schemas.microsoft.com/office/drawing/2014/main" id="{D2A5B20C-A4B1-EF71-0ED0-46E3350E219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211638" y="3143250"/>
          <a:ext cx="4321175" cy="3597275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0   1   2   3   4   5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5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0   1   2   3   4   5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1   2   3   4   5   0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2   3   4   5   0   1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3   4   5   0   1   2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4   5   0   1   2   3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5   0   1   2   3   4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11" name="Text Box 23">
            <a:extLst>
              <a:ext uri="{FF2B5EF4-FFF2-40B4-BE49-F238E27FC236}">
                <a16:creationId xmlns:a16="http://schemas.microsoft.com/office/drawing/2014/main" id="{7B308098-2B74-AFB8-E445-2E92E0BC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3619500"/>
            <a:ext cx="2325688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|0| </a:t>
            </a:r>
            <a:r>
              <a:rPr lang="zh-CN" altLang="en-US" sz="2800"/>
              <a:t>＝ </a:t>
            </a:r>
            <a:r>
              <a:rPr lang="en-US" altLang="zh-CN" sz="2800"/>
              <a:t>1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|1| </a:t>
            </a:r>
            <a:r>
              <a:rPr lang="zh-CN" altLang="en-US" sz="2800"/>
              <a:t>＝ </a:t>
            </a:r>
            <a:r>
              <a:rPr lang="en-US" altLang="zh-CN" sz="2800"/>
              <a:t>6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|2| </a:t>
            </a:r>
            <a:r>
              <a:rPr lang="zh-CN" altLang="en-US" sz="2800"/>
              <a:t>＝ </a:t>
            </a:r>
            <a:r>
              <a:rPr lang="en-US" altLang="zh-CN" sz="2800"/>
              <a:t>3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|3| </a:t>
            </a:r>
            <a:r>
              <a:rPr lang="zh-CN" altLang="en-US" sz="2800"/>
              <a:t>＝ </a:t>
            </a:r>
            <a:r>
              <a:rPr lang="en-US" altLang="zh-CN" sz="2800"/>
              <a:t>2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|4| </a:t>
            </a:r>
            <a:r>
              <a:rPr lang="zh-CN" altLang="en-US" sz="2800"/>
              <a:t>＝ </a:t>
            </a:r>
            <a:r>
              <a:rPr lang="en-US" altLang="zh-CN" sz="2800"/>
              <a:t>3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  |5| </a:t>
            </a:r>
            <a:r>
              <a:rPr lang="zh-CN" altLang="en-US" sz="2800"/>
              <a:t>＝ </a:t>
            </a:r>
            <a:r>
              <a:rPr lang="en-US" altLang="zh-CN" sz="2800"/>
              <a:t>6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F12218B-D450-F298-9C0B-7C3132DCC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92CBBC2-1055-53C5-F2FD-BD7395E23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5.3.8</a:t>
            </a:r>
            <a:r>
              <a:rPr lang="en-US" altLang="zh-CN" dirty="0"/>
              <a:t> </a:t>
            </a:r>
            <a:r>
              <a:rPr lang="zh-CN" altLang="en-US" dirty="0"/>
              <a:t>有限群中每个元素的阶均有限。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设</a:t>
            </a:r>
            <a:r>
              <a:rPr lang="en-US" altLang="zh-CN" dirty="0"/>
              <a:t>n</a:t>
            </a:r>
            <a:r>
              <a:rPr lang="zh-CN" altLang="en-US" dirty="0"/>
              <a:t>阶有限群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为幺元。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>
                <a:solidFill>
                  <a:schemeClr val="accent1"/>
                </a:solidFill>
              </a:rPr>
              <a:t>任取</a:t>
            </a:r>
            <a:r>
              <a:rPr lang="en-US" altLang="zh-CN" dirty="0" err="1"/>
              <a:t>a∈G</a:t>
            </a:r>
            <a:r>
              <a:rPr lang="zh-CN" altLang="en-US" dirty="0"/>
              <a:t>，则</a:t>
            </a:r>
            <a:r>
              <a:rPr lang="en-US" altLang="zh-CN" dirty="0"/>
              <a:t>a,a</a:t>
            </a:r>
            <a:r>
              <a:rPr lang="en-US" altLang="zh-CN" baseline="30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30000" dirty="0"/>
              <a:t>n</a:t>
            </a:r>
            <a:r>
              <a:rPr lang="en-US" altLang="zh-CN" dirty="0"/>
              <a:t>,a</a:t>
            </a:r>
            <a:r>
              <a:rPr lang="en-US" altLang="zh-CN" baseline="30000" dirty="0"/>
              <a:t>n+1   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不妨设  </a:t>
            </a:r>
            <a:r>
              <a:rPr lang="en-US" altLang="zh-CN" dirty="0"/>
              <a:t>a</a:t>
            </a:r>
            <a:r>
              <a:rPr lang="en-US" altLang="zh-CN" baseline="30000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en-US" altLang="zh-CN" baseline="30000" dirty="0"/>
              <a:t>t</a:t>
            </a:r>
            <a:r>
              <a:rPr lang="en-US" altLang="zh-CN" dirty="0"/>
              <a:t>(1≤s</a:t>
            </a:r>
            <a:r>
              <a:rPr lang="zh-CN" altLang="en-US" dirty="0"/>
              <a:t>＜</a:t>
            </a:r>
            <a:r>
              <a:rPr lang="en-US" altLang="zh-CN" dirty="0"/>
              <a:t>t≤n+1)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则    </a:t>
            </a:r>
            <a:r>
              <a:rPr lang="en-US" altLang="zh-CN" dirty="0" err="1"/>
              <a:t>e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rgbClr val="FF0066"/>
                </a:solidFill>
              </a:rPr>
              <a:t>a</a:t>
            </a:r>
            <a:r>
              <a:rPr lang="en-US" altLang="zh-CN" baseline="30000" dirty="0" err="1">
                <a:solidFill>
                  <a:srgbClr val="FF0066"/>
                </a:solidFill>
              </a:rPr>
              <a:t>t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en-US" altLang="zh-CN" baseline="30000" dirty="0"/>
              <a:t>t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t-s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s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t-s</a:t>
            </a:r>
            <a:r>
              <a:rPr lang="en-US" altLang="en-US" dirty="0" err="1"/>
              <a:t>＊</a:t>
            </a:r>
            <a:r>
              <a:rPr lang="en-US" altLang="zh-CN" dirty="0" err="1">
                <a:solidFill>
                  <a:srgbClr val="FF0066"/>
                </a:solidFill>
              </a:rPr>
              <a:t>a</a:t>
            </a:r>
            <a:r>
              <a:rPr lang="en-US" altLang="zh-CN" baseline="30000" dirty="0" err="1">
                <a:solidFill>
                  <a:srgbClr val="FF0066"/>
                </a:solidFill>
              </a:rPr>
              <a:t>t</a:t>
            </a:r>
            <a:endParaRPr lang="en-US" altLang="zh-CN" dirty="0">
              <a:solidFill>
                <a:srgbClr val="FF0066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即       </a:t>
            </a:r>
            <a:r>
              <a:rPr lang="en-US" altLang="zh-CN" dirty="0"/>
              <a:t>a</a:t>
            </a:r>
            <a:r>
              <a:rPr lang="en-US" altLang="zh-CN" baseline="30000" dirty="0"/>
              <a:t>t-s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CC83C51-37A1-F1C2-8057-BD7FF5CFA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405CA30-462E-6B88-0200-0D25DBE98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tabLst>
                <a:tab pos="6007100" algn="l"/>
              </a:tabLst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5.3.9</a:t>
            </a:r>
            <a:r>
              <a:rPr lang="zh-CN" altLang="en-US" dirty="0"/>
              <a:t>设群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 err="1"/>
              <a:t>a∈G</a:t>
            </a:r>
            <a:r>
              <a:rPr lang="zh-CN" altLang="en-US" dirty="0"/>
              <a:t>且</a:t>
            </a:r>
            <a:r>
              <a:rPr lang="en-US" altLang="zh-CN" dirty="0"/>
              <a:t>a</a:t>
            </a:r>
            <a:r>
              <a:rPr lang="zh-CN" altLang="en-US" dirty="0"/>
              <a:t>的阶为</a:t>
            </a:r>
            <a:r>
              <a:rPr lang="en-US" altLang="zh-CN" dirty="0"/>
              <a:t>k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dirty="0"/>
              <a:t>则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zh-CN" altLang="en-US" dirty="0"/>
              <a:t>                 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e(e</a:t>
            </a:r>
            <a:r>
              <a:rPr lang="zh-CN" altLang="en-US" dirty="0"/>
              <a:t>为幺元</a:t>
            </a:r>
            <a:r>
              <a:rPr lang="en-US" altLang="zh-CN" dirty="0"/>
              <a:t>)</a:t>
            </a:r>
            <a:r>
              <a:rPr lang="zh-CN" altLang="en-US" dirty="0">
                <a:solidFill>
                  <a:srgbClr val="00B050"/>
                </a:solidFill>
              </a:rPr>
              <a:t>当且仅当</a:t>
            </a:r>
            <a:r>
              <a:rPr lang="en-US" altLang="zh-CN" dirty="0" err="1"/>
              <a:t>k|n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b="1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chemeClr val="accent1"/>
                </a:solidFill>
              </a:rPr>
              <a:t>必</a:t>
            </a:r>
            <a:r>
              <a:rPr lang="en-US" altLang="zh-CN" dirty="0"/>
              <a:t>)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并令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mk</a:t>
            </a:r>
            <a:r>
              <a:rPr lang="zh-CN" altLang="en-US" dirty="0"/>
              <a:t>＋</a:t>
            </a:r>
            <a:r>
              <a:rPr lang="en-US" altLang="zh-CN" dirty="0"/>
              <a:t>r(0≤r</a:t>
            </a:r>
            <a:r>
              <a:rPr lang="zh-CN" altLang="en-US" dirty="0"/>
              <a:t>＜</a:t>
            </a:r>
            <a:r>
              <a:rPr lang="en-US" altLang="zh-CN" dirty="0"/>
              <a:t>k)</a:t>
            </a:r>
            <a:endParaRPr lang="zh-CN" altLang="en-US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zh-CN" altLang="en-US" dirty="0"/>
              <a:t>   则</a:t>
            </a:r>
            <a:r>
              <a:rPr lang="en-US" altLang="zh-CN" sz="2800" dirty="0"/>
              <a:t>a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mk+r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mk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k</a:t>
            </a:r>
            <a:r>
              <a:rPr lang="en-US" altLang="zh-CN" sz="2800" dirty="0"/>
              <a:t>)</a:t>
            </a:r>
            <a:r>
              <a:rPr lang="en-US" altLang="zh-CN" sz="2800" baseline="30000" dirty="0" err="1"/>
              <a:t>m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e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a</a:t>
            </a:r>
            <a:r>
              <a:rPr lang="en-US" altLang="zh-CN" sz="2800" baseline="30000" dirty="0" err="1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e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en-US" altLang="zh-CN" dirty="0"/>
              <a:t>   </a:t>
            </a:r>
            <a:r>
              <a:rPr lang="zh-CN" altLang="en-US" dirty="0"/>
              <a:t>由于</a:t>
            </a:r>
            <a:r>
              <a:rPr lang="en-US" altLang="zh-CN" dirty="0"/>
              <a:t>|a|</a:t>
            </a:r>
            <a:r>
              <a:rPr lang="zh-CN" altLang="en-US" dirty="0"/>
              <a:t>＝</a:t>
            </a:r>
            <a:r>
              <a:rPr lang="en-US" altLang="zh-CN" dirty="0"/>
              <a:t>k</a:t>
            </a:r>
            <a:r>
              <a:rPr lang="zh-CN" altLang="en-US" dirty="0"/>
              <a:t>且</a:t>
            </a:r>
            <a:r>
              <a:rPr lang="en-US" altLang="zh-CN" dirty="0"/>
              <a:t>0≤r</a:t>
            </a:r>
            <a:r>
              <a:rPr lang="zh-CN" altLang="en-US" dirty="0"/>
              <a:t>＜</a:t>
            </a:r>
            <a:r>
              <a:rPr lang="en-US" altLang="zh-CN" dirty="0"/>
              <a:t>k</a:t>
            </a:r>
            <a:r>
              <a:rPr lang="zh-CN" altLang="en-US" dirty="0"/>
              <a:t>，故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，即</a:t>
            </a:r>
            <a:r>
              <a:rPr lang="en-US" altLang="zh-CN" dirty="0" err="1"/>
              <a:t>k|n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tabLst>
                <a:tab pos="6007100" algn="l"/>
              </a:tabLst>
            </a:pPr>
            <a:r>
              <a:rPr lang="en-US" altLang="zh-CN" dirty="0"/>
              <a:t>   (</a:t>
            </a:r>
            <a:r>
              <a:rPr lang="zh-CN" altLang="en-US" dirty="0">
                <a:solidFill>
                  <a:srgbClr val="339933"/>
                </a:solidFill>
              </a:rPr>
              <a:t>充</a:t>
            </a:r>
            <a:r>
              <a:rPr lang="en-US" altLang="zh-CN" dirty="0"/>
              <a:t>)</a:t>
            </a:r>
            <a:r>
              <a:rPr lang="zh-CN" altLang="en-US" dirty="0"/>
              <a:t>设</a:t>
            </a:r>
            <a:r>
              <a:rPr lang="en-US" altLang="zh-CN" dirty="0" err="1"/>
              <a:t>k|n</a:t>
            </a:r>
            <a:r>
              <a:rPr lang="zh-CN" altLang="en-US" dirty="0"/>
              <a:t>，则令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kq</a:t>
            </a:r>
            <a:r>
              <a:rPr lang="zh-CN" altLang="en-US" dirty="0"/>
              <a:t>，故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kq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en-US" altLang="zh-CN" baseline="30000" dirty="0"/>
              <a:t>q</a:t>
            </a:r>
            <a:r>
              <a:rPr lang="zh-CN" altLang="en-US" dirty="0"/>
              <a:t>＝</a:t>
            </a:r>
            <a:r>
              <a:rPr lang="en-US" altLang="zh-CN" dirty="0"/>
              <a:t>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>
            <a:extLst>
              <a:ext uri="{FF2B5EF4-FFF2-40B4-BE49-F238E27FC236}">
                <a16:creationId xmlns:a16="http://schemas.microsoft.com/office/drawing/2014/main" id="{A705035C-EA7E-EE9C-E2AF-E0D7E964D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9926671-F2ED-0B12-1879-486B6651FC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5.3.10 </a:t>
            </a:r>
            <a:r>
              <a:rPr lang="zh-CN" altLang="en-US" dirty="0"/>
              <a:t>设群</a:t>
            </a:r>
            <a:r>
              <a:rPr lang="en-US" altLang="zh-CN" dirty="0">
                <a:latin typeface="宋体" panose="02010600030101010101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anose="02010600030101010101" pitchFamily="2" charset="-122"/>
              </a:rPr>
              <a:t>&gt;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 err="1"/>
              <a:t>a∈G</a:t>
            </a:r>
            <a:r>
              <a:rPr lang="zh-CN" altLang="en-US" dirty="0">
                <a:latin typeface="宋体" panose="02010600030101010101" pitchFamily="2" charset="-122"/>
              </a:rPr>
              <a:t>且</a:t>
            </a:r>
            <a:r>
              <a:rPr lang="en-US" altLang="zh-CN" dirty="0"/>
              <a:t>a</a:t>
            </a:r>
            <a:r>
              <a:rPr lang="zh-CN" altLang="en-US" dirty="0"/>
              <a:t>的阶为</a:t>
            </a:r>
            <a:r>
              <a:rPr lang="en-US" altLang="zh-CN" dirty="0"/>
              <a:t>n</a:t>
            </a:r>
            <a:r>
              <a:rPr lang="zh-CN" altLang="en-US" dirty="0"/>
              <a:t>，则</a:t>
            </a:r>
            <a:r>
              <a:rPr lang="en-US" altLang="zh-CN" dirty="0"/>
              <a:t>|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</a:t>
            </a:r>
            <a:r>
              <a:rPr lang="en-US" altLang="zh-CN" dirty="0"/>
              <a:t>|</a:t>
            </a:r>
            <a:r>
              <a:rPr lang="zh-CN" altLang="en-US" dirty="0"/>
              <a:t>＝   ，其中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k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的最大公约数。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   证明 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dp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＝</a:t>
            </a:r>
            <a:r>
              <a:rPr lang="en-US" altLang="zh-CN" dirty="0" err="1"/>
              <a:t>dq</a:t>
            </a:r>
            <a:r>
              <a:rPr lang="zh-CN" altLang="en-US" dirty="0"/>
              <a:t>且</a:t>
            </a:r>
            <a:r>
              <a:rPr lang="en-US" altLang="zh-CN" dirty="0"/>
              <a:t>p</a:t>
            </a:r>
            <a:r>
              <a:rPr lang="zh-CN" altLang="en-US" dirty="0"/>
              <a:t>与</a:t>
            </a:r>
            <a:r>
              <a:rPr lang="en-US" altLang="zh-CN" dirty="0"/>
              <a:t>q</a:t>
            </a:r>
            <a:r>
              <a:rPr lang="zh-CN" altLang="en-US" dirty="0"/>
              <a:t>互质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于是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en-US" altLang="zh-CN" baseline="30000" dirty="0"/>
              <a:t>p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kp</a:t>
            </a:r>
            <a:r>
              <a:rPr lang="zh-CN" altLang="en-US" dirty="0"/>
              <a:t>＝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dqp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dp</a:t>
            </a:r>
            <a:r>
              <a:rPr lang="en-US" altLang="zh-CN" dirty="0"/>
              <a:t>)</a:t>
            </a:r>
            <a:r>
              <a:rPr lang="en-US" altLang="zh-CN" baseline="30000" dirty="0"/>
              <a:t>q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en-US" altLang="zh-CN" baseline="30000" dirty="0"/>
              <a:t>q</a:t>
            </a:r>
            <a:r>
              <a:rPr lang="zh-CN" altLang="en-US" dirty="0"/>
              <a:t>＝</a:t>
            </a:r>
            <a:r>
              <a:rPr lang="en-US" altLang="zh-CN" dirty="0"/>
              <a:t>e(e</a:t>
            </a:r>
            <a:r>
              <a:rPr lang="zh-CN" altLang="en-US" dirty="0"/>
              <a:t>幺元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再设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en-US" altLang="zh-CN" baseline="30000" dirty="0"/>
              <a:t>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，则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km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，于是</a:t>
            </a:r>
            <a:r>
              <a:rPr lang="en-US" altLang="zh-CN" dirty="0" err="1"/>
              <a:t>n|km</a:t>
            </a:r>
            <a:r>
              <a:rPr lang="zh-CN" altLang="en-US" dirty="0"/>
              <a:t>，从而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dp|dqm</a:t>
            </a:r>
            <a:r>
              <a:rPr lang="zh-CN" altLang="en-US" dirty="0"/>
              <a:t>，即</a:t>
            </a:r>
            <a:r>
              <a:rPr lang="en-US" altLang="zh-CN" dirty="0" err="1"/>
              <a:t>p|qm</a:t>
            </a:r>
            <a:r>
              <a:rPr lang="zh-CN" altLang="en-US" dirty="0"/>
              <a:t>，故</a:t>
            </a:r>
            <a:r>
              <a:rPr lang="en-US" altLang="zh-CN" dirty="0" err="1"/>
              <a:t>p|m</a:t>
            </a:r>
            <a:endParaRPr lang="en-US" altLang="zh-CN" sz="2800" dirty="0"/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B53368D6-784B-70DA-E61F-D78178E398E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68538" y="2506663"/>
          <a:ext cx="41751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957" imgH="393359" progId="Equation.DSMT4">
                  <p:embed/>
                </p:oleObj>
              </mc:Choice>
              <mc:Fallback>
                <p:oleObj name="Equation" r:id="rId2" imgW="164957" imgH="39335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506663"/>
                        <a:ext cx="417512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7F5BCDA-EF3C-967F-C02D-4D76A6F71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9D515F7-E1EF-457C-D388-98AFD5000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5.3.5</a:t>
            </a:r>
            <a:r>
              <a:rPr lang="zh-CN" altLang="en-US" dirty="0"/>
              <a:t>设群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en-US" altLang="zh-CN" dirty="0"/>
              <a:t>e</a:t>
            </a:r>
            <a:r>
              <a:rPr lang="zh-CN" altLang="en-US" dirty="0"/>
              <a:t>是幺元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zh-CN" altLang="en-US" dirty="0"/>
              <a:t>任取</a:t>
            </a:r>
            <a:r>
              <a:rPr lang="en-US" altLang="zh-CN" dirty="0" err="1"/>
              <a:t>a∈G</a:t>
            </a:r>
            <a:r>
              <a:rPr lang="zh-CN" altLang="en-US" dirty="0"/>
              <a:t>， </a:t>
            </a:r>
            <a:endParaRPr lang="en-US" altLang="zh-CN" dirty="0"/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</a:t>
            </a:r>
            <a:r>
              <a:rPr lang="zh-CN" altLang="en-US" dirty="0"/>
              <a:t>则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en-US" dirty="0"/>
              <a:t>的阶相同。</a:t>
            </a:r>
            <a:endParaRPr lang="zh-CN" altLang="en-US" b="1" dirty="0"/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的阶为</a:t>
            </a:r>
            <a:r>
              <a:rPr lang="en-US" altLang="zh-CN" dirty="0"/>
              <a:t>n</a:t>
            </a:r>
            <a:r>
              <a:rPr lang="zh-CN" altLang="en-US" dirty="0"/>
              <a:t>，即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。于是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(a</a:t>
            </a:r>
            <a:r>
              <a:rPr lang="en-US" altLang="zh-CN" baseline="30000" dirty="0"/>
              <a:t>n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e 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dirty="0"/>
              <a:t>(a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，则</a:t>
            </a:r>
            <a:r>
              <a:rPr lang="en-US" altLang="zh-CN" dirty="0"/>
              <a:t>(a</a:t>
            </a:r>
            <a:r>
              <a:rPr lang="en-US" altLang="zh-CN" baseline="30000" dirty="0"/>
              <a:t>m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，故</a:t>
            </a:r>
            <a:r>
              <a:rPr lang="en-US" altLang="zh-CN" dirty="0"/>
              <a:t>a</a:t>
            </a:r>
            <a:r>
              <a:rPr lang="en-US" altLang="zh-CN" baseline="30000" dirty="0"/>
              <a:t>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，即</a:t>
            </a:r>
            <a:r>
              <a:rPr lang="en-US" altLang="zh-CN" dirty="0" err="1"/>
              <a:t>n|m</a:t>
            </a:r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DB62569-7593-C458-83AD-A04A9CA66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5.3.3</a:t>
            </a:r>
            <a:r>
              <a:rPr lang="zh-CN" altLang="en-US" sz="5400"/>
              <a:t>元素的阶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24A4494-5866-2FFB-02A3-D6715403D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5.3.6</a:t>
            </a:r>
            <a:r>
              <a:rPr lang="zh-CN" altLang="en-US" dirty="0"/>
              <a:t>设群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en-US" altLang="zh-CN" dirty="0"/>
              <a:t>e</a:t>
            </a:r>
            <a:r>
              <a:rPr lang="zh-CN" altLang="en-US" dirty="0"/>
              <a:t>是幺元，任取</a:t>
            </a:r>
            <a:r>
              <a:rPr lang="en-US" altLang="zh-CN" dirty="0" err="1"/>
              <a:t>a,b∈G</a:t>
            </a:r>
            <a:r>
              <a:rPr lang="zh-CN" altLang="en-US" dirty="0"/>
              <a:t>，  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</a:t>
            </a:r>
            <a:r>
              <a:rPr lang="zh-CN" altLang="en-US" dirty="0"/>
              <a:t>则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zh-CN" altLang="en-US" dirty="0"/>
              <a:t>与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zh-CN" altLang="en-US" dirty="0"/>
              <a:t>的阶相同</a:t>
            </a:r>
            <a:endParaRPr lang="zh-CN" altLang="en-US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zh-CN" altLang="en-US" dirty="0"/>
              <a:t>设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zh-CN" altLang="en-US" dirty="0"/>
              <a:t>的阶为</a:t>
            </a:r>
            <a:r>
              <a:rPr lang="en-US" altLang="zh-CN" dirty="0"/>
              <a:t>n</a:t>
            </a:r>
            <a:r>
              <a:rPr lang="zh-CN" altLang="en-US" dirty="0"/>
              <a:t>，即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dirty="0"/>
              <a:t>)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＝</a:t>
            </a:r>
            <a:r>
              <a:rPr lang="en-US" altLang="zh-CN" dirty="0"/>
              <a:t>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a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n-1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n-1</a:t>
            </a:r>
            <a:r>
              <a:rPr lang="en-US" altLang="en-US" dirty="0"/>
              <a:t>＊</a:t>
            </a:r>
            <a:r>
              <a:rPr lang="en-US" altLang="zh-CN" dirty="0"/>
              <a:t>b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e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           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                        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再设</a:t>
            </a:r>
            <a:r>
              <a:rPr lang="en-US" altLang="zh-CN" dirty="0"/>
              <a:t>(</a:t>
            </a:r>
            <a:r>
              <a:rPr lang="en-US" altLang="zh-CN" dirty="0" err="1"/>
              <a:t>b</a:t>
            </a:r>
            <a:r>
              <a:rPr lang="en-US" altLang="en-US" dirty="0" err="1"/>
              <a:t>＊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，同理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dirty="0"/>
              <a:t>)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82AD7B-E1BD-954B-9159-9D96AB5489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33265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800" dirty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  业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A744EF7-85F2-3AF3-EDFB-D6FF4119B3F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303FA9-88E0-17F0-5E0D-D906C944717D}"/>
              </a:ext>
            </a:extLst>
          </p:cNvPr>
          <p:cNvSpPr txBox="1"/>
          <p:nvPr/>
        </p:nvSpPr>
        <p:spPr>
          <a:xfrm>
            <a:off x="1043608" y="280843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习题</a:t>
            </a:r>
            <a:r>
              <a:rPr lang="en-US" altLang="zh-CN" sz="3200" dirty="0"/>
              <a:t>5.3 </a:t>
            </a:r>
            <a:r>
              <a:rPr lang="zh-CN" altLang="en-US" sz="3200" dirty="0"/>
              <a:t>第</a:t>
            </a:r>
            <a:r>
              <a:rPr lang="en-US" altLang="zh-CN" sz="3200" dirty="0"/>
              <a:t>3</a:t>
            </a:r>
            <a:r>
              <a:rPr lang="zh-CN" altLang="en-US" sz="3200" dirty="0"/>
              <a:t>，</a:t>
            </a:r>
            <a:r>
              <a:rPr lang="en-US" altLang="zh-CN" sz="3200" dirty="0"/>
              <a:t>4</a:t>
            </a:r>
            <a:r>
              <a:rPr lang="zh-CN" altLang="en-US" sz="3200" dirty="0"/>
              <a:t>，</a:t>
            </a:r>
            <a:r>
              <a:rPr lang="en-US" altLang="zh-CN" sz="3200" dirty="0"/>
              <a:t>5</a:t>
            </a:r>
            <a:r>
              <a:rPr lang="zh-CN" altLang="en-US" sz="3200" dirty="0"/>
              <a:t>题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E2E67D9-1E76-B4D1-6CFC-8B60B021C6C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74339080-616E-8831-2B50-3F8C8A19920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7279154C-85B2-B35E-6728-D4E9C01BE01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F6F43320-D3AB-8FDB-3E94-80EF704B753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1B27364-40AB-04A9-5005-E65A6B2F05D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D87847A-D950-B129-1A63-8776DFB44F8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45094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3120</TotalTime>
  <Words>2762</Words>
  <Application>Microsoft Office PowerPoint</Application>
  <PresentationFormat>全屏显示(4:3)</PresentationFormat>
  <Paragraphs>297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宋体</vt:lpstr>
      <vt:lpstr>Microsoft Yahei</vt:lpstr>
      <vt:lpstr>Arial</vt:lpstr>
      <vt:lpstr>Tahoma</vt:lpstr>
      <vt:lpstr>Wingdings</vt:lpstr>
      <vt:lpstr>Blends</vt:lpstr>
      <vt:lpstr>Equation</vt:lpstr>
      <vt:lpstr>5.3 群的基本概念 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5.3.1 群的定义</vt:lpstr>
      <vt:lpstr>5.3.2 群的性质</vt:lpstr>
      <vt:lpstr>5.3.2 群的性质</vt:lpstr>
      <vt:lpstr>5.3.2 群的性质</vt:lpstr>
      <vt:lpstr>5.3.2 群的性质</vt:lpstr>
      <vt:lpstr>5.3.2 群的性质</vt:lpstr>
      <vt:lpstr>5.3.2 群的性质</vt:lpstr>
      <vt:lpstr>5.3.2 群的性质</vt:lpstr>
      <vt:lpstr>5.3.2 群的性质</vt:lpstr>
      <vt:lpstr>5.3.2 群的性质</vt:lpstr>
      <vt:lpstr>5.3.2 群的性质</vt:lpstr>
      <vt:lpstr>5.3.3元素的阶</vt:lpstr>
      <vt:lpstr>5.3.3元素的阶</vt:lpstr>
      <vt:lpstr>5.3.3元素的阶</vt:lpstr>
      <vt:lpstr> 5.3.3元素的阶</vt:lpstr>
      <vt:lpstr>5.3.3元素的阶</vt:lpstr>
      <vt:lpstr>5.3.3元素的阶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78</cp:revision>
  <dcterms:created xsi:type="dcterms:W3CDTF">2010-04-09T13:44:14Z</dcterms:created>
  <dcterms:modified xsi:type="dcterms:W3CDTF">2023-12-11T08:22:38Z</dcterms:modified>
</cp:coreProperties>
</file>