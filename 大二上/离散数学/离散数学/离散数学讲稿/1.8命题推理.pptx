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tmp" ContentType="image/png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9" r:id="rId1"/>
  </p:sldMasterIdLst>
  <p:notesMasterIdLst>
    <p:notesMasterId r:id="rId19"/>
  </p:notesMasterIdLst>
  <p:sldIdLst>
    <p:sldId id="304" r:id="rId2"/>
    <p:sldId id="305" r:id="rId3"/>
    <p:sldId id="306" r:id="rId4"/>
    <p:sldId id="328" r:id="rId5"/>
    <p:sldId id="322" r:id="rId6"/>
    <p:sldId id="308" r:id="rId7"/>
    <p:sldId id="325" r:id="rId8"/>
    <p:sldId id="326" r:id="rId9"/>
    <p:sldId id="309" r:id="rId10"/>
    <p:sldId id="330" r:id="rId11"/>
    <p:sldId id="310" r:id="rId12"/>
    <p:sldId id="332" r:id="rId13"/>
    <p:sldId id="311" r:id="rId14"/>
    <p:sldId id="336" r:id="rId15"/>
    <p:sldId id="353" r:id="rId16"/>
    <p:sldId id="354" r:id="rId17"/>
    <p:sldId id="356" r:id="rId18"/>
  </p:sldIdLst>
  <p:sldSz cx="9144000" cy="6858000" type="screen4x3"/>
  <p:notesSz cx="6858000" cy="9144000"/>
  <p:defaultTextStyle>
    <a:defPPr>
      <a:defRPr lang="zh-CN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Tahoma" panose="020B0604030504040204" pitchFamily="34" charset="0"/>
        <a:ea typeface="宋体" panose="02010600030101010101" pitchFamily="2" charset="-122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Tahoma" panose="020B0604030504040204" pitchFamily="34" charset="0"/>
        <a:ea typeface="宋体" panose="02010600030101010101" pitchFamily="2" charset="-122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Tahoma" panose="020B0604030504040204" pitchFamily="34" charset="0"/>
        <a:ea typeface="宋体" panose="02010600030101010101" pitchFamily="2" charset="-122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Tahoma" panose="020B0604030504040204" pitchFamily="34" charset="0"/>
        <a:ea typeface="宋体" panose="02010600030101010101" pitchFamily="2" charset="-122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Tahoma" panose="020B0604030504040204" pitchFamily="34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Tahoma" panose="020B0604030504040204" pitchFamily="34" charset="0"/>
        <a:ea typeface="宋体" panose="02010600030101010101" pitchFamily="2" charset="-122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Tahoma" panose="020B0604030504040204" pitchFamily="34" charset="0"/>
        <a:ea typeface="宋体" panose="02010600030101010101" pitchFamily="2" charset="-122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Tahoma" panose="020B0604030504040204" pitchFamily="34" charset="0"/>
        <a:ea typeface="宋体" panose="02010600030101010101" pitchFamily="2" charset="-122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Tahoma" panose="020B0604030504040204" pitchFamily="34" charset="0"/>
        <a:ea typeface="宋体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FF"/>
    <a:srgbClr val="CC0066"/>
    <a:srgbClr val="FF00FF"/>
    <a:srgbClr val="FF0066"/>
    <a:srgbClr val="0066FF"/>
    <a:srgbClr val="00CC99"/>
    <a:srgbClr val="339933"/>
    <a:srgbClr val="00808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40" autoAdjust="0"/>
    <p:restoredTop sz="94683" autoAdjust="0"/>
  </p:normalViewPr>
  <p:slideViewPr>
    <p:cSldViewPr>
      <p:cViewPr varScale="1">
        <p:scale>
          <a:sx n="66" d="100"/>
          <a:sy n="66" d="100"/>
        </p:scale>
        <p:origin x="630" y="6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2731207-C390-419E-8A16-B615F4C828CA}" type="datetimeFigureOut">
              <a:rPr lang="zh-CN" altLang="en-US" smtClean="0"/>
              <a:t>2023/12/21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CAB11D5-49D8-45B4-9BC0-FC9DCECDCB6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4947447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8B5AA5DC-EF89-0987-3A04-DEEF9C1396CF}"/>
              </a:ext>
            </a:extLst>
          </p:cNvPr>
          <p:cNvGrpSpPr>
            <a:grpSpLocks/>
          </p:cNvGrpSpPr>
          <p:nvPr/>
        </p:nvGrpSpPr>
        <p:grpSpPr bwMode="auto">
          <a:xfrm>
            <a:off x="0" y="2438400"/>
            <a:ext cx="9009063" cy="1052513"/>
            <a:chOff x="0" y="1536"/>
            <a:chExt cx="5675" cy="663"/>
          </a:xfrm>
        </p:grpSpPr>
        <p:grpSp>
          <p:nvGrpSpPr>
            <p:cNvPr id="3" name="Group 3">
              <a:extLst>
                <a:ext uri="{FF2B5EF4-FFF2-40B4-BE49-F238E27FC236}">
                  <a16:creationId xmlns:a16="http://schemas.microsoft.com/office/drawing/2014/main" id="{86066DE6-DC03-E4F6-E8B8-A69874895C9C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83" y="1604"/>
              <a:ext cx="448" cy="299"/>
              <a:chOff x="720" y="336"/>
              <a:chExt cx="624" cy="432"/>
            </a:xfrm>
          </p:grpSpPr>
          <p:sp>
            <p:nvSpPr>
              <p:cNvPr id="10" name="Rectangle 4">
                <a:extLst>
                  <a:ext uri="{FF2B5EF4-FFF2-40B4-BE49-F238E27FC236}">
                    <a16:creationId xmlns:a16="http://schemas.microsoft.com/office/drawing/2014/main" id="{E7625B68-A8F5-2F30-71AE-FEACED4F769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20" y="336"/>
                <a:ext cx="384" cy="432"/>
              </a:xfrm>
              <a:prstGeom prst="rect">
                <a:avLst/>
              </a:prstGeom>
              <a:solidFill>
                <a:schemeClr val="folHlink"/>
              </a:solidFill>
              <a:ln>
                <a:noFill/>
              </a:ln>
              <a:effectLst/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defRPr/>
                </a:pPr>
                <a:endParaRPr lang="zh-CN" altLang="en-US"/>
              </a:p>
            </p:txBody>
          </p:sp>
          <p:sp>
            <p:nvSpPr>
              <p:cNvPr id="11" name="Rectangle 5">
                <a:extLst>
                  <a:ext uri="{FF2B5EF4-FFF2-40B4-BE49-F238E27FC236}">
                    <a16:creationId xmlns:a16="http://schemas.microsoft.com/office/drawing/2014/main" id="{C871B0A4-830E-AC93-D3DA-AE209585BE6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56" y="336"/>
                <a:ext cx="288" cy="432"/>
              </a:xfrm>
              <a:prstGeom prst="rect">
                <a:avLst/>
              </a:prstGeom>
              <a:gradFill rotWithShape="0">
                <a:gsLst>
                  <a:gs pos="0">
                    <a:schemeClr val="folHlink"/>
                  </a:gs>
                  <a:gs pos="100000">
                    <a:schemeClr val="bg1"/>
                  </a:gs>
                </a:gsLst>
                <a:lin ang="0" scaled="1"/>
              </a:gradFill>
              <a:ln>
                <a:noFill/>
              </a:ln>
              <a:effectLst/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defRPr/>
                </a:pPr>
                <a:endParaRPr lang="zh-CN" altLang="en-US"/>
              </a:p>
            </p:txBody>
          </p:sp>
        </p:grpSp>
        <p:grpSp>
          <p:nvGrpSpPr>
            <p:cNvPr id="4" name="Group 6">
              <a:extLst>
                <a:ext uri="{FF2B5EF4-FFF2-40B4-BE49-F238E27FC236}">
                  <a16:creationId xmlns:a16="http://schemas.microsoft.com/office/drawing/2014/main" id="{1A883E13-D9EB-1DEA-A109-40D796B9B2DB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61" y="1870"/>
              <a:ext cx="465" cy="299"/>
              <a:chOff x="912" y="2640"/>
              <a:chExt cx="672" cy="432"/>
            </a:xfrm>
          </p:grpSpPr>
          <p:sp>
            <p:nvSpPr>
              <p:cNvPr id="8" name="Rectangle 7">
                <a:extLst>
                  <a:ext uri="{FF2B5EF4-FFF2-40B4-BE49-F238E27FC236}">
                    <a16:creationId xmlns:a16="http://schemas.microsoft.com/office/drawing/2014/main" id="{DAC1550B-B19F-4C63-5FB3-F9D295C729E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12" y="2640"/>
                <a:ext cx="384" cy="432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  <a:effectLst/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defRPr/>
                </a:pPr>
                <a:endParaRPr lang="zh-CN" altLang="en-US"/>
              </a:p>
            </p:txBody>
          </p:sp>
          <p:sp>
            <p:nvSpPr>
              <p:cNvPr id="9" name="Rectangle 8">
                <a:extLst>
                  <a:ext uri="{FF2B5EF4-FFF2-40B4-BE49-F238E27FC236}">
                    <a16:creationId xmlns:a16="http://schemas.microsoft.com/office/drawing/2014/main" id="{0DA626ED-D234-A40F-E72D-E89DC90A670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49" y="2640"/>
                <a:ext cx="335" cy="432"/>
              </a:xfrm>
              <a:prstGeom prst="rect">
                <a:avLst/>
              </a:prstGeom>
              <a:gradFill rotWithShape="0">
                <a:gsLst>
                  <a:gs pos="0">
                    <a:schemeClr val="accent2"/>
                  </a:gs>
                  <a:gs pos="100000">
                    <a:schemeClr val="bg1"/>
                  </a:gs>
                </a:gsLst>
                <a:lin ang="0" scaled="1"/>
              </a:gradFill>
              <a:ln>
                <a:noFill/>
              </a:ln>
              <a:effectLst/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defRPr/>
                </a:pPr>
                <a:endParaRPr lang="zh-CN" altLang="en-US"/>
              </a:p>
            </p:txBody>
          </p:sp>
        </p:grpSp>
        <p:sp>
          <p:nvSpPr>
            <p:cNvPr id="5" name="Rectangle 9">
              <a:extLst>
                <a:ext uri="{FF2B5EF4-FFF2-40B4-BE49-F238E27FC236}">
                  <a16:creationId xmlns:a16="http://schemas.microsoft.com/office/drawing/2014/main" id="{926CADA8-84D9-C820-3238-7EAC0A6C130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0" y="1824"/>
              <a:ext cx="353" cy="266"/>
            </a:xfrm>
            <a:prstGeom prst="rect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hlink"/>
                </a:gs>
              </a:gsLst>
              <a:lin ang="18900000" scaled="1"/>
            </a:gradFill>
            <a:ln>
              <a:noFill/>
            </a:ln>
            <a:effectLst/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defRPr/>
              </a:pPr>
              <a:endParaRPr lang="zh-CN" altLang="en-US"/>
            </a:p>
          </p:txBody>
        </p:sp>
        <p:sp>
          <p:nvSpPr>
            <p:cNvPr id="6" name="Rectangle 10">
              <a:extLst>
                <a:ext uri="{FF2B5EF4-FFF2-40B4-BE49-F238E27FC236}">
                  <a16:creationId xmlns:a16="http://schemas.microsoft.com/office/drawing/2014/main" id="{DD40860C-A580-2E04-06DA-32C96720DBF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00" y="1536"/>
              <a:ext cx="20" cy="663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  <a:effectLst/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defRPr/>
              </a:pPr>
              <a:endParaRPr lang="zh-CN" altLang="en-US"/>
            </a:p>
          </p:txBody>
        </p:sp>
        <p:sp>
          <p:nvSpPr>
            <p:cNvPr id="7" name="Rectangle 11">
              <a:extLst>
                <a:ext uri="{FF2B5EF4-FFF2-40B4-BE49-F238E27FC236}">
                  <a16:creationId xmlns:a16="http://schemas.microsoft.com/office/drawing/2014/main" id="{9096F783-E110-C716-9742-F558F34302D5}"/>
                </a:ext>
              </a:extLst>
            </p:cNvPr>
            <p:cNvSpPr>
              <a:spLocks noChangeArrowheads="1"/>
            </p:cNvSpPr>
            <p:nvPr/>
          </p:nvSpPr>
          <p:spPr bwMode="auto">
            <a:xfrm flipV="1">
              <a:off x="199" y="2054"/>
              <a:ext cx="5476" cy="35"/>
            </a:xfrm>
            <a:prstGeom prst="rect">
              <a:avLst/>
            </a:prstGeom>
            <a:gradFill rotWithShape="0">
              <a:gsLst>
                <a:gs pos="0">
                  <a:schemeClr val="bg2"/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  <a:effectLst/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defRPr/>
              </a:pPr>
              <a:endParaRPr lang="zh-CN" altLang="en-US"/>
            </a:p>
          </p:txBody>
        </p:sp>
      </p:grpSp>
      <p:sp>
        <p:nvSpPr>
          <p:cNvPr id="5132" name="Rectangle 12"/>
          <p:cNvSpPr>
            <a:spLocks noGrp="1" noChangeArrowheads="1"/>
          </p:cNvSpPr>
          <p:nvPr>
            <p:ph type="ctrTitle"/>
          </p:nvPr>
        </p:nvSpPr>
        <p:spPr>
          <a:xfrm>
            <a:off x="990600" y="1676400"/>
            <a:ext cx="7772400" cy="1462088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zh-CN" altLang="en-US" noProof="0"/>
              <a:t>单击此处编辑母版标题样式</a:t>
            </a:r>
          </a:p>
        </p:txBody>
      </p:sp>
      <p:sp>
        <p:nvSpPr>
          <p:cNvPr id="5133" name="Rectangle 13"/>
          <p:cNvSpPr>
            <a:spLocks noGrp="1" noChangeArrowheads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Font typeface="Wingdings" pitchFamily="2" charset="2"/>
              <a:buNone/>
              <a:defRPr/>
            </a:lvl1pPr>
          </a:lstStyle>
          <a:p>
            <a:pPr lvl="0"/>
            <a:r>
              <a:rPr lang="zh-CN" altLang="en-US" noProof="0"/>
              <a:t>单击此处编辑母版副标题样式</a:t>
            </a:r>
          </a:p>
        </p:txBody>
      </p:sp>
      <p:sp>
        <p:nvSpPr>
          <p:cNvPr id="12" name="Rectangle 14">
            <a:extLst>
              <a:ext uri="{FF2B5EF4-FFF2-40B4-BE49-F238E27FC236}">
                <a16:creationId xmlns:a16="http://schemas.microsoft.com/office/drawing/2014/main" id="{51C584FF-81B8-B083-E062-A5A27D57C688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xfrm>
            <a:off x="990600" y="6248400"/>
            <a:ext cx="1905000" cy="457200"/>
          </a:xfr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3" name="Rectangle 15">
            <a:extLst>
              <a:ext uri="{FF2B5EF4-FFF2-40B4-BE49-F238E27FC236}">
                <a16:creationId xmlns:a16="http://schemas.microsoft.com/office/drawing/2014/main" id="{9B241F5F-710A-AC74-641B-7C149F3B71C3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xfrm>
            <a:off x="3429000" y="6248400"/>
            <a:ext cx="2895600" cy="457200"/>
          </a:xfr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4" name="Rectangle 16">
            <a:extLst>
              <a:ext uri="{FF2B5EF4-FFF2-40B4-BE49-F238E27FC236}">
                <a16:creationId xmlns:a16="http://schemas.microsoft.com/office/drawing/2014/main" id="{3954D79B-BA86-0266-FF4E-5C0902F44209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xfrm>
            <a:off x="6858000" y="6248400"/>
            <a:ext cx="1905000" cy="457200"/>
          </a:xfrm>
        </p:spPr>
        <p:txBody>
          <a:bodyPr/>
          <a:lstStyle>
            <a:lvl1pPr>
              <a:defRPr smtClean="0">
                <a:solidFill>
                  <a:schemeClr val="bg2"/>
                </a:solidFill>
              </a:defRPr>
            </a:lvl1pPr>
          </a:lstStyle>
          <a:p>
            <a:pPr>
              <a:defRPr/>
            </a:pPr>
            <a:fld id="{B502879B-8853-4E00-9964-1C7B533CF8B7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77556050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11">
            <a:extLst>
              <a:ext uri="{FF2B5EF4-FFF2-40B4-BE49-F238E27FC236}">
                <a16:creationId xmlns:a16="http://schemas.microsoft.com/office/drawing/2014/main" id="{A36647A7-3F6A-4477-2DA4-6938F548C468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12">
            <a:extLst>
              <a:ext uri="{FF2B5EF4-FFF2-40B4-BE49-F238E27FC236}">
                <a16:creationId xmlns:a16="http://schemas.microsoft.com/office/drawing/2014/main" id="{3F3EFDA3-18C7-4332-5645-88D0B27AD6BA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13">
            <a:extLst>
              <a:ext uri="{FF2B5EF4-FFF2-40B4-BE49-F238E27FC236}">
                <a16:creationId xmlns:a16="http://schemas.microsoft.com/office/drawing/2014/main" id="{65222EC7-7BAC-83A0-06F3-70F75167AA28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9E08624-855B-4B3B-B847-10F74A35938F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7443079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Rectangle 11">
            <a:extLst>
              <a:ext uri="{FF2B5EF4-FFF2-40B4-BE49-F238E27FC236}">
                <a16:creationId xmlns:a16="http://schemas.microsoft.com/office/drawing/2014/main" id="{D2A2769D-6DD1-CDDD-D478-8259C32DFEEE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12">
            <a:extLst>
              <a:ext uri="{FF2B5EF4-FFF2-40B4-BE49-F238E27FC236}">
                <a16:creationId xmlns:a16="http://schemas.microsoft.com/office/drawing/2014/main" id="{A08628DE-5DC5-49FA-9A4B-C2B2F28A21AC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13">
            <a:extLst>
              <a:ext uri="{FF2B5EF4-FFF2-40B4-BE49-F238E27FC236}">
                <a16:creationId xmlns:a16="http://schemas.microsoft.com/office/drawing/2014/main" id="{03EFEFF1-DFB3-E64B-5419-DADF16EE9CAD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6BEE030-9DC7-485D-9065-9A9FEAE49BBD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58852305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1182688" y="2017713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5145088" y="2017713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Rectangle 11">
            <a:extLst>
              <a:ext uri="{FF2B5EF4-FFF2-40B4-BE49-F238E27FC236}">
                <a16:creationId xmlns:a16="http://schemas.microsoft.com/office/drawing/2014/main" id="{881BC54B-6A3E-585D-ADDC-5BD1B514C99C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12">
            <a:extLst>
              <a:ext uri="{FF2B5EF4-FFF2-40B4-BE49-F238E27FC236}">
                <a16:creationId xmlns:a16="http://schemas.microsoft.com/office/drawing/2014/main" id="{1E956D0B-FE45-7659-BEF1-82BB4C8C2C33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13">
            <a:extLst>
              <a:ext uri="{FF2B5EF4-FFF2-40B4-BE49-F238E27FC236}">
                <a16:creationId xmlns:a16="http://schemas.microsoft.com/office/drawing/2014/main" id="{58860C00-F2B5-0BCA-85CC-ECA90F4B1625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763F444-9316-4065-A9D0-7BDA70231139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97114559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Rectangle 11">
            <a:extLst>
              <a:ext uri="{FF2B5EF4-FFF2-40B4-BE49-F238E27FC236}">
                <a16:creationId xmlns:a16="http://schemas.microsoft.com/office/drawing/2014/main" id="{78CDC4E0-6B0A-31E7-2467-69B626DA2582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8" name="Rectangle 12">
            <a:extLst>
              <a:ext uri="{FF2B5EF4-FFF2-40B4-BE49-F238E27FC236}">
                <a16:creationId xmlns:a16="http://schemas.microsoft.com/office/drawing/2014/main" id="{325D78AF-015D-92C2-1C46-BBEFB00B7D90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9" name="Rectangle 13">
            <a:extLst>
              <a:ext uri="{FF2B5EF4-FFF2-40B4-BE49-F238E27FC236}">
                <a16:creationId xmlns:a16="http://schemas.microsoft.com/office/drawing/2014/main" id="{67C0790E-568B-CDA3-F6D2-1693E66A8D73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875B4E9-BF9C-4925-805E-F37140ED71E9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322483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Rectangle 11">
            <a:extLst>
              <a:ext uri="{FF2B5EF4-FFF2-40B4-BE49-F238E27FC236}">
                <a16:creationId xmlns:a16="http://schemas.microsoft.com/office/drawing/2014/main" id="{936AC495-64C4-4E13-C7F6-C992195C04A3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Rectangle 12">
            <a:extLst>
              <a:ext uri="{FF2B5EF4-FFF2-40B4-BE49-F238E27FC236}">
                <a16:creationId xmlns:a16="http://schemas.microsoft.com/office/drawing/2014/main" id="{4EE29532-BD8C-C414-D8F5-563BEDE48D72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13">
            <a:extLst>
              <a:ext uri="{FF2B5EF4-FFF2-40B4-BE49-F238E27FC236}">
                <a16:creationId xmlns:a16="http://schemas.microsoft.com/office/drawing/2014/main" id="{BCC46F40-F222-E877-AEA4-3F6A22AF1CDF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08C560D-A2C9-491E-9C82-4658799676A1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20269962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1">
            <a:extLst>
              <a:ext uri="{FF2B5EF4-FFF2-40B4-BE49-F238E27FC236}">
                <a16:creationId xmlns:a16="http://schemas.microsoft.com/office/drawing/2014/main" id="{61C710EE-7734-879B-908E-E507FA1734CA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" name="Rectangle 12">
            <a:extLst>
              <a:ext uri="{FF2B5EF4-FFF2-40B4-BE49-F238E27FC236}">
                <a16:creationId xmlns:a16="http://schemas.microsoft.com/office/drawing/2014/main" id="{F05AA0B2-4FC3-1902-B022-E5B46254F0D7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Rectangle 13">
            <a:extLst>
              <a:ext uri="{FF2B5EF4-FFF2-40B4-BE49-F238E27FC236}">
                <a16:creationId xmlns:a16="http://schemas.microsoft.com/office/drawing/2014/main" id="{1F69D241-6935-5D98-991D-59A94BBCAE81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BC1E16B-D9E1-4D58-A15B-39DBFD37856E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75726781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11">
            <a:extLst>
              <a:ext uri="{FF2B5EF4-FFF2-40B4-BE49-F238E27FC236}">
                <a16:creationId xmlns:a16="http://schemas.microsoft.com/office/drawing/2014/main" id="{1D518380-6478-E637-FE59-DA1E94D00B73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12">
            <a:extLst>
              <a:ext uri="{FF2B5EF4-FFF2-40B4-BE49-F238E27FC236}">
                <a16:creationId xmlns:a16="http://schemas.microsoft.com/office/drawing/2014/main" id="{0409C494-8F55-2653-FB48-BC2ABAC4A1E0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13">
            <a:extLst>
              <a:ext uri="{FF2B5EF4-FFF2-40B4-BE49-F238E27FC236}">
                <a16:creationId xmlns:a16="http://schemas.microsoft.com/office/drawing/2014/main" id="{8ACEF2D1-B9D1-F234-9475-F2FE37DC4924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856B738-2BDD-44EC-80DB-D39355246C5C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39661738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11">
            <a:extLst>
              <a:ext uri="{FF2B5EF4-FFF2-40B4-BE49-F238E27FC236}">
                <a16:creationId xmlns:a16="http://schemas.microsoft.com/office/drawing/2014/main" id="{F0B02BED-C0DC-52A2-E69F-9C9E89C6B432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12">
            <a:extLst>
              <a:ext uri="{FF2B5EF4-FFF2-40B4-BE49-F238E27FC236}">
                <a16:creationId xmlns:a16="http://schemas.microsoft.com/office/drawing/2014/main" id="{32B3DD3D-1780-FED9-0899-553B0C00B11A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13">
            <a:extLst>
              <a:ext uri="{FF2B5EF4-FFF2-40B4-BE49-F238E27FC236}">
                <a16:creationId xmlns:a16="http://schemas.microsoft.com/office/drawing/2014/main" id="{785DD665-7CF2-3234-AD13-786AB3373408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9F028F0-EAF4-4EA4-A0CD-E83D4153B015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3760605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11">
            <a:extLst>
              <a:ext uri="{FF2B5EF4-FFF2-40B4-BE49-F238E27FC236}">
                <a16:creationId xmlns:a16="http://schemas.microsoft.com/office/drawing/2014/main" id="{75814EF2-EA2E-413B-8F87-3332C912B9D0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12">
            <a:extLst>
              <a:ext uri="{FF2B5EF4-FFF2-40B4-BE49-F238E27FC236}">
                <a16:creationId xmlns:a16="http://schemas.microsoft.com/office/drawing/2014/main" id="{0E54A96A-2BA3-4F5F-1B86-AD36346ABAAB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13">
            <a:extLst>
              <a:ext uri="{FF2B5EF4-FFF2-40B4-BE49-F238E27FC236}">
                <a16:creationId xmlns:a16="http://schemas.microsoft.com/office/drawing/2014/main" id="{805F5806-FDF4-19ED-5DC0-E2DC0A9BED48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F321837-818C-42A8-B8C5-544DD81C2CB1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97442673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7004050" y="214313"/>
            <a:ext cx="1951038" cy="5918200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1150938" y="214313"/>
            <a:ext cx="5700712" cy="5918200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11">
            <a:extLst>
              <a:ext uri="{FF2B5EF4-FFF2-40B4-BE49-F238E27FC236}">
                <a16:creationId xmlns:a16="http://schemas.microsoft.com/office/drawing/2014/main" id="{A5E3B834-ACAB-A2BC-4E64-FC246CF5CB98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12">
            <a:extLst>
              <a:ext uri="{FF2B5EF4-FFF2-40B4-BE49-F238E27FC236}">
                <a16:creationId xmlns:a16="http://schemas.microsoft.com/office/drawing/2014/main" id="{2B5181C3-695D-8150-E954-A14D9A04F312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13">
            <a:extLst>
              <a:ext uri="{FF2B5EF4-FFF2-40B4-BE49-F238E27FC236}">
                <a16:creationId xmlns:a16="http://schemas.microsoft.com/office/drawing/2014/main" id="{A3DC2B21-8D83-382B-BC9A-290149892AA0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AA3E358-C237-4ADF-B8EF-2D6A4756CE6B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28202655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F68521D6-D281-FA5B-5B7D-AA3F9FF8CC10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417513" y="1098550"/>
            <a:ext cx="438150" cy="474663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defRPr/>
            </a:pPr>
            <a:endParaRPr kumimoji="1" lang="zh-CN" altLang="zh-CN" sz="2400"/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F1A7EDB0-8201-291D-CAA6-CE0B8BA2DD58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800100" y="1098550"/>
            <a:ext cx="328613" cy="474663"/>
          </a:xfrm>
          <a:prstGeom prst="rect">
            <a:avLst/>
          </a:prstGeom>
          <a:gradFill rotWithShape="0">
            <a:gsLst>
              <a:gs pos="0">
                <a:schemeClr val="accent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ffectLst/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defRPr/>
            </a:pPr>
            <a:endParaRPr kumimoji="1" lang="zh-CN" altLang="zh-CN" sz="2400"/>
          </a:p>
        </p:txBody>
      </p:sp>
      <p:sp>
        <p:nvSpPr>
          <p:cNvPr id="1028" name="Rectangle 4">
            <a:extLst>
              <a:ext uri="{FF2B5EF4-FFF2-40B4-BE49-F238E27FC236}">
                <a16:creationId xmlns:a16="http://schemas.microsoft.com/office/drawing/2014/main" id="{4824C4B5-C87A-7BA0-CAFB-BBE6648656F5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541338" y="1520825"/>
            <a:ext cx="422275" cy="474663"/>
          </a:xfrm>
          <a:prstGeom prst="rect">
            <a:avLst/>
          </a:prstGeom>
          <a:solidFill>
            <a:schemeClr val="folHlink"/>
          </a:solidFill>
          <a:ln>
            <a:noFill/>
          </a:ln>
          <a:effectLst/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defRPr/>
            </a:pPr>
            <a:endParaRPr kumimoji="1" lang="zh-CN" altLang="zh-CN" sz="2400"/>
          </a:p>
        </p:txBody>
      </p:sp>
      <p:sp>
        <p:nvSpPr>
          <p:cNvPr id="1029" name="Rectangle 5">
            <a:extLst>
              <a:ext uri="{FF2B5EF4-FFF2-40B4-BE49-F238E27FC236}">
                <a16:creationId xmlns:a16="http://schemas.microsoft.com/office/drawing/2014/main" id="{E04EC3D5-4ED9-1739-C81C-156F3416DADC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911225" y="1520825"/>
            <a:ext cx="368300" cy="474663"/>
          </a:xfrm>
          <a:prstGeom prst="rect">
            <a:avLst/>
          </a:prstGeom>
          <a:gradFill rotWithShape="0">
            <a:gsLst>
              <a:gs pos="0">
                <a:schemeClr val="folHlink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ffectLst/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defRPr/>
            </a:pPr>
            <a:endParaRPr kumimoji="1" lang="zh-CN" altLang="zh-CN" sz="2400"/>
          </a:p>
        </p:txBody>
      </p:sp>
      <p:sp>
        <p:nvSpPr>
          <p:cNvPr id="1030" name="Rectangle 6">
            <a:extLst>
              <a:ext uri="{FF2B5EF4-FFF2-40B4-BE49-F238E27FC236}">
                <a16:creationId xmlns:a16="http://schemas.microsoft.com/office/drawing/2014/main" id="{34937E52-7362-14D3-1484-51E8F6313CD6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127000" y="1447800"/>
            <a:ext cx="560388" cy="422275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hlink"/>
              </a:gs>
            </a:gsLst>
            <a:lin ang="18900000" scaled="1"/>
          </a:gradFill>
          <a:ln>
            <a:noFill/>
          </a:ln>
          <a:effectLst/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defRPr/>
            </a:pPr>
            <a:endParaRPr kumimoji="1" lang="zh-CN" altLang="zh-CN" sz="2400"/>
          </a:p>
        </p:txBody>
      </p:sp>
      <p:sp>
        <p:nvSpPr>
          <p:cNvPr id="1031" name="Rectangle 7">
            <a:extLst>
              <a:ext uri="{FF2B5EF4-FFF2-40B4-BE49-F238E27FC236}">
                <a16:creationId xmlns:a16="http://schemas.microsoft.com/office/drawing/2014/main" id="{DD772CBD-F67D-A13F-BAF9-48CFC7D3571C}"/>
              </a:ext>
            </a:extLst>
          </p:cNvPr>
          <p:cNvSpPr>
            <a:spLocks noChangeArrowheads="1"/>
          </p:cNvSpPr>
          <p:nvPr/>
        </p:nvSpPr>
        <p:spPr bwMode="gray">
          <a:xfrm>
            <a:off x="762000" y="990600"/>
            <a:ext cx="31750" cy="1052513"/>
          </a:xfrm>
          <a:prstGeom prst="rect">
            <a:avLst/>
          </a:prstGeom>
          <a:solidFill>
            <a:schemeClr val="bg2"/>
          </a:solidFill>
          <a:ln>
            <a:noFill/>
          </a:ln>
          <a:effectLst/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defRPr/>
            </a:pPr>
            <a:endParaRPr kumimoji="1" lang="zh-CN" altLang="zh-CN" sz="2400"/>
          </a:p>
        </p:txBody>
      </p:sp>
      <p:sp>
        <p:nvSpPr>
          <p:cNvPr id="1032" name="Rectangle 8">
            <a:extLst>
              <a:ext uri="{FF2B5EF4-FFF2-40B4-BE49-F238E27FC236}">
                <a16:creationId xmlns:a16="http://schemas.microsoft.com/office/drawing/2014/main" id="{CA9AEA9F-BE52-A0F3-2B8C-4128ACC2AC77}"/>
              </a:ext>
            </a:extLst>
          </p:cNvPr>
          <p:cNvSpPr>
            <a:spLocks noChangeArrowheads="1"/>
          </p:cNvSpPr>
          <p:nvPr/>
        </p:nvSpPr>
        <p:spPr bwMode="gray">
          <a:xfrm>
            <a:off x="442913" y="1781175"/>
            <a:ext cx="8226425" cy="31750"/>
          </a:xfrm>
          <a:prstGeom prst="rect">
            <a:avLst/>
          </a:prstGeom>
          <a:gradFill rotWithShape="0">
            <a:gsLst>
              <a:gs pos="0">
                <a:schemeClr val="bg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ffectLst/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defRPr/>
            </a:pPr>
            <a:endParaRPr kumimoji="1" lang="zh-CN" altLang="zh-CN" sz="2400"/>
          </a:p>
        </p:txBody>
      </p:sp>
      <p:sp>
        <p:nvSpPr>
          <p:cNvPr id="1033" name="Rectangle 9">
            <a:extLst>
              <a:ext uri="{FF2B5EF4-FFF2-40B4-BE49-F238E27FC236}">
                <a16:creationId xmlns:a16="http://schemas.microsoft.com/office/drawing/2014/main" id="{2F17D8B0-63AC-7FDC-0463-802732167AF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1150938" y="214313"/>
            <a:ext cx="7793037" cy="14620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1034" name="Rectangle 10">
            <a:extLst>
              <a:ext uri="{FF2B5EF4-FFF2-40B4-BE49-F238E27FC236}">
                <a16:creationId xmlns:a16="http://schemas.microsoft.com/office/drawing/2014/main" id="{E8429DC4-19D6-2C53-FAB5-C29EA867D9F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1182688" y="2017713"/>
            <a:ext cx="7772400" cy="411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107" name="Rectangle 11">
            <a:extLst>
              <a:ext uri="{FF2B5EF4-FFF2-40B4-BE49-F238E27FC236}">
                <a16:creationId xmlns:a16="http://schemas.microsoft.com/office/drawing/2014/main" id="{B5AC2535-5F1E-537F-6B24-6E4041EC1A8A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1162050" y="6243638"/>
            <a:ext cx="19050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1" hangingPunct="1">
              <a:defRPr sz="140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108" name="Rectangle 12">
            <a:extLst>
              <a:ext uri="{FF2B5EF4-FFF2-40B4-BE49-F238E27FC236}">
                <a16:creationId xmlns:a16="http://schemas.microsoft.com/office/drawing/2014/main" id="{497A7EB7-2F44-A692-47A0-1853D9EE8FC7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657600" y="6243638"/>
            <a:ext cx="28956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ctr" eaLnBrk="1" hangingPunct="1">
              <a:defRPr sz="140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109" name="Rectangle 13">
            <a:extLst>
              <a:ext uri="{FF2B5EF4-FFF2-40B4-BE49-F238E27FC236}">
                <a16:creationId xmlns:a16="http://schemas.microsoft.com/office/drawing/2014/main" id="{D9599645-5B2E-F3A8-4E94-C8BACA2794A5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7042150" y="6243638"/>
            <a:ext cx="19050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400" smtClean="0"/>
            </a:lvl1pPr>
          </a:lstStyle>
          <a:p>
            <a:pPr>
              <a:defRPr/>
            </a:pPr>
            <a:fld id="{A9DF2D49-9712-4FFE-A348-82E3CB159E28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934" r:id="rId1"/>
    <p:sldLayoutId id="2147483891" r:id="rId2"/>
    <p:sldLayoutId id="2147483892" r:id="rId3"/>
    <p:sldLayoutId id="2147483893" r:id="rId4"/>
    <p:sldLayoutId id="2147483894" r:id="rId5"/>
    <p:sldLayoutId id="2147483895" r:id="rId6"/>
    <p:sldLayoutId id="2147483896" r:id="rId7"/>
    <p:sldLayoutId id="2147483897" r:id="rId8"/>
    <p:sldLayoutId id="2147483898" r:id="rId9"/>
    <p:sldLayoutId id="2147483899" r:id="rId10"/>
    <p:sldLayoutId id="2147483900" r:id="rId11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  <a:ea typeface="宋体" pitchFamily="2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  <a:ea typeface="宋体" pitchFamily="2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  <a:ea typeface="宋体" pitchFamily="2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  <a:ea typeface="宋体" pitchFamily="2" charset="-122"/>
        </a:defRPr>
      </a:lvl5pPr>
      <a:lvl6pPr marL="457200"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  <a:ea typeface="宋体" pitchFamily="2" charset="-122"/>
        </a:defRPr>
      </a:lvl6pPr>
      <a:lvl7pPr marL="914400"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  <a:ea typeface="宋体" pitchFamily="2" charset="-122"/>
        </a:defRPr>
      </a:lvl7pPr>
      <a:lvl8pPr marL="1371600"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  <a:ea typeface="宋体" pitchFamily="2" charset="-122"/>
        </a:defRPr>
      </a:lvl8pPr>
      <a:lvl9pPr marL="1828800"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  <a:ea typeface="宋体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folHlink"/>
        </a:buClr>
        <a:buSzPct val="60000"/>
        <a:buFont typeface="Wingdings" panose="05000000000000000000" pitchFamily="2" charset="2"/>
        <a:buChar char="n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SzPct val="55000"/>
        <a:buFont typeface="Wingdings" panose="05000000000000000000" pitchFamily="2" charset="2"/>
        <a:buChar char="n"/>
        <a:defRPr sz="28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folHlink"/>
        </a:buClr>
        <a:buSzPct val="50000"/>
        <a:buFont typeface="Wingdings" panose="05000000000000000000" pitchFamily="2" charset="2"/>
        <a:buChar char="n"/>
        <a:defRPr sz="24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55000"/>
        <a:buFont typeface="Wingdings" panose="05000000000000000000" pitchFamily="2" charset="2"/>
        <a:buChar char="n"/>
        <a:defRPr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anose="05000000000000000000" pitchFamily="2" charset="2"/>
        <a:buChar char="n"/>
        <a:defRPr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Char char="n"/>
        <a:defRPr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Char char="n"/>
        <a:defRPr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Char char="n"/>
        <a:defRPr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Char char="n"/>
        <a:defRPr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tags" Target="../tags/tag8.xml"/><Relationship Id="rId13" Type="http://schemas.openxmlformats.org/officeDocument/2006/relationships/tags" Target="../tags/tag13.xml"/><Relationship Id="rId18" Type="http://schemas.openxmlformats.org/officeDocument/2006/relationships/slideLayout" Target="../slideLayouts/slideLayout7.xml"/><Relationship Id="rId3" Type="http://schemas.openxmlformats.org/officeDocument/2006/relationships/tags" Target="../tags/tag3.xml"/><Relationship Id="rId7" Type="http://schemas.openxmlformats.org/officeDocument/2006/relationships/tags" Target="../tags/tag7.xml"/><Relationship Id="rId12" Type="http://schemas.openxmlformats.org/officeDocument/2006/relationships/tags" Target="../tags/tag12.xml"/><Relationship Id="rId17" Type="http://schemas.openxmlformats.org/officeDocument/2006/relationships/tags" Target="../tags/tag17.xml"/><Relationship Id="rId2" Type="http://schemas.openxmlformats.org/officeDocument/2006/relationships/tags" Target="../tags/tag2.xml"/><Relationship Id="rId16" Type="http://schemas.openxmlformats.org/officeDocument/2006/relationships/tags" Target="../tags/tag16.xml"/><Relationship Id="rId1" Type="http://schemas.openxmlformats.org/officeDocument/2006/relationships/tags" Target="../tags/tag1.xml"/><Relationship Id="rId6" Type="http://schemas.openxmlformats.org/officeDocument/2006/relationships/tags" Target="../tags/tag6.xml"/><Relationship Id="rId11" Type="http://schemas.openxmlformats.org/officeDocument/2006/relationships/tags" Target="../tags/tag11.xml"/><Relationship Id="rId5" Type="http://schemas.openxmlformats.org/officeDocument/2006/relationships/tags" Target="../tags/tag5.xml"/><Relationship Id="rId15" Type="http://schemas.openxmlformats.org/officeDocument/2006/relationships/tags" Target="../tags/tag15.xml"/><Relationship Id="rId10" Type="http://schemas.openxmlformats.org/officeDocument/2006/relationships/tags" Target="../tags/tag10.xml"/><Relationship Id="rId19" Type="http://schemas.openxmlformats.org/officeDocument/2006/relationships/image" Target="../media/image1.tmp"/><Relationship Id="rId4" Type="http://schemas.openxmlformats.org/officeDocument/2006/relationships/tags" Target="../tags/tag4.xml"/><Relationship Id="rId9" Type="http://schemas.openxmlformats.org/officeDocument/2006/relationships/tags" Target="../tags/tag9.xml"/><Relationship Id="rId14" Type="http://schemas.openxmlformats.org/officeDocument/2006/relationships/tags" Target="../tags/tag14.xml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tags" Target="../tags/tag25.xml"/><Relationship Id="rId3" Type="http://schemas.openxmlformats.org/officeDocument/2006/relationships/tags" Target="../tags/tag20.xml"/><Relationship Id="rId7" Type="http://schemas.openxmlformats.org/officeDocument/2006/relationships/tags" Target="../tags/tag24.xml"/><Relationship Id="rId2" Type="http://schemas.openxmlformats.org/officeDocument/2006/relationships/tags" Target="../tags/tag19.xml"/><Relationship Id="rId1" Type="http://schemas.openxmlformats.org/officeDocument/2006/relationships/tags" Target="../tags/tag18.xml"/><Relationship Id="rId6" Type="http://schemas.openxmlformats.org/officeDocument/2006/relationships/tags" Target="../tags/tag23.xml"/><Relationship Id="rId11" Type="http://schemas.openxmlformats.org/officeDocument/2006/relationships/image" Target="../media/image1.tmp"/><Relationship Id="rId5" Type="http://schemas.openxmlformats.org/officeDocument/2006/relationships/tags" Target="../tags/tag22.xml"/><Relationship Id="rId10" Type="http://schemas.openxmlformats.org/officeDocument/2006/relationships/slideLayout" Target="../slideLayouts/slideLayout7.xml"/><Relationship Id="rId4" Type="http://schemas.openxmlformats.org/officeDocument/2006/relationships/tags" Target="../tags/tag21.xml"/><Relationship Id="rId9" Type="http://schemas.openxmlformats.org/officeDocument/2006/relationships/tags" Target="../tags/tag2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2">
            <a:extLst>
              <a:ext uri="{FF2B5EF4-FFF2-40B4-BE49-F238E27FC236}">
                <a16:creationId xmlns:a16="http://schemas.microsoft.com/office/drawing/2014/main" id="{6499851C-5E7B-4890-DEA9-B1299BF94FC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/>
              <a:t>1.8  </a:t>
            </a:r>
            <a:r>
              <a:rPr lang="zh-CN" altLang="en-US" b="1"/>
              <a:t>命题逻辑推理理论</a:t>
            </a:r>
          </a:p>
        </p:txBody>
      </p:sp>
      <p:sp>
        <p:nvSpPr>
          <p:cNvPr id="9219" name="Rectangle 3">
            <a:extLst>
              <a:ext uri="{FF2B5EF4-FFF2-40B4-BE49-F238E27FC236}">
                <a16:creationId xmlns:a16="http://schemas.microsoft.com/office/drawing/2014/main" id="{5604A2E2-B641-B4F1-0311-69029848979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900113" y="2636838"/>
            <a:ext cx="8054975" cy="3495675"/>
          </a:xfrm>
        </p:spPr>
        <p:txBody>
          <a:bodyPr/>
          <a:lstStyle/>
          <a:p>
            <a:pPr eaLnBrk="1" hangingPunct="1">
              <a:lnSpc>
                <a:spcPct val="200000"/>
              </a:lnSpc>
              <a:buFont typeface="Wingdings" panose="05000000000000000000" pitchFamily="2" charset="2"/>
              <a:buNone/>
            </a:pPr>
            <a:r>
              <a:rPr lang="en-US" altLang="zh-CN" sz="4000"/>
              <a:t>1.8.1 </a:t>
            </a:r>
            <a:r>
              <a:rPr lang="zh-CN" altLang="en-US" sz="4000" b="1"/>
              <a:t>有效推理的概念</a:t>
            </a:r>
            <a:r>
              <a:rPr lang="zh-CN" altLang="en-US" sz="4000"/>
              <a:t> </a:t>
            </a:r>
          </a:p>
          <a:p>
            <a:pPr eaLnBrk="1" hangingPunct="1">
              <a:lnSpc>
                <a:spcPct val="200000"/>
              </a:lnSpc>
              <a:buFont typeface="Wingdings" panose="05000000000000000000" pitchFamily="2" charset="2"/>
              <a:buNone/>
            </a:pPr>
            <a:r>
              <a:rPr lang="en-US" altLang="zh-CN" sz="4000"/>
              <a:t>1.8.2 </a:t>
            </a:r>
            <a:r>
              <a:rPr lang="zh-CN" altLang="en-US" sz="4000" b="1"/>
              <a:t>举例</a:t>
            </a:r>
            <a:endParaRPr lang="zh-CN" altLang="en-US" sz="40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>
            <a:extLst>
              <a:ext uri="{FF2B5EF4-FFF2-40B4-BE49-F238E27FC236}">
                <a16:creationId xmlns:a16="http://schemas.microsoft.com/office/drawing/2014/main" id="{DD813614-B58A-9F5F-AE8E-C445F98F4B2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/>
              <a:t>1.8.1 </a:t>
            </a:r>
            <a:r>
              <a:rPr lang="zh-CN" altLang="en-US" b="1"/>
              <a:t>有效推理的概念</a:t>
            </a:r>
          </a:p>
        </p:txBody>
      </p:sp>
      <p:sp>
        <p:nvSpPr>
          <p:cNvPr id="4099" name="Rectangle 3">
            <a:extLst>
              <a:ext uri="{FF2B5EF4-FFF2-40B4-BE49-F238E27FC236}">
                <a16:creationId xmlns:a16="http://schemas.microsoft.com/office/drawing/2014/main" id="{7B9C44DC-EE16-15BE-CC9D-D29E863111C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539750" y="1844675"/>
            <a:ext cx="8604250" cy="5013325"/>
          </a:xfrm>
        </p:spPr>
        <p:txBody>
          <a:bodyPr/>
          <a:lstStyle/>
          <a:p>
            <a:pPr eaLnBrk="1" hangingPunct="1">
              <a:lnSpc>
                <a:spcPct val="150000"/>
              </a:lnSpc>
              <a:defRPr/>
            </a:pPr>
            <a:r>
              <a:rPr lang="zh-CN" altLang="en-US" dirty="0">
                <a:solidFill>
                  <a:schemeClr val="hlink"/>
                </a:solidFill>
              </a:rPr>
              <a:t>定义</a:t>
            </a:r>
            <a:r>
              <a:rPr lang="en-US" altLang="zh-CN" dirty="0">
                <a:solidFill>
                  <a:schemeClr val="hlink"/>
                </a:solidFill>
              </a:rPr>
              <a:t>1.8.1</a:t>
            </a:r>
            <a:r>
              <a:rPr lang="en-US" altLang="zh-CN" dirty="0"/>
              <a:t> </a:t>
            </a:r>
            <a:r>
              <a:rPr lang="zh-CN" altLang="en-US" dirty="0"/>
              <a:t>设</a:t>
            </a:r>
            <a:r>
              <a:rPr lang="en-US" altLang="zh-CN" dirty="0"/>
              <a:t>A</a:t>
            </a:r>
            <a:r>
              <a:rPr lang="en-US" altLang="zh-CN" baseline="-25000" dirty="0"/>
              <a:t>1</a:t>
            </a:r>
            <a:r>
              <a:rPr lang="en-US" altLang="zh-CN" dirty="0"/>
              <a:t>,A</a:t>
            </a:r>
            <a:r>
              <a:rPr lang="en-US" altLang="zh-CN" baseline="-25000" dirty="0"/>
              <a:t>2</a:t>
            </a:r>
            <a:r>
              <a:rPr lang="en-US" altLang="zh-CN" dirty="0"/>
              <a:t>,</a:t>
            </a:r>
            <a:r>
              <a:rPr lang="en-US" altLang="zh-CN" dirty="0">
                <a:latin typeface="Arial" charset="0"/>
              </a:rPr>
              <a:t>…</a:t>
            </a:r>
            <a:r>
              <a:rPr lang="en-US" altLang="zh-CN" dirty="0"/>
              <a:t>,</a:t>
            </a:r>
            <a:r>
              <a:rPr lang="en-US" altLang="zh-CN" dirty="0" err="1"/>
              <a:t>A</a:t>
            </a:r>
            <a:r>
              <a:rPr lang="en-US" altLang="zh-CN" baseline="-25000" dirty="0" err="1"/>
              <a:t>n</a:t>
            </a:r>
            <a:r>
              <a:rPr lang="en-US" altLang="zh-CN" dirty="0" err="1"/>
              <a:t>,B</a:t>
            </a:r>
            <a:r>
              <a:rPr lang="zh-CN" altLang="en-US" dirty="0"/>
              <a:t>均是命题公式，若  </a:t>
            </a:r>
            <a:endParaRPr lang="en-US" altLang="zh-CN" dirty="0"/>
          </a:p>
          <a:p>
            <a:pPr marL="0" indent="0" eaLnBrk="1" hangingPunct="1">
              <a:lnSpc>
                <a:spcPct val="150000"/>
              </a:lnSpc>
              <a:buFont typeface="Wingdings" panose="05000000000000000000" pitchFamily="2" charset="2"/>
              <a:buNone/>
              <a:defRPr/>
            </a:pPr>
            <a:r>
              <a:rPr lang="en-US" altLang="zh-CN" dirty="0"/>
              <a:t>                  A</a:t>
            </a:r>
            <a:r>
              <a:rPr lang="en-US" altLang="zh-CN" baseline="-25000" dirty="0"/>
              <a:t>1</a:t>
            </a:r>
            <a:r>
              <a:rPr lang="en-US" altLang="zh-CN" dirty="0"/>
              <a:t>∧A</a:t>
            </a:r>
            <a:r>
              <a:rPr lang="en-US" altLang="zh-CN" baseline="-25000" dirty="0"/>
              <a:t>2</a:t>
            </a:r>
            <a:r>
              <a:rPr lang="en-US" altLang="zh-CN" dirty="0"/>
              <a:t>∧</a:t>
            </a:r>
            <a:r>
              <a:rPr lang="en-US" altLang="zh-CN" dirty="0">
                <a:latin typeface="Arial" charset="0"/>
              </a:rPr>
              <a:t>…</a:t>
            </a:r>
            <a:r>
              <a:rPr lang="en-US" altLang="zh-CN" dirty="0"/>
              <a:t>∧</a:t>
            </a:r>
            <a:r>
              <a:rPr lang="en-US" altLang="zh-CN" dirty="0" err="1"/>
              <a:t>A</a:t>
            </a:r>
            <a:r>
              <a:rPr lang="en-US" altLang="zh-CN" baseline="-25000" dirty="0" err="1"/>
              <a:t>n</a:t>
            </a:r>
            <a:r>
              <a:rPr lang="en-US" altLang="zh-CN" b="1" dirty="0" err="1">
                <a:solidFill>
                  <a:srgbClr val="0000FF"/>
                </a:solidFill>
                <a:sym typeface="Symbol" pitchFamily="18" charset="2"/>
              </a:rPr>
              <a:t></a:t>
            </a:r>
            <a:r>
              <a:rPr lang="en-US" altLang="zh-CN" dirty="0" err="1"/>
              <a:t>B</a:t>
            </a:r>
            <a:endParaRPr lang="en-US" altLang="zh-CN" dirty="0"/>
          </a:p>
          <a:p>
            <a:pPr marL="0" indent="0" eaLnBrk="1" hangingPunct="1">
              <a:lnSpc>
                <a:spcPct val="150000"/>
              </a:lnSpc>
              <a:buFont typeface="Wingdings" panose="05000000000000000000" pitchFamily="2" charset="2"/>
              <a:buNone/>
              <a:defRPr/>
            </a:pPr>
            <a:r>
              <a:rPr lang="zh-CN" altLang="en-US" dirty="0"/>
              <a:t>   则称</a:t>
            </a:r>
            <a:r>
              <a:rPr lang="en-US" altLang="zh-CN" dirty="0"/>
              <a:t>B</a:t>
            </a:r>
            <a:r>
              <a:rPr lang="zh-CN" altLang="en-US" dirty="0"/>
              <a:t>是</a:t>
            </a:r>
            <a:r>
              <a:rPr lang="zh-CN" altLang="en-US" dirty="0">
                <a:solidFill>
                  <a:schemeClr val="hlink"/>
                </a:solidFill>
              </a:rPr>
              <a:t>前提</a:t>
            </a:r>
            <a:r>
              <a:rPr lang="en-US" altLang="zh-CN" dirty="0"/>
              <a:t> A</a:t>
            </a:r>
            <a:r>
              <a:rPr lang="en-US" altLang="zh-CN" baseline="-25000" dirty="0"/>
              <a:t>1</a:t>
            </a:r>
            <a:r>
              <a:rPr lang="en-US" altLang="zh-CN" dirty="0"/>
              <a:t>,A</a:t>
            </a:r>
            <a:r>
              <a:rPr lang="en-US" altLang="zh-CN" baseline="-25000" dirty="0"/>
              <a:t>2</a:t>
            </a:r>
            <a:r>
              <a:rPr lang="en-US" altLang="zh-CN" dirty="0"/>
              <a:t>,</a:t>
            </a:r>
            <a:r>
              <a:rPr lang="en-US" altLang="zh-CN" dirty="0">
                <a:latin typeface="Arial" charset="0"/>
              </a:rPr>
              <a:t>…</a:t>
            </a:r>
            <a:r>
              <a:rPr lang="en-US" altLang="zh-CN" dirty="0"/>
              <a:t>,A</a:t>
            </a:r>
            <a:r>
              <a:rPr lang="en-US" altLang="zh-CN" baseline="-25000" dirty="0"/>
              <a:t>n</a:t>
            </a:r>
            <a:r>
              <a:rPr lang="zh-CN" altLang="en-US" dirty="0"/>
              <a:t>的</a:t>
            </a:r>
            <a:r>
              <a:rPr lang="zh-CN" altLang="en-US" dirty="0">
                <a:solidFill>
                  <a:schemeClr val="hlink"/>
                </a:solidFill>
              </a:rPr>
              <a:t>有效结论</a:t>
            </a:r>
            <a:endParaRPr lang="en-US" altLang="zh-CN" dirty="0"/>
          </a:p>
          <a:p>
            <a:pPr eaLnBrk="1" hangingPunct="1">
              <a:lnSpc>
                <a:spcPct val="150000"/>
              </a:lnSpc>
              <a:defRPr/>
            </a:pPr>
            <a:r>
              <a:rPr lang="zh-CN" altLang="en-US" dirty="0">
                <a:solidFill>
                  <a:schemeClr val="hlink"/>
                </a:solidFill>
              </a:rPr>
              <a:t>有效推理</a:t>
            </a:r>
            <a:r>
              <a:rPr lang="zh-CN" altLang="en-US" dirty="0"/>
              <a:t>或</a:t>
            </a:r>
            <a:r>
              <a:rPr lang="zh-CN" altLang="en-US" dirty="0">
                <a:solidFill>
                  <a:schemeClr val="hlink"/>
                </a:solidFill>
              </a:rPr>
              <a:t>形式证明</a:t>
            </a:r>
            <a:r>
              <a:rPr lang="zh-CN" altLang="en-US" dirty="0"/>
              <a:t> </a:t>
            </a:r>
            <a:endParaRPr lang="en-US" altLang="zh-CN" dirty="0"/>
          </a:p>
          <a:p>
            <a:pPr marL="0" indent="0" eaLnBrk="1" hangingPunct="1">
              <a:lnSpc>
                <a:spcPct val="200000"/>
              </a:lnSpc>
              <a:buFont typeface="Wingdings" panose="05000000000000000000" pitchFamily="2" charset="2"/>
              <a:buNone/>
              <a:defRPr/>
            </a:pPr>
            <a:r>
              <a:rPr lang="zh-CN" altLang="en-US" dirty="0">
                <a:solidFill>
                  <a:srgbClr val="000000"/>
                </a:solidFill>
              </a:rPr>
              <a:t>   前提                                  有效结论</a:t>
            </a:r>
            <a:endParaRPr lang="en-US" altLang="zh-CN" dirty="0">
              <a:solidFill>
                <a:srgbClr val="000000"/>
              </a:solidFill>
            </a:endParaRPr>
          </a:p>
          <a:p>
            <a:pPr marL="0" indent="0" eaLnBrk="1" hangingPunct="1">
              <a:buFont typeface="Wingdings" panose="05000000000000000000" pitchFamily="2" charset="2"/>
              <a:buNone/>
              <a:defRPr/>
            </a:pPr>
            <a:endParaRPr lang="zh-CN" altLang="en-US" dirty="0"/>
          </a:p>
        </p:txBody>
      </p:sp>
      <p:sp>
        <p:nvSpPr>
          <p:cNvPr id="3" name="右箭头 2">
            <a:extLst>
              <a:ext uri="{FF2B5EF4-FFF2-40B4-BE49-F238E27FC236}">
                <a16:creationId xmlns:a16="http://schemas.microsoft.com/office/drawing/2014/main" id="{9CD951C1-97B0-0D52-089D-38F6D5DFF78F}"/>
              </a:ext>
            </a:extLst>
          </p:cNvPr>
          <p:cNvSpPr/>
          <p:nvPr/>
        </p:nvSpPr>
        <p:spPr>
          <a:xfrm>
            <a:off x="1979613" y="5732463"/>
            <a:ext cx="4105275" cy="128587"/>
          </a:xfrm>
          <a:prstGeom prst="rightArrow">
            <a:avLst/>
          </a:prstGeom>
          <a:solidFill>
            <a:srgbClr val="CC0066"/>
          </a:solidFill>
          <a:ln>
            <a:solidFill>
              <a:srgbClr val="CC006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zh-CN" altLang="en-US"/>
          </a:p>
        </p:txBody>
      </p:sp>
      <p:sp>
        <p:nvSpPr>
          <p:cNvPr id="10245" name="Text Box 16">
            <a:extLst>
              <a:ext uri="{FF2B5EF4-FFF2-40B4-BE49-F238E27FC236}">
                <a16:creationId xmlns:a16="http://schemas.microsoft.com/office/drawing/2014/main" id="{57C657D4-123D-F421-8A23-7E011145C2B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105150" y="5219700"/>
            <a:ext cx="1827213" cy="5857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>
                <a:solidFill>
                  <a:srgbClr val="00B050"/>
                </a:solidFill>
              </a:rPr>
              <a:t>推理规则</a:t>
            </a:r>
          </a:p>
        </p:txBody>
      </p:sp>
      <p:sp>
        <p:nvSpPr>
          <p:cNvPr id="10246" name="Text Box 16">
            <a:extLst>
              <a:ext uri="{FF2B5EF4-FFF2-40B4-BE49-F238E27FC236}">
                <a16:creationId xmlns:a16="http://schemas.microsoft.com/office/drawing/2014/main" id="{522D6E69-124B-E569-5591-46F46B63F4F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339975" y="5805488"/>
            <a:ext cx="3527425" cy="584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/>
              <a:t>明确表述每步</a:t>
            </a:r>
            <a:r>
              <a:rPr lang="zh-CN" altLang="en-US">
                <a:solidFill>
                  <a:srgbClr val="339933"/>
                </a:solidFill>
              </a:rPr>
              <a:t>理由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2">
            <a:extLst>
              <a:ext uri="{FF2B5EF4-FFF2-40B4-BE49-F238E27FC236}">
                <a16:creationId xmlns:a16="http://schemas.microsoft.com/office/drawing/2014/main" id="{FD106F4C-D1F9-B713-B77A-552D5B04BC3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/>
              <a:t>1.8.1 </a:t>
            </a:r>
            <a:r>
              <a:rPr lang="zh-CN" altLang="en-US" b="1"/>
              <a:t>有效推理的概念</a:t>
            </a:r>
          </a:p>
        </p:txBody>
      </p:sp>
      <p:sp>
        <p:nvSpPr>
          <p:cNvPr id="5123" name="Rectangle 3">
            <a:extLst>
              <a:ext uri="{FF2B5EF4-FFF2-40B4-BE49-F238E27FC236}">
                <a16:creationId xmlns:a16="http://schemas.microsoft.com/office/drawing/2014/main" id="{FCE3017C-D7B7-052A-8033-BBADBB86F65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11188" y="1916113"/>
            <a:ext cx="8424862" cy="4840287"/>
          </a:xfrm>
        </p:spPr>
        <p:txBody>
          <a:bodyPr/>
          <a:lstStyle/>
          <a:p>
            <a:pPr eaLnBrk="1" hangingPunct="1">
              <a:lnSpc>
                <a:spcPct val="150000"/>
              </a:lnSpc>
              <a:defRPr/>
            </a:pPr>
            <a:r>
              <a:rPr lang="zh-CN" altLang="en-US" dirty="0">
                <a:solidFill>
                  <a:schemeClr val="hlink"/>
                </a:solidFill>
              </a:rPr>
              <a:t>推理规则</a:t>
            </a:r>
            <a:r>
              <a:rPr lang="zh-CN" altLang="en-US" dirty="0"/>
              <a:t> </a:t>
            </a:r>
            <a:endParaRPr lang="en-US" altLang="zh-CN" dirty="0"/>
          </a:p>
          <a:p>
            <a:pPr marL="0" indent="0" eaLnBrk="1" hangingPunct="1">
              <a:lnSpc>
                <a:spcPct val="150000"/>
              </a:lnSpc>
              <a:buFont typeface="Wingdings" panose="05000000000000000000" pitchFamily="2" charset="2"/>
              <a:buNone/>
              <a:defRPr/>
            </a:pPr>
            <a:r>
              <a:rPr lang="en-US" altLang="zh-CN" dirty="0">
                <a:solidFill>
                  <a:schemeClr val="accent1"/>
                </a:solidFill>
              </a:rPr>
              <a:t>   </a:t>
            </a:r>
            <a:r>
              <a:rPr lang="zh-CN" altLang="en-US" dirty="0">
                <a:solidFill>
                  <a:schemeClr val="accent1"/>
                </a:solidFill>
              </a:rPr>
              <a:t>前提</a:t>
            </a:r>
            <a:r>
              <a:rPr lang="zh-CN" altLang="en-US" dirty="0"/>
              <a:t>导出</a:t>
            </a:r>
            <a:r>
              <a:rPr lang="zh-CN" altLang="en-US" dirty="0">
                <a:solidFill>
                  <a:schemeClr val="accent1"/>
                </a:solidFill>
              </a:rPr>
              <a:t>有效结论</a:t>
            </a:r>
            <a:r>
              <a:rPr lang="zh-CN" altLang="en-US" dirty="0"/>
              <a:t>的每步</a:t>
            </a:r>
            <a:r>
              <a:rPr lang="zh-CN" altLang="en-US" dirty="0">
                <a:solidFill>
                  <a:srgbClr val="FF00FF"/>
                </a:solidFill>
              </a:rPr>
              <a:t>正当理由</a:t>
            </a:r>
            <a:endParaRPr lang="zh-CN" altLang="en-US" b="1" dirty="0">
              <a:solidFill>
                <a:srgbClr val="FF00FF"/>
              </a:solidFill>
            </a:endParaRPr>
          </a:p>
          <a:p>
            <a:pPr eaLnBrk="1" hangingPunct="1">
              <a:lnSpc>
                <a:spcPct val="150000"/>
              </a:lnSpc>
              <a:defRPr/>
            </a:pPr>
            <a:r>
              <a:rPr lang="en-US" altLang="zh-CN" dirty="0">
                <a:solidFill>
                  <a:srgbClr val="FF00FF"/>
                </a:solidFill>
              </a:rPr>
              <a:t>P</a:t>
            </a:r>
            <a:r>
              <a:rPr lang="zh-CN" altLang="en-US" dirty="0">
                <a:solidFill>
                  <a:srgbClr val="FF00FF"/>
                </a:solidFill>
              </a:rPr>
              <a:t>规则</a:t>
            </a:r>
            <a:r>
              <a:rPr lang="zh-CN" altLang="en-US" dirty="0"/>
              <a:t>     引入</a:t>
            </a:r>
            <a:r>
              <a:rPr lang="zh-CN" altLang="en-US" dirty="0">
                <a:solidFill>
                  <a:srgbClr val="00B050"/>
                </a:solidFill>
              </a:rPr>
              <a:t>前提</a:t>
            </a:r>
            <a:endParaRPr lang="zh-CN" altLang="en-US" b="1" dirty="0">
              <a:solidFill>
                <a:srgbClr val="00B050"/>
              </a:solidFill>
            </a:endParaRPr>
          </a:p>
          <a:p>
            <a:pPr eaLnBrk="1" hangingPunct="1">
              <a:lnSpc>
                <a:spcPct val="150000"/>
              </a:lnSpc>
              <a:defRPr/>
            </a:pPr>
            <a:r>
              <a:rPr lang="en-US" altLang="zh-CN" dirty="0">
                <a:solidFill>
                  <a:srgbClr val="FF00FF"/>
                </a:solidFill>
              </a:rPr>
              <a:t>T</a:t>
            </a:r>
            <a:r>
              <a:rPr lang="zh-CN" altLang="en-US" dirty="0">
                <a:solidFill>
                  <a:srgbClr val="FF00FF"/>
                </a:solidFill>
              </a:rPr>
              <a:t>规则    </a:t>
            </a:r>
            <a:r>
              <a:rPr lang="zh-CN" altLang="en-US" dirty="0"/>
              <a:t> </a:t>
            </a:r>
            <a:r>
              <a:rPr lang="zh-CN" altLang="en-US" dirty="0">
                <a:solidFill>
                  <a:srgbClr val="00B050"/>
                </a:solidFill>
              </a:rPr>
              <a:t>蕴含定理</a:t>
            </a:r>
            <a:endParaRPr lang="zh-CN" altLang="en-US" dirty="0"/>
          </a:p>
          <a:p>
            <a:pPr eaLnBrk="1" hangingPunct="1">
              <a:lnSpc>
                <a:spcPct val="150000"/>
              </a:lnSpc>
              <a:buFont typeface="Wingdings" panose="05000000000000000000" pitchFamily="2" charset="2"/>
              <a:buNone/>
              <a:defRPr/>
            </a:pPr>
            <a:r>
              <a:rPr lang="zh-CN" altLang="en-US" dirty="0"/>
              <a:t>                </a:t>
            </a:r>
            <a:r>
              <a:rPr lang="zh-CN" altLang="en-US" dirty="0">
                <a:solidFill>
                  <a:srgbClr val="C00000"/>
                </a:solidFill>
              </a:rPr>
              <a:t>命题定律</a:t>
            </a:r>
            <a:endParaRPr lang="zh-CN" altLang="en-US" dirty="0"/>
          </a:p>
          <a:p>
            <a:pPr eaLnBrk="1" hangingPunct="1">
              <a:lnSpc>
                <a:spcPct val="150000"/>
              </a:lnSpc>
              <a:buFont typeface="Wingdings" panose="05000000000000000000" pitchFamily="2" charset="2"/>
              <a:buNone/>
              <a:defRPr/>
            </a:pPr>
            <a:r>
              <a:rPr lang="zh-CN" altLang="en-US" dirty="0"/>
              <a:t>                前步有效结论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2">
            <a:extLst>
              <a:ext uri="{FF2B5EF4-FFF2-40B4-BE49-F238E27FC236}">
                <a16:creationId xmlns:a16="http://schemas.microsoft.com/office/drawing/2014/main" id="{419E5622-2727-74EE-1493-8879BC7089D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/>
              <a:t>1.8.2  </a:t>
            </a:r>
            <a:r>
              <a:rPr lang="zh-CN" altLang="en-US" b="1"/>
              <a:t>举例</a:t>
            </a:r>
          </a:p>
        </p:txBody>
      </p:sp>
      <p:sp>
        <p:nvSpPr>
          <p:cNvPr id="12291" name="Rectangle 3">
            <a:extLst>
              <a:ext uri="{FF2B5EF4-FFF2-40B4-BE49-F238E27FC236}">
                <a16:creationId xmlns:a16="http://schemas.microsoft.com/office/drawing/2014/main" id="{23B60D1F-0DBA-7F79-E3A1-E3784C6E86E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11188" y="1844675"/>
            <a:ext cx="8532812" cy="5013325"/>
          </a:xfrm>
        </p:spPr>
        <p:txBody>
          <a:bodyPr/>
          <a:lstStyle/>
          <a:p>
            <a:pPr eaLnBrk="1" hangingPunct="1">
              <a:lnSpc>
                <a:spcPct val="150000"/>
              </a:lnSpc>
            </a:pPr>
            <a:r>
              <a:rPr lang="zh-CN" altLang="en-US" sz="2800" dirty="0">
                <a:solidFill>
                  <a:schemeClr val="hlink"/>
                </a:solidFill>
              </a:rPr>
              <a:t>例</a:t>
            </a:r>
            <a:r>
              <a:rPr lang="en-US" altLang="zh-CN" sz="2800" dirty="0">
                <a:solidFill>
                  <a:schemeClr val="hlink"/>
                </a:solidFill>
              </a:rPr>
              <a:t>1.8.1</a:t>
            </a:r>
            <a:r>
              <a:rPr lang="en-US" altLang="zh-CN" sz="2800" dirty="0"/>
              <a:t> </a:t>
            </a:r>
            <a:r>
              <a:rPr lang="zh-CN" altLang="en-US" sz="2800" dirty="0"/>
              <a:t>证明 </a:t>
            </a:r>
            <a:r>
              <a:rPr lang="en-US" altLang="zh-CN" sz="2800" dirty="0"/>
              <a:t>P→(Q∨R)</a:t>
            </a:r>
            <a:r>
              <a:rPr lang="zh-CN" altLang="en-US" sz="2800" dirty="0"/>
              <a:t>，</a:t>
            </a:r>
            <a:r>
              <a:rPr lang="en-US" altLang="zh-CN" sz="2800" dirty="0"/>
              <a:t>Q→S</a:t>
            </a:r>
            <a:r>
              <a:rPr lang="zh-CN" altLang="en-US" sz="2800" dirty="0"/>
              <a:t>，</a:t>
            </a:r>
            <a:r>
              <a:rPr lang="en-US" altLang="zh-CN" sz="2800" dirty="0"/>
              <a:t>P</a:t>
            </a:r>
            <a:r>
              <a:rPr lang="zh-CN" altLang="en-US" sz="2800" dirty="0"/>
              <a:t>，┐</a:t>
            </a:r>
            <a:r>
              <a:rPr lang="en-US" altLang="zh-CN" sz="2800" dirty="0"/>
              <a:t>S</a:t>
            </a:r>
            <a:r>
              <a:rPr lang="en-US" altLang="zh-CN" sz="2800" dirty="0">
                <a:sym typeface="Symbol" panose="05050102010706020507" pitchFamily="18" charset="2"/>
              </a:rPr>
              <a:t></a:t>
            </a:r>
            <a:r>
              <a:rPr lang="en-US" altLang="zh-CN" sz="2800" dirty="0"/>
              <a:t>R </a:t>
            </a:r>
          </a:p>
          <a:p>
            <a:pPr eaLnBrk="1" hangingPunct="1">
              <a:lnSpc>
                <a:spcPct val="150000"/>
              </a:lnSpc>
            </a:pPr>
            <a:r>
              <a:rPr lang="zh-CN" altLang="en-US" sz="2800" dirty="0">
                <a:solidFill>
                  <a:schemeClr val="hlink"/>
                </a:solidFill>
              </a:rPr>
              <a:t>证明</a:t>
            </a:r>
            <a:r>
              <a:rPr lang="zh-CN" altLang="en-US" sz="2800" b="1" dirty="0"/>
              <a:t> </a:t>
            </a:r>
            <a:endParaRPr lang="zh-CN" altLang="en-US" sz="2800" dirty="0"/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2800" dirty="0"/>
              <a:t>Q→S(</a:t>
            </a:r>
            <a:r>
              <a:rPr lang="zh-CN" altLang="en-US" sz="2800" dirty="0"/>
              <a:t>已知</a:t>
            </a:r>
            <a:r>
              <a:rPr lang="en-US" altLang="zh-CN" sz="2800" dirty="0"/>
              <a:t>)</a:t>
            </a:r>
            <a:r>
              <a:rPr lang="en-US" altLang="zh-CN" sz="2800" dirty="0">
                <a:solidFill>
                  <a:schemeClr val="folHlink"/>
                </a:solidFill>
                <a:sym typeface="Symbol" panose="05050102010706020507" pitchFamily="18" charset="2"/>
              </a:rPr>
              <a:t> </a:t>
            </a:r>
            <a:r>
              <a:rPr lang="zh-CN" altLang="en-US" sz="2800" dirty="0"/>
              <a:t> ┐</a:t>
            </a:r>
            <a:r>
              <a:rPr lang="en-US" altLang="zh-CN" sz="2800" dirty="0"/>
              <a:t>S→┐Q(E</a:t>
            </a:r>
            <a:r>
              <a:rPr lang="en-US" altLang="zh-CN" sz="2800" baseline="-25000" dirty="0"/>
              <a:t>15</a:t>
            </a:r>
            <a:r>
              <a:rPr lang="en-US" altLang="zh-CN" sz="2800" dirty="0"/>
              <a:t>)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2800" dirty="0">
                <a:sym typeface="Symbol" panose="05050102010706020507" pitchFamily="18" charset="2"/>
              </a:rPr>
              <a:t>                                             </a:t>
            </a:r>
            <a:r>
              <a:rPr lang="en-US" altLang="zh-CN" sz="2800" dirty="0">
                <a:solidFill>
                  <a:schemeClr val="accent1"/>
                </a:solidFill>
                <a:sym typeface="Symbol" panose="05050102010706020507" pitchFamily="18" charset="2"/>
              </a:rPr>
              <a:t></a:t>
            </a:r>
            <a:r>
              <a:rPr lang="en-US" altLang="zh-CN" sz="2800" dirty="0">
                <a:sym typeface="Symbol" panose="05050102010706020507" pitchFamily="18" charset="2"/>
              </a:rPr>
              <a:t> </a:t>
            </a:r>
            <a:r>
              <a:rPr lang="zh-CN" altLang="en-US" sz="2800" dirty="0"/>
              <a:t>┐</a:t>
            </a:r>
            <a:r>
              <a:rPr lang="en-US" altLang="zh-CN" sz="2800" dirty="0"/>
              <a:t>Q(I</a:t>
            </a:r>
            <a:r>
              <a:rPr lang="en-US" altLang="zh-CN" sz="2800" baseline="-25000" dirty="0"/>
              <a:t>7</a:t>
            </a:r>
            <a:r>
              <a:rPr lang="en-US" altLang="zh-CN" sz="2800" dirty="0"/>
              <a:t>)         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2800" dirty="0"/>
              <a:t>                           </a:t>
            </a:r>
            <a:r>
              <a:rPr lang="zh-CN" altLang="en-US" sz="2800" dirty="0"/>
              <a:t>┐</a:t>
            </a:r>
            <a:r>
              <a:rPr lang="en-US" altLang="zh-CN" sz="2800" dirty="0"/>
              <a:t>S (</a:t>
            </a:r>
            <a:r>
              <a:rPr lang="zh-CN" altLang="en-US" sz="2800" dirty="0"/>
              <a:t>已知</a:t>
            </a:r>
            <a:r>
              <a:rPr lang="en-US" altLang="zh-CN" sz="2800" dirty="0"/>
              <a:t>) 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2800" dirty="0"/>
              <a:t>                                                               </a:t>
            </a:r>
            <a:r>
              <a:rPr lang="en-US" altLang="zh-CN" sz="2800" dirty="0">
                <a:solidFill>
                  <a:schemeClr val="accent1"/>
                </a:solidFill>
                <a:sym typeface="Symbol" panose="05050102010706020507" pitchFamily="18" charset="2"/>
              </a:rPr>
              <a:t></a:t>
            </a:r>
            <a:r>
              <a:rPr lang="en-US" altLang="zh-CN" sz="2800" dirty="0"/>
              <a:t> R(I</a:t>
            </a:r>
            <a:r>
              <a:rPr lang="en-US" altLang="zh-CN" sz="2800" baseline="-25000" dirty="0"/>
              <a:t>9</a:t>
            </a:r>
            <a:r>
              <a:rPr lang="en-US" altLang="zh-CN" sz="2800" dirty="0"/>
              <a:t>)                  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2800" dirty="0"/>
              <a:t>            P→(Q∨R) (</a:t>
            </a:r>
            <a:r>
              <a:rPr lang="zh-CN" altLang="en-US" sz="2800" dirty="0"/>
              <a:t>已知</a:t>
            </a:r>
            <a:r>
              <a:rPr lang="en-US" altLang="zh-CN" sz="2800" dirty="0"/>
              <a:t>) 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2800" dirty="0"/>
              <a:t>                                        </a:t>
            </a:r>
            <a:r>
              <a:rPr lang="en-US" altLang="zh-CN" sz="2800" dirty="0">
                <a:solidFill>
                  <a:srgbClr val="00CC99"/>
                </a:solidFill>
                <a:sym typeface="Symbol" panose="05050102010706020507" pitchFamily="18" charset="2"/>
              </a:rPr>
              <a:t></a:t>
            </a:r>
            <a:r>
              <a:rPr lang="en-US" altLang="zh-CN" sz="2800" dirty="0"/>
              <a:t>   Q∨R(I</a:t>
            </a:r>
            <a:r>
              <a:rPr lang="en-US" altLang="zh-CN" sz="2800" baseline="-25000" dirty="0"/>
              <a:t>7</a:t>
            </a:r>
            <a:r>
              <a:rPr lang="en-US" altLang="zh-CN" sz="2800" dirty="0"/>
              <a:t>)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2800" dirty="0"/>
              <a:t>                         P (</a:t>
            </a:r>
            <a:r>
              <a:rPr lang="zh-CN" altLang="en-US" sz="2800" dirty="0"/>
              <a:t>已知</a:t>
            </a:r>
            <a:r>
              <a:rPr lang="en-US" altLang="zh-CN" sz="2800" dirty="0"/>
              <a:t>) </a:t>
            </a:r>
          </a:p>
        </p:txBody>
      </p:sp>
      <p:sp>
        <p:nvSpPr>
          <p:cNvPr id="3" name="右大括号 2">
            <a:extLst>
              <a:ext uri="{FF2B5EF4-FFF2-40B4-BE49-F238E27FC236}">
                <a16:creationId xmlns:a16="http://schemas.microsoft.com/office/drawing/2014/main" id="{7160ECA2-F91C-38C9-0843-732F3F2C741D}"/>
              </a:ext>
            </a:extLst>
          </p:cNvPr>
          <p:cNvSpPr/>
          <p:nvPr/>
        </p:nvSpPr>
        <p:spPr>
          <a:xfrm>
            <a:off x="5424488" y="3573463"/>
            <a:ext cx="155575" cy="914400"/>
          </a:xfrm>
          <a:prstGeom prst="rightBrace">
            <a:avLst/>
          </a:prstGeom>
          <a:ln w="254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zh-CN" altLang="en-US"/>
          </a:p>
        </p:txBody>
      </p:sp>
      <p:sp>
        <p:nvSpPr>
          <p:cNvPr id="6" name="右大括号 5">
            <a:extLst>
              <a:ext uri="{FF2B5EF4-FFF2-40B4-BE49-F238E27FC236}">
                <a16:creationId xmlns:a16="http://schemas.microsoft.com/office/drawing/2014/main" id="{CF04C679-7FD9-A447-06E6-3B8C364D1CB9}"/>
              </a:ext>
            </a:extLst>
          </p:cNvPr>
          <p:cNvSpPr/>
          <p:nvPr/>
        </p:nvSpPr>
        <p:spPr>
          <a:xfrm>
            <a:off x="7440613" y="3949700"/>
            <a:ext cx="155575" cy="2000250"/>
          </a:xfrm>
          <a:prstGeom prst="rightBrace">
            <a:avLst/>
          </a:prstGeom>
          <a:ln w="254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zh-CN" altLang="en-US"/>
          </a:p>
        </p:txBody>
      </p:sp>
      <p:sp>
        <p:nvSpPr>
          <p:cNvPr id="7" name="右大括号 6">
            <a:extLst>
              <a:ext uri="{FF2B5EF4-FFF2-40B4-BE49-F238E27FC236}">
                <a16:creationId xmlns:a16="http://schemas.microsoft.com/office/drawing/2014/main" id="{EE9D9FFD-1D9F-25C0-48C1-776BAE8FA90B}"/>
              </a:ext>
            </a:extLst>
          </p:cNvPr>
          <p:cNvSpPr/>
          <p:nvPr/>
        </p:nvSpPr>
        <p:spPr>
          <a:xfrm>
            <a:off x="4848225" y="5445125"/>
            <a:ext cx="155575" cy="914400"/>
          </a:xfrm>
          <a:prstGeom prst="rightBrace">
            <a:avLst/>
          </a:prstGeom>
          <a:ln w="254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zh-CN" alt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2">
            <a:extLst>
              <a:ext uri="{FF2B5EF4-FFF2-40B4-BE49-F238E27FC236}">
                <a16:creationId xmlns:a16="http://schemas.microsoft.com/office/drawing/2014/main" id="{AE562D02-8025-4272-83E2-A5A50219BF9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/>
              <a:t>1.8.2  </a:t>
            </a:r>
            <a:r>
              <a:rPr lang="zh-CN" altLang="en-US" b="1"/>
              <a:t>举例</a:t>
            </a:r>
          </a:p>
        </p:txBody>
      </p:sp>
      <p:sp>
        <p:nvSpPr>
          <p:cNvPr id="13315" name="Rectangle 3">
            <a:extLst>
              <a:ext uri="{FF2B5EF4-FFF2-40B4-BE49-F238E27FC236}">
                <a16:creationId xmlns:a16="http://schemas.microsoft.com/office/drawing/2014/main" id="{09C1F9BE-896F-1146-9644-6BD7A577858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11188" y="2017713"/>
            <a:ext cx="8343900" cy="4840287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zh-CN" altLang="en-US" sz="2800">
                <a:solidFill>
                  <a:schemeClr val="hlink"/>
                </a:solidFill>
              </a:rPr>
              <a:t>例</a:t>
            </a:r>
            <a:r>
              <a:rPr lang="en-US" altLang="zh-CN" sz="2800">
                <a:solidFill>
                  <a:schemeClr val="hlink"/>
                </a:solidFill>
              </a:rPr>
              <a:t>1.8.1</a:t>
            </a:r>
            <a:r>
              <a:rPr lang="en-US" altLang="zh-CN" sz="2800"/>
              <a:t> </a:t>
            </a:r>
            <a:r>
              <a:rPr lang="zh-CN" altLang="en-US" sz="2800"/>
              <a:t>证明 </a:t>
            </a:r>
            <a:r>
              <a:rPr lang="en-US" altLang="zh-CN" sz="2800"/>
              <a:t>P→(Q∨R)</a:t>
            </a:r>
            <a:r>
              <a:rPr lang="zh-CN" altLang="en-US" sz="2800"/>
              <a:t>，</a:t>
            </a:r>
            <a:r>
              <a:rPr lang="en-US" altLang="zh-CN" sz="2800"/>
              <a:t>Q→S</a:t>
            </a:r>
            <a:r>
              <a:rPr lang="zh-CN" altLang="en-US" sz="2800"/>
              <a:t>，</a:t>
            </a:r>
            <a:r>
              <a:rPr lang="en-US" altLang="zh-CN" sz="2800"/>
              <a:t>P</a:t>
            </a:r>
            <a:r>
              <a:rPr lang="zh-CN" altLang="en-US" sz="2800"/>
              <a:t>，┐</a:t>
            </a:r>
            <a:r>
              <a:rPr lang="en-US" altLang="zh-CN" sz="2800"/>
              <a:t>S</a:t>
            </a:r>
            <a:r>
              <a:rPr lang="en-US" altLang="zh-CN" sz="2800">
                <a:sym typeface="Symbol" panose="05050102010706020507" pitchFamily="18" charset="2"/>
              </a:rPr>
              <a:t></a:t>
            </a:r>
            <a:r>
              <a:rPr lang="en-US" altLang="zh-CN" sz="2800"/>
              <a:t>R </a:t>
            </a:r>
          </a:p>
          <a:p>
            <a:pPr eaLnBrk="1" hangingPunct="1">
              <a:lnSpc>
                <a:spcPct val="90000"/>
              </a:lnSpc>
            </a:pPr>
            <a:r>
              <a:rPr lang="zh-CN" altLang="en-US" sz="2800">
                <a:solidFill>
                  <a:schemeClr val="hlink"/>
                </a:solidFill>
              </a:rPr>
              <a:t>证明</a:t>
            </a:r>
            <a:r>
              <a:rPr lang="zh-CN" altLang="en-US" sz="2800" b="1"/>
              <a:t> </a:t>
            </a:r>
            <a:endParaRPr lang="zh-CN" altLang="en-US" sz="2800"/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zh-CN" altLang="en-US" sz="2800"/>
              <a:t>  （</a:t>
            </a:r>
            <a:r>
              <a:rPr lang="en-US" altLang="zh-CN" sz="2800"/>
              <a:t>1</a:t>
            </a:r>
            <a:r>
              <a:rPr lang="zh-CN" altLang="en-US" sz="2800"/>
              <a:t>）</a:t>
            </a:r>
            <a:r>
              <a:rPr lang="en-US" altLang="zh-CN" sz="2800"/>
              <a:t>Q→S                   P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2800"/>
              <a:t>  </a:t>
            </a:r>
            <a:r>
              <a:rPr lang="zh-CN" altLang="en-US" sz="2800"/>
              <a:t>（</a:t>
            </a:r>
            <a:r>
              <a:rPr lang="en-US" altLang="zh-CN" sz="2800"/>
              <a:t>2</a:t>
            </a:r>
            <a:r>
              <a:rPr lang="zh-CN" altLang="en-US" sz="2800"/>
              <a:t>）┐</a:t>
            </a:r>
            <a:r>
              <a:rPr lang="en-US" altLang="zh-CN" sz="2800"/>
              <a:t>S→┐Q            T(1)</a:t>
            </a:r>
            <a:r>
              <a:rPr lang="zh-CN" altLang="en-US" sz="2800"/>
              <a:t>，</a:t>
            </a:r>
            <a:r>
              <a:rPr lang="en-US" altLang="zh-CN" sz="2800"/>
              <a:t>E</a:t>
            </a:r>
            <a:r>
              <a:rPr lang="en-US" altLang="zh-CN" sz="2800" baseline="-25000"/>
              <a:t>15</a:t>
            </a:r>
            <a:endParaRPr lang="en-US" altLang="zh-CN" sz="2800"/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2800"/>
              <a:t>  </a:t>
            </a:r>
            <a:r>
              <a:rPr lang="zh-CN" altLang="en-US" sz="2800"/>
              <a:t>（</a:t>
            </a:r>
            <a:r>
              <a:rPr lang="en-US" altLang="zh-CN" sz="2800"/>
              <a:t>3</a:t>
            </a:r>
            <a:r>
              <a:rPr lang="zh-CN" altLang="en-US" sz="2800"/>
              <a:t>）┐</a:t>
            </a:r>
            <a:r>
              <a:rPr lang="en-US" altLang="zh-CN" sz="2800"/>
              <a:t>S                     P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2800"/>
              <a:t>  </a:t>
            </a:r>
            <a:r>
              <a:rPr lang="zh-CN" altLang="en-US" sz="2800"/>
              <a:t>（</a:t>
            </a:r>
            <a:r>
              <a:rPr lang="en-US" altLang="zh-CN" sz="2800"/>
              <a:t>4</a:t>
            </a:r>
            <a:r>
              <a:rPr lang="zh-CN" altLang="en-US" sz="2800"/>
              <a:t>）┐</a:t>
            </a:r>
            <a:r>
              <a:rPr lang="en-US" altLang="zh-CN" sz="2800"/>
              <a:t>Q                    T(2)</a:t>
            </a:r>
            <a:r>
              <a:rPr lang="zh-CN" altLang="en-US" sz="2800"/>
              <a:t>合取</a:t>
            </a:r>
            <a:r>
              <a:rPr lang="en-US" altLang="zh-CN" sz="2800"/>
              <a:t>(3)</a:t>
            </a:r>
            <a:r>
              <a:rPr lang="zh-CN" altLang="en-US" sz="2800"/>
              <a:t>，</a:t>
            </a:r>
            <a:r>
              <a:rPr lang="en-US" altLang="zh-CN" sz="2800"/>
              <a:t>I</a:t>
            </a:r>
            <a:r>
              <a:rPr lang="en-US" altLang="zh-CN" sz="2800" baseline="-25000"/>
              <a:t>7</a:t>
            </a:r>
            <a:endParaRPr lang="en-US" altLang="zh-CN" sz="2800"/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2800"/>
              <a:t>  </a:t>
            </a:r>
            <a:r>
              <a:rPr lang="zh-CN" altLang="en-US" sz="2800"/>
              <a:t>（</a:t>
            </a:r>
            <a:r>
              <a:rPr lang="en-US" altLang="zh-CN" sz="2800"/>
              <a:t>5</a:t>
            </a:r>
            <a:r>
              <a:rPr lang="zh-CN" altLang="en-US" sz="2800"/>
              <a:t>）</a:t>
            </a:r>
            <a:r>
              <a:rPr lang="en-US" altLang="zh-CN" sz="2800"/>
              <a:t>P→(Q∨R)           P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2800"/>
              <a:t>  </a:t>
            </a:r>
            <a:r>
              <a:rPr lang="zh-CN" altLang="en-US" sz="2800"/>
              <a:t>（</a:t>
            </a:r>
            <a:r>
              <a:rPr lang="en-US" altLang="zh-CN" sz="2800"/>
              <a:t>6</a:t>
            </a:r>
            <a:r>
              <a:rPr lang="zh-CN" altLang="en-US" sz="2800"/>
              <a:t>）</a:t>
            </a:r>
            <a:r>
              <a:rPr lang="en-US" altLang="zh-CN" sz="2800"/>
              <a:t>P                        P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2800"/>
              <a:t>  </a:t>
            </a:r>
            <a:r>
              <a:rPr lang="zh-CN" altLang="en-US" sz="2800"/>
              <a:t>（</a:t>
            </a:r>
            <a:r>
              <a:rPr lang="en-US" altLang="zh-CN" sz="2800"/>
              <a:t>7</a:t>
            </a:r>
            <a:r>
              <a:rPr lang="zh-CN" altLang="en-US" sz="2800"/>
              <a:t>）</a:t>
            </a:r>
            <a:r>
              <a:rPr lang="en-US" altLang="zh-CN" sz="2800"/>
              <a:t>Q∨R                  T(5)</a:t>
            </a:r>
            <a:r>
              <a:rPr lang="zh-CN" altLang="en-US" sz="2800"/>
              <a:t>合取</a:t>
            </a:r>
            <a:r>
              <a:rPr lang="en-US" altLang="zh-CN" sz="2800"/>
              <a:t>(6)</a:t>
            </a:r>
            <a:r>
              <a:rPr lang="zh-CN" altLang="en-US" sz="2800"/>
              <a:t>，</a:t>
            </a:r>
            <a:r>
              <a:rPr lang="en-US" altLang="zh-CN" sz="2800"/>
              <a:t>I</a:t>
            </a:r>
            <a:r>
              <a:rPr lang="en-US" altLang="zh-CN" sz="2800" baseline="-25000"/>
              <a:t>7</a:t>
            </a:r>
            <a:endParaRPr lang="en-US" altLang="zh-CN" sz="2800"/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2800"/>
              <a:t>  </a:t>
            </a:r>
            <a:r>
              <a:rPr lang="zh-CN" altLang="en-US" sz="2800"/>
              <a:t>（</a:t>
            </a:r>
            <a:r>
              <a:rPr lang="en-US" altLang="zh-CN" sz="2800"/>
              <a:t>8</a:t>
            </a:r>
            <a:r>
              <a:rPr lang="zh-CN" altLang="en-US" sz="2800"/>
              <a:t>）</a:t>
            </a:r>
            <a:r>
              <a:rPr lang="en-US" altLang="zh-CN" sz="2800"/>
              <a:t>R                       T(4)</a:t>
            </a:r>
            <a:r>
              <a:rPr lang="zh-CN" altLang="en-US" sz="2800"/>
              <a:t>合取</a:t>
            </a:r>
            <a:r>
              <a:rPr lang="en-US" altLang="zh-CN" sz="2800"/>
              <a:t>(7)</a:t>
            </a:r>
            <a:r>
              <a:rPr lang="zh-CN" altLang="en-US" sz="2800"/>
              <a:t>，</a:t>
            </a:r>
            <a:r>
              <a:rPr lang="en-US" altLang="zh-CN" sz="2800"/>
              <a:t>I</a:t>
            </a:r>
            <a:r>
              <a:rPr lang="en-US" altLang="zh-CN" sz="2800" baseline="-25000"/>
              <a:t>9</a:t>
            </a:r>
            <a:endParaRPr lang="en-US" altLang="zh-CN" sz="28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>
            <a:extLst>
              <a:ext uri="{FF2B5EF4-FFF2-40B4-BE49-F238E27FC236}">
                <a16:creationId xmlns:a16="http://schemas.microsoft.com/office/drawing/2014/main" id="{3DB61AB4-1D9C-1F9A-72FA-4CC71554D00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/>
              <a:t> 1.8.2  </a:t>
            </a:r>
            <a:r>
              <a:rPr lang="zh-CN" altLang="en-US" b="1"/>
              <a:t>举例</a:t>
            </a:r>
          </a:p>
        </p:txBody>
      </p:sp>
      <p:sp>
        <p:nvSpPr>
          <p:cNvPr id="14339" name="Rectangle 3">
            <a:extLst>
              <a:ext uri="{FF2B5EF4-FFF2-40B4-BE49-F238E27FC236}">
                <a16:creationId xmlns:a16="http://schemas.microsoft.com/office/drawing/2014/main" id="{3B38CD6D-4F53-DAB1-1B97-D00796DAC4B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11188" y="2017713"/>
            <a:ext cx="8343900" cy="4724400"/>
          </a:xfrm>
        </p:spPr>
        <p:txBody>
          <a:bodyPr/>
          <a:lstStyle/>
          <a:p>
            <a:pPr eaLnBrk="1" hangingPunct="1">
              <a:lnSpc>
                <a:spcPct val="80000"/>
              </a:lnSpc>
            </a:pPr>
            <a:r>
              <a:rPr lang="zh-CN" altLang="en-US" sz="2000" dirty="0">
                <a:solidFill>
                  <a:schemeClr val="hlink"/>
                </a:solidFill>
              </a:rPr>
              <a:t>例</a:t>
            </a:r>
            <a:r>
              <a:rPr lang="en-US" altLang="zh-CN" sz="2000" dirty="0">
                <a:solidFill>
                  <a:schemeClr val="hlink"/>
                </a:solidFill>
              </a:rPr>
              <a:t>1.8.2</a:t>
            </a:r>
            <a:r>
              <a:rPr lang="en-US" altLang="zh-CN" sz="2000" dirty="0"/>
              <a:t> </a:t>
            </a:r>
            <a:r>
              <a:rPr lang="zh-CN" altLang="en-US" sz="2000" dirty="0"/>
              <a:t>证明 </a:t>
            </a:r>
            <a:r>
              <a:rPr lang="en-US" altLang="zh-CN" sz="2000" dirty="0"/>
              <a:t>(A∨B)→D</a:t>
            </a:r>
            <a:r>
              <a:rPr lang="zh-CN" altLang="en-US" sz="2000" dirty="0"/>
              <a:t>，</a:t>
            </a:r>
            <a:r>
              <a:rPr lang="en-US" altLang="zh-CN" sz="2000" dirty="0"/>
              <a:t>D→(C∨E)</a:t>
            </a:r>
            <a:r>
              <a:rPr lang="zh-CN" altLang="en-US" sz="2000" dirty="0"/>
              <a:t>，</a:t>
            </a:r>
            <a:r>
              <a:rPr lang="en-US" altLang="zh-CN" sz="2000" dirty="0"/>
              <a:t>E→G</a:t>
            </a:r>
            <a:r>
              <a:rPr lang="zh-CN" altLang="en-US" sz="2000" dirty="0"/>
              <a:t>，┐</a:t>
            </a:r>
            <a:r>
              <a:rPr lang="en-US" altLang="zh-CN" sz="2000" dirty="0"/>
              <a:t>C∧┐G</a:t>
            </a:r>
            <a:r>
              <a:rPr lang="en-US" altLang="zh-CN" sz="2000" dirty="0">
                <a:sym typeface="Symbol" panose="05050102010706020507" pitchFamily="18" charset="2"/>
              </a:rPr>
              <a:t></a:t>
            </a:r>
            <a:r>
              <a:rPr lang="en-US" altLang="zh-CN" sz="2000" dirty="0"/>
              <a:t>┐B</a:t>
            </a:r>
            <a:endParaRPr lang="en-US" altLang="zh-CN" sz="2000" b="1" dirty="0"/>
          </a:p>
          <a:p>
            <a:pPr eaLnBrk="1" hangingPunct="1">
              <a:lnSpc>
                <a:spcPct val="80000"/>
              </a:lnSpc>
            </a:pPr>
            <a:r>
              <a:rPr lang="zh-CN" altLang="en-US" sz="2000" dirty="0">
                <a:solidFill>
                  <a:schemeClr val="hlink"/>
                </a:solidFill>
              </a:rPr>
              <a:t>证明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zh-CN" altLang="en-US" sz="2000" dirty="0"/>
              <a:t>  （</a:t>
            </a:r>
            <a:r>
              <a:rPr lang="en-US" altLang="zh-CN" sz="2000" dirty="0"/>
              <a:t>1</a:t>
            </a:r>
            <a:r>
              <a:rPr lang="zh-CN" altLang="en-US" sz="2000" dirty="0"/>
              <a:t>）┐</a:t>
            </a:r>
            <a:r>
              <a:rPr lang="en-US" altLang="zh-CN" sz="2000" dirty="0"/>
              <a:t>C∧┐G                P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zh-CN" sz="2000" dirty="0"/>
              <a:t>  </a:t>
            </a:r>
            <a:r>
              <a:rPr lang="zh-CN" altLang="en-US" sz="2000" dirty="0"/>
              <a:t>（</a:t>
            </a:r>
            <a:r>
              <a:rPr lang="en-US" altLang="zh-CN" sz="2000" dirty="0"/>
              <a:t>2</a:t>
            </a:r>
            <a:r>
              <a:rPr lang="zh-CN" altLang="en-US" sz="2000" dirty="0"/>
              <a:t>）┐</a:t>
            </a:r>
            <a:r>
              <a:rPr lang="en-US" altLang="zh-CN" sz="2000" dirty="0"/>
              <a:t>G                        T</a:t>
            </a:r>
            <a:r>
              <a:rPr lang="zh-CN" altLang="en-US" sz="2000" dirty="0"/>
              <a:t>（</a:t>
            </a:r>
            <a:r>
              <a:rPr lang="en-US" altLang="zh-CN" sz="2000" dirty="0"/>
              <a:t>1</a:t>
            </a:r>
            <a:r>
              <a:rPr lang="zh-CN" altLang="en-US" sz="2000" dirty="0"/>
              <a:t>），</a:t>
            </a:r>
            <a:r>
              <a:rPr lang="en-US" altLang="zh-CN" sz="2000" dirty="0"/>
              <a:t>I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zh-CN" sz="2000" dirty="0"/>
              <a:t>  </a:t>
            </a:r>
            <a:r>
              <a:rPr lang="zh-CN" altLang="en-US" sz="2000" dirty="0"/>
              <a:t>（</a:t>
            </a:r>
            <a:r>
              <a:rPr lang="en-US" altLang="zh-CN" sz="2000" dirty="0"/>
              <a:t>3</a:t>
            </a:r>
            <a:r>
              <a:rPr lang="zh-CN" altLang="en-US" sz="2000" dirty="0"/>
              <a:t>）</a:t>
            </a:r>
            <a:r>
              <a:rPr lang="en-US" altLang="zh-CN" sz="2000" dirty="0"/>
              <a:t>E→G                      P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zh-CN" sz="2000" dirty="0"/>
              <a:t>  </a:t>
            </a:r>
            <a:r>
              <a:rPr lang="zh-CN" altLang="en-US" sz="2000" dirty="0"/>
              <a:t>（</a:t>
            </a:r>
            <a:r>
              <a:rPr lang="en-US" altLang="zh-CN" sz="2000" dirty="0"/>
              <a:t>4</a:t>
            </a:r>
            <a:r>
              <a:rPr lang="zh-CN" altLang="en-US" sz="2000" dirty="0"/>
              <a:t>）┐</a:t>
            </a:r>
            <a:r>
              <a:rPr lang="en-US" altLang="zh-CN" sz="2000" dirty="0"/>
              <a:t>E                        T</a:t>
            </a:r>
            <a:r>
              <a:rPr lang="zh-CN" altLang="en-US" sz="2000" dirty="0"/>
              <a:t>（</a:t>
            </a:r>
            <a:r>
              <a:rPr lang="en-US" altLang="zh-CN" sz="2000" dirty="0"/>
              <a:t>2</a:t>
            </a:r>
            <a:r>
              <a:rPr lang="zh-CN" altLang="en-US" sz="2000" dirty="0"/>
              <a:t>）合取（</a:t>
            </a:r>
            <a:r>
              <a:rPr lang="en-US" altLang="zh-CN" sz="2000" dirty="0"/>
              <a:t>3</a:t>
            </a:r>
            <a:r>
              <a:rPr lang="zh-CN" altLang="en-US" sz="2000" dirty="0"/>
              <a:t>），</a:t>
            </a:r>
            <a:r>
              <a:rPr lang="en-US" altLang="zh-CN" sz="2000" dirty="0"/>
              <a:t>I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zh-CN" sz="2000" dirty="0"/>
              <a:t>  </a:t>
            </a:r>
            <a:r>
              <a:rPr lang="zh-CN" altLang="en-US" sz="2000" dirty="0"/>
              <a:t>（</a:t>
            </a:r>
            <a:r>
              <a:rPr lang="en-US" altLang="zh-CN" sz="2000" dirty="0"/>
              <a:t>5</a:t>
            </a:r>
            <a:r>
              <a:rPr lang="zh-CN" altLang="en-US" sz="2000" dirty="0"/>
              <a:t>）┐</a:t>
            </a:r>
            <a:r>
              <a:rPr lang="en-US" altLang="zh-CN" sz="2000" dirty="0"/>
              <a:t>C                        T</a:t>
            </a:r>
            <a:r>
              <a:rPr lang="zh-CN" altLang="en-US" sz="2000" dirty="0"/>
              <a:t>（</a:t>
            </a:r>
            <a:r>
              <a:rPr lang="en-US" altLang="zh-CN" sz="2000" dirty="0"/>
              <a:t>1</a:t>
            </a:r>
            <a:r>
              <a:rPr lang="zh-CN" altLang="en-US" sz="2000" dirty="0"/>
              <a:t>），</a:t>
            </a:r>
            <a:r>
              <a:rPr lang="en-US" altLang="zh-CN" sz="2000" dirty="0"/>
              <a:t>I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zh-CN" sz="2000" dirty="0"/>
              <a:t>  </a:t>
            </a:r>
            <a:r>
              <a:rPr lang="zh-CN" altLang="en-US" sz="2000" dirty="0"/>
              <a:t>（</a:t>
            </a:r>
            <a:r>
              <a:rPr lang="en-US" altLang="zh-CN" sz="2000" dirty="0"/>
              <a:t>6</a:t>
            </a:r>
            <a:r>
              <a:rPr lang="zh-CN" altLang="en-US" sz="2000" dirty="0"/>
              <a:t>）┐</a:t>
            </a:r>
            <a:r>
              <a:rPr lang="en-US" altLang="zh-CN" sz="2000" dirty="0"/>
              <a:t>C∧┐E                T</a:t>
            </a:r>
            <a:r>
              <a:rPr lang="zh-CN" altLang="en-US" sz="2000" dirty="0"/>
              <a:t>（</a:t>
            </a:r>
            <a:r>
              <a:rPr lang="en-US" altLang="zh-CN" sz="2000" dirty="0"/>
              <a:t>5</a:t>
            </a:r>
            <a:r>
              <a:rPr lang="zh-CN" altLang="en-US" sz="2000" dirty="0"/>
              <a:t>）合取（</a:t>
            </a:r>
            <a:r>
              <a:rPr lang="en-US" altLang="zh-CN" sz="2000" dirty="0"/>
              <a:t>4</a:t>
            </a:r>
            <a:r>
              <a:rPr lang="zh-CN" altLang="en-US" sz="2000" dirty="0"/>
              <a:t>），</a:t>
            </a:r>
            <a:r>
              <a:rPr lang="en-US" altLang="zh-CN" sz="2000" dirty="0"/>
              <a:t>I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zh-CN" sz="2000" dirty="0"/>
              <a:t>  </a:t>
            </a:r>
            <a:r>
              <a:rPr lang="zh-CN" altLang="en-US" sz="2000" dirty="0"/>
              <a:t>（</a:t>
            </a:r>
            <a:r>
              <a:rPr lang="en-US" altLang="zh-CN" sz="2000" dirty="0"/>
              <a:t>7</a:t>
            </a:r>
            <a:r>
              <a:rPr lang="zh-CN" altLang="en-US" sz="2000" dirty="0"/>
              <a:t>）┐</a:t>
            </a:r>
            <a:r>
              <a:rPr lang="en-US" altLang="zh-CN" sz="2000" dirty="0"/>
              <a:t>(C∨E)                 T</a:t>
            </a:r>
            <a:r>
              <a:rPr lang="zh-CN" altLang="en-US" sz="2000" dirty="0"/>
              <a:t>（</a:t>
            </a:r>
            <a:r>
              <a:rPr lang="en-US" altLang="zh-CN" sz="2000" dirty="0"/>
              <a:t>6</a:t>
            </a:r>
            <a:r>
              <a:rPr lang="zh-CN" altLang="en-US" sz="2000" dirty="0"/>
              <a:t>），</a:t>
            </a:r>
            <a:r>
              <a:rPr lang="en-US" altLang="zh-CN" sz="2000" dirty="0"/>
              <a:t>E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zh-CN" sz="2000" dirty="0"/>
              <a:t>  </a:t>
            </a:r>
            <a:r>
              <a:rPr lang="zh-CN" altLang="en-US" sz="2000" dirty="0"/>
              <a:t>（</a:t>
            </a:r>
            <a:r>
              <a:rPr lang="en-US" altLang="zh-CN" sz="2000" dirty="0"/>
              <a:t>8</a:t>
            </a:r>
            <a:r>
              <a:rPr lang="zh-CN" altLang="en-US" sz="2000" dirty="0"/>
              <a:t>）</a:t>
            </a:r>
            <a:r>
              <a:rPr lang="en-US" altLang="zh-CN" sz="2000" dirty="0"/>
              <a:t>D→(C∨E)               P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zh-CN" sz="2000" dirty="0"/>
              <a:t>  </a:t>
            </a:r>
            <a:r>
              <a:rPr lang="zh-CN" altLang="en-US" sz="2000" dirty="0"/>
              <a:t>（</a:t>
            </a:r>
            <a:r>
              <a:rPr lang="en-US" altLang="zh-CN" sz="2000" dirty="0"/>
              <a:t>9</a:t>
            </a:r>
            <a:r>
              <a:rPr lang="zh-CN" altLang="en-US" sz="2000" dirty="0"/>
              <a:t>）┐</a:t>
            </a:r>
            <a:r>
              <a:rPr lang="en-US" altLang="zh-CN" sz="2000" dirty="0"/>
              <a:t>D                        T</a:t>
            </a:r>
            <a:r>
              <a:rPr lang="zh-CN" altLang="en-US" sz="2000" dirty="0"/>
              <a:t>（</a:t>
            </a:r>
            <a:r>
              <a:rPr lang="en-US" altLang="zh-CN" sz="2000" dirty="0"/>
              <a:t>7</a:t>
            </a:r>
            <a:r>
              <a:rPr lang="zh-CN" altLang="en-US" sz="2000" dirty="0"/>
              <a:t>）合取（</a:t>
            </a:r>
            <a:r>
              <a:rPr lang="en-US" altLang="zh-CN" sz="2000" dirty="0"/>
              <a:t>8</a:t>
            </a:r>
            <a:r>
              <a:rPr lang="zh-CN" altLang="en-US" sz="2000" dirty="0"/>
              <a:t>），</a:t>
            </a:r>
            <a:r>
              <a:rPr lang="en-US" altLang="zh-CN" sz="2000" dirty="0"/>
              <a:t>I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zh-CN" sz="2000" dirty="0"/>
              <a:t>  </a:t>
            </a:r>
            <a:r>
              <a:rPr lang="zh-CN" altLang="en-US" sz="2000" dirty="0"/>
              <a:t>（</a:t>
            </a:r>
            <a:r>
              <a:rPr lang="en-US" altLang="zh-CN" sz="2000" dirty="0"/>
              <a:t>10</a:t>
            </a:r>
            <a:r>
              <a:rPr lang="zh-CN" altLang="en-US" sz="2000" dirty="0"/>
              <a:t>）</a:t>
            </a:r>
            <a:r>
              <a:rPr lang="en-US" altLang="zh-CN" sz="2000" dirty="0"/>
              <a:t>(A∨B)→D             P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zh-CN" sz="2000" dirty="0"/>
              <a:t>  </a:t>
            </a:r>
            <a:r>
              <a:rPr lang="zh-CN" altLang="en-US" sz="2000" dirty="0"/>
              <a:t>（</a:t>
            </a:r>
            <a:r>
              <a:rPr lang="en-US" altLang="zh-CN" sz="2000" dirty="0"/>
              <a:t>11</a:t>
            </a:r>
            <a:r>
              <a:rPr lang="zh-CN" altLang="en-US" sz="2000" dirty="0"/>
              <a:t>）┐</a:t>
            </a:r>
            <a:r>
              <a:rPr lang="en-US" altLang="zh-CN" sz="2000" dirty="0"/>
              <a:t>(A∨B)               T</a:t>
            </a:r>
            <a:r>
              <a:rPr lang="zh-CN" altLang="en-US" sz="2000" dirty="0"/>
              <a:t>（</a:t>
            </a:r>
            <a:r>
              <a:rPr lang="en-US" altLang="zh-CN" sz="2000" dirty="0"/>
              <a:t>9</a:t>
            </a:r>
            <a:r>
              <a:rPr lang="zh-CN" altLang="en-US" sz="2000" dirty="0"/>
              <a:t>）合取（</a:t>
            </a:r>
            <a:r>
              <a:rPr lang="en-US" altLang="zh-CN" sz="2000" dirty="0"/>
              <a:t>10</a:t>
            </a:r>
            <a:r>
              <a:rPr lang="zh-CN" altLang="en-US" sz="2000" dirty="0"/>
              <a:t>），</a:t>
            </a:r>
            <a:r>
              <a:rPr lang="en-US" altLang="zh-CN" sz="2000" dirty="0"/>
              <a:t>I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zh-CN" sz="2000" dirty="0"/>
              <a:t>  </a:t>
            </a:r>
            <a:r>
              <a:rPr lang="zh-CN" altLang="en-US" sz="2000" dirty="0"/>
              <a:t>（</a:t>
            </a:r>
            <a:r>
              <a:rPr lang="en-US" altLang="zh-CN" sz="2000" dirty="0"/>
              <a:t>12</a:t>
            </a:r>
            <a:r>
              <a:rPr lang="zh-CN" altLang="en-US" sz="2000" dirty="0"/>
              <a:t>）┐</a:t>
            </a:r>
            <a:r>
              <a:rPr lang="en-US" altLang="zh-CN" sz="2000" dirty="0"/>
              <a:t>A∧┐B              T</a:t>
            </a:r>
            <a:r>
              <a:rPr lang="zh-CN" altLang="en-US" sz="2000" dirty="0"/>
              <a:t>（</a:t>
            </a:r>
            <a:r>
              <a:rPr lang="en-US" altLang="zh-CN" sz="2000" dirty="0"/>
              <a:t>11</a:t>
            </a:r>
            <a:r>
              <a:rPr lang="zh-CN" altLang="en-US" sz="2000" dirty="0"/>
              <a:t>），</a:t>
            </a:r>
            <a:r>
              <a:rPr lang="en-US" altLang="zh-CN" sz="2000" dirty="0"/>
              <a:t>E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zh-CN" sz="2000" dirty="0"/>
              <a:t>  </a:t>
            </a:r>
            <a:r>
              <a:rPr lang="zh-CN" altLang="en-US" sz="2000" dirty="0"/>
              <a:t>（</a:t>
            </a:r>
            <a:r>
              <a:rPr lang="en-US" altLang="zh-CN" sz="2000" dirty="0"/>
              <a:t>13</a:t>
            </a:r>
            <a:r>
              <a:rPr lang="zh-CN" altLang="en-US" sz="2000" dirty="0"/>
              <a:t>）┐</a:t>
            </a:r>
            <a:r>
              <a:rPr lang="en-US" altLang="zh-CN" sz="2000" dirty="0"/>
              <a:t>B                      T</a:t>
            </a:r>
            <a:r>
              <a:rPr lang="zh-CN" altLang="en-US" sz="2000" dirty="0"/>
              <a:t>（</a:t>
            </a:r>
            <a:r>
              <a:rPr lang="en-US" altLang="zh-CN" sz="2000" dirty="0"/>
              <a:t>12</a:t>
            </a:r>
            <a:r>
              <a:rPr lang="zh-CN" altLang="en-US" sz="2000" dirty="0"/>
              <a:t>），</a:t>
            </a:r>
            <a:r>
              <a:rPr lang="en-US" altLang="zh-CN" sz="2000" dirty="0"/>
              <a:t>I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2">
            <a:extLst>
              <a:ext uri="{FF2B5EF4-FFF2-40B4-BE49-F238E27FC236}">
                <a16:creationId xmlns:a16="http://schemas.microsoft.com/office/drawing/2014/main" id="{E75FD013-FC50-0B30-E733-58970484483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/>
              <a:t>1.8.2  </a:t>
            </a:r>
            <a:r>
              <a:rPr lang="zh-CN" altLang="en-US" b="1"/>
              <a:t>举例</a:t>
            </a:r>
          </a:p>
        </p:txBody>
      </p:sp>
      <p:sp>
        <p:nvSpPr>
          <p:cNvPr id="15363" name="Rectangle 3">
            <a:extLst>
              <a:ext uri="{FF2B5EF4-FFF2-40B4-BE49-F238E27FC236}">
                <a16:creationId xmlns:a16="http://schemas.microsoft.com/office/drawing/2014/main" id="{95368370-1153-B8AC-7B32-BD2585C6CA6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11188" y="2017713"/>
            <a:ext cx="8343900" cy="4840287"/>
          </a:xfrm>
        </p:spPr>
        <p:txBody>
          <a:bodyPr/>
          <a:lstStyle/>
          <a:p>
            <a:pPr eaLnBrk="1" hangingPunct="1"/>
            <a:r>
              <a:rPr lang="en-US" altLang="zh-CN">
                <a:solidFill>
                  <a:schemeClr val="hlink"/>
                </a:solidFill>
              </a:rPr>
              <a:t>CP</a:t>
            </a:r>
            <a:r>
              <a:rPr lang="zh-CN" altLang="en-US">
                <a:solidFill>
                  <a:schemeClr val="hlink"/>
                </a:solidFill>
              </a:rPr>
              <a:t>规则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zh-CN" altLang="en-US"/>
              <a:t>   要证</a:t>
            </a:r>
            <a:r>
              <a:rPr lang="en-US" altLang="zh-CN"/>
              <a:t>A</a:t>
            </a:r>
            <a:r>
              <a:rPr lang="en-US" altLang="zh-CN">
                <a:sym typeface="Symbol" panose="05050102010706020507" pitchFamily="18" charset="2"/>
              </a:rPr>
              <a:t></a:t>
            </a:r>
            <a:r>
              <a:rPr lang="en-US" altLang="zh-CN">
                <a:solidFill>
                  <a:srgbClr val="0000FF"/>
                </a:solidFill>
              </a:rPr>
              <a:t>B</a:t>
            </a:r>
            <a:r>
              <a:rPr lang="en-US" altLang="zh-CN"/>
              <a:t>→C</a:t>
            </a:r>
            <a:r>
              <a:rPr lang="zh-CN" altLang="en-US"/>
              <a:t>，可证</a:t>
            </a:r>
            <a:r>
              <a:rPr lang="en-US" altLang="zh-CN"/>
              <a:t>A∧</a:t>
            </a:r>
            <a:r>
              <a:rPr lang="en-US" altLang="zh-CN">
                <a:solidFill>
                  <a:srgbClr val="0000FF"/>
                </a:solidFill>
              </a:rPr>
              <a:t>B</a:t>
            </a:r>
            <a:r>
              <a:rPr lang="en-US" altLang="zh-CN">
                <a:sym typeface="Symbol" panose="05050102010706020507" pitchFamily="18" charset="2"/>
              </a:rPr>
              <a:t></a:t>
            </a:r>
            <a:r>
              <a:rPr lang="en-US" altLang="zh-CN"/>
              <a:t>C</a:t>
            </a:r>
          </a:p>
          <a:p>
            <a:pPr eaLnBrk="1" hangingPunct="1"/>
            <a:r>
              <a:rPr lang="zh-CN" altLang="en-US">
                <a:solidFill>
                  <a:schemeClr val="hlink"/>
                </a:solidFill>
              </a:rPr>
              <a:t>为什么？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zh-CN" altLang="en-US"/>
              <a:t>   要证   </a:t>
            </a:r>
            <a:r>
              <a:rPr lang="en-US" altLang="zh-CN"/>
              <a:t>A</a:t>
            </a:r>
            <a:r>
              <a:rPr lang="en-US" altLang="zh-CN">
                <a:sym typeface="Symbol" panose="05050102010706020507" pitchFamily="18" charset="2"/>
              </a:rPr>
              <a:t></a:t>
            </a:r>
            <a:r>
              <a:rPr lang="en-US" altLang="zh-CN">
                <a:solidFill>
                  <a:srgbClr val="0000FF"/>
                </a:solidFill>
              </a:rPr>
              <a:t>B</a:t>
            </a:r>
            <a:r>
              <a:rPr lang="en-US" altLang="zh-CN"/>
              <a:t>→C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/>
              <a:t>   </a:t>
            </a:r>
            <a:r>
              <a:rPr lang="zh-CN" altLang="en-US"/>
              <a:t>可证   </a:t>
            </a:r>
            <a:r>
              <a:rPr lang="en-US" altLang="zh-CN"/>
              <a:t>A→(B→C)  </a:t>
            </a:r>
            <a:r>
              <a:rPr lang="zh-CN" altLang="en-US"/>
              <a:t>重言式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zh-CN" altLang="en-US"/>
              <a:t>   </a:t>
            </a:r>
            <a:endParaRPr lang="en-US" altLang="zh-CN"/>
          </a:p>
          <a:p>
            <a:pPr eaLnBrk="1" hangingPunct="1">
              <a:buClr>
                <a:srgbClr val="3333CC"/>
              </a:buClr>
              <a:buFont typeface="Wingdings" panose="05000000000000000000" pitchFamily="2" charset="2"/>
              <a:buNone/>
            </a:pPr>
            <a:r>
              <a:rPr lang="en-US" altLang="zh-CN"/>
              <a:t>             (A∧B)→C  </a:t>
            </a:r>
            <a:r>
              <a:rPr lang="zh-CN" altLang="en-US">
                <a:solidFill>
                  <a:srgbClr val="000000"/>
                </a:solidFill>
              </a:rPr>
              <a:t>重言式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/>
              <a:t>    </a:t>
            </a:r>
            <a:r>
              <a:rPr lang="zh-CN" altLang="en-US"/>
              <a:t>即证  </a:t>
            </a:r>
            <a:r>
              <a:rPr lang="en-US" altLang="zh-CN"/>
              <a:t>A∧</a:t>
            </a:r>
            <a:r>
              <a:rPr lang="en-US" altLang="zh-CN">
                <a:solidFill>
                  <a:srgbClr val="0000FF"/>
                </a:solidFill>
              </a:rPr>
              <a:t>B</a:t>
            </a:r>
            <a:r>
              <a:rPr lang="en-US" altLang="zh-CN">
                <a:sym typeface="Symbol" panose="05050102010706020507" pitchFamily="18" charset="2"/>
              </a:rPr>
              <a:t></a:t>
            </a:r>
            <a:r>
              <a:rPr lang="en-US" altLang="zh-CN"/>
              <a:t>C</a:t>
            </a:r>
            <a:r>
              <a:rPr lang="zh-CN" altLang="en-US"/>
              <a:t> </a:t>
            </a:r>
          </a:p>
        </p:txBody>
      </p:sp>
      <p:sp>
        <p:nvSpPr>
          <p:cNvPr id="3" name="上下箭头 2">
            <a:extLst>
              <a:ext uri="{FF2B5EF4-FFF2-40B4-BE49-F238E27FC236}">
                <a16:creationId xmlns:a16="http://schemas.microsoft.com/office/drawing/2014/main" id="{7623F327-3A20-016A-1F13-F7AAB01D7E0B}"/>
              </a:ext>
            </a:extLst>
          </p:cNvPr>
          <p:cNvSpPr>
            <a:spLocks noChangeAspect="1"/>
          </p:cNvSpPr>
          <p:nvPr/>
        </p:nvSpPr>
        <p:spPr>
          <a:xfrm>
            <a:off x="2700338" y="4868863"/>
            <a:ext cx="257175" cy="698500"/>
          </a:xfrm>
          <a:prstGeom prst="upDownArrow">
            <a:avLst/>
          </a:prstGeom>
          <a:solidFill>
            <a:srgbClr val="FF00FF"/>
          </a:solidFill>
          <a:ln>
            <a:solidFill>
              <a:srgbClr val="FF00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zh-CN" alt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2">
            <a:extLst>
              <a:ext uri="{FF2B5EF4-FFF2-40B4-BE49-F238E27FC236}">
                <a16:creationId xmlns:a16="http://schemas.microsoft.com/office/drawing/2014/main" id="{DC4A4E17-6D31-AE83-71D4-B55CFE4B016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/>
              <a:t>1.8.2  </a:t>
            </a:r>
            <a:r>
              <a:rPr lang="zh-CN" altLang="en-US" b="1"/>
              <a:t>举例</a:t>
            </a:r>
          </a:p>
        </p:txBody>
      </p:sp>
      <p:sp>
        <p:nvSpPr>
          <p:cNvPr id="16387" name="Rectangle 3">
            <a:extLst>
              <a:ext uri="{FF2B5EF4-FFF2-40B4-BE49-F238E27FC236}">
                <a16:creationId xmlns:a16="http://schemas.microsoft.com/office/drawing/2014/main" id="{37B518F0-492E-9BBD-4232-ACE9C9C5B91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20713" y="1844675"/>
            <a:ext cx="8415337" cy="5013325"/>
          </a:xfrm>
        </p:spPr>
        <p:txBody>
          <a:bodyPr/>
          <a:lstStyle/>
          <a:p>
            <a:pPr eaLnBrk="1" hangingPunct="1"/>
            <a:r>
              <a:rPr lang="zh-CN" altLang="en-US">
                <a:solidFill>
                  <a:schemeClr val="hlink"/>
                </a:solidFill>
              </a:rPr>
              <a:t>归谬法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zh-CN" altLang="en-US"/>
              <a:t>   要证</a:t>
            </a:r>
            <a:r>
              <a:rPr lang="en-US" altLang="zh-CN"/>
              <a:t>A</a:t>
            </a:r>
            <a:r>
              <a:rPr lang="en-US" altLang="zh-CN">
                <a:sym typeface="Symbol" panose="05050102010706020507" pitchFamily="18" charset="2"/>
              </a:rPr>
              <a:t></a:t>
            </a:r>
            <a:r>
              <a:rPr lang="en-US" altLang="zh-CN"/>
              <a:t>B</a:t>
            </a:r>
            <a:r>
              <a:rPr lang="zh-CN" altLang="en-US"/>
              <a:t>，可证</a:t>
            </a:r>
            <a:r>
              <a:rPr lang="en-US" altLang="zh-CN"/>
              <a:t>A∧</a:t>
            </a:r>
            <a:r>
              <a:rPr lang="en-US" altLang="zh-CN">
                <a:solidFill>
                  <a:srgbClr val="00B050"/>
                </a:solidFill>
              </a:rPr>
              <a:t>┐B</a:t>
            </a:r>
            <a:r>
              <a:rPr lang="zh-CN" altLang="en-US"/>
              <a:t>为矛盾式</a:t>
            </a:r>
          </a:p>
          <a:p>
            <a:pPr eaLnBrk="1" hangingPunct="1"/>
            <a:r>
              <a:rPr lang="zh-CN" altLang="en-US">
                <a:solidFill>
                  <a:schemeClr val="hlink"/>
                </a:solidFill>
              </a:rPr>
              <a:t>为什么？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zh-CN" altLang="en-US"/>
              <a:t>   要证      </a:t>
            </a:r>
            <a:r>
              <a:rPr lang="en-US" altLang="zh-CN"/>
              <a:t>A</a:t>
            </a:r>
            <a:r>
              <a:rPr lang="en-US" altLang="zh-CN">
                <a:sym typeface="Symbol" panose="05050102010706020507" pitchFamily="18" charset="2"/>
              </a:rPr>
              <a:t></a:t>
            </a:r>
            <a:r>
              <a:rPr lang="en-US" altLang="zh-CN"/>
              <a:t>B</a:t>
            </a:r>
            <a:endParaRPr lang="zh-CN" altLang="en-US"/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zh-CN" altLang="en-US"/>
              <a:t>   可证      </a:t>
            </a:r>
            <a:r>
              <a:rPr lang="en-US" altLang="zh-CN"/>
              <a:t>A→B          </a:t>
            </a:r>
            <a:r>
              <a:rPr lang="zh-CN" altLang="en-US"/>
              <a:t>重言式</a:t>
            </a:r>
          </a:p>
          <a:p>
            <a:pPr eaLnBrk="1" hangingPunct="1"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zh-CN" altLang="en-US"/>
              <a:t>            ┐</a:t>
            </a:r>
            <a:r>
              <a:rPr lang="en-US" altLang="zh-CN"/>
              <a:t>A∨B          </a:t>
            </a:r>
            <a:r>
              <a:rPr lang="zh-CN" altLang="en-US"/>
              <a:t>重言式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zh-CN" altLang="en-US"/>
              <a:t>   即证   ┐</a:t>
            </a:r>
            <a:r>
              <a:rPr lang="en-US" altLang="zh-CN"/>
              <a:t>(┐A∨B)    </a:t>
            </a:r>
            <a:r>
              <a:rPr lang="zh-CN" altLang="en-US"/>
              <a:t>矛盾式</a:t>
            </a:r>
          </a:p>
          <a:p>
            <a:pPr eaLnBrk="1" hangingPunct="1"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zh-CN" altLang="en-US"/>
              <a:t>              </a:t>
            </a:r>
            <a:r>
              <a:rPr lang="en-US" altLang="zh-CN"/>
              <a:t>A∧┐B         </a:t>
            </a:r>
            <a:r>
              <a:rPr lang="zh-CN" altLang="en-US"/>
              <a:t>矛盾式</a:t>
            </a:r>
          </a:p>
        </p:txBody>
      </p:sp>
      <p:sp>
        <p:nvSpPr>
          <p:cNvPr id="7" name="上下箭头 6">
            <a:extLst>
              <a:ext uri="{FF2B5EF4-FFF2-40B4-BE49-F238E27FC236}">
                <a16:creationId xmlns:a16="http://schemas.microsoft.com/office/drawing/2014/main" id="{4483804F-C74E-156B-04F5-CDB8C8C342A1}"/>
              </a:ext>
            </a:extLst>
          </p:cNvPr>
          <p:cNvSpPr>
            <a:spLocks noChangeAspect="1"/>
          </p:cNvSpPr>
          <p:nvPr/>
        </p:nvSpPr>
        <p:spPr>
          <a:xfrm>
            <a:off x="2987675" y="4652963"/>
            <a:ext cx="153988" cy="419100"/>
          </a:xfrm>
          <a:prstGeom prst="upDownArrow">
            <a:avLst/>
          </a:prstGeom>
          <a:solidFill>
            <a:srgbClr val="FF00FF"/>
          </a:solidFill>
          <a:ln>
            <a:solidFill>
              <a:srgbClr val="FF00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zh-CN" altLang="en-US"/>
          </a:p>
        </p:txBody>
      </p:sp>
      <p:sp>
        <p:nvSpPr>
          <p:cNvPr id="8" name="上下箭头 7">
            <a:extLst>
              <a:ext uri="{FF2B5EF4-FFF2-40B4-BE49-F238E27FC236}">
                <a16:creationId xmlns:a16="http://schemas.microsoft.com/office/drawing/2014/main" id="{BDFE45DB-0FEB-3462-8F01-458B7754E9F3}"/>
              </a:ext>
            </a:extLst>
          </p:cNvPr>
          <p:cNvSpPr>
            <a:spLocks noChangeAspect="1"/>
          </p:cNvSpPr>
          <p:nvPr/>
        </p:nvSpPr>
        <p:spPr>
          <a:xfrm>
            <a:off x="3265488" y="6107113"/>
            <a:ext cx="153987" cy="417512"/>
          </a:xfrm>
          <a:prstGeom prst="upDownArrow">
            <a:avLst/>
          </a:prstGeom>
          <a:solidFill>
            <a:srgbClr val="FF00FF"/>
          </a:solidFill>
          <a:ln>
            <a:solidFill>
              <a:srgbClr val="FF00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zh-CN" alt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2">
            <a:extLst>
              <a:ext uri="{FF2B5EF4-FFF2-40B4-BE49-F238E27FC236}">
                <a16:creationId xmlns:a16="http://schemas.microsoft.com/office/drawing/2014/main" id="{BACFF65D-173C-15A3-2520-EF1E468C5CF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/>
              <a:t> 1.8.2  </a:t>
            </a:r>
            <a:r>
              <a:rPr lang="zh-CN" altLang="en-US" b="1"/>
              <a:t>举例</a:t>
            </a:r>
          </a:p>
        </p:txBody>
      </p:sp>
      <p:sp>
        <p:nvSpPr>
          <p:cNvPr id="17411" name="Rectangle 3">
            <a:extLst>
              <a:ext uri="{FF2B5EF4-FFF2-40B4-BE49-F238E27FC236}">
                <a16:creationId xmlns:a16="http://schemas.microsoft.com/office/drawing/2014/main" id="{8EB9ACE4-A0DD-034A-4A21-44C73FEDBEB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11188" y="2017713"/>
            <a:ext cx="8343900" cy="4840287"/>
          </a:xfrm>
        </p:spPr>
        <p:txBody>
          <a:bodyPr/>
          <a:lstStyle/>
          <a:p>
            <a:pPr eaLnBrk="1" hangingPunct="1">
              <a:lnSpc>
                <a:spcPct val="95000"/>
              </a:lnSpc>
            </a:pPr>
            <a:r>
              <a:rPr lang="zh-CN" altLang="en-US" sz="2800" dirty="0">
                <a:solidFill>
                  <a:schemeClr val="hlink"/>
                </a:solidFill>
              </a:rPr>
              <a:t>例</a:t>
            </a:r>
            <a:r>
              <a:rPr lang="en-US" altLang="zh-CN" sz="2800" dirty="0">
                <a:solidFill>
                  <a:schemeClr val="hlink"/>
                </a:solidFill>
              </a:rPr>
              <a:t>1.8.3</a:t>
            </a:r>
            <a:r>
              <a:rPr lang="en-US" altLang="zh-CN" sz="2800" dirty="0"/>
              <a:t> </a:t>
            </a:r>
            <a:r>
              <a:rPr lang="en-US" altLang="zh-CN" sz="2800" dirty="0">
                <a:solidFill>
                  <a:srgbClr val="0066FF"/>
                </a:solidFill>
              </a:rPr>
              <a:t>CP</a:t>
            </a:r>
            <a:r>
              <a:rPr lang="zh-CN" altLang="en-US" sz="2800" dirty="0">
                <a:solidFill>
                  <a:srgbClr val="0066FF"/>
                </a:solidFill>
              </a:rPr>
              <a:t>规则</a:t>
            </a:r>
            <a:r>
              <a:rPr lang="zh-CN" altLang="en-US" sz="2800" dirty="0"/>
              <a:t>证</a:t>
            </a:r>
            <a:r>
              <a:rPr lang="en-US" altLang="zh-CN" sz="2800" dirty="0"/>
              <a:t>(A∨B)→(C∧D),(D∨E)→G</a:t>
            </a:r>
            <a:r>
              <a:rPr lang="en-US" altLang="zh-CN" sz="2800" dirty="0">
                <a:sym typeface="Symbol" panose="05050102010706020507" pitchFamily="18" charset="2"/>
              </a:rPr>
              <a:t></a:t>
            </a:r>
            <a:r>
              <a:rPr lang="en-US" altLang="zh-CN" sz="2800" dirty="0">
                <a:solidFill>
                  <a:srgbClr val="FF00FF"/>
                </a:solidFill>
              </a:rPr>
              <a:t>A</a:t>
            </a:r>
            <a:r>
              <a:rPr lang="en-US" altLang="zh-CN" sz="2800" dirty="0"/>
              <a:t>→</a:t>
            </a:r>
            <a:r>
              <a:rPr lang="en-US" altLang="zh-CN" sz="2800" dirty="0">
                <a:solidFill>
                  <a:schemeClr val="accent1"/>
                </a:solidFill>
              </a:rPr>
              <a:t>G</a:t>
            </a:r>
            <a:endParaRPr lang="en-US" altLang="zh-CN" sz="2800" b="1" dirty="0">
              <a:solidFill>
                <a:schemeClr val="accent1"/>
              </a:solidFill>
            </a:endParaRPr>
          </a:p>
          <a:p>
            <a:pPr eaLnBrk="1" hangingPunct="1">
              <a:lnSpc>
                <a:spcPct val="95000"/>
              </a:lnSpc>
            </a:pPr>
            <a:r>
              <a:rPr lang="zh-CN" altLang="en-US" sz="2800" dirty="0">
                <a:solidFill>
                  <a:schemeClr val="hlink"/>
                </a:solidFill>
              </a:rPr>
              <a:t>证明</a:t>
            </a:r>
          </a:p>
          <a:p>
            <a:pPr eaLnBrk="1" hangingPunct="1">
              <a:lnSpc>
                <a:spcPct val="95000"/>
              </a:lnSpc>
              <a:buFont typeface="Wingdings" panose="05000000000000000000" pitchFamily="2" charset="2"/>
              <a:buNone/>
            </a:pPr>
            <a:r>
              <a:rPr lang="zh-CN" altLang="en-US" sz="2800" dirty="0"/>
              <a:t>   （</a:t>
            </a:r>
            <a:r>
              <a:rPr lang="en-US" altLang="zh-CN" sz="2800" dirty="0"/>
              <a:t>1</a:t>
            </a:r>
            <a:r>
              <a:rPr lang="zh-CN" altLang="en-US" sz="2800" dirty="0"/>
              <a:t>）</a:t>
            </a:r>
            <a:r>
              <a:rPr lang="en-US" altLang="zh-CN" sz="2800" dirty="0">
                <a:solidFill>
                  <a:srgbClr val="FF00FF"/>
                </a:solidFill>
              </a:rPr>
              <a:t>A</a:t>
            </a:r>
            <a:r>
              <a:rPr lang="en-US" altLang="zh-CN" sz="2800" dirty="0"/>
              <a:t>                             P</a:t>
            </a:r>
            <a:r>
              <a:rPr lang="zh-CN" altLang="en-US" sz="2800" dirty="0"/>
              <a:t>（</a:t>
            </a:r>
            <a:r>
              <a:rPr lang="zh-CN" altLang="en-US" sz="2800" dirty="0">
                <a:solidFill>
                  <a:srgbClr val="CC0066"/>
                </a:solidFill>
              </a:rPr>
              <a:t>附加前提</a:t>
            </a:r>
            <a:r>
              <a:rPr lang="zh-CN" altLang="en-US" sz="2800" dirty="0"/>
              <a:t>）</a:t>
            </a:r>
            <a:br>
              <a:rPr lang="zh-CN" altLang="en-US" sz="2800" dirty="0"/>
            </a:br>
            <a:r>
              <a:rPr lang="zh-CN" altLang="en-US" sz="2800" dirty="0"/>
              <a:t>（</a:t>
            </a:r>
            <a:r>
              <a:rPr lang="en-US" altLang="zh-CN" sz="2800" dirty="0"/>
              <a:t>2</a:t>
            </a:r>
            <a:r>
              <a:rPr lang="zh-CN" altLang="en-US" sz="2800" dirty="0"/>
              <a:t>）</a:t>
            </a:r>
            <a:r>
              <a:rPr lang="en-US" altLang="zh-CN" sz="2800" dirty="0"/>
              <a:t>A∨B                        T</a:t>
            </a:r>
            <a:r>
              <a:rPr lang="zh-CN" altLang="en-US" sz="2800" dirty="0"/>
              <a:t>（</a:t>
            </a:r>
            <a:r>
              <a:rPr lang="en-US" altLang="zh-CN" sz="2800" dirty="0"/>
              <a:t>1</a:t>
            </a:r>
            <a:r>
              <a:rPr lang="zh-CN" altLang="en-US" sz="2800" dirty="0"/>
              <a:t>），</a:t>
            </a:r>
            <a:r>
              <a:rPr lang="en-US" altLang="zh-CN" sz="2800" dirty="0"/>
              <a:t>I</a:t>
            </a:r>
            <a:br>
              <a:rPr lang="en-US" altLang="zh-CN" sz="2800" dirty="0"/>
            </a:br>
            <a:r>
              <a:rPr lang="zh-CN" altLang="en-US" sz="2800" dirty="0"/>
              <a:t>（</a:t>
            </a:r>
            <a:r>
              <a:rPr lang="en-US" altLang="zh-CN" sz="2800" dirty="0"/>
              <a:t>3</a:t>
            </a:r>
            <a:r>
              <a:rPr lang="zh-CN" altLang="en-US" sz="2800" dirty="0"/>
              <a:t>）</a:t>
            </a:r>
            <a:r>
              <a:rPr lang="en-US" altLang="zh-CN" sz="2800" dirty="0"/>
              <a:t>(A∨B)→(C∧D)         P</a:t>
            </a:r>
            <a:br>
              <a:rPr lang="en-US" altLang="zh-CN" sz="2800" dirty="0"/>
            </a:br>
            <a:r>
              <a:rPr lang="zh-CN" altLang="en-US" sz="2800" dirty="0"/>
              <a:t>（</a:t>
            </a:r>
            <a:r>
              <a:rPr lang="en-US" altLang="zh-CN" sz="2800" dirty="0"/>
              <a:t>4</a:t>
            </a:r>
            <a:r>
              <a:rPr lang="zh-CN" altLang="en-US" sz="2800" dirty="0"/>
              <a:t>）</a:t>
            </a:r>
            <a:r>
              <a:rPr lang="en-US" altLang="zh-CN" sz="2800" dirty="0"/>
              <a:t>C∧D                        T</a:t>
            </a:r>
            <a:r>
              <a:rPr lang="zh-CN" altLang="en-US" sz="2800" dirty="0"/>
              <a:t>（</a:t>
            </a:r>
            <a:r>
              <a:rPr lang="en-US" altLang="zh-CN" sz="2800" dirty="0"/>
              <a:t>2</a:t>
            </a:r>
            <a:r>
              <a:rPr lang="zh-CN" altLang="en-US" sz="2800" dirty="0"/>
              <a:t>）合取（</a:t>
            </a:r>
            <a:r>
              <a:rPr lang="en-US" altLang="zh-CN" sz="2800" dirty="0"/>
              <a:t>3</a:t>
            </a:r>
            <a:r>
              <a:rPr lang="zh-CN" altLang="en-US" sz="2800" dirty="0"/>
              <a:t>），</a:t>
            </a:r>
            <a:r>
              <a:rPr lang="en-US" altLang="zh-CN" sz="2800" dirty="0"/>
              <a:t>I</a:t>
            </a:r>
            <a:br>
              <a:rPr lang="en-US" altLang="zh-CN" sz="2800" dirty="0"/>
            </a:br>
            <a:r>
              <a:rPr lang="zh-CN" altLang="en-US" sz="2800" dirty="0"/>
              <a:t>（</a:t>
            </a:r>
            <a:r>
              <a:rPr lang="en-US" altLang="zh-CN" sz="2800" dirty="0"/>
              <a:t>5</a:t>
            </a:r>
            <a:r>
              <a:rPr lang="zh-CN" altLang="en-US" sz="2800" dirty="0"/>
              <a:t>）</a:t>
            </a:r>
            <a:r>
              <a:rPr lang="en-US" altLang="zh-CN" sz="2800" dirty="0"/>
              <a:t>D                             T</a:t>
            </a:r>
            <a:r>
              <a:rPr lang="zh-CN" altLang="en-US" sz="2800" dirty="0"/>
              <a:t>（</a:t>
            </a:r>
            <a:r>
              <a:rPr lang="en-US" altLang="zh-CN" sz="2800" dirty="0"/>
              <a:t>4</a:t>
            </a:r>
            <a:r>
              <a:rPr lang="zh-CN" altLang="en-US" sz="2800" dirty="0"/>
              <a:t>），</a:t>
            </a:r>
            <a:r>
              <a:rPr lang="en-US" altLang="zh-CN" sz="2800" dirty="0"/>
              <a:t>I</a:t>
            </a:r>
            <a:br>
              <a:rPr lang="en-US" altLang="zh-CN" sz="2800" dirty="0"/>
            </a:br>
            <a:r>
              <a:rPr lang="zh-CN" altLang="en-US" sz="2800" dirty="0"/>
              <a:t>（</a:t>
            </a:r>
            <a:r>
              <a:rPr lang="en-US" altLang="zh-CN" sz="2800" dirty="0"/>
              <a:t>6</a:t>
            </a:r>
            <a:r>
              <a:rPr lang="zh-CN" altLang="en-US" sz="2800" dirty="0"/>
              <a:t>）</a:t>
            </a:r>
            <a:r>
              <a:rPr lang="en-US" altLang="zh-CN" sz="2800" dirty="0"/>
              <a:t>D∨E                        T</a:t>
            </a:r>
            <a:r>
              <a:rPr lang="zh-CN" altLang="en-US" sz="2800" dirty="0"/>
              <a:t>（</a:t>
            </a:r>
            <a:r>
              <a:rPr lang="en-US" altLang="zh-CN" sz="2800" dirty="0"/>
              <a:t>5</a:t>
            </a:r>
            <a:r>
              <a:rPr lang="zh-CN" altLang="en-US" sz="2800" dirty="0"/>
              <a:t>），</a:t>
            </a:r>
            <a:r>
              <a:rPr lang="en-US" altLang="zh-CN" sz="2800" dirty="0"/>
              <a:t>I</a:t>
            </a:r>
            <a:br>
              <a:rPr lang="en-US" altLang="zh-CN" sz="2800" dirty="0"/>
            </a:br>
            <a:r>
              <a:rPr lang="zh-CN" altLang="en-US" sz="2800" dirty="0"/>
              <a:t>（</a:t>
            </a:r>
            <a:r>
              <a:rPr lang="en-US" altLang="zh-CN" sz="2800" dirty="0"/>
              <a:t>7</a:t>
            </a:r>
            <a:r>
              <a:rPr lang="zh-CN" altLang="en-US" sz="2800" dirty="0"/>
              <a:t>）</a:t>
            </a:r>
            <a:r>
              <a:rPr lang="en-US" altLang="zh-CN" sz="2800" dirty="0"/>
              <a:t>(D∨E)→G                 P</a:t>
            </a:r>
            <a:br>
              <a:rPr lang="en-US" altLang="zh-CN" sz="2800" dirty="0"/>
            </a:br>
            <a:r>
              <a:rPr lang="zh-CN" altLang="en-US" sz="2800" dirty="0"/>
              <a:t>（</a:t>
            </a:r>
            <a:r>
              <a:rPr lang="en-US" altLang="zh-CN" sz="2800" dirty="0"/>
              <a:t>8</a:t>
            </a:r>
            <a:r>
              <a:rPr lang="zh-CN" altLang="en-US" sz="2800" dirty="0"/>
              <a:t>）</a:t>
            </a:r>
            <a:r>
              <a:rPr lang="en-US" altLang="zh-CN" sz="2800" dirty="0">
                <a:solidFill>
                  <a:schemeClr val="accent1"/>
                </a:solidFill>
              </a:rPr>
              <a:t>G</a:t>
            </a:r>
            <a:r>
              <a:rPr lang="en-US" altLang="zh-CN" sz="2800" dirty="0"/>
              <a:t>                             T</a:t>
            </a:r>
            <a:r>
              <a:rPr lang="zh-CN" altLang="en-US" sz="2800" dirty="0"/>
              <a:t>（</a:t>
            </a:r>
            <a:r>
              <a:rPr lang="en-US" altLang="zh-CN" sz="2800" dirty="0"/>
              <a:t>6</a:t>
            </a:r>
            <a:r>
              <a:rPr lang="zh-CN" altLang="en-US" sz="2800" dirty="0"/>
              <a:t>）合取（</a:t>
            </a:r>
            <a:r>
              <a:rPr lang="en-US" altLang="zh-CN" sz="2800" dirty="0"/>
              <a:t>7</a:t>
            </a:r>
            <a:r>
              <a:rPr lang="zh-CN" altLang="en-US" sz="2800" dirty="0"/>
              <a:t>），</a:t>
            </a:r>
            <a:r>
              <a:rPr lang="en-US" altLang="zh-CN" sz="2800" dirty="0"/>
              <a:t>I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2">
            <a:extLst>
              <a:ext uri="{FF2B5EF4-FFF2-40B4-BE49-F238E27FC236}">
                <a16:creationId xmlns:a16="http://schemas.microsoft.com/office/drawing/2014/main" id="{7C95021A-A234-F619-B21E-55388F79BAB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/>
              <a:t>1.8.2  </a:t>
            </a:r>
            <a:r>
              <a:rPr lang="zh-CN" altLang="en-US" b="1"/>
              <a:t>举例</a:t>
            </a:r>
          </a:p>
        </p:txBody>
      </p:sp>
      <p:sp>
        <p:nvSpPr>
          <p:cNvPr id="18435" name="Rectangle 3">
            <a:extLst>
              <a:ext uri="{FF2B5EF4-FFF2-40B4-BE49-F238E27FC236}">
                <a16:creationId xmlns:a16="http://schemas.microsoft.com/office/drawing/2014/main" id="{8617313B-81F1-0757-B12C-F378A056B45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11188" y="1989138"/>
            <a:ext cx="8343900" cy="4868862"/>
          </a:xfrm>
        </p:spPr>
        <p:txBody>
          <a:bodyPr/>
          <a:lstStyle/>
          <a:p>
            <a:pPr eaLnBrk="1" hangingPunct="1">
              <a:lnSpc>
                <a:spcPct val="80000"/>
              </a:lnSpc>
            </a:pPr>
            <a:r>
              <a:rPr lang="zh-CN" altLang="en-US" sz="2400" dirty="0">
                <a:solidFill>
                  <a:schemeClr val="hlink"/>
                </a:solidFill>
              </a:rPr>
              <a:t>例</a:t>
            </a:r>
            <a:r>
              <a:rPr lang="en-US" altLang="zh-CN" sz="2400" dirty="0">
                <a:solidFill>
                  <a:schemeClr val="hlink"/>
                </a:solidFill>
              </a:rPr>
              <a:t>1.8.4</a:t>
            </a:r>
            <a:r>
              <a:rPr lang="en-US" altLang="zh-CN" sz="2400" dirty="0"/>
              <a:t> </a:t>
            </a:r>
            <a:r>
              <a:rPr lang="en-US" altLang="zh-CN" sz="2400" dirty="0">
                <a:solidFill>
                  <a:srgbClr val="0066FF"/>
                </a:solidFill>
              </a:rPr>
              <a:t>CP</a:t>
            </a:r>
            <a:r>
              <a:rPr lang="zh-CN" altLang="en-US" sz="2400" dirty="0">
                <a:solidFill>
                  <a:srgbClr val="0066FF"/>
                </a:solidFill>
              </a:rPr>
              <a:t>规则</a:t>
            </a:r>
            <a:r>
              <a:rPr lang="zh-CN" altLang="en-US" sz="2400" dirty="0"/>
              <a:t>证明 </a:t>
            </a:r>
            <a:r>
              <a:rPr lang="en-US" altLang="zh-CN" sz="2400" dirty="0"/>
              <a:t>A→(B→C),(C∧D)→E,┐G→(D∧┐E)</a:t>
            </a:r>
            <a:r>
              <a:rPr lang="en-US" altLang="zh-CN" sz="2400" dirty="0">
                <a:sym typeface="Symbol" panose="05050102010706020507" pitchFamily="18" charset="2"/>
              </a:rPr>
              <a:t></a:t>
            </a:r>
            <a:r>
              <a:rPr lang="en-US" altLang="zh-CN" sz="2400" dirty="0">
                <a:solidFill>
                  <a:schemeClr val="accent1"/>
                </a:solidFill>
              </a:rPr>
              <a:t>A</a:t>
            </a:r>
            <a:r>
              <a:rPr lang="en-US" altLang="zh-CN" sz="2400" dirty="0"/>
              <a:t>→(</a:t>
            </a:r>
            <a:r>
              <a:rPr lang="en-US" altLang="zh-CN" sz="2400" dirty="0">
                <a:solidFill>
                  <a:srgbClr val="FF00FF"/>
                </a:solidFill>
              </a:rPr>
              <a:t>B→G</a:t>
            </a:r>
            <a:r>
              <a:rPr lang="en-US" altLang="zh-CN" sz="2400" dirty="0"/>
              <a:t>)</a:t>
            </a:r>
            <a:endParaRPr lang="en-US" altLang="zh-CN" sz="2400" b="1" dirty="0"/>
          </a:p>
          <a:p>
            <a:pPr eaLnBrk="1" hangingPunct="1">
              <a:lnSpc>
                <a:spcPct val="80000"/>
              </a:lnSpc>
            </a:pPr>
            <a:r>
              <a:rPr lang="zh-CN" altLang="en-US" sz="2400" dirty="0">
                <a:solidFill>
                  <a:schemeClr val="hlink"/>
                </a:solidFill>
              </a:rPr>
              <a:t>证明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zh-CN" altLang="en-US" sz="2400" dirty="0"/>
              <a:t>   （</a:t>
            </a:r>
            <a:r>
              <a:rPr lang="en-US" altLang="zh-CN" sz="2400" dirty="0"/>
              <a:t>1</a:t>
            </a:r>
            <a:r>
              <a:rPr lang="zh-CN" altLang="en-US" sz="2400" dirty="0"/>
              <a:t>）</a:t>
            </a:r>
            <a:r>
              <a:rPr lang="en-US" altLang="zh-CN" sz="2400" dirty="0">
                <a:solidFill>
                  <a:schemeClr val="accent1"/>
                </a:solidFill>
              </a:rPr>
              <a:t>A</a:t>
            </a:r>
            <a:r>
              <a:rPr lang="en-US" altLang="zh-CN" sz="2400" dirty="0"/>
              <a:t>                                 P</a:t>
            </a:r>
            <a:r>
              <a:rPr lang="zh-CN" altLang="en-US" sz="2400" dirty="0"/>
              <a:t>（</a:t>
            </a:r>
            <a:r>
              <a:rPr lang="zh-CN" altLang="en-US" sz="2400" dirty="0">
                <a:solidFill>
                  <a:srgbClr val="CC0066"/>
                </a:solidFill>
              </a:rPr>
              <a:t>附加前提</a:t>
            </a:r>
            <a:r>
              <a:rPr lang="zh-CN" altLang="en-US" sz="2400" dirty="0"/>
              <a:t>）</a:t>
            </a:r>
            <a:br>
              <a:rPr lang="zh-CN" altLang="en-US" sz="2400" dirty="0"/>
            </a:br>
            <a:r>
              <a:rPr lang="zh-CN" altLang="en-US" sz="2400" dirty="0"/>
              <a:t>（</a:t>
            </a:r>
            <a:r>
              <a:rPr lang="en-US" altLang="zh-CN" sz="2400" dirty="0"/>
              <a:t>2</a:t>
            </a:r>
            <a:r>
              <a:rPr lang="zh-CN" altLang="en-US" sz="2400" dirty="0"/>
              <a:t>）</a:t>
            </a:r>
            <a:r>
              <a:rPr lang="en-US" altLang="zh-CN" sz="2400" dirty="0"/>
              <a:t>A→(B→C)                    P</a:t>
            </a:r>
            <a:br>
              <a:rPr lang="en-US" altLang="zh-CN" sz="2400" dirty="0"/>
            </a:br>
            <a:r>
              <a:rPr lang="zh-CN" altLang="en-US" sz="2400" dirty="0"/>
              <a:t>（</a:t>
            </a:r>
            <a:r>
              <a:rPr lang="en-US" altLang="zh-CN" sz="2400" dirty="0"/>
              <a:t>3</a:t>
            </a:r>
            <a:r>
              <a:rPr lang="zh-CN" altLang="en-US" sz="2400" dirty="0"/>
              <a:t>）</a:t>
            </a:r>
            <a:r>
              <a:rPr lang="en-US" altLang="zh-CN" sz="2400" dirty="0"/>
              <a:t>B→C                           T</a:t>
            </a:r>
            <a:r>
              <a:rPr lang="zh-CN" altLang="en-US" sz="2400" dirty="0"/>
              <a:t>（</a:t>
            </a:r>
            <a:r>
              <a:rPr lang="en-US" altLang="zh-CN" sz="2400" dirty="0"/>
              <a:t>1</a:t>
            </a:r>
            <a:r>
              <a:rPr lang="zh-CN" altLang="en-US" sz="2400" dirty="0"/>
              <a:t>）合取（</a:t>
            </a:r>
            <a:r>
              <a:rPr lang="en-US" altLang="zh-CN" sz="2400" dirty="0"/>
              <a:t>2</a:t>
            </a:r>
            <a:r>
              <a:rPr lang="zh-CN" altLang="en-US" sz="2400" dirty="0"/>
              <a:t>），</a:t>
            </a:r>
            <a:r>
              <a:rPr lang="en-US" altLang="zh-CN" sz="2400" dirty="0"/>
              <a:t>I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zh-CN" sz="2400" dirty="0"/>
              <a:t>   </a:t>
            </a:r>
            <a:r>
              <a:rPr lang="zh-CN" altLang="en-US" sz="2400" dirty="0"/>
              <a:t>（</a:t>
            </a:r>
            <a:r>
              <a:rPr lang="en-US" altLang="zh-CN" sz="2400" dirty="0"/>
              <a:t>4</a:t>
            </a:r>
            <a:r>
              <a:rPr lang="zh-CN" altLang="en-US" sz="2400" dirty="0"/>
              <a:t>）</a:t>
            </a:r>
            <a:r>
              <a:rPr lang="en-US" altLang="zh-CN" sz="2400" dirty="0"/>
              <a:t>(C∧D)→E                    P</a:t>
            </a:r>
            <a:br>
              <a:rPr lang="en-US" altLang="zh-CN" sz="2400" dirty="0"/>
            </a:br>
            <a:r>
              <a:rPr lang="zh-CN" altLang="en-US" sz="2400" dirty="0"/>
              <a:t>（</a:t>
            </a:r>
            <a:r>
              <a:rPr lang="en-US" altLang="zh-CN" sz="2400" dirty="0"/>
              <a:t>5</a:t>
            </a:r>
            <a:r>
              <a:rPr lang="zh-CN" altLang="en-US" sz="2400" dirty="0"/>
              <a:t>）</a:t>
            </a:r>
            <a:r>
              <a:rPr lang="en-US" altLang="zh-CN" sz="2400" dirty="0"/>
              <a:t>C→(D→E)                   T</a:t>
            </a:r>
            <a:r>
              <a:rPr lang="zh-CN" altLang="en-US" sz="2400" dirty="0"/>
              <a:t>（</a:t>
            </a:r>
            <a:r>
              <a:rPr lang="en-US" altLang="zh-CN" sz="2400" dirty="0"/>
              <a:t>4</a:t>
            </a:r>
            <a:r>
              <a:rPr lang="zh-CN" altLang="en-US" sz="2400" dirty="0"/>
              <a:t>），</a:t>
            </a:r>
            <a:r>
              <a:rPr lang="en-US" altLang="zh-CN" sz="2400" dirty="0"/>
              <a:t>E</a:t>
            </a:r>
            <a:br>
              <a:rPr lang="en-US" altLang="zh-CN" sz="2400" dirty="0"/>
            </a:br>
            <a:r>
              <a:rPr lang="zh-CN" altLang="en-US" sz="2400" dirty="0"/>
              <a:t>（</a:t>
            </a:r>
            <a:r>
              <a:rPr lang="en-US" altLang="zh-CN" sz="2400" dirty="0"/>
              <a:t>6</a:t>
            </a:r>
            <a:r>
              <a:rPr lang="zh-CN" altLang="en-US" sz="2400" dirty="0"/>
              <a:t>）</a:t>
            </a:r>
            <a:r>
              <a:rPr lang="en-US" altLang="zh-CN" sz="2400" dirty="0"/>
              <a:t>B→(D→E)                   T</a:t>
            </a:r>
            <a:r>
              <a:rPr lang="zh-CN" altLang="en-US" sz="2400" dirty="0"/>
              <a:t>（</a:t>
            </a:r>
            <a:r>
              <a:rPr lang="en-US" altLang="zh-CN" sz="2400" dirty="0"/>
              <a:t>3</a:t>
            </a:r>
            <a:r>
              <a:rPr lang="zh-CN" altLang="en-US" sz="2400" dirty="0"/>
              <a:t>）合取（</a:t>
            </a:r>
            <a:r>
              <a:rPr lang="en-US" altLang="zh-CN" sz="2400" dirty="0"/>
              <a:t>5</a:t>
            </a:r>
            <a:r>
              <a:rPr lang="zh-CN" altLang="en-US" sz="2400" dirty="0"/>
              <a:t>），</a:t>
            </a:r>
            <a:r>
              <a:rPr lang="en-US" altLang="zh-CN" sz="2400" dirty="0"/>
              <a:t>I</a:t>
            </a:r>
            <a:br>
              <a:rPr lang="en-US" altLang="zh-CN" sz="2400" dirty="0"/>
            </a:br>
            <a:r>
              <a:rPr lang="zh-CN" altLang="en-US" sz="2400" dirty="0"/>
              <a:t>（</a:t>
            </a:r>
            <a:r>
              <a:rPr lang="en-US" altLang="zh-CN" sz="2400" dirty="0"/>
              <a:t>7</a:t>
            </a:r>
            <a:r>
              <a:rPr lang="zh-CN" altLang="en-US" sz="2400" dirty="0"/>
              <a:t>）┐</a:t>
            </a:r>
            <a:r>
              <a:rPr lang="en-US" altLang="zh-CN" sz="2400" dirty="0"/>
              <a:t>(D→E)→┐B             T</a:t>
            </a:r>
            <a:r>
              <a:rPr lang="zh-CN" altLang="en-US" sz="2400" dirty="0"/>
              <a:t>（</a:t>
            </a:r>
            <a:r>
              <a:rPr lang="en-US" altLang="zh-CN" sz="2400" dirty="0"/>
              <a:t>6</a:t>
            </a:r>
            <a:r>
              <a:rPr lang="zh-CN" altLang="en-US" sz="2400" dirty="0"/>
              <a:t>），</a:t>
            </a:r>
            <a:r>
              <a:rPr lang="en-US" altLang="zh-CN" sz="2400" dirty="0"/>
              <a:t>E</a:t>
            </a:r>
            <a:br>
              <a:rPr lang="en-US" altLang="zh-CN" sz="2400" dirty="0"/>
            </a:br>
            <a:r>
              <a:rPr lang="zh-CN" altLang="en-US" sz="2400" dirty="0"/>
              <a:t>（</a:t>
            </a:r>
            <a:r>
              <a:rPr lang="en-US" altLang="zh-CN" sz="2400" dirty="0"/>
              <a:t>8</a:t>
            </a:r>
            <a:r>
              <a:rPr lang="zh-CN" altLang="en-US" sz="2400" dirty="0"/>
              <a:t>）┐</a:t>
            </a:r>
            <a:r>
              <a:rPr lang="en-US" altLang="zh-CN" sz="2400" dirty="0"/>
              <a:t>(┐D∨E)→┐B          T</a:t>
            </a:r>
            <a:r>
              <a:rPr lang="zh-CN" altLang="en-US" sz="2400" dirty="0"/>
              <a:t>（</a:t>
            </a:r>
            <a:r>
              <a:rPr lang="en-US" altLang="zh-CN" sz="2400" dirty="0"/>
              <a:t>7</a:t>
            </a:r>
            <a:r>
              <a:rPr lang="zh-CN" altLang="en-US" sz="2400" dirty="0"/>
              <a:t>），</a:t>
            </a:r>
            <a:r>
              <a:rPr lang="en-US" altLang="zh-CN" sz="2400" dirty="0"/>
              <a:t>E</a:t>
            </a:r>
            <a:br>
              <a:rPr lang="en-US" altLang="zh-CN" sz="2400" dirty="0"/>
            </a:br>
            <a:r>
              <a:rPr lang="zh-CN" altLang="en-US" sz="2400" dirty="0"/>
              <a:t>（</a:t>
            </a:r>
            <a:r>
              <a:rPr lang="en-US" altLang="zh-CN" sz="2400" dirty="0"/>
              <a:t>9</a:t>
            </a:r>
            <a:r>
              <a:rPr lang="zh-CN" altLang="en-US" sz="2400" dirty="0"/>
              <a:t>）</a:t>
            </a:r>
            <a:r>
              <a:rPr lang="en-US" altLang="zh-CN" sz="2400" dirty="0"/>
              <a:t>(D∧┐E)→┐B             T</a:t>
            </a:r>
            <a:r>
              <a:rPr lang="zh-CN" altLang="en-US" sz="2400" dirty="0"/>
              <a:t>（</a:t>
            </a:r>
            <a:r>
              <a:rPr lang="en-US" altLang="zh-CN" sz="2400" dirty="0"/>
              <a:t>8</a:t>
            </a:r>
            <a:r>
              <a:rPr lang="zh-CN" altLang="en-US" sz="2400" dirty="0"/>
              <a:t>），</a:t>
            </a:r>
            <a:r>
              <a:rPr lang="en-US" altLang="zh-CN" sz="2400" dirty="0"/>
              <a:t>E</a:t>
            </a:r>
            <a:br>
              <a:rPr lang="en-US" altLang="zh-CN" sz="2400" dirty="0"/>
            </a:br>
            <a:r>
              <a:rPr lang="zh-CN" altLang="en-US" sz="2400" dirty="0"/>
              <a:t>（</a:t>
            </a:r>
            <a:r>
              <a:rPr lang="en-US" altLang="zh-CN" sz="2400" dirty="0"/>
              <a:t>10</a:t>
            </a:r>
            <a:r>
              <a:rPr lang="zh-CN" altLang="en-US" sz="2400" dirty="0"/>
              <a:t>）┐</a:t>
            </a:r>
            <a:r>
              <a:rPr lang="en-US" altLang="zh-CN" sz="2400" dirty="0"/>
              <a:t>G→(D∧┐E)            P</a:t>
            </a:r>
            <a:br>
              <a:rPr lang="en-US" altLang="zh-CN" sz="2400" dirty="0"/>
            </a:br>
            <a:r>
              <a:rPr lang="zh-CN" altLang="en-US" sz="2400" dirty="0"/>
              <a:t>（</a:t>
            </a:r>
            <a:r>
              <a:rPr lang="en-US" altLang="zh-CN" sz="2400" dirty="0"/>
              <a:t>11</a:t>
            </a:r>
            <a:r>
              <a:rPr lang="zh-CN" altLang="en-US" sz="2400" dirty="0"/>
              <a:t>）┐</a:t>
            </a:r>
            <a:r>
              <a:rPr lang="en-US" altLang="zh-CN" sz="2400" dirty="0"/>
              <a:t>G→┐B                   T</a:t>
            </a:r>
            <a:r>
              <a:rPr lang="zh-CN" altLang="en-US" sz="2400" dirty="0"/>
              <a:t>（</a:t>
            </a:r>
            <a:r>
              <a:rPr lang="en-US" altLang="zh-CN" sz="2400" dirty="0"/>
              <a:t>9</a:t>
            </a:r>
            <a:r>
              <a:rPr lang="zh-CN" altLang="en-US" sz="2400" dirty="0"/>
              <a:t>）合取（</a:t>
            </a:r>
            <a:r>
              <a:rPr lang="en-US" altLang="zh-CN" sz="2400" dirty="0"/>
              <a:t>10</a:t>
            </a:r>
            <a:r>
              <a:rPr lang="zh-CN" altLang="en-US" sz="2400" dirty="0"/>
              <a:t>），</a:t>
            </a:r>
            <a:r>
              <a:rPr lang="en-US" altLang="zh-CN" sz="2400" dirty="0"/>
              <a:t>I</a:t>
            </a:r>
            <a:br>
              <a:rPr lang="en-US" altLang="zh-CN" sz="2400" dirty="0"/>
            </a:br>
            <a:r>
              <a:rPr lang="zh-CN" altLang="en-US" sz="2400" dirty="0"/>
              <a:t>（</a:t>
            </a:r>
            <a:r>
              <a:rPr lang="en-US" altLang="zh-CN" sz="2400" dirty="0"/>
              <a:t>12</a:t>
            </a:r>
            <a:r>
              <a:rPr lang="zh-CN" altLang="en-US" sz="2400" dirty="0"/>
              <a:t>）</a:t>
            </a:r>
            <a:r>
              <a:rPr lang="en-US" altLang="zh-CN" sz="2400" dirty="0">
                <a:solidFill>
                  <a:srgbClr val="FF00FF"/>
                </a:solidFill>
              </a:rPr>
              <a:t>B→G</a:t>
            </a:r>
            <a:r>
              <a:rPr lang="en-US" altLang="zh-CN" sz="2400" dirty="0"/>
              <a:t>                         T</a:t>
            </a:r>
            <a:r>
              <a:rPr lang="zh-CN" altLang="en-US" sz="2400" dirty="0"/>
              <a:t>（</a:t>
            </a:r>
            <a:r>
              <a:rPr lang="en-US" altLang="zh-CN" sz="2400" dirty="0"/>
              <a:t>11</a:t>
            </a:r>
            <a:r>
              <a:rPr lang="zh-CN" altLang="en-US" sz="2400" dirty="0"/>
              <a:t>），</a:t>
            </a:r>
            <a:r>
              <a:rPr lang="en-US" altLang="zh-CN" sz="2400" dirty="0"/>
              <a:t>E 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2">
            <a:extLst>
              <a:ext uri="{FF2B5EF4-FFF2-40B4-BE49-F238E27FC236}">
                <a16:creationId xmlns:a16="http://schemas.microsoft.com/office/drawing/2014/main" id="{B3CD927D-A7DC-2322-16F2-8EC555B2B80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/>
              <a:t> 1.8.2  </a:t>
            </a:r>
            <a:r>
              <a:rPr lang="zh-CN" altLang="en-US" b="1"/>
              <a:t>举例</a:t>
            </a:r>
          </a:p>
        </p:txBody>
      </p:sp>
      <p:sp>
        <p:nvSpPr>
          <p:cNvPr id="19459" name="Rectangle 3">
            <a:extLst>
              <a:ext uri="{FF2B5EF4-FFF2-40B4-BE49-F238E27FC236}">
                <a16:creationId xmlns:a16="http://schemas.microsoft.com/office/drawing/2014/main" id="{ACC973E8-7341-6E9F-4216-67391B93576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11188" y="2017713"/>
            <a:ext cx="8343900" cy="4724400"/>
          </a:xfrm>
        </p:spPr>
        <p:txBody>
          <a:bodyPr/>
          <a:lstStyle/>
          <a:p>
            <a:pPr eaLnBrk="1" hangingPunct="1"/>
            <a:r>
              <a:rPr lang="zh-CN" altLang="en-US" sz="2400">
                <a:solidFill>
                  <a:schemeClr val="hlink"/>
                </a:solidFill>
              </a:rPr>
              <a:t>例</a:t>
            </a:r>
            <a:r>
              <a:rPr lang="en-US" altLang="zh-CN" sz="2400">
                <a:solidFill>
                  <a:schemeClr val="hlink"/>
                </a:solidFill>
              </a:rPr>
              <a:t>1.8.5</a:t>
            </a:r>
            <a:r>
              <a:rPr lang="en-US" altLang="zh-CN" sz="2400" b="1"/>
              <a:t> </a:t>
            </a:r>
            <a:r>
              <a:rPr lang="zh-CN" altLang="en-US" sz="2400" b="1">
                <a:solidFill>
                  <a:srgbClr val="0066FF"/>
                </a:solidFill>
              </a:rPr>
              <a:t>归谬法</a:t>
            </a:r>
            <a:r>
              <a:rPr lang="zh-CN" altLang="en-US" sz="2400"/>
              <a:t>证明</a:t>
            </a:r>
            <a:r>
              <a:rPr lang="en-US" altLang="zh-CN" sz="2400"/>
              <a:t>(G∧Q)→R,┐R∨S,┐S,G</a:t>
            </a:r>
            <a:r>
              <a:rPr lang="en-US" altLang="zh-CN" sz="2400">
                <a:sym typeface="Symbol" panose="05050102010706020507" pitchFamily="18" charset="2"/>
              </a:rPr>
              <a:t></a:t>
            </a:r>
            <a:r>
              <a:rPr lang="en-US" altLang="zh-CN" sz="2400">
                <a:solidFill>
                  <a:srgbClr val="FF00FF"/>
                </a:solidFill>
              </a:rPr>
              <a:t>┐Q</a:t>
            </a:r>
            <a:endParaRPr lang="en-US" altLang="zh-CN" sz="2400" b="1">
              <a:solidFill>
                <a:srgbClr val="FF00FF"/>
              </a:solidFill>
            </a:endParaRPr>
          </a:p>
          <a:p>
            <a:pPr eaLnBrk="1" hangingPunct="1"/>
            <a:r>
              <a:rPr lang="zh-CN" altLang="en-US" sz="2400" b="1">
                <a:solidFill>
                  <a:schemeClr val="hlink"/>
                </a:solidFill>
              </a:rPr>
              <a:t>证明</a:t>
            </a:r>
            <a:endParaRPr lang="zh-CN" altLang="en-US" sz="2400">
              <a:solidFill>
                <a:schemeClr val="hlink"/>
              </a:solidFill>
            </a:endParaRP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zh-CN" altLang="en-US" sz="2400"/>
              <a:t>  （</a:t>
            </a:r>
            <a:r>
              <a:rPr lang="en-US" altLang="zh-CN" sz="2400"/>
              <a:t>1</a:t>
            </a:r>
            <a:r>
              <a:rPr lang="zh-CN" altLang="en-US" sz="2400"/>
              <a:t>）</a:t>
            </a:r>
            <a:r>
              <a:rPr lang="en-US" altLang="zh-CN" sz="2400"/>
              <a:t>G                          P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400"/>
              <a:t>  </a:t>
            </a:r>
            <a:r>
              <a:rPr lang="zh-CN" altLang="en-US" sz="2400"/>
              <a:t>（</a:t>
            </a:r>
            <a:r>
              <a:rPr lang="en-US" altLang="zh-CN" sz="2400"/>
              <a:t>2</a:t>
            </a:r>
            <a:r>
              <a:rPr lang="zh-CN" altLang="en-US" sz="2400"/>
              <a:t>）</a:t>
            </a:r>
            <a:r>
              <a:rPr lang="en-US" altLang="zh-CN" sz="2400">
                <a:solidFill>
                  <a:srgbClr val="FF00FF"/>
                </a:solidFill>
              </a:rPr>
              <a:t>Q</a:t>
            </a:r>
            <a:r>
              <a:rPr lang="en-US" altLang="zh-CN" sz="2400"/>
              <a:t>                          P</a:t>
            </a:r>
            <a:r>
              <a:rPr lang="zh-CN" altLang="en-US" sz="2400"/>
              <a:t>（</a:t>
            </a:r>
            <a:r>
              <a:rPr lang="zh-CN" altLang="en-US" sz="2400">
                <a:solidFill>
                  <a:srgbClr val="CC0066"/>
                </a:solidFill>
              </a:rPr>
              <a:t>有效结论的否定</a:t>
            </a:r>
            <a:r>
              <a:rPr lang="zh-CN" altLang="en-US" sz="2400"/>
              <a:t>）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zh-CN" altLang="en-US" sz="2400"/>
              <a:t>  （</a:t>
            </a:r>
            <a:r>
              <a:rPr lang="en-US" altLang="zh-CN" sz="2400"/>
              <a:t>3</a:t>
            </a:r>
            <a:r>
              <a:rPr lang="zh-CN" altLang="en-US" sz="2400"/>
              <a:t>）</a:t>
            </a:r>
            <a:r>
              <a:rPr lang="en-US" altLang="zh-CN" sz="2400"/>
              <a:t>G∧Q                     T</a:t>
            </a:r>
            <a:r>
              <a:rPr lang="zh-CN" altLang="en-US" sz="2400"/>
              <a:t>（</a:t>
            </a:r>
            <a:r>
              <a:rPr lang="en-US" altLang="zh-CN" sz="2400"/>
              <a:t>1</a:t>
            </a:r>
            <a:r>
              <a:rPr lang="zh-CN" altLang="en-US" sz="2400"/>
              <a:t>）合取（</a:t>
            </a:r>
            <a:r>
              <a:rPr lang="en-US" altLang="zh-CN" sz="2400"/>
              <a:t>2</a:t>
            </a:r>
            <a:r>
              <a:rPr lang="zh-CN" altLang="en-US" sz="2400"/>
              <a:t>），</a:t>
            </a:r>
            <a:r>
              <a:rPr lang="en-US" altLang="zh-CN" sz="2400"/>
              <a:t>I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400"/>
              <a:t>  </a:t>
            </a:r>
            <a:r>
              <a:rPr lang="zh-CN" altLang="en-US" sz="2400"/>
              <a:t>（</a:t>
            </a:r>
            <a:r>
              <a:rPr lang="en-US" altLang="zh-CN" sz="2400"/>
              <a:t>4</a:t>
            </a:r>
            <a:r>
              <a:rPr lang="zh-CN" altLang="en-US" sz="2400"/>
              <a:t>）</a:t>
            </a:r>
            <a:r>
              <a:rPr lang="en-US" altLang="zh-CN" sz="2400"/>
              <a:t>(G∧Q)→R              P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400"/>
              <a:t>  </a:t>
            </a:r>
            <a:r>
              <a:rPr lang="zh-CN" altLang="en-US" sz="2400"/>
              <a:t>（</a:t>
            </a:r>
            <a:r>
              <a:rPr lang="en-US" altLang="zh-CN" sz="2400"/>
              <a:t>5</a:t>
            </a:r>
            <a:r>
              <a:rPr lang="zh-CN" altLang="en-US" sz="2400"/>
              <a:t>）</a:t>
            </a:r>
            <a:r>
              <a:rPr lang="en-US" altLang="zh-CN" sz="2400"/>
              <a:t>R                           T</a:t>
            </a:r>
            <a:r>
              <a:rPr lang="zh-CN" altLang="en-US" sz="2400"/>
              <a:t>（</a:t>
            </a:r>
            <a:r>
              <a:rPr lang="en-US" altLang="zh-CN" sz="2400"/>
              <a:t>3</a:t>
            </a:r>
            <a:r>
              <a:rPr lang="zh-CN" altLang="en-US" sz="2400"/>
              <a:t>）合取（</a:t>
            </a:r>
            <a:r>
              <a:rPr lang="en-US" altLang="zh-CN" sz="2400"/>
              <a:t>4</a:t>
            </a:r>
            <a:r>
              <a:rPr lang="zh-CN" altLang="en-US" sz="2400"/>
              <a:t>），</a:t>
            </a:r>
            <a:r>
              <a:rPr lang="en-US" altLang="zh-CN" sz="2400"/>
              <a:t>I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400"/>
              <a:t>  </a:t>
            </a:r>
            <a:r>
              <a:rPr lang="zh-CN" altLang="en-US" sz="2400"/>
              <a:t>（</a:t>
            </a:r>
            <a:r>
              <a:rPr lang="en-US" altLang="zh-CN" sz="2400"/>
              <a:t>6</a:t>
            </a:r>
            <a:r>
              <a:rPr lang="zh-CN" altLang="en-US" sz="2400"/>
              <a:t>）┐</a:t>
            </a:r>
            <a:r>
              <a:rPr lang="en-US" altLang="zh-CN" sz="2400"/>
              <a:t>R∨S                   P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400"/>
              <a:t>  </a:t>
            </a:r>
            <a:r>
              <a:rPr lang="zh-CN" altLang="en-US" sz="2400"/>
              <a:t>（</a:t>
            </a:r>
            <a:r>
              <a:rPr lang="en-US" altLang="zh-CN" sz="2400"/>
              <a:t>7</a:t>
            </a:r>
            <a:r>
              <a:rPr lang="zh-CN" altLang="en-US" sz="2400"/>
              <a:t>）</a:t>
            </a:r>
            <a:r>
              <a:rPr lang="en-US" altLang="zh-CN" sz="2400"/>
              <a:t>S                           T</a:t>
            </a:r>
            <a:r>
              <a:rPr lang="zh-CN" altLang="en-US" sz="2400"/>
              <a:t>（</a:t>
            </a:r>
            <a:r>
              <a:rPr lang="en-US" altLang="zh-CN" sz="2400"/>
              <a:t>5</a:t>
            </a:r>
            <a:r>
              <a:rPr lang="zh-CN" altLang="en-US" sz="2400"/>
              <a:t>）合取（</a:t>
            </a:r>
            <a:r>
              <a:rPr lang="en-US" altLang="zh-CN" sz="2400"/>
              <a:t>6</a:t>
            </a:r>
            <a:r>
              <a:rPr lang="zh-CN" altLang="en-US" sz="2400"/>
              <a:t>），</a:t>
            </a:r>
            <a:r>
              <a:rPr lang="en-US" altLang="zh-CN" sz="2400"/>
              <a:t>I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400"/>
              <a:t>  </a:t>
            </a:r>
            <a:r>
              <a:rPr lang="zh-CN" altLang="en-US" sz="2400"/>
              <a:t>（</a:t>
            </a:r>
            <a:r>
              <a:rPr lang="en-US" altLang="zh-CN" sz="2400"/>
              <a:t>8</a:t>
            </a:r>
            <a:r>
              <a:rPr lang="zh-CN" altLang="en-US" sz="2400"/>
              <a:t>）┐</a:t>
            </a:r>
            <a:r>
              <a:rPr lang="en-US" altLang="zh-CN" sz="2400"/>
              <a:t>S                        P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400"/>
              <a:t>  </a:t>
            </a:r>
            <a:r>
              <a:rPr lang="zh-CN" altLang="en-US" sz="2400"/>
              <a:t>（</a:t>
            </a:r>
            <a:r>
              <a:rPr lang="en-US" altLang="zh-CN" sz="2400"/>
              <a:t>9</a:t>
            </a:r>
            <a:r>
              <a:rPr lang="zh-CN" altLang="en-US" sz="2400"/>
              <a:t>）</a:t>
            </a:r>
            <a:r>
              <a:rPr lang="en-US" altLang="zh-CN" sz="2400">
                <a:solidFill>
                  <a:schemeClr val="accent1"/>
                </a:solidFill>
              </a:rPr>
              <a:t>0</a:t>
            </a:r>
            <a:r>
              <a:rPr lang="en-US" altLang="zh-CN" sz="2400"/>
              <a:t>                           T</a:t>
            </a:r>
            <a:r>
              <a:rPr lang="zh-CN" altLang="en-US" sz="2400"/>
              <a:t>（</a:t>
            </a:r>
            <a:r>
              <a:rPr lang="en-US" altLang="zh-CN" sz="2400"/>
              <a:t>7</a:t>
            </a:r>
            <a:r>
              <a:rPr lang="zh-CN" altLang="en-US" sz="2400"/>
              <a:t>）合取（</a:t>
            </a:r>
            <a:r>
              <a:rPr lang="en-US" altLang="zh-CN" sz="2400"/>
              <a:t>8</a:t>
            </a:r>
            <a:r>
              <a:rPr lang="zh-CN" altLang="en-US" sz="2400"/>
              <a:t>），</a:t>
            </a:r>
            <a:r>
              <a:rPr lang="en-US" altLang="zh-CN" sz="2400"/>
              <a:t>E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2">
            <a:extLst>
              <a:ext uri="{FF2B5EF4-FFF2-40B4-BE49-F238E27FC236}">
                <a16:creationId xmlns:a16="http://schemas.microsoft.com/office/drawing/2014/main" id="{D7425F8E-7573-9FC9-8D82-FEC188C59AF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/>
              <a:t>1.8.2  </a:t>
            </a:r>
            <a:r>
              <a:rPr lang="zh-CN" altLang="en-US" b="1"/>
              <a:t>举例</a:t>
            </a:r>
          </a:p>
        </p:txBody>
      </p:sp>
      <p:sp>
        <p:nvSpPr>
          <p:cNvPr id="20483" name="Rectangle 3">
            <a:extLst>
              <a:ext uri="{FF2B5EF4-FFF2-40B4-BE49-F238E27FC236}">
                <a16:creationId xmlns:a16="http://schemas.microsoft.com/office/drawing/2014/main" id="{49EAD98F-97D6-AA0E-43F9-922E4EF5C2D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11188" y="2017713"/>
            <a:ext cx="8343900" cy="4840287"/>
          </a:xfrm>
        </p:spPr>
        <p:txBody>
          <a:bodyPr/>
          <a:lstStyle/>
          <a:p>
            <a:pPr eaLnBrk="1" hangingPunct="1">
              <a:lnSpc>
                <a:spcPct val="85000"/>
              </a:lnSpc>
            </a:pPr>
            <a:r>
              <a:rPr lang="zh-CN" altLang="en-US" sz="2400" dirty="0">
                <a:solidFill>
                  <a:schemeClr val="hlink"/>
                </a:solidFill>
              </a:rPr>
              <a:t>例</a:t>
            </a:r>
            <a:r>
              <a:rPr lang="en-US" altLang="zh-CN" sz="2400" dirty="0">
                <a:solidFill>
                  <a:schemeClr val="hlink"/>
                </a:solidFill>
              </a:rPr>
              <a:t>1.8.6</a:t>
            </a:r>
            <a:r>
              <a:rPr lang="en-US" altLang="zh-CN" sz="2400" dirty="0"/>
              <a:t> </a:t>
            </a:r>
            <a:r>
              <a:rPr lang="zh-CN" altLang="en-US" sz="2400" dirty="0"/>
              <a:t>归谬法证</a:t>
            </a:r>
            <a:r>
              <a:rPr lang="en-US" altLang="zh-CN" sz="2400" dirty="0"/>
              <a:t>(A→B)∧(C→D),(B→E)∧(D→G),┐(E∧G),A→C</a:t>
            </a:r>
            <a:r>
              <a:rPr lang="en-US" altLang="zh-CN" sz="2400" dirty="0">
                <a:sym typeface="Symbol" panose="05050102010706020507" pitchFamily="18" charset="2"/>
              </a:rPr>
              <a:t></a:t>
            </a:r>
            <a:r>
              <a:rPr lang="en-US" altLang="zh-CN" sz="2400" dirty="0">
                <a:solidFill>
                  <a:srgbClr val="FF00FF"/>
                </a:solidFill>
              </a:rPr>
              <a:t>┐A</a:t>
            </a:r>
            <a:endParaRPr lang="en-US" altLang="zh-CN" sz="2400" b="1" dirty="0">
              <a:solidFill>
                <a:srgbClr val="FF00FF"/>
              </a:solidFill>
            </a:endParaRPr>
          </a:p>
          <a:p>
            <a:pPr eaLnBrk="1" hangingPunct="1">
              <a:lnSpc>
                <a:spcPct val="85000"/>
              </a:lnSpc>
            </a:pPr>
            <a:r>
              <a:rPr lang="zh-CN" altLang="en-US" sz="2400" dirty="0">
                <a:solidFill>
                  <a:schemeClr val="hlink"/>
                </a:solidFill>
              </a:rPr>
              <a:t>证明</a:t>
            </a:r>
            <a:r>
              <a:rPr lang="zh-CN" altLang="en-US" sz="2400" b="1" dirty="0"/>
              <a:t> </a:t>
            </a:r>
            <a:endParaRPr lang="zh-CN" altLang="en-US" sz="2400" dirty="0"/>
          </a:p>
          <a:p>
            <a:pPr eaLnBrk="1" hangingPunct="1">
              <a:lnSpc>
                <a:spcPct val="85000"/>
              </a:lnSpc>
              <a:buFont typeface="Wingdings" panose="05000000000000000000" pitchFamily="2" charset="2"/>
              <a:buNone/>
            </a:pPr>
            <a:r>
              <a:rPr lang="zh-CN" altLang="en-US" sz="2400" dirty="0"/>
              <a:t>   （</a:t>
            </a:r>
            <a:r>
              <a:rPr lang="en-US" altLang="zh-CN" sz="2400" dirty="0"/>
              <a:t>1</a:t>
            </a:r>
            <a:r>
              <a:rPr lang="zh-CN" altLang="en-US" sz="2400" dirty="0"/>
              <a:t>）</a:t>
            </a:r>
            <a:r>
              <a:rPr lang="en-US" altLang="zh-CN" sz="2400" dirty="0"/>
              <a:t>(A→B)∧(C→D)             P</a:t>
            </a:r>
            <a:br>
              <a:rPr lang="en-US" altLang="zh-CN" sz="2400" dirty="0"/>
            </a:br>
            <a:r>
              <a:rPr lang="zh-CN" altLang="en-US" sz="2400" dirty="0"/>
              <a:t>（</a:t>
            </a:r>
            <a:r>
              <a:rPr lang="en-US" altLang="zh-CN" sz="2400" dirty="0"/>
              <a:t>2</a:t>
            </a:r>
            <a:r>
              <a:rPr lang="zh-CN" altLang="en-US" sz="2400" dirty="0"/>
              <a:t>）</a:t>
            </a:r>
            <a:r>
              <a:rPr lang="en-US" altLang="zh-CN" sz="2400" dirty="0"/>
              <a:t>(A∧C)→(B∧D)            T</a:t>
            </a:r>
            <a:r>
              <a:rPr lang="zh-CN" altLang="en-US" sz="2400" dirty="0"/>
              <a:t>（</a:t>
            </a:r>
            <a:r>
              <a:rPr lang="en-US" altLang="zh-CN" sz="2400" dirty="0"/>
              <a:t>1</a:t>
            </a:r>
            <a:r>
              <a:rPr lang="zh-CN" altLang="en-US" sz="2400" dirty="0"/>
              <a:t>），</a:t>
            </a:r>
            <a:r>
              <a:rPr lang="en-US" altLang="zh-CN" sz="2400" dirty="0"/>
              <a:t>I</a:t>
            </a:r>
            <a:br>
              <a:rPr lang="en-US" altLang="zh-CN" sz="2400" dirty="0"/>
            </a:br>
            <a:r>
              <a:rPr lang="zh-CN" altLang="en-US" sz="2400" dirty="0"/>
              <a:t>（</a:t>
            </a:r>
            <a:r>
              <a:rPr lang="en-US" altLang="zh-CN" sz="2400" dirty="0"/>
              <a:t>3</a:t>
            </a:r>
            <a:r>
              <a:rPr lang="zh-CN" altLang="en-US" sz="2400" dirty="0"/>
              <a:t>）</a:t>
            </a:r>
            <a:r>
              <a:rPr lang="en-US" altLang="zh-CN" sz="2400" dirty="0"/>
              <a:t>(B→E)∧(D→G)             P</a:t>
            </a:r>
            <a:br>
              <a:rPr lang="en-US" altLang="zh-CN" sz="2400" dirty="0"/>
            </a:br>
            <a:r>
              <a:rPr lang="zh-CN" altLang="en-US" sz="2400" dirty="0"/>
              <a:t>（</a:t>
            </a:r>
            <a:r>
              <a:rPr lang="en-US" altLang="zh-CN" sz="2400" dirty="0"/>
              <a:t>4</a:t>
            </a:r>
            <a:r>
              <a:rPr lang="zh-CN" altLang="en-US" sz="2400" dirty="0"/>
              <a:t>）</a:t>
            </a:r>
            <a:r>
              <a:rPr lang="en-US" altLang="zh-CN" sz="2400" dirty="0"/>
              <a:t>(B∧D)→(E∧G)             T</a:t>
            </a:r>
            <a:r>
              <a:rPr lang="zh-CN" altLang="en-US" sz="2400" dirty="0"/>
              <a:t>（</a:t>
            </a:r>
            <a:r>
              <a:rPr lang="en-US" altLang="zh-CN" sz="2400" dirty="0"/>
              <a:t>3</a:t>
            </a:r>
            <a:r>
              <a:rPr lang="zh-CN" altLang="en-US" sz="2400" dirty="0"/>
              <a:t>），</a:t>
            </a:r>
            <a:r>
              <a:rPr lang="en-US" altLang="zh-CN" sz="2400" dirty="0"/>
              <a:t>I</a:t>
            </a:r>
            <a:br>
              <a:rPr lang="en-US" altLang="zh-CN" sz="2400" dirty="0"/>
            </a:br>
            <a:r>
              <a:rPr lang="zh-CN" altLang="en-US" sz="2400" dirty="0"/>
              <a:t>（</a:t>
            </a:r>
            <a:r>
              <a:rPr lang="en-US" altLang="zh-CN" sz="2400" dirty="0"/>
              <a:t>5</a:t>
            </a:r>
            <a:r>
              <a:rPr lang="zh-CN" altLang="en-US" sz="2400" dirty="0"/>
              <a:t>）</a:t>
            </a:r>
            <a:r>
              <a:rPr lang="en-US" altLang="zh-CN" sz="2400" dirty="0"/>
              <a:t>(A∧C)→(E∧G)             T</a:t>
            </a:r>
            <a:r>
              <a:rPr lang="zh-CN" altLang="en-US" sz="2400" dirty="0"/>
              <a:t>（</a:t>
            </a:r>
            <a:r>
              <a:rPr lang="en-US" altLang="zh-CN" sz="2400" dirty="0"/>
              <a:t>2</a:t>
            </a:r>
            <a:r>
              <a:rPr lang="zh-CN" altLang="en-US" sz="2400" dirty="0"/>
              <a:t>）合取（</a:t>
            </a:r>
            <a:r>
              <a:rPr lang="en-US" altLang="zh-CN" sz="2400" dirty="0"/>
              <a:t>4</a:t>
            </a:r>
            <a:r>
              <a:rPr lang="zh-CN" altLang="en-US" sz="2400" dirty="0"/>
              <a:t>），</a:t>
            </a:r>
            <a:r>
              <a:rPr lang="en-US" altLang="zh-CN" sz="2400" dirty="0"/>
              <a:t>I</a:t>
            </a:r>
            <a:br>
              <a:rPr lang="en-US" altLang="zh-CN" sz="2400" dirty="0"/>
            </a:br>
            <a:r>
              <a:rPr lang="zh-CN" altLang="en-US" sz="2400" dirty="0"/>
              <a:t>（</a:t>
            </a:r>
            <a:r>
              <a:rPr lang="en-US" altLang="zh-CN" sz="2400" dirty="0"/>
              <a:t>6</a:t>
            </a:r>
            <a:r>
              <a:rPr lang="zh-CN" altLang="en-US" sz="2400" dirty="0"/>
              <a:t>）</a:t>
            </a:r>
            <a:r>
              <a:rPr lang="en-US" altLang="zh-CN" sz="2400" dirty="0">
                <a:solidFill>
                  <a:srgbClr val="FF00FF"/>
                </a:solidFill>
              </a:rPr>
              <a:t>A</a:t>
            </a:r>
            <a:r>
              <a:rPr lang="en-US" altLang="zh-CN" sz="2400" dirty="0"/>
              <a:t>                                 P</a:t>
            </a:r>
            <a:r>
              <a:rPr lang="zh-CN" altLang="en-US" sz="2400" dirty="0"/>
              <a:t>（</a:t>
            </a:r>
            <a:r>
              <a:rPr lang="zh-CN" altLang="en-US" sz="2400" dirty="0">
                <a:solidFill>
                  <a:srgbClr val="00CC99"/>
                </a:solidFill>
              </a:rPr>
              <a:t>有效结论的否定</a:t>
            </a:r>
            <a:r>
              <a:rPr lang="zh-CN" altLang="en-US" sz="2400" dirty="0"/>
              <a:t>）</a:t>
            </a:r>
            <a:br>
              <a:rPr lang="zh-CN" altLang="en-US" sz="2400" dirty="0"/>
            </a:br>
            <a:r>
              <a:rPr lang="zh-CN" altLang="en-US" sz="2400" dirty="0"/>
              <a:t>（</a:t>
            </a:r>
            <a:r>
              <a:rPr lang="en-US" altLang="zh-CN" sz="2400" dirty="0"/>
              <a:t>7</a:t>
            </a:r>
            <a:r>
              <a:rPr lang="zh-CN" altLang="en-US" sz="2400" dirty="0"/>
              <a:t>）</a:t>
            </a:r>
            <a:r>
              <a:rPr lang="en-US" altLang="zh-CN" sz="2400" dirty="0"/>
              <a:t>A→C                            P</a:t>
            </a:r>
            <a:br>
              <a:rPr lang="en-US" altLang="zh-CN" sz="2400" dirty="0"/>
            </a:br>
            <a:r>
              <a:rPr lang="zh-CN" altLang="en-US" sz="2400" dirty="0"/>
              <a:t>（</a:t>
            </a:r>
            <a:r>
              <a:rPr lang="en-US" altLang="zh-CN" sz="2400" dirty="0"/>
              <a:t>8</a:t>
            </a:r>
            <a:r>
              <a:rPr lang="zh-CN" altLang="en-US" sz="2400" dirty="0"/>
              <a:t>）</a:t>
            </a:r>
            <a:r>
              <a:rPr lang="en-US" altLang="zh-CN" sz="2400" dirty="0"/>
              <a:t>C                                 T</a:t>
            </a:r>
            <a:r>
              <a:rPr lang="zh-CN" altLang="en-US" sz="2400" dirty="0"/>
              <a:t>（</a:t>
            </a:r>
            <a:r>
              <a:rPr lang="en-US" altLang="zh-CN" sz="2400" dirty="0"/>
              <a:t>6</a:t>
            </a:r>
            <a:r>
              <a:rPr lang="zh-CN" altLang="en-US" sz="2400" dirty="0"/>
              <a:t>）合取（</a:t>
            </a:r>
            <a:r>
              <a:rPr lang="en-US" altLang="zh-CN" sz="2400" dirty="0"/>
              <a:t>7</a:t>
            </a:r>
            <a:r>
              <a:rPr lang="zh-CN" altLang="en-US" sz="2400" dirty="0"/>
              <a:t>），</a:t>
            </a:r>
            <a:r>
              <a:rPr lang="en-US" altLang="zh-CN" sz="2400" dirty="0"/>
              <a:t>I</a:t>
            </a:r>
            <a:br>
              <a:rPr lang="en-US" altLang="zh-CN" sz="2400" dirty="0"/>
            </a:br>
            <a:r>
              <a:rPr lang="zh-CN" altLang="en-US" sz="2400" dirty="0"/>
              <a:t>（</a:t>
            </a:r>
            <a:r>
              <a:rPr lang="en-US" altLang="zh-CN" sz="2400" dirty="0"/>
              <a:t>9</a:t>
            </a:r>
            <a:r>
              <a:rPr lang="zh-CN" altLang="en-US" sz="2400" dirty="0"/>
              <a:t>）</a:t>
            </a:r>
            <a:r>
              <a:rPr lang="en-US" altLang="zh-CN" sz="2400" dirty="0"/>
              <a:t>A∧C                            T</a:t>
            </a:r>
            <a:r>
              <a:rPr lang="zh-CN" altLang="en-US" sz="2400" dirty="0"/>
              <a:t>（</a:t>
            </a:r>
            <a:r>
              <a:rPr lang="en-US" altLang="zh-CN" sz="2400" dirty="0"/>
              <a:t>6</a:t>
            </a:r>
            <a:r>
              <a:rPr lang="zh-CN" altLang="en-US" sz="2400" dirty="0"/>
              <a:t>）合取（</a:t>
            </a:r>
            <a:r>
              <a:rPr lang="en-US" altLang="zh-CN" sz="2400" dirty="0"/>
              <a:t>8</a:t>
            </a:r>
            <a:r>
              <a:rPr lang="zh-CN" altLang="en-US" sz="2400" dirty="0"/>
              <a:t>），</a:t>
            </a:r>
            <a:r>
              <a:rPr lang="en-US" altLang="zh-CN" sz="2400" dirty="0"/>
              <a:t>I</a:t>
            </a:r>
            <a:br>
              <a:rPr lang="en-US" altLang="zh-CN" sz="2400" dirty="0"/>
            </a:br>
            <a:r>
              <a:rPr lang="zh-CN" altLang="en-US" sz="2400" dirty="0"/>
              <a:t>（</a:t>
            </a:r>
            <a:r>
              <a:rPr lang="en-US" altLang="zh-CN" sz="2400" dirty="0"/>
              <a:t>10</a:t>
            </a:r>
            <a:r>
              <a:rPr lang="zh-CN" altLang="en-US" sz="2400" dirty="0"/>
              <a:t>）</a:t>
            </a:r>
            <a:r>
              <a:rPr lang="en-US" altLang="zh-CN" sz="2400" dirty="0"/>
              <a:t>E∧G                           T</a:t>
            </a:r>
            <a:r>
              <a:rPr lang="zh-CN" altLang="en-US" sz="2400" dirty="0"/>
              <a:t>（</a:t>
            </a:r>
            <a:r>
              <a:rPr lang="en-US" altLang="zh-CN" sz="2400" dirty="0"/>
              <a:t>5</a:t>
            </a:r>
            <a:r>
              <a:rPr lang="zh-CN" altLang="en-US" sz="2400" dirty="0"/>
              <a:t>）合取（</a:t>
            </a:r>
            <a:r>
              <a:rPr lang="en-US" altLang="zh-CN" sz="2400" dirty="0"/>
              <a:t>9</a:t>
            </a:r>
            <a:r>
              <a:rPr lang="zh-CN" altLang="en-US" sz="2400" dirty="0"/>
              <a:t>），</a:t>
            </a:r>
            <a:r>
              <a:rPr lang="en-US" altLang="zh-CN" sz="2400" dirty="0"/>
              <a:t>I</a:t>
            </a:r>
            <a:br>
              <a:rPr lang="en-US" altLang="zh-CN" sz="2400" dirty="0"/>
            </a:br>
            <a:r>
              <a:rPr lang="zh-CN" altLang="en-US" sz="2400" dirty="0"/>
              <a:t>（</a:t>
            </a:r>
            <a:r>
              <a:rPr lang="en-US" altLang="zh-CN" sz="2400" dirty="0"/>
              <a:t>11</a:t>
            </a:r>
            <a:r>
              <a:rPr lang="zh-CN" altLang="en-US" sz="2400" dirty="0"/>
              <a:t>）┐</a:t>
            </a:r>
            <a:r>
              <a:rPr lang="en-US" altLang="zh-CN" sz="2400" dirty="0"/>
              <a:t>(E∧G)                     P</a:t>
            </a:r>
            <a:br>
              <a:rPr lang="en-US" altLang="zh-CN" sz="2400" dirty="0"/>
            </a:br>
            <a:r>
              <a:rPr lang="zh-CN" altLang="en-US" sz="2400" dirty="0"/>
              <a:t>（</a:t>
            </a:r>
            <a:r>
              <a:rPr lang="en-US" altLang="zh-CN" sz="2400" dirty="0"/>
              <a:t>12</a:t>
            </a:r>
            <a:r>
              <a:rPr lang="zh-CN" altLang="en-US" sz="2400" dirty="0"/>
              <a:t>）</a:t>
            </a:r>
            <a:r>
              <a:rPr lang="en-US" altLang="zh-CN" sz="2400" dirty="0"/>
              <a:t>0                               T</a:t>
            </a:r>
            <a:r>
              <a:rPr lang="zh-CN" altLang="en-US" sz="2400" dirty="0"/>
              <a:t>（</a:t>
            </a:r>
            <a:r>
              <a:rPr lang="en-US" altLang="zh-CN" sz="2400" dirty="0"/>
              <a:t>10</a:t>
            </a:r>
            <a:r>
              <a:rPr lang="zh-CN" altLang="en-US" sz="2400" dirty="0"/>
              <a:t>）合取（</a:t>
            </a:r>
            <a:r>
              <a:rPr lang="en-US" altLang="zh-CN" sz="2400" dirty="0"/>
              <a:t>11</a:t>
            </a:r>
            <a:r>
              <a:rPr lang="zh-CN" altLang="en-US" sz="2400" dirty="0"/>
              <a:t>），</a:t>
            </a:r>
            <a:r>
              <a:rPr lang="en-US" altLang="zh-CN" sz="2400" dirty="0"/>
              <a:t>E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2">
            <a:extLst>
              <a:ext uri="{FF2B5EF4-FFF2-40B4-BE49-F238E27FC236}">
                <a16:creationId xmlns:a16="http://schemas.microsoft.com/office/drawing/2014/main" id="{45CC2D41-3DFC-E8E6-498D-70260285C4C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/>
              <a:t>1.8.2  </a:t>
            </a:r>
            <a:r>
              <a:rPr lang="zh-CN" altLang="en-US" b="1"/>
              <a:t>举例</a:t>
            </a:r>
          </a:p>
        </p:txBody>
      </p:sp>
      <p:sp>
        <p:nvSpPr>
          <p:cNvPr id="21507" name="Rectangle 3">
            <a:extLst>
              <a:ext uri="{FF2B5EF4-FFF2-40B4-BE49-F238E27FC236}">
                <a16:creationId xmlns:a16="http://schemas.microsoft.com/office/drawing/2014/main" id="{AA66A093-1ED0-7354-5700-932433E33B5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11188" y="2133600"/>
            <a:ext cx="8353425" cy="4724400"/>
          </a:xfrm>
        </p:spPr>
        <p:txBody>
          <a:bodyPr/>
          <a:lstStyle/>
          <a:p>
            <a:pPr eaLnBrk="1" hangingPunct="1"/>
            <a:r>
              <a:rPr lang="zh-CN" altLang="en-US" sz="2800">
                <a:solidFill>
                  <a:schemeClr val="hlink"/>
                </a:solidFill>
              </a:rPr>
              <a:t>例</a:t>
            </a:r>
            <a:r>
              <a:rPr lang="en-US" altLang="zh-CN" sz="2800">
                <a:solidFill>
                  <a:schemeClr val="hlink"/>
                </a:solidFill>
              </a:rPr>
              <a:t>1.8.7</a:t>
            </a:r>
            <a:r>
              <a:rPr lang="en-US" altLang="zh-CN" sz="2800"/>
              <a:t> </a:t>
            </a:r>
            <a:r>
              <a:rPr lang="zh-CN" altLang="en-US" sz="2800"/>
              <a:t>构造下面推理的证明。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zh-CN" altLang="en-US" sz="2800"/>
              <a:t>   如果他勤奋学习，那么他离散数学成绩不会不及格。如果他不沉溺于网络游戏，不热衷于玩扑克牌，那么他会勤奋学习。但他离散数学成绩不及格，因此他沉溺于网络游戏或热衷于玩扑克牌。</a:t>
            </a:r>
            <a:endParaRPr lang="zh-CN" altLang="en-US" sz="2800" b="1"/>
          </a:p>
          <a:p>
            <a:pPr eaLnBrk="1" hangingPunct="1"/>
            <a:r>
              <a:rPr lang="zh-CN" altLang="en-US" sz="2800">
                <a:solidFill>
                  <a:schemeClr val="hlink"/>
                </a:solidFill>
              </a:rPr>
              <a:t>解</a:t>
            </a:r>
            <a:r>
              <a:rPr lang="zh-CN" altLang="en-US" sz="2800" b="1"/>
              <a:t> </a:t>
            </a:r>
            <a:r>
              <a:rPr lang="zh-CN" altLang="en-US" sz="2800"/>
              <a:t>首先翻译命题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zh-CN" altLang="en-US" sz="2800"/>
              <a:t>    </a:t>
            </a:r>
            <a:r>
              <a:rPr lang="en-US" altLang="zh-CN" sz="2800"/>
              <a:t>A</a:t>
            </a:r>
            <a:r>
              <a:rPr lang="zh-CN" altLang="en-US" sz="2800"/>
              <a:t>：他勤奋学习。      </a:t>
            </a:r>
            <a:r>
              <a:rPr lang="en-US" altLang="zh-CN" sz="2800"/>
              <a:t>B</a:t>
            </a:r>
            <a:r>
              <a:rPr lang="zh-CN" altLang="en-US" sz="2800"/>
              <a:t>：他离散数学成绩不及格。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zh-CN" altLang="en-US" sz="2800"/>
              <a:t>    </a:t>
            </a:r>
            <a:r>
              <a:rPr lang="en-US" altLang="zh-CN" sz="2800"/>
              <a:t>C</a:t>
            </a:r>
            <a:r>
              <a:rPr lang="zh-CN" altLang="en-US" sz="2800"/>
              <a:t>：他沉溺于网络游戏。  </a:t>
            </a:r>
            <a:r>
              <a:rPr lang="en-US" altLang="zh-CN" sz="2800"/>
              <a:t>D</a:t>
            </a:r>
            <a:r>
              <a:rPr lang="zh-CN" altLang="en-US" sz="2800"/>
              <a:t>：他热衷于玩扑克牌。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zh-CN" altLang="en-US" sz="2800"/>
              <a:t>   命题翻译为：</a:t>
            </a:r>
            <a:r>
              <a:rPr lang="en-US" altLang="zh-CN" sz="2800"/>
              <a:t>A→┐B</a:t>
            </a:r>
            <a:r>
              <a:rPr lang="zh-CN" altLang="en-US" sz="2800"/>
              <a:t>，</a:t>
            </a:r>
            <a:r>
              <a:rPr lang="en-US" altLang="zh-CN" sz="2800"/>
              <a:t>(┐C∧┐D)→A</a:t>
            </a:r>
            <a:r>
              <a:rPr lang="zh-CN" altLang="en-US" sz="2800"/>
              <a:t>，</a:t>
            </a:r>
            <a:r>
              <a:rPr lang="en-US" altLang="zh-CN" sz="2800"/>
              <a:t>B</a:t>
            </a:r>
            <a:r>
              <a:rPr lang="en-US" altLang="zh-CN" sz="2800">
                <a:sym typeface="Symbol" panose="05050102010706020507" pitchFamily="18" charset="2"/>
              </a:rPr>
              <a:t></a:t>
            </a:r>
            <a:r>
              <a:rPr lang="en-US" altLang="zh-CN" sz="2800"/>
              <a:t>C∨D</a:t>
            </a:r>
            <a:endParaRPr lang="en-US" altLang="zh-CN" sz="200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2">
            <a:extLst>
              <a:ext uri="{FF2B5EF4-FFF2-40B4-BE49-F238E27FC236}">
                <a16:creationId xmlns:a16="http://schemas.microsoft.com/office/drawing/2014/main" id="{D0771A49-5947-0F1A-195D-2728AEF64EF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/>
              <a:t>1.8.2  </a:t>
            </a:r>
            <a:r>
              <a:rPr lang="zh-CN" altLang="en-US" b="1"/>
              <a:t>举例</a:t>
            </a:r>
          </a:p>
        </p:txBody>
      </p:sp>
      <p:sp>
        <p:nvSpPr>
          <p:cNvPr id="22531" name="Rectangle 3">
            <a:extLst>
              <a:ext uri="{FF2B5EF4-FFF2-40B4-BE49-F238E27FC236}">
                <a16:creationId xmlns:a16="http://schemas.microsoft.com/office/drawing/2014/main" id="{07117648-DBE0-1175-D89B-E31B1F376FC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11188" y="1916113"/>
            <a:ext cx="8532812" cy="4941887"/>
          </a:xfrm>
        </p:spPr>
        <p:txBody>
          <a:bodyPr/>
          <a:lstStyle/>
          <a:p>
            <a:pPr eaLnBrk="1" hangingPunct="1">
              <a:lnSpc>
                <a:spcPct val="125000"/>
              </a:lnSpc>
            </a:pPr>
            <a:r>
              <a:rPr lang="zh-CN" altLang="en-US">
                <a:solidFill>
                  <a:srgbClr val="FF0000"/>
                </a:solidFill>
              </a:rPr>
              <a:t>证明</a:t>
            </a:r>
            <a:r>
              <a:rPr lang="en-US" altLang="zh-CN"/>
              <a:t>A→┐B</a:t>
            </a:r>
            <a:r>
              <a:rPr lang="zh-CN" altLang="en-US"/>
              <a:t>，</a:t>
            </a:r>
            <a:r>
              <a:rPr lang="en-US" altLang="zh-CN"/>
              <a:t>(┐C∧┐D)→A</a:t>
            </a:r>
            <a:r>
              <a:rPr lang="zh-CN" altLang="en-US"/>
              <a:t>，</a:t>
            </a:r>
            <a:r>
              <a:rPr lang="en-US" altLang="zh-CN"/>
              <a:t>B</a:t>
            </a:r>
            <a:r>
              <a:rPr lang="en-US" altLang="zh-CN">
                <a:sym typeface="Symbol" panose="05050102010706020507" pitchFamily="18" charset="2"/>
              </a:rPr>
              <a:t></a:t>
            </a:r>
            <a:r>
              <a:rPr lang="en-US" altLang="zh-CN"/>
              <a:t>C∨D</a:t>
            </a:r>
          </a:p>
          <a:p>
            <a:pPr eaLnBrk="1" hangingPunct="1">
              <a:lnSpc>
                <a:spcPct val="125000"/>
              </a:lnSpc>
              <a:buFont typeface="Wingdings" panose="05000000000000000000" pitchFamily="2" charset="2"/>
              <a:buNone/>
            </a:pPr>
            <a:r>
              <a:rPr lang="en-US" altLang="zh-CN"/>
              <a:t>   (1) A→┐B                      P</a:t>
            </a:r>
          </a:p>
          <a:p>
            <a:pPr eaLnBrk="1" hangingPunct="1">
              <a:lnSpc>
                <a:spcPct val="125000"/>
              </a:lnSpc>
              <a:buFont typeface="Wingdings" panose="05000000000000000000" pitchFamily="2" charset="2"/>
              <a:buNone/>
            </a:pPr>
            <a:r>
              <a:rPr lang="en-US" altLang="zh-CN"/>
              <a:t>   (2) (┐C∧┐D)→A           P</a:t>
            </a:r>
          </a:p>
          <a:p>
            <a:pPr eaLnBrk="1" hangingPunct="1">
              <a:lnSpc>
                <a:spcPct val="125000"/>
              </a:lnSpc>
              <a:buFont typeface="Wingdings" panose="05000000000000000000" pitchFamily="2" charset="2"/>
              <a:buNone/>
            </a:pPr>
            <a:r>
              <a:rPr lang="en-US" altLang="zh-CN"/>
              <a:t>   (3) (┐C∧┐D)→┐B        T(1)</a:t>
            </a:r>
            <a:r>
              <a:rPr lang="zh-CN" altLang="en-US"/>
              <a:t>合取</a:t>
            </a:r>
            <a:r>
              <a:rPr lang="en-US" altLang="zh-CN"/>
              <a:t>(2)</a:t>
            </a:r>
            <a:r>
              <a:rPr lang="zh-CN" altLang="en-US"/>
              <a:t>，</a:t>
            </a:r>
            <a:r>
              <a:rPr lang="en-US" altLang="zh-CN"/>
              <a:t>I</a:t>
            </a:r>
          </a:p>
          <a:p>
            <a:pPr eaLnBrk="1" hangingPunct="1">
              <a:lnSpc>
                <a:spcPct val="125000"/>
              </a:lnSpc>
              <a:buFont typeface="Wingdings" panose="05000000000000000000" pitchFamily="2" charset="2"/>
              <a:buNone/>
            </a:pPr>
            <a:r>
              <a:rPr lang="en-US" altLang="zh-CN"/>
              <a:t>   (4) B                               P</a:t>
            </a:r>
          </a:p>
          <a:p>
            <a:pPr eaLnBrk="1" hangingPunct="1">
              <a:lnSpc>
                <a:spcPct val="125000"/>
              </a:lnSpc>
              <a:buFont typeface="Wingdings" panose="05000000000000000000" pitchFamily="2" charset="2"/>
              <a:buNone/>
            </a:pPr>
            <a:r>
              <a:rPr lang="en-US" altLang="zh-CN"/>
              <a:t>   (5) ┐(┐C∧┐D)             T(3)</a:t>
            </a:r>
            <a:r>
              <a:rPr lang="zh-CN" altLang="en-US"/>
              <a:t>合取</a:t>
            </a:r>
            <a:r>
              <a:rPr lang="en-US" altLang="zh-CN"/>
              <a:t>(4)</a:t>
            </a:r>
            <a:r>
              <a:rPr lang="zh-CN" altLang="en-US"/>
              <a:t>，</a:t>
            </a:r>
            <a:r>
              <a:rPr lang="en-US" altLang="zh-CN"/>
              <a:t>I </a:t>
            </a:r>
          </a:p>
          <a:p>
            <a:pPr eaLnBrk="1" hangingPunct="1">
              <a:lnSpc>
                <a:spcPct val="125000"/>
              </a:lnSpc>
              <a:buFont typeface="Wingdings" panose="05000000000000000000" pitchFamily="2" charset="2"/>
              <a:buNone/>
            </a:pPr>
            <a:r>
              <a:rPr lang="en-US" altLang="zh-CN"/>
              <a:t>   (6) C∨D                         T(5)</a:t>
            </a:r>
            <a:r>
              <a:rPr lang="zh-CN" altLang="en-US"/>
              <a:t>，</a:t>
            </a:r>
            <a:r>
              <a:rPr lang="en-US" altLang="zh-CN"/>
              <a:t>E 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标题 1">
            <a:extLst>
              <a:ext uri="{FF2B5EF4-FFF2-40B4-BE49-F238E27FC236}">
                <a16:creationId xmlns:a16="http://schemas.microsoft.com/office/drawing/2014/main" id="{0C376E1D-1A00-5007-8C82-6AE789527E9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   作  业</a:t>
            </a:r>
          </a:p>
        </p:txBody>
      </p:sp>
      <p:sp>
        <p:nvSpPr>
          <p:cNvPr id="31747" name="内容占位符 2">
            <a:extLst>
              <a:ext uri="{FF2B5EF4-FFF2-40B4-BE49-F238E27FC236}">
                <a16:creationId xmlns:a16="http://schemas.microsoft.com/office/drawing/2014/main" id="{79B76E82-CF8F-80E5-ACDD-C9036703FB48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2.</a:t>
            </a:r>
            <a:r>
              <a:rPr lang="zh-CN" altLang="en-US" dirty="0"/>
              <a:t>前提</a:t>
            </a:r>
            <a:r>
              <a:rPr lang="en-US" altLang="zh-CN" sz="3200" dirty="0">
                <a:solidFill>
                  <a:srgbClr val="000000"/>
                </a:solidFill>
              </a:rPr>
              <a:t>S→ ┐Q, S∨R, ┐R, ┐P</a:t>
            </a:r>
            <a:r>
              <a:rPr lang="en-US" altLang="zh-CN" dirty="0">
                <a:solidFill>
                  <a:srgbClr val="000000"/>
                </a:solidFill>
              </a:rPr>
              <a:t>↔Q</a:t>
            </a:r>
            <a:r>
              <a:rPr lang="zh-CN" altLang="en-US" dirty="0">
                <a:solidFill>
                  <a:srgbClr val="000000"/>
                </a:solidFill>
              </a:rPr>
              <a:t>的有效结论是</a:t>
            </a:r>
            <a:r>
              <a:rPr lang="en-US" altLang="zh-CN" dirty="0">
                <a:solidFill>
                  <a:srgbClr val="000000"/>
                </a:solidFill>
              </a:rPr>
              <a:t>(   )</a:t>
            </a:r>
          </a:p>
          <a:p>
            <a:pPr marL="0" indent="0">
              <a:buNone/>
            </a:pPr>
            <a:endParaRPr lang="en-US" altLang="zh-CN" dirty="0">
              <a:solidFill>
                <a:srgbClr val="000000"/>
              </a:solidFill>
            </a:endParaRPr>
          </a:p>
          <a:p>
            <a:pPr marL="0" indent="0">
              <a:buNone/>
            </a:pPr>
            <a:r>
              <a:rPr lang="en-US" altLang="zh-CN" dirty="0"/>
              <a:t>A. P       B. R       C.</a:t>
            </a:r>
            <a:r>
              <a:rPr lang="en-US" altLang="zh-CN" sz="3200" dirty="0">
                <a:solidFill>
                  <a:srgbClr val="000000"/>
                </a:solidFill>
              </a:rPr>
              <a:t> ┐P        D. ┐S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405293295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>
            <a:extLst>
              <a:ext uri="{FF2B5EF4-FFF2-40B4-BE49-F238E27FC236}">
                <a16:creationId xmlns:a16="http://schemas.microsoft.com/office/drawing/2014/main" id="{DBF0FC64-2D8A-C337-66BC-95AA589C170B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827584" y="680720"/>
            <a:ext cx="7315200" cy="2143125"/>
          </a:xfrm>
          <a:prstGeom prst="rect">
            <a:avLst/>
          </a:prstGeom>
          <a:noFill/>
        </p:spPr>
        <p:txBody>
          <a:bodyPr vert="horz" wrap="square" rtlCol="0" anchor="ctr" anchorCtr="0">
            <a:noAutofit/>
          </a:bodyPr>
          <a:lstStyle/>
          <a:p>
            <a:r>
              <a:rPr lang="en-US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3.</a:t>
            </a:r>
            <a:r>
              <a:rPr lang="zh-CN" altLang="en-US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下列命题公式中，（    ）不是前提</a:t>
            </a:r>
            <a:r>
              <a:rPr lang="en-US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P</a:t>
            </a:r>
            <a:r>
              <a:rPr lang="zh-CN" altLang="en-US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，</a:t>
            </a:r>
            <a:r>
              <a:rPr lang="en-US" altLang="zh-CN" sz="2800" dirty="0">
                <a:solidFill>
                  <a:srgbClr val="000000"/>
                </a:solidFill>
              </a:rPr>
              <a:t> P→Q</a:t>
            </a:r>
            <a:r>
              <a:rPr lang="zh-CN" altLang="en-US" sz="2800" dirty="0">
                <a:solidFill>
                  <a:srgbClr val="000000"/>
                </a:solidFill>
              </a:rPr>
              <a:t>的有效结论。</a:t>
            </a:r>
            <a:endParaRPr lang="zh-CN" altLang="en-US" sz="2600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080EA727-CCB7-847B-8B9E-307637AFE301}"/>
              </a:ext>
            </a:extLst>
          </p:cNvPr>
          <p:cNvSpPr txBox="1"/>
          <p:nvPr>
            <p:custDataLst>
              <p:tags r:id="rId3"/>
            </p:custDataLst>
          </p:nvPr>
        </p:nvSpPr>
        <p:spPr>
          <a:xfrm>
            <a:off x="1828800" y="2786063"/>
            <a:ext cx="64008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en-US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P</a:t>
            </a:r>
            <a:r>
              <a:rPr lang="en-US" altLang="zh-CN" sz="2800" dirty="0">
                <a:solidFill>
                  <a:srgbClr val="000000"/>
                </a:solidFill>
              </a:rPr>
              <a:t> ∨Q</a:t>
            </a:r>
            <a:endParaRPr lang="zh-CN" altLang="en-US" sz="2600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1E26D12F-34E4-7D2E-D7C4-DD5D1AB1B99F}"/>
              </a:ext>
            </a:extLst>
          </p:cNvPr>
          <p:cNvSpPr txBox="1"/>
          <p:nvPr>
            <p:custDataLst>
              <p:tags r:id="rId4"/>
            </p:custDataLst>
          </p:nvPr>
        </p:nvSpPr>
        <p:spPr>
          <a:xfrm>
            <a:off x="1828800" y="3643313"/>
            <a:ext cx="64008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en-US" altLang="zh-CN" sz="24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P</a:t>
            </a:r>
            <a:r>
              <a:rPr lang="en-US" altLang="zh-CN" sz="2400" dirty="0">
                <a:solidFill>
                  <a:srgbClr val="000000"/>
                </a:solidFill>
              </a:rPr>
              <a:t> ∨ ┐ Q</a:t>
            </a:r>
            <a:endParaRPr lang="zh-CN" altLang="en-US" sz="2400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31CA577C-03DF-BFE7-3F01-15533ED7D23C}"/>
              </a:ext>
            </a:extLst>
          </p:cNvPr>
          <p:cNvSpPr txBox="1"/>
          <p:nvPr>
            <p:custDataLst>
              <p:tags r:id="rId5"/>
            </p:custDataLst>
          </p:nvPr>
        </p:nvSpPr>
        <p:spPr>
          <a:xfrm>
            <a:off x="1828800" y="4500563"/>
            <a:ext cx="64008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en-US" altLang="zh-CN" sz="2400" dirty="0">
                <a:solidFill>
                  <a:srgbClr val="000000"/>
                </a:solidFill>
              </a:rPr>
              <a:t>┐ </a:t>
            </a:r>
            <a:r>
              <a:rPr lang="en-US" altLang="zh-CN" sz="24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P</a:t>
            </a:r>
            <a:r>
              <a:rPr lang="en-US" altLang="zh-CN" sz="2400" dirty="0">
                <a:solidFill>
                  <a:srgbClr val="000000"/>
                </a:solidFill>
              </a:rPr>
              <a:t> ∨Q</a:t>
            </a:r>
            <a:endParaRPr lang="zh-CN" altLang="en-US" sz="2400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0170FA68-A6C5-855F-A3BF-CEB5B7B3487D}"/>
              </a:ext>
            </a:extLst>
          </p:cNvPr>
          <p:cNvSpPr txBox="1"/>
          <p:nvPr>
            <p:custDataLst>
              <p:tags r:id="rId6"/>
            </p:custDataLst>
          </p:nvPr>
        </p:nvSpPr>
        <p:spPr>
          <a:xfrm>
            <a:off x="1828800" y="5357813"/>
            <a:ext cx="64008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en-US" altLang="zh-CN" sz="2800" dirty="0">
                <a:solidFill>
                  <a:srgbClr val="000000"/>
                </a:solidFill>
              </a:rPr>
              <a:t>┐ </a:t>
            </a:r>
            <a:r>
              <a:rPr lang="en-US" altLang="zh-CN" sz="28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P</a:t>
            </a:r>
            <a:r>
              <a:rPr lang="en-US" altLang="zh-CN" sz="2800" dirty="0">
                <a:solidFill>
                  <a:srgbClr val="000000"/>
                </a:solidFill>
              </a:rPr>
              <a:t> ∨ ┐ Q</a:t>
            </a:r>
            <a:endParaRPr lang="zh-CN" altLang="en-US" sz="2800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1" name="椭圆 10">
            <a:extLst>
              <a:ext uri="{FF2B5EF4-FFF2-40B4-BE49-F238E27FC236}">
                <a16:creationId xmlns:a16="http://schemas.microsoft.com/office/drawing/2014/main" id="{86B2BECB-5034-EB1D-6E9B-288831E26791}"/>
              </a:ext>
            </a:extLst>
          </p:cNvPr>
          <p:cNvSpPr>
            <a:spLocks noChangeAspect="1"/>
          </p:cNvSpPr>
          <p:nvPr>
            <p:custDataLst>
              <p:tags r:id="rId7"/>
            </p:custDataLst>
          </p:nvPr>
        </p:nvSpPr>
        <p:spPr>
          <a:xfrm>
            <a:off x="1114425" y="2850356"/>
            <a:ext cx="514350" cy="514350"/>
          </a:xfrm>
          <a:prstGeom prst="ellipse">
            <a:avLst/>
          </a:prstGeom>
          <a:solidFill>
            <a:srgbClr val="808080"/>
          </a:solidFill>
          <a:ln w="127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lang="en-US" altLang="zh-CN" sz="16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A</a:t>
            </a:r>
            <a:endParaRPr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2" name="椭圆 11">
            <a:extLst>
              <a:ext uri="{FF2B5EF4-FFF2-40B4-BE49-F238E27FC236}">
                <a16:creationId xmlns:a16="http://schemas.microsoft.com/office/drawing/2014/main" id="{BC14DF28-9E7D-2559-BD1E-2821BBA30A66}"/>
              </a:ext>
            </a:extLst>
          </p:cNvPr>
          <p:cNvSpPr>
            <a:spLocks noChangeAspect="1"/>
          </p:cNvSpPr>
          <p:nvPr>
            <p:custDataLst>
              <p:tags r:id="rId8"/>
            </p:custDataLst>
          </p:nvPr>
        </p:nvSpPr>
        <p:spPr>
          <a:xfrm>
            <a:off x="1114425" y="3707606"/>
            <a:ext cx="514350" cy="514350"/>
          </a:xfrm>
          <a:prstGeom prst="ellipse">
            <a:avLst/>
          </a:prstGeom>
          <a:solidFill>
            <a:srgbClr val="808080"/>
          </a:solidFill>
          <a:ln w="127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lang="en-US" altLang="zh-CN" sz="16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B</a:t>
            </a:r>
            <a:endParaRPr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3" name="椭圆 12">
            <a:extLst>
              <a:ext uri="{FF2B5EF4-FFF2-40B4-BE49-F238E27FC236}">
                <a16:creationId xmlns:a16="http://schemas.microsoft.com/office/drawing/2014/main" id="{1E33E008-C7B8-88E7-244D-579BB14435E4}"/>
              </a:ext>
            </a:extLst>
          </p:cNvPr>
          <p:cNvSpPr>
            <a:spLocks noChangeAspect="1"/>
          </p:cNvSpPr>
          <p:nvPr>
            <p:custDataLst>
              <p:tags r:id="rId9"/>
            </p:custDataLst>
          </p:nvPr>
        </p:nvSpPr>
        <p:spPr>
          <a:xfrm>
            <a:off x="1114425" y="4564856"/>
            <a:ext cx="514350" cy="514350"/>
          </a:xfrm>
          <a:prstGeom prst="ellipse">
            <a:avLst/>
          </a:prstGeom>
          <a:solidFill>
            <a:srgbClr val="808080"/>
          </a:solidFill>
          <a:ln w="127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lang="en-US" altLang="zh-CN" sz="16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C</a:t>
            </a:r>
            <a:endParaRPr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4" name="椭圆 13">
            <a:extLst>
              <a:ext uri="{FF2B5EF4-FFF2-40B4-BE49-F238E27FC236}">
                <a16:creationId xmlns:a16="http://schemas.microsoft.com/office/drawing/2014/main" id="{25D4E18D-7378-A7A1-E0EC-00968FAF37E2}"/>
              </a:ext>
            </a:extLst>
          </p:cNvPr>
          <p:cNvSpPr>
            <a:spLocks noChangeAspect="1"/>
          </p:cNvSpPr>
          <p:nvPr>
            <p:custDataLst>
              <p:tags r:id="rId10"/>
            </p:custDataLst>
          </p:nvPr>
        </p:nvSpPr>
        <p:spPr>
          <a:xfrm>
            <a:off x="1114425" y="5422106"/>
            <a:ext cx="514350" cy="514350"/>
          </a:xfrm>
          <a:prstGeom prst="ellipse">
            <a:avLst/>
          </a:prstGeom>
          <a:solidFill>
            <a:srgbClr val="00FF00"/>
          </a:solidFill>
          <a:ln w="254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lang="en-US" altLang="zh-CN" sz="16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D</a:t>
            </a:r>
            <a:endParaRPr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5" name="矩形: 圆角 14">
            <a:extLst>
              <a:ext uri="{FF2B5EF4-FFF2-40B4-BE49-F238E27FC236}">
                <a16:creationId xmlns:a16="http://schemas.microsoft.com/office/drawing/2014/main" id="{BB7DF497-9108-A4D3-4714-ACBB0638CAE9}"/>
              </a:ext>
            </a:extLst>
          </p:cNvPr>
          <p:cNvSpPr/>
          <p:nvPr>
            <p:custDataLst>
              <p:tags r:id="rId11"/>
            </p:custDataLst>
          </p:nvPr>
        </p:nvSpPr>
        <p:spPr>
          <a:xfrm>
            <a:off x="6172200" y="6215063"/>
            <a:ext cx="1543050" cy="411480"/>
          </a:xfrm>
          <a:prstGeom prst="roundRect">
            <a:avLst/>
          </a:prstGeom>
          <a:solidFill>
            <a:srgbClr val="808080"/>
          </a:solidFill>
          <a:ln w="381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lang="zh-CN" altLang="en-US" sz="16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提交</a:t>
            </a:r>
          </a:p>
        </p:txBody>
      </p:sp>
      <p:grpSp>
        <p:nvGrpSpPr>
          <p:cNvPr id="20" name="组合 19">
            <a:extLst>
              <a:ext uri="{FF2B5EF4-FFF2-40B4-BE49-F238E27FC236}">
                <a16:creationId xmlns:a16="http://schemas.microsoft.com/office/drawing/2014/main" id="{A2EEC109-715F-B181-B0D2-86D660F1CED9}"/>
              </a:ext>
            </a:extLst>
          </p:cNvPr>
          <p:cNvGrpSpPr/>
          <p:nvPr>
            <p:custDataLst>
              <p:tags r:id="rId12"/>
            </p:custDataLst>
          </p:nvPr>
        </p:nvGrpSpPr>
        <p:grpSpPr>
          <a:xfrm>
            <a:off x="0" y="0"/>
            <a:ext cx="9144000" cy="635000"/>
            <a:chOff x="0" y="0"/>
            <a:chExt cx="9144000" cy="635000"/>
          </a:xfrm>
        </p:grpSpPr>
        <p:sp>
          <p:nvSpPr>
            <p:cNvPr id="16" name="TitleBackground">
              <a:extLst>
                <a:ext uri="{FF2B5EF4-FFF2-40B4-BE49-F238E27FC236}">
                  <a16:creationId xmlns:a16="http://schemas.microsoft.com/office/drawing/2014/main" id="{C56D4524-164F-2506-C652-555492329E1C}"/>
                </a:ext>
              </a:extLst>
            </p:cNvPr>
            <p:cNvSpPr/>
            <p:nvPr>
              <p:custDataLst>
                <p:tags r:id="rId14"/>
              </p:custDataLst>
            </p:nvPr>
          </p:nvSpPr>
          <p:spPr>
            <a:xfrm>
              <a:off x="0" y="0"/>
              <a:ext cx="9144000" cy="635000"/>
            </a:xfrm>
            <a:prstGeom prst="rect">
              <a:avLst/>
            </a:prstGeom>
            <a:solidFill>
              <a:srgbClr val="F6F7F8"/>
            </a:solidFill>
            <a:ln w="25400" cap="flat" cmpd="sng" algn="ctr">
              <a:noFill/>
              <a:prstDash val="solid"/>
            </a:ln>
            <a:effectLst/>
            <a:extLst>
              <a:ext uri="{91240B29-F687-4F45-9708-019B960494DF}">
                <a14:hiddenLine xmlns:a14="http://schemas.microsoft.com/office/drawing/2010/main" w="254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7" name="ColorBlock">
              <a:extLst>
                <a:ext uri="{FF2B5EF4-FFF2-40B4-BE49-F238E27FC236}">
                  <a16:creationId xmlns:a16="http://schemas.microsoft.com/office/drawing/2014/main" id="{7E2C0942-B57A-A37F-CB2E-2B7CCAB6CB8C}"/>
                </a:ext>
              </a:extLst>
            </p:cNvPr>
            <p:cNvSpPr/>
            <p:nvPr>
              <p:custDataLst>
                <p:tags r:id="rId15"/>
              </p:custDataLst>
            </p:nvPr>
          </p:nvSpPr>
          <p:spPr>
            <a:xfrm>
              <a:off x="0" y="0"/>
              <a:ext cx="190500" cy="635000"/>
            </a:xfrm>
            <a:prstGeom prst="rect">
              <a:avLst/>
            </a:prstGeom>
            <a:solidFill>
              <a:srgbClr val="639EF4"/>
            </a:solidFill>
            <a:ln w="25400" cap="flat" cmpd="sng" algn="ctr">
              <a:noFill/>
              <a:prstDash val="solid"/>
            </a:ln>
            <a:effectLst/>
            <a:extLst>
              <a:ext uri="{91240B29-F687-4F45-9708-019B960494DF}">
                <a14:hiddenLine xmlns:a14="http://schemas.microsoft.com/office/drawing/2010/main" w="254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8" name="TypeText">
              <a:extLst>
                <a:ext uri="{FF2B5EF4-FFF2-40B4-BE49-F238E27FC236}">
                  <a16:creationId xmlns:a16="http://schemas.microsoft.com/office/drawing/2014/main" id="{70D45CDE-9BFA-6386-5850-565DAEFF2F22}"/>
                </a:ext>
              </a:extLst>
            </p:cNvPr>
            <p:cNvSpPr txBox="1"/>
            <p:nvPr>
              <p:custDataLst>
                <p:tags r:id="rId16"/>
              </p:custDataLst>
            </p:nvPr>
          </p:nvSpPr>
          <p:spPr>
            <a:xfrm>
              <a:off x="254000" y="0"/>
              <a:ext cx="1905000" cy="635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zh-CN" altLang="en-US" sz="2600">
                  <a:solidFill>
                    <a:srgbClr val="00000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单选题</a:t>
              </a:r>
            </a:p>
          </p:txBody>
        </p:sp>
        <p:sp>
          <p:nvSpPr>
            <p:cNvPr id="19" name="TipText">
              <a:extLst>
                <a:ext uri="{FF2B5EF4-FFF2-40B4-BE49-F238E27FC236}">
                  <a16:creationId xmlns:a16="http://schemas.microsoft.com/office/drawing/2014/main" id="{4587784C-98D7-1D39-4897-2E9A405528D8}"/>
                </a:ext>
              </a:extLst>
            </p:cNvPr>
            <p:cNvSpPr txBox="1"/>
            <p:nvPr>
              <p:custDataLst>
                <p:tags r:id="rId17"/>
              </p:custDataLst>
            </p:nvPr>
          </p:nvSpPr>
          <p:spPr>
            <a:xfrm>
              <a:off x="1525905" y="109220"/>
              <a:ext cx="2286000" cy="508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en-US" altLang="zh-CN" sz="200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1</a:t>
              </a:r>
              <a:r>
                <a:rPr lang="zh-CN" altLang="en-US" sz="200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分</a:t>
              </a:r>
            </a:p>
          </p:txBody>
        </p:sp>
      </p:grpSp>
      <p:pic>
        <p:nvPicPr>
          <p:cNvPr id="5" name="图片 4">
            <a:extLst>
              <a:ext uri="{FF2B5EF4-FFF2-40B4-BE49-F238E27FC236}">
                <a16:creationId xmlns:a16="http://schemas.microsoft.com/office/drawing/2014/main" id="{AC2A290D-0E64-9778-CB53-E3169F8DB776}"/>
              </a:ext>
            </a:extLst>
          </p:cNvPr>
          <p:cNvPicPr>
            <a:picLocks/>
          </p:cNvPicPr>
          <p:nvPr>
            <p:custDataLst>
              <p:tags r:id="rId13"/>
            </p:custDataLst>
          </p:nvPr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94600" y="63500"/>
            <a:ext cx="1422400" cy="50800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44707286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>
            <a:extLst>
              <a:ext uri="{FF2B5EF4-FFF2-40B4-BE49-F238E27FC236}">
                <a16:creationId xmlns:a16="http://schemas.microsoft.com/office/drawing/2014/main" id="{8B63B1D7-1BB5-1F49-73FA-30FD9CF91FB7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914400" y="1938917"/>
            <a:ext cx="7315200" cy="2143125"/>
          </a:xfrm>
          <a:prstGeom prst="rect">
            <a:avLst/>
          </a:prstGeom>
          <a:noFill/>
        </p:spPr>
        <p:txBody>
          <a:bodyPr vert="horz" wrap="square" rtlCol="0" anchor="ctr" anchorCtr="0">
            <a:noAutofit/>
          </a:bodyPr>
          <a:lstStyle/>
          <a:p>
            <a:r>
              <a:rPr lang="zh-CN" altLang="en-US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习题</a:t>
            </a:r>
            <a:r>
              <a:rPr lang="en-US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1.8</a:t>
            </a:r>
            <a:r>
              <a:rPr lang="zh-CN" altLang="en-US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，</a:t>
            </a:r>
            <a:r>
              <a:rPr lang="en-US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4(1)(2)  6</a:t>
            </a:r>
          </a:p>
          <a:p>
            <a:endParaRPr lang="en-US" altLang="zh-CN" sz="2600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7" name="矩形: 圆角 6">
            <a:extLst>
              <a:ext uri="{FF2B5EF4-FFF2-40B4-BE49-F238E27FC236}">
                <a16:creationId xmlns:a16="http://schemas.microsoft.com/office/drawing/2014/main" id="{DC09176C-14EA-103A-029B-4205C8A40336}"/>
              </a:ext>
            </a:extLst>
          </p:cNvPr>
          <p:cNvSpPr/>
          <p:nvPr>
            <p:custDataLst>
              <p:tags r:id="rId3"/>
            </p:custDataLst>
          </p:nvPr>
        </p:nvSpPr>
        <p:spPr>
          <a:xfrm>
            <a:off x="6172200" y="6215063"/>
            <a:ext cx="1543050" cy="411480"/>
          </a:xfrm>
          <a:prstGeom prst="roundRect">
            <a:avLst/>
          </a:prstGeom>
          <a:solidFill>
            <a:srgbClr val="808080"/>
          </a:solidFill>
          <a:ln w="381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lang="zh-CN" altLang="en-US" sz="16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作答</a:t>
            </a:r>
          </a:p>
        </p:txBody>
      </p:sp>
      <p:grpSp>
        <p:nvGrpSpPr>
          <p:cNvPr id="12" name="组合 11">
            <a:extLst>
              <a:ext uri="{FF2B5EF4-FFF2-40B4-BE49-F238E27FC236}">
                <a16:creationId xmlns:a16="http://schemas.microsoft.com/office/drawing/2014/main" id="{9E876FE3-B038-B6F0-5BD4-21E0D219EE26}"/>
              </a:ext>
            </a:extLst>
          </p:cNvPr>
          <p:cNvGrpSpPr/>
          <p:nvPr>
            <p:custDataLst>
              <p:tags r:id="rId4"/>
            </p:custDataLst>
          </p:nvPr>
        </p:nvGrpSpPr>
        <p:grpSpPr>
          <a:xfrm>
            <a:off x="0" y="0"/>
            <a:ext cx="9144000" cy="635000"/>
            <a:chOff x="0" y="0"/>
            <a:chExt cx="9144000" cy="635000"/>
          </a:xfrm>
        </p:grpSpPr>
        <p:sp>
          <p:nvSpPr>
            <p:cNvPr id="8" name="TitleBackground">
              <a:extLst>
                <a:ext uri="{FF2B5EF4-FFF2-40B4-BE49-F238E27FC236}">
                  <a16:creationId xmlns:a16="http://schemas.microsoft.com/office/drawing/2014/main" id="{D4AE9945-C7F2-12CB-A697-764D68DCD14F}"/>
                </a:ext>
              </a:extLst>
            </p:cNvPr>
            <p:cNvSpPr/>
            <p:nvPr>
              <p:custDataLst>
                <p:tags r:id="rId6"/>
              </p:custDataLst>
            </p:nvPr>
          </p:nvSpPr>
          <p:spPr>
            <a:xfrm>
              <a:off x="0" y="0"/>
              <a:ext cx="9144000" cy="635000"/>
            </a:xfrm>
            <a:prstGeom prst="rect">
              <a:avLst/>
            </a:prstGeom>
            <a:solidFill>
              <a:srgbClr val="F6F7F8"/>
            </a:solidFill>
            <a:ln w="25400" cap="flat" cmpd="sng" algn="ctr">
              <a:noFill/>
              <a:prstDash val="solid"/>
            </a:ln>
            <a:effectLst/>
            <a:extLst>
              <a:ext uri="{91240B29-F687-4F45-9708-019B960494DF}">
                <a14:hiddenLine xmlns:a14="http://schemas.microsoft.com/office/drawing/2010/main" w="254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9" name="ColorBlock">
              <a:extLst>
                <a:ext uri="{FF2B5EF4-FFF2-40B4-BE49-F238E27FC236}">
                  <a16:creationId xmlns:a16="http://schemas.microsoft.com/office/drawing/2014/main" id="{3E75B77B-91D6-D6E4-D6D7-DF126EBDADD5}"/>
                </a:ext>
              </a:extLst>
            </p:cNvPr>
            <p:cNvSpPr/>
            <p:nvPr>
              <p:custDataLst>
                <p:tags r:id="rId7"/>
              </p:custDataLst>
            </p:nvPr>
          </p:nvSpPr>
          <p:spPr>
            <a:xfrm>
              <a:off x="0" y="0"/>
              <a:ext cx="190500" cy="635000"/>
            </a:xfrm>
            <a:prstGeom prst="rect">
              <a:avLst/>
            </a:prstGeom>
            <a:solidFill>
              <a:srgbClr val="639EF4"/>
            </a:solidFill>
            <a:ln w="25400" cap="flat" cmpd="sng" algn="ctr">
              <a:noFill/>
              <a:prstDash val="solid"/>
            </a:ln>
            <a:effectLst/>
            <a:extLst>
              <a:ext uri="{91240B29-F687-4F45-9708-019B960494DF}">
                <a14:hiddenLine xmlns:a14="http://schemas.microsoft.com/office/drawing/2010/main" w="254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0" name="TypeText">
              <a:extLst>
                <a:ext uri="{FF2B5EF4-FFF2-40B4-BE49-F238E27FC236}">
                  <a16:creationId xmlns:a16="http://schemas.microsoft.com/office/drawing/2014/main" id="{3824B91D-2882-E5B3-1F38-ED713C905DBC}"/>
                </a:ext>
              </a:extLst>
            </p:cNvPr>
            <p:cNvSpPr txBox="1"/>
            <p:nvPr>
              <p:custDataLst>
                <p:tags r:id="rId8"/>
              </p:custDataLst>
            </p:nvPr>
          </p:nvSpPr>
          <p:spPr>
            <a:xfrm>
              <a:off x="254000" y="0"/>
              <a:ext cx="1905000" cy="635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zh-CN" altLang="en-US" sz="2600">
                  <a:solidFill>
                    <a:srgbClr val="00000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主观题</a:t>
              </a:r>
            </a:p>
          </p:txBody>
        </p:sp>
        <p:sp>
          <p:nvSpPr>
            <p:cNvPr id="11" name="TipText">
              <a:extLst>
                <a:ext uri="{FF2B5EF4-FFF2-40B4-BE49-F238E27FC236}">
                  <a16:creationId xmlns:a16="http://schemas.microsoft.com/office/drawing/2014/main" id="{12A134F9-BF45-954D-59AA-8441F4C9979F}"/>
                </a:ext>
              </a:extLst>
            </p:cNvPr>
            <p:cNvSpPr txBox="1"/>
            <p:nvPr>
              <p:custDataLst>
                <p:tags r:id="rId9"/>
              </p:custDataLst>
            </p:nvPr>
          </p:nvSpPr>
          <p:spPr>
            <a:xfrm>
              <a:off x="1525905" y="109220"/>
              <a:ext cx="2286000" cy="508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en-US" altLang="zh-CN" sz="200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10</a:t>
              </a:r>
              <a:r>
                <a:rPr lang="zh-CN" altLang="en-US" sz="200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分</a:t>
              </a:r>
            </a:p>
          </p:txBody>
        </p:sp>
      </p:grpSp>
      <p:pic>
        <p:nvPicPr>
          <p:cNvPr id="5" name="图片 4">
            <a:extLst>
              <a:ext uri="{FF2B5EF4-FFF2-40B4-BE49-F238E27FC236}">
                <a16:creationId xmlns:a16="http://schemas.microsoft.com/office/drawing/2014/main" id="{CFF60C21-DCB2-816E-7C24-E9348604005D}"/>
              </a:ext>
            </a:extLst>
          </p:cNvPr>
          <p:cNvPicPr>
            <a:picLocks/>
          </p:cNvPicPr>
          <p:nvPr>
            <p:custDataLst>
              <p:tags r:id="rId5"/>
            </p:custDataLst>
          </p:nvPr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94600" y="63500"/>
            <a:ext cx="1422400" cy="50800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1536647209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MultipleChoice"/>
  <p:tag name="PROBLEMSCORE" val="1.0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ody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Correct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ubmit"/>
  <p:tag name="RAINPROBLEMTYPE" val="MultipleChoice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etting"/>
  <p:tag name="RAINPROBLEMTYPE" val="MultipleChoice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ShortAnswer"/>
  <p:tag name="PROBLEMSCORE" val="10.0"/>
  <p:tag name="PROBLEMVOICEALLOWED" val="False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ody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ubmit"/>
  <p:tag name="RAINPROBLEMTYPE" val="ShortAnswer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etting"/>
  <p:tag name="RAINPROBLEMTYPE" val="ShortAnswer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heme/theme1.xml><?xml version="1.0" encoding="utf-8"?>
<a:theme xmlns:a="http://schemas.openxmlformats.org/drawingml/2006/main" name="Blends">
  <a:themeElements>
    <a:clrScheme name="Blends 3">
      <a:dk1>
        <a:srgbClr val="000000"/>
      </a:dk1>
      <a:lt1>
        <a:srgbClr val="FFFFFF"/>
      </a:lt1>
      <a:dk2>
        <a:srgbClr val="333399"/>
      </a:dk2>
      <a:lt2>
        <a:srgbClr val="1C1C1C"/>
      </a:lt2>
      <a:accent1>
        <a:srgbClr val="00E4A8"/>
      </a:accent1>
      <a:accent2>
        <a:srgbClr val="FFCF01"/>
      </a:accent2>
      <a:accent3>
        <a:srgbClr val="FFFFFF"/>
      </a:accent3>
      <a:accent4>
        <a:srgbClr val="000000"/>
      </a:accent4>
      <a:accent5>
        <a:srgbClr val="AAEFD1"/>
      </a:accent5>
      <a:accent6>
        <a:srgbClr val="E7BB01"/>
      </a:accent6>
      <a:hlink>
        <a:srgbClr val="FF0000"/>
      </a:hlink>
      <a:folHlink>
        <a:srgbClr val="3333CC"/>
      </a:folHlink>
    </a:clrScheme>
    <a:fontScheme name="Blends">
      <a:majorFont>
        <a:latin typeface="Tahoma"/>
        <a:ea typeface="宋体"/>
        <a:cs typeface=""/>
      </a:majorFont>
      <a:minorFont>
        <a:latin typeface="Tahoma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Blends 1">
        <a:dk1>
          <a:srgbClr val="969696"/>
        </a:dk1>
        <a:lt1>
          <a:srgbClr val="FFFFFF"/>
        </a:lt1>
        <a:dk2>
          <a:srgbClr val="000000"/>
        </a:dk2>
        <a:lt2>
          <a:srgbClr val="DDDDDD"/>
        </a:lt2>
        <a:accent1>
          <a:srgbClr val="00E4A8"/>
        </a:accent1>
        <a:accent2>
          <a:srgbClr val="3333CC"/>
        </a:accent2>
        <a:accent3>
          <a:srgbClr val="AAAAAA"/>
        </a:accent3>
        <a:accent4>
          <a:srgbClr val="DADADA"/>
        </a:accent4>
        <a:accent5>
          <a:srgbClr val="AAEFD1"/>
        </a:accent5>
        <a:accent6>
          <a:srgbClr val="2D2DB9"/>
        </a:accent6>
        <a:hlink>
          <a:srgbClr val="FF5050"/>
        </a:hlink>
        <a:folHlink>
          <a:srgbClr val="FFCF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ends 2">
        <a:dk1>
          <a:srgbClr val="000094"/>
        </a:dk1>
        <a:lt1>
          <a:srgbClr val="FFFFFF"/>
        </a:lt1>
        <a:dk2>
          <a:srgbClr val="0000CC"/>
        </a:dk2>
        <a:lt2>
          <a:srgbClr val="FFFFCC"/>
        </a:lt2>
        <a:accent1>
          <a:srgbClr val="3193FF"/>
        </a:accent1>
        <a:accent2>
          <a:srgbClr val="9900FF"/>
        </a:accent2>
        <a:accent3>
          <a:srgbClr val="AAAAE2"/>
        </a:accent3>
        <a:accent4>
          <a:srgbClr val="DADADA"/>
        </a:accent4>
        <a:accent5>
          <a:srgbClr val="ADC8FF"/>
        </a:accent5>
        <a:accent6>
          <a:srgbClr val="8A00E7"/>
        </a:accent6>
        <a:hlink>
          <a:srgbClr val="FF3399"/>
        </a:hlink>
        <a:folHlink>
          <a:srgbClr val="FF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ends 3">
        <a:dk1>
          <a:srgbClr val="000000"/>
        </a:dk1>
        <a:lt1>
          <a:srgbClr val="FFFFFF"/>
        </a:lt1>
        <a:dk2>
          <a:srgbClr val="333399"/>
        </a:dk2>
        <a:lt2>
          <a:srgbClr val="1C1C1C"/>
        </a:lt2>
        <a:accent1>
          <a:srgbClr val="00E4A8"/>
        </a:accent1>
        <a:accent2>
          <a:srgbClr val="FFCF01"/>
        </a:accent2>
        <a:accent3>
          <a:srgbClr val="FFFFFF"/>
        </a:accent3>
        <a:accent4>
          <a:srgbClr val="000000"/>
        </a:accent4>
        <a:accent5>
          <a:srgbClr val="AAEFD1"/>
        </a:accent5>
        <a:accent6>
          <a:srgbClr val="E7BB01"/>
        </a:accent6>
        <a:hlink>
          <a:srgbClr val="FF0000"/>
        </a:hlink>
        <a:folHlink>
          <a:srgbClr val="3333C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4">
        <a:dk1>
          <a:srgbClr val="000000"/>
        </a:dk1>
        <a:lt1>
          <a:srgbClr val="FFFFFF"/>
        </a:lt1>
        <a:dk2>
          <a:srgbClr val="515F7B"/>
        </a:dk2>
        <a:lt2>
          <a:srgbClr val="808080"/>
        </a:lt2>
        <a:accent1>
          <a:srgbClr val="9FCAD3"/>
        </a:accent1>
        <a:accent2>
          <a:srgbClr val="C0C0C0"/>
        </a:accent2>
        <a:accent3>
          <a:srgbClr val="FFFFFF"/>
        </a:accent3>
        <a:accent4>
          <a:srgbClr val="000000"/>
        </a:accent4>
        <a:accent5>
          <a:srgbClr val="CDE1E6"/>
        </a:accent5>
        <a:accent6>
          <a:srgbClr val="AEAEAE"/>
        </a:accent6>
        <a:hlink>
          <a:srgbClr val="91AFBF"/>
        </a:hlink>
        <a:folHlink>
          <a:srgbClr val="ECEAA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5">
        <a:dk1>
          <a:srgbClr val="000000"/>
        </a:dk1>
        <a:lt1>
          <a:srgbClr val="FFFFFF"/>
        </a:lt1>
        <a:dk2>
          <a:srgbClr val="000066"/>
        </a:dk2>
        <a:lt2>
          <a:srgbClr val="333333"/>
        </a:lt2>
        <a:accent1>
          <a:srgbClr val="C4709A"/>
        </a:accent1>
        <a:accent2>
          <a:srgbClr val="4B4EB5"/>
        </a:accent2>
        <a:accent3>
          <a:srgbClr val="FFFFFF"/>
        </a:accent3>
        <a:accent4>
          <a:srgbClr val="000000"/>
        </a:accent4>
        <a:accent5>
          <a:srgbClr val="DEBBCA"/>
        </a:accent5>
        <a:accent6>
          <a:srgbClr val="4346A4"/>
        </a:accent6>
        <a:hlink>
          <a:srgbClr val="C481CF"/>
        </a:hlink>
        <a:folHlink>
          <a:srgbClr val="76B74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6">
        <a:dk1>
          <a:srgbClr val="000000"/>
        </a:dk1>
        <a:lt1>
          <a:srgbClr val="FFFFFF"/>
        </a:lt1>
        <a:dk2>
          <a:srgbClr val="6A4076"/>
        </a:dk2>
        <a:lt2>
          <a:srgbClr val="969696"/>
        </a:lt2>
        <a:accent1>
          <a:srgbClr val="DBA9C2"/>
        </a:accent1>
        <a:accent2>
          <a:srgbClr val="E1BF91"/>
        </a:accent2>
        <a:accent3>
          <a:srgbClr val="FFFFFF"/>
        </a:accent3>
        <a:accent4>
          <a:srgbClr val="000000"/>
        </a:accent4>
        <a:accent5>
          <a:srgbClr val="EAD1DD"/>
        </a:accent5>
        <a:accent6>
          <a:srgbClr val="CCAD83"/>
        </a:accent6>
        <a:hlink>
          <a:srgbClr val="B3CE82"/>
        </a:hlink>
        <a:folHlink>
          <a:srgbClr val="B8AD48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2269</TotalTime>
  <Words>1652</Words>
  <Application>Microsoft Office PowerPoint</Application>
  <PresentationFormat>全屏显示(4:3)</PresentationFormat>
  <Paragraphs>133</Paragraphs>
  <Slides>17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17</vt:i4>
      </vt:variant>
    </vt:vector>
  </HeadingPairs>
  <TitlesOfParts>
    <vt:vector size="23" baseType="lpstr">
      <vt:lpstr>等线</vt:lpstr>
      <vt:lpstr>Microsoft Yahei</vt:lpstr>
      <vt:lpstr>Arial</vt:lpstr>
      <vt:lpstr>Tahoma</vt:lpstr>
      <vt:lpstr>Wingdings</vt:lpstr>
      <vt:lpstr>Blends</vt:lpstr>
      <vt:lpstr>1.8  命题逻辑推理理论</vt:lpstr>
      <vt:lpstr>1.8.1 有效推理的概念</vt:lpstr>
      <vt:lpstr>1.8.1 有效推理的概念</vt:lpstr>
      <vt:lpstr>1.8.2  举例</vt:lpstr>
      <vt:lpstr>1.8.2  举例</vt:lpstr>
      <vt:lpstr> 1.8.2  举例</vt:lpstr>
      <vt:lpstr>1.8.2  举例</vt:lpstr>
      <vt:lpstr>1.8.2  举例</vt:lpstr>
      <vt:lpstr> 1.8.2  举例</vt:lpstr>
      <vt:lpstr>1.8.2  举例</vt:lpstr>
      <vt:lpstr> 1.8.2  举例</vt:lpstr>
      <vt:lpstr>1.8.2  举例</vt:lpstr>
      <vt:lpstr>1.8.2  举例</vt:lpstr>
      <vt:lpstr>1.8.2  举例</vt:lpstr>
      <vt:lpstr>   作  业</vt:lpstr>
      <vt:lpstr>PowerPoint 演示文稿</vt:lpstr>
      <vt:lpstr>PowerPoint 演示文稿</vt:lpstr>
    </vt:vector>
  </TitlesOfParts>
  <Company>CHINA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幻灯片 1</dc:title>
  <dc:creator>USER</dc:creator>
  <cp:lastModifiedBy>LENOVO</cp:lastModifiedBy>
  <cp:revision>98</cp:revision>
  <dcterms:created xsi:type="dcterms:W3CDTF">2010-04-09T13:44:14Z</dcterms:created>
  <dcterms:modified xsi:type="dcterms:W3CDTF">2023-12-21T07:42:42Z</dcterms:modified>
</cp:coreProperties>
</file>